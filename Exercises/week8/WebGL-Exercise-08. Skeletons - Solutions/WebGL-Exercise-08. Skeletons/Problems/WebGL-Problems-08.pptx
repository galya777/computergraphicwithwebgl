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25"/>
  </p:notesMasterIdLst>
  <p:sldIdLst>
    <p:sldId id="256" r:id="rId2"/>
    <p:sldId id="295" r:id="rId3"/>
    <p:sldId id="297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29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600"/>
    <a:srgbClr val="006600"/>
    <a:srgbClr val="A1BD63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4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36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00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17.10.2021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>
                <a:schemeClr val="accent6">
                  <a:lumMod val="50000"/>
                </a:schemeClr>
              </a:buClr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schemeClr val="accent6">
                      <a:lumMod val="75000"/>
                      <a:alpha val="40000"/>
                    </a:schemeClr>
                  </a:outerShdw>
                </a:effectLst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chemeClr val="accent6">
                    <a:lumMod val="50000"/>
                  </a:schemeClr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2302463" y="4478669"/>
            <a:ext cx="6119371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проф. П. Бойчев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КИТ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ФМИ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СУ </a:t>
            </a:r>
            <a:r>
              <a:rPr lang="bg-BG" sz="2000" dirty="0">
                <a:ln>
                  <a:solidFill>
                    <a:schemeClr val="accent6">
                      <a:lumMod val="75000"/>
                    </a:schemeClr>
                  </a:solidFill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●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20</a:t>
            </a:r>
            <a:r>
              <a:rPr lang="bg-BG" sz="2000" dirty="0">
                <a:solidFill>
                  <a:schemeClr val="accent6">
                    <a:lumMod val="75000"/>
                  </a:schemeClr>
                </a:solidFill>
                <a:effectLst>
                  <a:outerShdw blurRad="63500" algn="ctr" rotWithShape="0">
                    <a:schemeClr val="accent6">
                      <a:alpha val="67000"/>
                    </a:schemeClr>
                  </a:outerShdw>
                </a:effectLst>
              </a:rPr>
              <a:t>21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62000">
              <a:schemeClr val="accent6">
                <a:lumMod val="75000"/>
              </a:schemeClr>
            </a:gs>
            <a:gs pos="100000">
              <a:schemeClr val="accent6">
                <a:lumMod val="5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 userDrawn="1"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chemeClr val="accent3">
                <a:lumMod val="50000"/>
                <a:alpha val="4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6">
            <a:lumMod val="50000"/>
          </a:schemeClr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chemeClr val="accent6">
              <a:lumMod val="50000"/>
            </a:schemeClr>
          </a:solidFill>
          <a:effectLst>
            <a:outerShdw blurRad="63500" algn="ctr" rotWithShape="0">
              <a:schemeClr val="accent6">
                <a:lumMod val="75000"/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Problem%201%20-%20Periscope" TargetMode="External"/><Relationship Id="rId2" Type="http://schemas.openxmlformats.org/officeDocument/2006/relationships/hyperlink" Target="../Solutions/Solution%201%20-%20Periscope/Solution%200801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Problem%202%20-%20Torus%20shell" TargetMode="External"/><Relationship Id="rId2" Type="http://schemas.openxmlformats.org/officeDocument/2006/relationships/hyperlink" Target="../Solutions/Solution%202%20-%20Torus%20shell/Solution%200802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Problem%203%20-%20Compound%20bones" TargetMode="External"/><Relationship Id="rId2" Type="http://schemas.openxmlformats.org/officeDocument/2006/relationships/hyperlink" Target="../Solutions/Solution%203%20-%20Compound%20bones/Solution%200803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Problem%204%20-%20Conoid%20chain" TargetMode="External"/><Relationship Id="rId2" Type="http://schemas.openxmlformats.org/officeDocument/2006/relationships/hyperlink" Target="../Solutions/Solution%204%20-%20Conoid%20chain/Solution%200804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Problem%204%20-%20Articulated%20robot" TargetMode="External"/><Relationship Id="rId2" Type="http://schemas.openxmlformats.org/officeDocument/2006/relationships/hyperlink" Target="../Solutions/Solution%205%20-%20Finger/Solution%200805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Problem%206%20-%20Gestures" TargetMode="External"/><Relationship Id="rId2" Type="http://schemas.openxmlformats.org/officeDocument/2006/relationships/hyperlink" Target="../Solutions/Solution%206%20-%20Gestures/Solution%200806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../Solutions/Solution%207%20-%20Elbow%20to%20knee/Solution%200807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Problem%207%20-%20Elbow%20to%20knee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Problem%208%20-%20No%20gravity" TargetMode="External"/><Relationship Id="rId2" Type="http://schemas.openxmlformats.org/officeDocument/2006/relationships/hyperlink" Target="../Solutions/Solution%208%20-%20No%20gravity/Solution%200808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Problem%209%20-%20Step%20by%20step" TargetMode="External"/><Relationship Id="rId2" Type="http://schemas.openxmlformats.org/officeDocument/2006/relationships/hyperlink" Target="../Solutions/Solution%209%20-%20Step%20by%20step/Solution%200809.html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/>
              <a:t>Скелети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Задачи към </a:t>
            </a:r>
            <a:r>
              <a:rPr lang="en-US" dirty="0"/>
              <a:t>S08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Степени на свобода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4916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Перископ</a:t>
            </a:r>
            <a:endParaRPr lang="en-US" dirty="0"/>
          </a:p>
          <a:p>
            <a:pPr lvl="1"/>
            <a:r>
              <a:rPr lang="bg-BG" dirty="0"/>
              <a:t>Направете система с </a:t>
            </a:r>
            <a:r>
              <a:rPr lang="en-US" b="1" dirty="0" err="1"/>
              <a:t>DOF</a:t>
            </a:r>
            <a:r>
              <a:rPr lang="en-US" b="1" dirty="0"/>
              <a:t>=2</a:t>
            </a:r>
          </a:p>
          <a:p>
            <a:pPr lvl="1"/>
            <a:r>
              <a:rPr lang="bg-BG" dirty="0"/>
              <a:t>Първото движение да е плъзгане</a:t>
            </a:r>
          </a:p>
          <a:p>
            <a:pPr lvl="1"/>
            <a:r>
              <a:rPr lang="bg-BG" dirty="0"/>
              <a:t>Второто движение да е въртене</a:t>
            </a:r>
          </a:p>
        </p:txBody>
      </p:sp>
    </p:spTree>
    <p:extLst>
      <p:ext uri="{BB962C8B-B14F-4D97-AF65-F5344CB8AC3E}">
        <p14:creationId xmlns:p14="http://schemas.microsoft.com/office/powerpoint/2010/main" val="88114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4044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Обвивка на тор</a:t>
            </a:r>
            <a:endParaRPr lang="en-US" dirty="0"/>
          </a:p>
          <a:p>
            <a:pPr lvl="1"/>
            <a:r>
              <a:rPr lang="bg-BG" dirty="0"/>
              <a:t>Даден е механизъм с въртящо се дълго рамо</a:t>
            </a:r>
          </a:p>
          <a:p>
            <a:pPr lvl="1"/>
            <a:r>
              <a:rPr lang="bg-BG" dirty="0"/>
              <a:t>В края, на малко разстояние, се върти късо рамо</a:t>
            </a:r>
          </a:p>
          <a:p>
            <a:pPr lvl="1"/>
            <a:endParaRPr lang="bg-BG" dirty="0"/>
          </a:p>
          <a:p>
            <a:r>
              <a:rPr lang="bg-BG" dirty="0"/>
              <a:t>Да се добавят цилиндрични ленти</a:t>
            </a:r>
          </a:p>
          <a:p>
            <a:pPr lvl="1"/>
            <a:r>
              <a:rPr lang="bg-BG" dirty="0"/>
              <a:t>Една лента е по периферията, която обхожда острия връх на последната подвижна част</a:t>
            </a:r>
          </a:p>
          <a:p>
            <a:pPr lvl="1"/>
            <a:r>
              <a:rPr lang="bg-BG" dirty="0"/>
              <a:t>През определено време да се прави „копие“ на текущата лента, така че всички копия да оформят обвивка на тор</a:t>
            </a:r>
          </a:p>
        </p:txBody>
      </p:sp>
    </p:spTree>
    <p:extLst>
      <p:ext uri="{BB962C8B-B14F-4D97-AF65-F5344CB8AC3E}">
        <p14:creationId xmlns:p14="http://schemas.microsoft.com/office/powerpoint/2010/main" val="4115135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6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205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8988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Скелети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6526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Съставни кости</a:t>
            </a:r>
          </a:p>
          <a:p>
            <a:pPr lvl="1"/>
            <a:r>
              <a:rPr lang="bg-BG" dirty="0"/>
              <a:t>Променете дефиницията на </a:t>
            </a:r>
            <a:r>
              <a:rPr lang="en-US" b="1" dirty="0"/>
              <a:t>Bone</a:t>
            </a:r>
            <a:r>
              <a:rPr lang="en-US" dirty="0"/>
              <a:t> </a:t>
            </a:r>
            <a:r>
              <a:rPr lang="bg-BG" dirty="0"/>
              <a:t>в </a:t>
            </a:r>
            <a:r>
              <a:rPr lang="en-US" b="1" dirty="0"/>
              <a:t>skeleton.js</a:t>
            </a:r>
            <a:endParaRPr lang="bg-BG" b="1" dirty="0"/>
          </a:p>
          <a:p>
            <a:pPr lvl="1"/>
            <a:r>
              <a:rPr lang="bg-BG" dirty="0"/>
              <a:t>Да може кост да е множество от различни обекти</a:t>
            </a:r>
          </a:p>
          <a:p>
            <a:pPr lvl="1"/>
            <a:r>
              <a:rPr lang="bg-BG" dirty="0"/>
              <a:t>Конструкторът да има два параметъра – дължината на костта и масив от обектите в костта</a:t>
            </a:r>
          </a:p>
        </p:txBody>
      </p:sp>
      <p:sp>
        <p:nvSpPr>
          <p:cNvPr id="8" name="Cloud 7"/>
          <p:cNvSpPr/>
          <p:nvPr/>
        </p:nvSpPr>
        <p:spPr>
          <a:xfrm>
            <a:off x="4038600" y="4191000"/>
            <a:ext cx="1219200" cy="2286000"/>
          </a:xfrm>
          <a:prstGeom prst="cloud">
            <a:avLst/>
          </a:prstGeom>
          <a:solidFill>
            <a:srgbClr val="94C6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4" name="Oval 3"/>
          <p:cNvSpPr/>
          <p:nvPr/>
        </p:nvSpPr>
        <p:spPr>
          <a:xfrm>
            <a:off x="4419600" y="6019800"/>
            <a:ext cx="304800" cy="304800"/>
          </a:xfrm>
          <a:prstGeom prst="ellipse">
            <a:avLst/>
          </a:prstGeom>
          <a:solidFill>
            <a:srgbClr val="94C6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Oval 8"/>
          <p:cNvSpPr/>
          <p:nvPr/>
        </p:nvSpPr>
        <p:spPr>
          <a:xfrm>
            <a:off x="4419600" y="4648200"/>
            <a:ext cx="304800" cy="304800"/>
          </a:xfrm>
          <a:prstGeom prst="ellipse">
            <a:avLst/>
          </a:prstGeom>
          <a:solidFill>
            <a:srgbClr val="94C600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TextBox 9"/>
          <p:cNvSpPr txBox="1"/>
          <p:nvPr/>
        </p:nvSpPr>
        <p:spPr>
          <a:xfrm>
            <a:off x="5748086" y="6019800"/>
            <a:ext cx="2100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Център на костта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200" y="4495800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Точка на закачане на следващата кост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4800600" y="4796118"/>
            <a:ext cx="916004" cy="0"/>
          </a:xfrm>
          <a:prstGeom prst="straightConnector1">
            <a:avLst/>
          </a:pr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4800600" y="6172200"/>
            <a:ext cx="916004" cy="0"/>
          </a:xfrm>
          <a:prstGeom prst="straightConnector1">
            <a:avLst/>
          </a:pr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248835" y="5562600"/>
            <a:ext cx="470055" cy="0"/>
          </a:xfrm>
          <a:prstGeom prst="straightConnector1">
            <a:avLst/>
          </a:pr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Box 18"/>
          <p:cNvSpPr txBox="1"/>
          <p:nvPr/>
        </p:nvSpPr>
        <p:spPr>
          <a:xfrm>
            <a:off x="5791200" y="5284694"/>
            <a:ext cx="2100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Масив от обекти, съставящи костта</a:t>
            </a:r>
          </a:p>
        </p:txBody>
      </p:sp>
      <p:sp>
        <p:nvSpPr>
          <p:cNvPr id="20" name="Left Brace 19"/>
          <p:cNvSpPr/>
          <p:nvPr/>
        </p:nvSpPr>
        <p:spPr>
          <a:xfrm>
            <a:off x="3657600" y="4788187"/>
            <a:ext cx="304799" cy="1400890"/>
          </a:xfrm>
          <a:prstGeom prst="leftBrace">
            <a:avLst>
              <a:gd name="adj1" fmla="val 40560"/>
              <a:gd name="adj2" fmla="val 50000"/>
            </a:avLst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1" name="TextBox 20"/>
          <p:cNvSpPr txBox="1"/>
          <p:nvPr/>
        </p:nvSpPr>
        <p:spPr>
          <a:xfrm>
            <a:off x="2286000" y="5196244"/>
            <a:ext cx="13674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Дължина на костта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3962399" y="4789516"/>
            <a:ext cx="457201" cy="0"/>
          </a:xfrm>
          <a:prstGeom prst="lin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962399" y="6189077"/>
            <a:ext cx="457201" cy="0"/>
          </a:xfrm>
          <a:prstGeom prst="line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8" name="Group 27"/>
          <p:cNvGrpSpPr/>
          <p:nvPr/>
        </p:nvGrpSpPr>
        <p:grpSpPr>
          <a:xfrm rot="17785892">
            <a:off x="3507441" y="3525991"/>
            <a:ext cx="990600" cy="1857375"/>
            <a:chOff x="381000" y="3495019"/>
            <a:chExt cx="1219200" cy="2286000"/>
          </a:xfrm>
          <a:noFill/>
        </p:grpSpPr>
        <p:sp>
          <p:nvSpPr>
            <p:cNvPr id="25" name="Cloud 24"/>
            <p:cNvSpPr/>
            <p:nvPr/>
          </p:nvSpPr>
          <p:spPr>
            <a:xfrm>
              <a:off x="381000" y="3495019"/>
              <a:ext cx="1219200" cy="2286000"/>
            </a:xfrm>
            <a:prstGeom prst="cloud">
              <a:avLst/>
            </a:prstGeom>
            <a:grp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27" name="Oval 26"/>
            <p:cNvSpPr/>
            <p:nvPr/>
          </p:nvSpPr>
          <p:spPr>
            <a:xfrm>
              <a:off x="762000" y="3952219"/>
              <a:ext cx="304800" cy="304800"/>
            </a:xfrm>
            <a:prstGeom prst="ellipse">
              <a:avLst/>
            </a:prstGeom>
            <a:grp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807660" y="3834825"/>
            <a:ext cx="1392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Следваща</a:t>
            </a:r>
          </a:p>
          <a:p>
            <a:pPr algn="r"/>
            <a:r>
              <a:rPr lang="bg-BG" sz="1600" dirty="0"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</a:rPr>
              <a:t>кост</a:t>
            </a:r>
          </a:p>
        </p:txBody>
      </p:sp>
    </p:spTree>
    <p:extLst>
      <p:ext uri="{BB962C8B-B14F-4D97-AF65-F5344CB8AC3E}">
        <p14:creationId xmlns:p14="http://schemas.microsoft.com/office/powerpoint/2010/main" val="2624715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На базата на тази дефиниция</a:t>
            </a:r>
          </a:p>
          <a:p>
            <a:pPr lvl="1"/>
            <a:r>
              <a:rPr lang="bg-BG" dirty="0"/>
              <a:t>Направете 3 кости</a:t>
            </a:r>
          </a:p>
          <a:p>
            <a:pPr lvl="1"/>
            <a:r>
              <a:rPr lang="bg-BG" dirty="0"/>
              <a:t>Първата кост е от две успоредни плоскости и се върти хоризонтално и вертикално</a:t>
            </a:r>
          </a:p>
          <a:p>
            <a:pPr lvl="1"/>
            <a:r>
              <a:rPr lang="bg-BG" dirty="0"/>
              <a:t>Втората кост е конус с въртене само в една равнина (успоредна на двете плоскости)</a:t>
            </a:r>
          </a:p>
          <a:p>
            <a:pPr lvl="1"/>
            <a:r>
              <a:rPr lang="bg-BG" dirty="0"/>
              <a:t>Третата кост е перка, която се върти перпендикулярно на втората кост</a:t>
            </a:r>
          </a:p>
        </p:txBody>
      </p:sp>
    </p:spTree>
    <p:extLst>
      <p:ext uri="{BB962C8B-B14F-4D97-AF65-F5344CB8AC3E}">
        <p14:creationId xmlns:p14="http://schemas.microsoft.com/office/powerpoint/2010/main" val="2823718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10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3074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3999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Задача №4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 err="1"/>
              <a:t>Коноид</a:t>
            </a:r>
            <a:endParaRPr lang="bg-BG" dirty="0"/>
          </a:p>
          <a:p>
            <a:pPr lvl="1"/>
            <a:r>
              <a:rPr lang="bg-BG" dirty="0"/>
              <a:t>Създайте обект </a:t>
            </a:r>
            <a:r>
              <a:rPr lang="en-US" b="1" dirty="0" err="1"/>
              <a:t>Conoid</a:t>
            </a:r>
            <a:r>
              <a:rPr lang="en-US" b="1" dirty="0"/>
              <a:t> </a:t>
            </a:r>
            <a:endParaRPr lang="bg-BG" b="1" dirty="0"/>
          </a:p>
          <a:p>
            <a:pPr lvl="1"/>
            <a:r>
              <a:rPr lang="bg-BG" dirty="0"/>
              <a:t>Той е обобщен пресечен конус</a:t>
            </a:r>
            <a:endParaRPr lang="en-US" dirty="0"/>
          </a:p>
          <a:p>
            <a:pPr lvl="1"/>
            <a:r>
              <a:rPr lang="bg-BG" dirty="0"/>
              <a:t>Създайте верига от </a:t>
            </a:r>
            <a:r>
              <a:rPr lang="bg-BG" dirty="0" err="1"/>
              <a:t>коноиди</a:t>
            </a:r>
            <a:endParaRPr lang="bg-BG" dirty="0"/>
          </a:p>
          <a:p>
            <a:pPr lvl="1"/>
            <a:endParaRPr lang="bg-BG" dirty="0"/>
          </a:p>
          <a:p>
            <a:r>
              <a:rPr lang="bg-BG" dirty="0"/>
              <a:t>Параметри на </a:t>
            </a:r>
            <a:r>
              <a:rPr lang="en-US" dirty="0" err="1"/>
              <a:t>Conoid</a:t>
            </a:r>
            <a:r>
              <a:rPr lang="bg-BG" dirty="0"/>
              <a:t>:</a:t>
            </a:r>
          </a:p>
          <a:p>
            <a:pPr lvl="1"/>
            <a:r>
              <a:rPr lang="en-US" b="1" dirty="0"/>
              <a:t>center </a:t>
            </a:r>
            <a:r>
              <a:rPr lang="en-US" dirty="0"/>
              <a:t>– </a:t>
            </a:r>
            <a:r>
              <a:rPr lang="bg-BG" dirty="0"/>
              <a:t>център, масив от 3 числа-координати</a:t>
            </a:r>
          </a:p>
          <a:p>
            <a:pPr lvl="1"/>
            <a:r>
              <a:rPr lang="en-US" b="1" dirty="0"/>
              <a:t>size</a:t>
            </a:r>
            <a:r>
              <a:rPr lang="en-US" dirty="0"/>
              <a:t> –</a:t>
            </a:r>
            <a:r>
              <a:rPr lang="bg-BG" dirty="0"/>
              <a:t> размер, масив от два радиуса на долната основа и височина на </a:t>
            </a:r>
            <a:r>
              <a:rPr lang="bg-BG" dirty="0" err="1"/>
              <a:t>коноида</a:t>
            </a:r>
            <a:endParaRPr lang="bg-BG" dirty="0"/>
          </a:p>
          <a:p>
            <a:pPr lvl="1"/>
            <a:r>
              <a:rPr lang="en-US" b="1" dirty="0"/>
              <a:t>ratio</a:t>
            </a:r>
            <a:r>
              <a:rPr lang="bg-BG" b="1" dirty="0"/>
              <a:t> </a:t>
            </a:r>
            <a:r>
              <a:rPr lang="bg-BG" dirty="0"/>
              <a:t>– относителен размер на горната основа, масив от 2 числа – съотношенията на радиусите на горната основа спрямо тези на долната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99132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12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7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768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Пръст</a:t>
            </a:r>
          </a:p>
          <a:p>
            <a:pPr lvl="1"/>
            <a:r>
              <a:rPr lang="bg-BG" dirty="0"/>
              <a:t>Създайте клас </a:t>
            </a:r>
            <a:r>
              <a:rPr lang="en-US" b="1" dirty="0"/>
              <a:t>Finger</a:t>
            </a:r>
            <a:r>
              <a:rPr lang="bg-BG" dirty="0"/>
              <a:t> за модел на пръст с нокът</a:t>
            </a:r>
          </a:p>
          <a:p>
            <a:pPr lvl="1"/>
            <a:r>
              <a:rPr lang="bg-BG" dirty="0"/>
              <a:t>Да има метод </a:t>
            </a:r>
            <a:r>
              <a:rPr lang="en-US" b="1" dirty="0"/>
              <a:t>hook</a:t>
            </a:r>
            <a:r>
              <a:rPr lang="bg-BG" dirty="0"/>
              <a:t>, с който да се сгъва до някакво положение</a:t>
            </a:r>
          </a:p>
        </p:txBody>
      </p:sp>
    </p:spTree>
    <p:extLst>
      <p:ext uri="{BB962C8B-B14F-4D97-AF65-F5344CB8AC3E}">
        <p14:creationId xmlns:p14="http://schemas.microsoft.com/office/powerpoint/2010/main" val="433469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14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614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7975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Жестове</a:t>
            </a:r>
          </a:p>
          <a:p>
            <a:pPr lvl="1"/>
            <a:r>
              <a:rPr lang="bg-BG" dirty="0"/>
              <a:t>Създадени са класове </a:t>
            </a:r>
            <a:r>
              <a:rPr lang="en-US" b="1" dirty="0"/>
              <a:t>Finger</a:t>
            </a:r>
            <a:r>
              <a:rPr lang="bg-BG" dirty="0"/>
              <a:t> (пръст) и </a:t>
            </a:r>
            <a:r>
              <a:rPr lang="en-US" b="1" dirty="0"/>
              <a:t>Palm</a:t>
            </a:r>
            <a:r>
              <a:rPr lang="en-US" dirty="0"/>
              <a:t> (</a:t>
            </a:r>
            <a:r>
              <a:rPr lang="bg-BG" dirty="0"/>
              <a:t>длан)</a:t>
            </a:r>
          </a:p>
          <a:p>
            <a:pPr lvl="1"/>
            <a:r>
              <a:rPr lang="bg-BG" dirty="0"/>
              <a:t>Направете пръстите в </a:t>
            </a:r>
            <a:r>
              <a:rPr lang="en-US" b="1" dirty="0"/>
              <a:t>Palm</a:t>
            </a:r>
            <a:r>
              <a:rPr lang="en-US" dirty="0"/>
              <a:t> </a:t>
            </a:r>
            <a:r>
              <a:rPr lang="bg-BG" dirty="0"/>
              <a:t>различни по дължина, дебелина и положение, за да приличат малко на длан с пръсти</a:t>
            </a:r>
            <a:endParaRPr lang="en-US" dirty="0"/>
          </a:p>
          <a:p>
            <a:pPr lvl="1"/>
            <a:r>
              <a:rPr lang="bg-BG" dirty="0"/>
              <a:t>Направете два отделни жеста с пръстите и дланите, като те ту правят единия жест, ту другия</a:t>
            </a:r>
          </a:p>
          <a:p>
            <a:pPr lvl="1"/>
            <a:r>
              <a:rPr lang="bg-BG" dirty="0"/>
              <a:t>Примерна двойка жестове:</a:t>
            </a:r>
          </a:p>
          <a:p>
            <a:pPr marL="914400" lvl="2"/>
            <a:r>
              <a:rPr lang="bg-BG" dirty="0"/>
              <a:t>Барабанене с пръсти</a:t>
            </a:r>
          </a:p>
          <a:p>
            <a:pPr marL="914400" lvl="2"/>
            <a:r>
              <a:rPr lang="bg-BG" dirty="0"/>
              <a:t>Отрицателно-забранителен жест</a:t>
            </a:r>
          </a:p>
        </p:txBody>
      </p:sp>
    </p:spTree>
    <p:extLst>
      <p:ext uri="{BB962C8B-B14F-4D97-AF65-F5344CB8AC3E}">
        <p14:creationId xmlns:p14="http://schemas.microsoft.com/office/powerpoint/2010/main" val="3130690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16</a:t>
            </a:fld>
            <a:endParaRPr lang="bg-BG" dirty="0"/>
          </a:p>
        </p:txBody>
      </p:sp>
      <p:sp>
        <p:nvSpPr>
          <p:cNvPr id="8" name="Rectangle 7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9" name="Rectangle 8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7170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7285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Коремни преси</a:t>
            </a:r>
          </a:p>
          <a:p>
            <a:pPr lvl="1"/>
            <a:r>
              <a:rPr lang="bg-BG" dirty="0" err="1"/>
              <a:t>Анимирайте</a:t>
            </a:r>
            <a:r>
              <a:rPr lang="bg-BG" dirty="0"/>
              <a:t> човечето като примера от лекциите да прави коремни преси с лакът към срещуположно коляно</a:t>
            </a:r>
          </a:p>
        </p:txBody>
      </p:sp>
    </p:spTree>
    <p:extLst>
      <p:ext uri="{BB962C8B-B14F-4D97-AF65-F5344CB8AC3E}">
        <p14:creationId xmlns:p14="http://schemas.microsoft.com/office/powerpoint/2010/main" val="1271819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18</a:t>
            </a:fld>
            <a:endParaRPr lang="bg-BG" dirty="0"/>
          </a:p>
        </p:txBody>
      </p:sp>
      <p:pic>
        <p:nvPicPr>
          <p:cNvPr id="8197" name="Picture 5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8" name="Rectangle 7">
            <a:hlinkClick r:id="rId4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0275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Безтегловност</a:t>
            </a:r>
          </a:p>
          <a:p>
            <a:pPr lvl="1"/>
            <a:r>
              <a:rPr lang="bg-BG" dirty="0"/>
              <a:t>Направете </a:t>
            </a:r>
            <a:r>
              <a:rPr lang="en-US" b="1" dirty="0"/>
              <a:t>n</a:t>
            </a:r>
            <a:r>
              <a:rPr lang="bg-BG" dirty="0"/>
              <a:t> фигурки</a:t>
            </a:r>
          </a:p>
          <a:p>
            <a:pPr lvl="1"/>
            <a:r>
              <a:rPr lang="bg-BG" dirty="0"/>
              <a:t>Всяка се движи като че ли е в безтегловност</a:t>
            </a:r>
          </a:p>
          <a:p>
            <a:pPr lvl="1"/>
            <a:r>
              <a:rPr lang="bg-BG" dirty="0"/>
              <a:t>По възможност да се използва само един скелет</a:t>
            </a:r>
          </a:p>
        </p:txBody>
      </p:sp>
    </p:spTree>
    <p:extLst>
      <p:ext uri="{BB962C8B-B14F-4D97-AF65-F5344CB8AC3E}">
        <p14:creationId xmlns:p14="http://schemas.microsoft.com/office/powerpoint/2010/main" val="2314618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20</a:t>
            </a:fld>
            <a:endParaRPr lang="bg-BG" dirty="0"/>
          </a:p>
        </p:txBody>
      </p:sp>
      <p:sp>
        <p:nvSpPr>
          <p:cNvPr id="7" name="Rectangle 6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8" name="Rectangle 7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9219" name="Picture 3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2746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№9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Стъпка по стъпка</a:t>
            </a:r>
          </a:p>
          <a:p>
            <a:pPr lvl="1"/>
            <a:r>
              <a:rPr lang="bg-BG" dirty="0"/>
              <a:t>Направете човече да ходи</a:t>
            </a:r>
          </a:p>
          <a:p>
            <a:pPr lvl="1"/>
            <a:r>
              <a:rPr lang="bg-BG" dirty="0"/>
              <a:t>Краката да не се плъзгат нито напред, нито назад</a:t>
            </a:r>
          </a:p>
        </p:txBody>
      </p:sp>
    </p:spTree>
    <p:extLst>
      <p:ext uri="{BB962C8B-B14F-4D97-AF65-F5344CB8AC3E}">
        <p14:creationId xmlns:p14="http://schemas.microsoft.com/office/powerpoint/2010/main" val="2270206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37D5FE-740C-46F5-801A-FA5477D9711F}" type="slidenum">
              <a:rPr lang="bg-BG" smtClean="0"/>
              <a:pPr/>
              <a:t>22</a:t>
            </a:fld>
            <a:endParaRPr lang="bg-BG" dirty="0"/>
          </a:p>
        </p:txBody>
      </p:sp>
      <p:sp>
        <p:nvSpPr>
          <p:cNvPr id="7" name="Rectangle 6">
            <a:hlinkClick r:id="rId2" action="ppaction://hlinkfile"/>
          </p:cNvPr>
          <p:cNvSpPr/>
          <p:nvPr/>
        </p:nvSpPr>
        <p:spPr>
          <a:xfrm>
            <a:off x="3048000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 err="1"/>
              <a:t>Демо</a:t>
            </a:r>
            <a:endParaRPr lang="en-US" sz="1600" dirty="0"/>
          </a:p>
        </p:txBody>
      </p:sp>
      <p:sp>
        <p:nvSpPr>
          <p:cNvPr id="8" name="Rectangle 7">
            <a:hlinkClick r:id="rId3" action="ppaction://hlinkfile"/>
          </p:cNvPr>
          <p:cNvSpPr/>
          <p:nvPr/>
        </p:nvSpPr>
        <p:spPr>
          <a:xfrm>
            <a:off x="4876801" y="62484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10242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"/>
            <a:ext cx="6076950" cy="543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54519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17597286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12044</TotalTime>
  <Words>447</Words>
  <Application>Microsoft Office PowerPoint</Application>
  <PresentationFormat>On-screen Show (4:3)</PresentationFormat>
  <Paragraphs>95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Скелети</vt:lpstr>
      <vt:lpstr>PowerPoint Presentation</vt:lpstr>
      <vt:lpstr>Задача №1</vt:lpstr>
      <vt:lpstr>PowerPoint Presentation</vt:lpstr>
      <vt:lpstr>Задача №2</vt:lpstr>
      <vt:lpstr>PowerPoint Presentation</vt:lpstr>
      <vt:lpstr>PowerPoint Presentation</vt:lpstr>
      <vt:lpstr>Задача №3</vt:lpstr>
      <vt:lpstr>PowerPoint Presentation</vt:lpstr>
      <vt:lpstr>PowerPoint Presentation</vt:lpstr>
      <vt:lpstr>Задача №4</vt:lpstr>
      <vt:lpstr>PowerPoint Presentation</vt:lpstr>
      <vt:lpstr>Задача №5</vt:lpstr>
      <vt:lpstr>PowerPoint Presentation</vt:lpstr>
      <vt:lpstr>Задача №6</vt:lpstr>
      <vt:lpstr>PowerPoint Presentation</vt:lpstr>
      <vt:lpstr>Задача №7</vt:lpstr>
      <vt:lpstr>PowerPoint Presentation</vt:lpstr>
      <vt:lpstr>Задача №8</vt:lpstr>
      <vt:lpstr>PowerPoint Presentation</vt:lpstr>
      <vt:lpstr>Задача №9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WebGL-Problems-08</dc:title>
  <dc:creator>Pavel Boytchev</dc:creator>
  <cp:lastModifiedBy>Pavel Boytchev</cp:lastModifiedBy>
  <cp:revision>536</cp:revision>
  <dcterms:created xsi:type="dcterms:W3CDTF">2013-12-13T09:03:57Z</dcterms:created>
  <dcterms:modified xsi:type="dcterms:W3CDTF">2021-10-17T10:16:47Z</dcterms:modified>
</cp:coreProperties>
</file>