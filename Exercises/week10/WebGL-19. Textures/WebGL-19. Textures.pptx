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65"/>
  </p:notesMasterIdLst>
  <p:sldIdLst>
    <p:sldId id="256" r:id="rId2"/>
    <p:sldId id="297" r:id="rId3"/>
    <p:sldId id="681" r:id="rId4"/>
    <p:sldId id="894" r:id="rId5"/>
    <p:sldId id="1005" r:id="rId6"/>
    <p:sldId id="1063" r:id="rId7"/>
    <p:sldId id="1065" r:id="rId8"/>
    <p:sldId id="1066" r:id="rId9"/>
    <p:sldId id="1067" r:id="rId10"/>
    <p:sldId id="1068" r:id="rId11"/>
    <p:sldId id="1069" r:id="rId12"/>
    <p:sldId id="1070" r:id="rId13"/>
    <p:sldId id="1072" r:id="rId14"/>
    <p:sldId id="1071" r:id="rId15"/>
    <p:sldId id="1064" r:id="rId16"/>
    <p:sldId id="1075" r:id="rId17"/>
    <p:sldId id="1073" r:id="rId18"/>
    <p:sldId id="1078" r:id="rId19"/>
    <p:sldId id="1080" r:id="rId20"/>
    <p:sldId id="1079" r:id="rId21"/>
    <p:sldId id="1082" r:id="rId22"/>
    <p:sldId id="1083" r:id="rId23"/>
    <p:sldId id="1084" r:id="rId24"/>
    <p:sldId id="1060" r:id="rId25"/>
    <p:sldId id="1085" r:id="rId26"/>
    <p:sldId id="1086" r:id="rId27"/>
    <p:sldId id="1118" r:id="rId28"/>
    <p:sldId id="1087" r:id="rId29"/>
    <p:sldId id="1088" r:id="rId30"/>
    <p:sldId id="1089" r:id="rId31"/>
    <p:sldId id="1091" r:id="rId32"/>
    <p:sldId id="1092" r:id="rId33"/>
    <p:sldId id="1061" r:id="rId34"/>
    <p:sldId id="1093" r:id="rId35"/>
    <p:sldId id="1094" r:id="rId36"/>
    <p:sldId id="1097" r:id="rId37"/>
    <p:sldId id="1095" r:id="rId38"/>
    <p:sldId id="1098" r:id="rId39"/>
    <p:sldId id="1099" r:id="rId40"/>
    <p:sldId id="1100" r:id="rId41"/>
    <p:sldId id="1101" r:id="rId42"/>
    <p:sldId id="1103" r:id="rId43"/>
    <p:sldId id="1102" r:id="rId44"/>
    <p:sldId id="1104" r:id="rId45"/>
    <p:sldId id="1105" r:id="rId46"/>
    <p:sldId id="1106" r:id="rId47"/>
    <p:sldId id="1107" r:id="rId48"/>
    <p:sldId id="1108" r:id="rId49"/>
    <p:sldId id="1110" r:id="rId50"/>
    <p:sldId id="1111" r:id="rId51"/>
    <p:sldId id="1112" r:id="rId52"/>
    <p:sldId id="1114" r:id="rId53"/>
    <p:sldId id="1113" r:id="rId54"/>
    <p:sldId id="1115" r:id="rId55"/>
    <p:sldId id="1116" r:id="rId56"/>
    <p:sldId id="1117" r:id="rId57"/>
    <p:sldId id="1076" r:id="rId58"/>
    <p:sldId id="1077" r:id="rId59"/>
    <p:sldId id="1081" r:id="rId60"/>
    <p:sldId id="1090" r:id="rId61"/>
    <p:sldId id="1109" r:id="rId62"/>
    <p:sldId id="289" r:id="rId63"/>
    <p:sldId id="290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94C600"/>
    <a:srgbClr val="AAEA25"/>
    <a:srgbClr val="6F9500"/>
    <a:srgbClr val="000000"/>
    <a:srgbClr val="00CCFF"/>
    <a:srgbClr val="0099FF"/>
    <a:srgbClr val="C7DC8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4" autoAdjust="0"/>
    <p:restoredTop sz="99825" autoAdjust="0"/>
  </p:normalViewPr>
  <p:slideViewPr>
    <p:cSldViewPr>
      <p:cViewPr varScale="1">
        <p:scale>
          <a:sx n="84" d="100"/>
          <a:sy n="84" d="100"/>
        </p:scale>
        <p:origin x="12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9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52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30.10.2021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1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>
              <a:buClr>
                <a:schemeClr val="accent1">
                  <a:lumMod val="75000"/>
                </a:schemeClr>
              </a:buClr>
              <a:defRPr lang="en-US" sz="20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bg-BG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lrTx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bg2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rgbClr val="006600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rgbClr val="0066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56307" y="4478669"/>
            <a:ext cx="626552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проф. П. Бойчев ● КИТ ● ФМИ ● СУ ●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7332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rgbClr val="0033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rgbClr val="339933"/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rgbClr val="006600"/>
          </a:solidFill>
          <a:effectLst>
            <a:outerShdw blurRad="63500" algn="ctr" rotWithShape="0">
              <a:srgbClr val="339933">
                <a:alpha val="40000"/>
              </a:srgb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Example%201%20-%20Picture%20in%20a%20square" TargetMode="External"/><Relationship Id="rId2" Type="http://schemas.openxmlformats.org/officeDocument/2006/relationships/hyperlink" Target="Example%201%20-%20Picture%20in%20a%20square/Example%2019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Example%201%20-%20Picture%20in%20a%20square" TargetMode="External"/><Relationship Id="rId2" Type="http://schemas.openxmlformats.org/officeDocument/2006/relationships/hyperlink" Target="http://localhost/Example%201%20-%20Picture%20in%20a%20square/Example%2019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Example%202%20-%20Y-Flipping" TargetMode="External"/><Relationship Id="rId2" Type="http://schemas.openxmlformats.org/officeDocument/2006/relationships/hyperlink" Target="http://localhost/Example%202%20-%20Y-Flipping/Example%2019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Example%203%20-%20Brick%20wall" TargetMode="External"/><Relationship Id="rId2" Type="http://schemas.openxmlformats.org/officeDocument/2006/relationships/hyperlink" Target="http://localhost/Example%203%20-%20Brick%20wall/Example%2019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Example%204%20-%20Pixelization%20and%20noise" TargetMode="External"/><Relationship Id="rId2" Type="http://schemas.openxmlformats.org/officeDocument/2006/relationships/hyperlink" Target="http://localhost/Example%204%20-%20Pixelization%20and%20noise/Example%2019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Example%205%20-%20No%20pixelization" TargetMode="External"/><Relationship Id="rId2" Type="http://schemas.openxmlformats.org/officeDocument/2006/relationships/hyperlink" Target="http://localhost/Example%205%20-%20No%20pixelization/Example%2019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Relationship Id="rId9" Type="http://schemas.openxmlformats.org/officeDocument/2006/relationships/image" Target="../media/image38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Example%206%20-%20No%20noise" TargetMode="External"/><Relationship Id="rId2" Type="http://schemas.openxmlformats.org/officeDocument/2006/relationships/hyperlink" Target="http://localhost/Example%206%20-%20No%20noise/Example%2019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Example%207%20-%20Textured%20cube" TargetMode="External"/><Relationship Id="rId7" Type="http://schemas.openxmlformats.org/officeDocument/2006/relationships/image" Target="../media/image44.png"/><Relationship Id="rId2" Type="http://schemas.openxmlformats.org/officeDocument/2006/relationships/hyperlink" Target="http://localhost/Example%207%20-%20Textured%20cube/Example%201907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Тема №</a:t>
            </a:r>
            <a:r>
              <a:rPr lang="en-US" dirty="0"/>
              <a:t>19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 тази лекция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  <a:p>
            <a:pPr lvl="1"/>
            <a:r>
              <a:rPr lang="bg-BG" dirty="0"/>
              <a:t>Увод в текстурите</a:t>
            </a:r>
          </a:p>
          <a:p>
            <a:pPr lvl="1"/>
            <a:r>
              <a:rPr lang="bg-BG" dirty="0"/>
              <a:t>Картинка в квадрат</a:t>
            </a:r>
          </a:p>
          <a:p>
            <a:pPr lvl="1"/>
            <a:r>
              <a:rPr lang="bg-BG" dirty="0"/>
              <a:t>Безшевни текстури</a:t>
            </a:r>
          </a:p>
          <a:p>
            <a:pPr lvl="1"/>
            <a:r>
              <a:rPr lang="en-US" dirty="0" err="1"/>
              <a:t>Mipmap</a:t>
            </a:r>
            <a:r>
              <a:rPr lang="bg-BG" dirty="0"/>
              <a:t> текстури</a:t>
            </a:r>
          </a:p>
          <a:p>
            <a:pPr lvl="1"/>
            <a:r>
              <a:rPr lang="bg-BG" dirty="0" err="1"/>
              <a:t>Текстуриран</a:t>
            </a:r>
            <a:r>
              <a:rPr lang="bg-BG" dirty="0"/>
              <a:t> куб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Увод в текстурите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895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Текстура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 английски </a:t>
            </a:r>
            <a:r>
              <a:rPr lang="en-US" i="1" dirty="0"/>
              <a:t>texture</a:t>
            </a:r>
          </a:p>
          <a:p>
            <a:pPr lvl="1"/>
            <a:r>
              <a:rPr lang="bg-BG" dirty="0"/>
              <a:t>Структура (най-често повърхностна)</a:t>
            </a:r>
          </a:p>
          <a:p>
            <a:pPr lvl="1"/>
            <a:r>
              <a:rPr lang="bg-BG" dirty="0"/>
              <a:t>Грапавината, усещана при докосване</a:t>
            </a:r>
          </a:p>
          <a:p>
            <a:pPr lvl="1"/>
            <a:endParaRPr lang="bg-BG" dirty="0"/>
          </a:p>
          <a:p>
            <a:r>
              <a:rPr lang="bg-BG" dirty="0"/>
              <a:t>В компютърната графика</a:t>
            </a:r>
          </a:p>
          <a:p>
            <a:pPr lvl="1"/>
            <a:r>
              <a:rPr lang="bg-BG" dirty="0"/>
              <a:t>Изображение, наложено върху обект</a:t>
            </a:r>
          </a:p>
          <a:p>
            <a:pPr lvl="1"/>
            <a:r>
              <a:rPr lang="bg-BG" dirty="0"/>
              <a:t>Приема формата на обекта</a:t>
            </a:r>
          </a:p>
          <a:p>
            <a:pPr lvl="1"/>
            <a:endParaRPr lang="bg-BG" dirty="0"/>
          </a:p>
          <a:p>
            <a:r>
              <a:rPr lang="bg-BG" dirty="0"/>
              <a:t>Термини</a:t>
            </a:r>
          </a:p>
          <a:p>
            <a:pPr lvl="1"/>
            <a:r>
              <a:rPr lang="bg-BG" dirty="0"/>
              <a:t>Пиксел от текстура се нарича </a:t>
            </a:r>
            <a:r>
              <a:rPr lang="bg-BG" i="1" dirty="0" err="1"/>
              <a:t>тексел</a:t>
            </a:r>
            <a:r>
              <a:rPr lang="bg-BG" i="1" dirty="0"/>
              <a:t> </a:t>
            </a:r>
            <a:r>
              <a:rPr lang="bg-BG" dirty="0"/>
              <a:t>(</a:t>
            </a:r>
            <a:r>
              <a:rPr lang="en-US" i="1" dirty="0" err="1"/>
              <a:t>texel</a:t>
            </a:r>
            <a:r>
              <a:rPr lang="bg-BG" dirty="0"/>
              <a:t>)</a:t>
            </a:r>
          </a:p>
          <a:p>
            <a:pPr lvl="1"/>
            <a:r>
              <a:rPr lang="bg-BG" dirty="0"/>
              <a:t>Извличане на </a:t>
            </a:r>
            <a:r>
              <a:rPr lang="bg-BG" dirty="0" err="1"/>
              <a:t>тексел</a:t>
            </a:r>
            <a:r>
              <a:rPr lang="bg-BG" dirty="0"/>
              <a:t> (</a:t>
            </a:r>
            <a:r>
              <a:rPr lang="en-US" i="1" dirty="0"/>
              <a:t>sampling</a:t>
            </a:r>
            <a:r>
              <a:rPr lang="en-US" dirty="0"/>
              <a:t>)</a:t>
            </a:r>
            <a:endParaRPr lang="bg-BG" dirty="0"/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7411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Структура на материали </a:t>
            </a:r>
          </a:p>
          <a:p>
            <a:pPr lvl="1">
              <a:defRPr/>
            </a:pPr>
            <a:r>
              <a:rPr lang="bg-BG" dirty="0"/>
              <a:t>Пресъздаване на дървен паркет с чепове и годишни кръгове, ожулена метална повърхност, кожа с рани, …</a:t>
            </a:r>
          </a:p>
          <a:p>
            <a:pPr lvl="1">
              <a:defRPr/>
            </a:pPr>
            <a:r>
              <a:rPr lang="bg-BG" dirty="0"/>
              <a:t>Микрорелеф, грапавини, грайфери, резби, …</a:t>
            </a:r>
          </a:p>
          <a:p>
            <a:pPr lvl="1">
              <a:defRPr/>
            </a:pPr>
            <a:endParaRPr lang="bg-BG" dirty="0"/>
          </a:p>
          <a:p>
            <a:pPr>
              <a:defRPr/>
            </a:pPr>
            <a:r>
              <a:rPr lang="bg-BG" dirty="0"/>
              <a:t>Повторяеми елементи</a:t>
            </a:r>
          </a:p>
          <a:p>
            <a:pPr lvl="1">
              <a:defRPr/>
            </a:pPr>
            <a:r>
              <a:rPr lang="bg-BG" dirty="0"/>
              <a:t>Пресъздаване на повторяема структура</a:t>
            </a:r>
          </a:p>
          <a:p>
            <a:pPr lvl="1">
              <a:defRPr/>
            </a:pPr>
            <a:r>
              <a:rPr lang="bg-BG" dirty="0"/>
              <a:t>Тухлена стена, </a:t>
            </a:r>
            <a:r>
              <a:rPr lang="en-US" dirty="0"/>
              <a:t> </a:t>
            </a:r>
            <a:r>
              <a:rPr lang="bg-BG" dirty="0"/>
              <a:t>плочки в баня, прозорци на сграда, …</a:t>
            </a:r>
          </a:p>
          <a:p>
            <a:pPr lvl="1">
              <a:defRPr/>
            </a:pPr>
            <a:endParaRPr lang="bg-BG" sz="1000" dirty="0"/>
          </a:p>
          <a:p>
            <a:pPr>
              <a:defRPr/>
            </a:pPr>
            <a:r>
              <a:rPr lang="bg-BG" dirty="0"/>
              <a:t>Фонови картинки</a:t>
            </a:r>
          </a:p>
          <a:p>
            <a:pPr lvl="1">
              <a:defRPr/>
            </a:pPr>
            <a:r>
              <a:rPr lang="bg-BG" dirty="0"/>
              <a:t>Картинки върху сфери, повърхности</a:t>
            </a:r>
          </a:p>
          <a:p>
            <a:pPr lvl="1">
              <a:defRPr/>
            </a:pPr>
            <a:r>
              <a:rPr lang="bg-BG" dirty="0"/>
              <a:t>Небе с облаци, звезди, карти, …</a:t>
            </a:r>
          </a:p>
          <a:p>
            <a:pPr lvl="1">
              <a:defRPr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39764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Структура и координати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Форма</a:t>
            </a:r>
          </a:p>
          <a:p>
            <a:pPr lvl="1"/>
            <a:r>
              <a:rPr lang="bg-BG" dirty="0"/>
              <a:t>Текстурата е винаги правоъгълна картинка</a:t>
            </a:r>
          </a:p>
          <a:p>
            <a:pPr lvl="1"/>
            <a:endParaRPr lang="bg-BG" dirty="0"/>
          </a:p>
          <a:p>
            <a:r>
              <a:rPr lang="bg-BG" dirty="0"/>
              <a:t>Координати</a:t>
            </a:r>
          </a:p>
          <a:p>
            <a:pPr lvl="1"/>
            <a:r>
              <a:rPr lang="bg-BG" dirty="0"/>
              <a:t>Собствена координатна система – </a:t>
            </a:r>
            <a:r>
              <a:rPr lang="bg-BG" dirty="0" err="1"/>
              <a:t>текстурна</a:t>
            </a:r>
            <a:endParaRPr lang="bg-BG" dirty="0"/>
          </a:p>
          <a:p>
            <a:pPr lvl="1"/>
            <a:r>
              <a:rPr lang="bg-BG" dirty="0"/>
              <a:t>В нея се определят координатите на </a:t>
            </a:r>
            <a:r>
              <a:rPr lang="bg-BG" dirty="0" err="1"/>
              <a:t>текселите</a:t>
            </a:r>
            <a:endParaRPr lang="bg-BG" dirty="0"/>
          </a:p>
          <a:p>
            <a:pPr lvl="1"/>
            <a:r>
              <a:rPr lang="bg-BG" dirty="0"/>
              <a:t>Текстура в своята </a:t>
            </a:r>
            <a:r>
              <a:rPr lang="bg-BG" dirty="0" err="1"/>
              <a:t>текстурна</a:t>
            </a:r>
            <a:r>
              <a:rPr lang="bg-BG" dirty="0"/>
              <a:t> координатна система е винаги от (0,</a:t>
            </a:r>
            <a:r>
              <a:rPr lang="bg-BG" dirty="0" err="1"/>
              <a:t>0</a:t>
            </a:r>
            <a:r>
              <a:rPr lang="bg-BG" dirty="0"/>
              <a:t>) до (1,</a:t>
            </a:r>
            <a:r>
              <a:rPr lang="bg-BG" dirty="0" err="1"/>
              <a:t>1</a:t>
            </a:r>
            <a:r>
              <a:rPr lang="bg-BG" dirty="0"/>
              <a:t>) включително</a:t>
            </a:r>
            <a:endParaRPr lang="en-US" dirty="0"/>
          </a:p>
          <a:p>
            <a:pPr lvl="1"/>
            <a:r>
              <a:rPr lang="bg-BG" dirty="0"/>
              <a:t>За имена на координатните оси ще използваме </a:t>
            </a:r>
            <a:r>
              <a:rPr lang="en-US" b="1" dirty="0"/>
              <a:t>S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b="1" dirty="0"/>
              <a:t>T</a:t>
            </a:r>
            <a:r>
              <a:rPr lang="en-US" dirty="0"/>
              <a:t> (</a:t>
            </a:r>
            <a:r>
              <a:rPr lang="bg-BG" dirty="0"/>
              <a:t>вместо </a:t>
            </a:r>
            <a:r>
              <a:rPr lang="en-US" b="1" dirty="0"/>
              <a:t>X</a:t>
            </a:r>
            <a:r>
              <a:rPr lang="bg-BG" dirty="0"/>
              <a:t> и </a:t>
            </a:r>
            <a:r>
              <a:rPr lang="en-US" b="1" dirty="0"/>
              <a:t>Y</a:t>
            </a:r>
            <a:r>
              <a:rPr lang="en-US" dirty="0"/>
              <a:t>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0703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1815352"/>
            <a:ext cx="5486401" cy="3200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14800" y="6135469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en-GB" sz="1200" dirty="0" err="1">
                <a:solidFill>
                  <a:schemeClr val="bg1">
                    <a:lumMod val="65000"/>
                  </a:schemeClr>
                </a:solidFill>
              </a:rPr>
              <a:t>ingapore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 river skyline building</a:t>
            </a: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GB" sz="1200" dirty="0" err="1">
                <a:solidFill>
                  <a:schemeClr val="bg1">
                    <a:lumMod val="65000"/>
                  </a:schemeClr>
                </a:solidFill>
              </a:rPr>
              <a:t>cegoh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CC0 Public Domain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http://pixabay.com/en/singapore-river-skyline-building-243669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14400" y="5015753"/>
            <a:ext cx="7315200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r="5400000" algn="ctr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828799" y="685800"/>
            <a:ext cx="0" cy="5449670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r="5400000" algn="ctr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34200" y="506954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(1,0)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9894" y="505609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(0,</a:t>
            </a:r>
            <a:r>
              <a:rPr lang="bg-BG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</a:t>
            </a:r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0930" y="14191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(0,1)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3482" y="14191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(1,</a:t>
            </a:r>
            <a:r>
              <a:rPr lang="bg-BG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7096" y="5078506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741" y="355504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0.4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658559" y="3755097"/>
            <a:ext cx="0" cy="1429185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1676400" y="3733800"/>
            <a:ext cx="3982159" cy="0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62600" y="3411787"/>
            <a:ext cx="1399761" cy="6133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127000"/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bg-BG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(0.7,0.4)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4459" y="511558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</a:t>
            </a:r>
            <a:endParaRPr lang="bg-BG" sz="28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58153" y="55581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T</a:t>
            </a:r>
            <a:endParaRPr lang="bg-BG" sz="28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Oval 16"/>
          <p:cNvSpPr/>
          <p:nvPr/>
        </p:nvSpPr>
        <p:spPr>
          <a:xfrm>
            <a:off x="5545567" y="3621293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7550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/>
          <p:cNvSpPr/>
          <p:nvPr/>
        </p:nvSpPr>
        <p:spPr>
          <a:xfrm flipV="1">
            <a:off x="2989728" y="5365849"/>
            <a:ext cx="2175980" cy="699408"/>
          </a:xfrm>
          <a:custGeom>
            <a:avLst/>
            <a:gdLst>
              <a:gd name="connsiteX0" fmla="*/ 0 w 1721224"/>
              <a:gd name="connsiteY0" fmla="*/ 363070 h 363070"/>
              <a:gd name="connsiteX1" fmla="*/ 1721224 w 1721224"/>
              <a:gd name="connsiteY1" fmla="*/ 0 h 363070"/>
              <a:gd name="connsiteX0" fmla="*/ 0 w 2057400"/>
              <a:gd name="connsiteY0" fmla="*/ 336176 h 336176"/>
              <a:gd name="connsiteX1" fmla="*/ 2057400 w 2057400"/>
              <a:gd name="connsiteY1" fmla="*/ 0 h 336176"/>
              <a:gd name="connsiteX0" fmla="*/ 0 w 2057400"/>
              <a:gd name="connsiteY0" fmla="*/ 355994 h 355994"/>
              <a:gd name="connsiteX1" fmla="*/ 2057400 w 2057400"/>
              <a:gd name="connsiteY1" fmla="*/ 19818 h 355994"/>
              <a:gd name="connsiteX0" fmla="*/ 0 w 2070847"/>
              <a:gd name="connsiteY0" fmla="*/ 524852 h 524852"/>
              <a:gd name="connsiteX1" fmla="*/ 2070847 w 2070847"/>
              <a:gd name="connsiteY1" fmla="*/ 13864 h 524852"/>
              <a:gd name="connsiteX0" fmla="*/ 0 w 2070847"/>
              <a:gd name="connsiteY0" fmla="*/ 699408 h 699408"/>
              <a:gd name="connsiteX1" fmla="*/ 2070847 w 2070847"/>
              <a:gd name="connsiteY1" fmla="*/ 188420 h 699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847" h="699408">
                <a:moveTo>
                  <a:pt x="0" y="699408"/>
                </a:moveTo>
                <a:cubicBezTo>
                  <a:pt x="0" y="-380840"/>
                  <a:pt x="1264024" y="85326"/>
                  <a:pt x="2070847" y="18842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Внимание</a:t>
            </a:r>
          </a:p>
          <a:p>
            <a:pPr lvl="1"/>
            <a:r>
              <a:rPr lang="bg-BG" dirty="0"/>
              <a:t>За пълна функционалност размерите в пиксели са </a:t>
            </a: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bg-BG" baseline="30000" dirty="0"/>
              <a:t> </a:t>
            </a:r>
            <a:r>
              <a:rPr lang="en-US" dirty="0"/>
              <a:t>x</a:t>
            </a:r>
            <a:r>
              <a:rPr lang="bg-BG" dirty="0"/>
              <a:t> </a:t>
            </a:r>
            <a:r>
              <a:rPr lang="en-US" dirty="0"/>
              <a:t>2</a:t>
            </a:r>
            <a:r>
              <a:rPr lang="en-US" baseline="30000" dirty="0"/>
              <a:t>m</a:t>
            </a:r>
            <a:endParaRPr lang="bg-BG" baseline="30000" dirty="0"/>
          </a:p>
          <a:p>
            <a:pPr lvl="1"/>
            <a:r>
              <a:rPr lang="bg-BG" dirty="0"/>
              <a:t>Ако не са, ще има само базова функционалност</a:t>
            </a:r>
          </a:p>
          <a:p>
            <a:pPr lvl="1"/>
            <a:r>
              <a:rPr lang="bg-BG" dirty="0"/>
              <a:t>Термини</a:t>
            </a:r>
            <a:r>
              <a:rPr lang="en-US" dirty="0"/>
              <a:t>:</a:t>
            </a:r>
          </a:p>
          <a:p>
            <a:pPr marL="914400" lvl="2"/>
            <a:r>
              <a:rPr lang="en-US" b="1" dirty="0"/>
              <a:t>POT</a:t>
            </a:r>
            <a:r>
              <a:rPr lang="en-US" dirty="0"/>
              <a:t>-</a:t>
            </a:r>
            <a:r>
              <a:rPr lang="bg-BG" dirty="0"/>
              <a:t>картинка (</a:t>
            </a:r>
            <a:r>
              <a:rPr lang="en-US" i="1" dirty="0"/>
              <a:t>power-of-two</a:t>
            </a:r>
            <a:r>
              <a:rPr lang="en-US" dirty="0"/>
              <a:t>)</a:t>
            </a:r>
          </a:p>
          <a:p>
            <a:pPr marL="914400" lvl="2"/>
            <a:r>
              <a:rPr lang="en-US" b="1" dirty="0" err="1"/>
              <a:t>NPOT</a:t>
            </a:r>
            <a:r>
              <a:rPr lang="en-US" dirty="0"/>
              <a:t>-</a:t>
            </a:r>
            <a:r>
              <a:rPr lang="bg-BG" dirty="0"/>
              <a:t>картинка (</a:t>
            </a:r>
            <a:r>
              <a:rPr lang="en-US" i="1" dirty="0"/>
              <a:t>non-power-of-two</a:t>
            </a:r>
            <a:r>
              <a:rPr lang="en-US" dirty="0"/>
              <a:t>)</a:t>
            </a:r>
            <a:endParaRPr lang="bg-BG" dirty="0"/>
          </a:p>
          <a:p>
            <a:pPr lvl="1"/>
            <a:endParaRPr lang="bg-BG" dirty="0"/>
          </a:p>
        </p:txBody>
      </p:sp>
      <p:pic>
        <p:nvPicPr>
          <p:cNvPr id="3074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563" y="3869531"/>
            <a:ext cx="3048000" cy="17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1563" y="4432012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NPOT</a:t>
            </a:r>
            <a:endParaRPr lang="en-US" sz="16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  <a:p>
            <a:pPr algn="r"/>
            <a:r>
              <a:rPr lang="en-US" sz="16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(640 x 359)</a:t>
            </a:r>
            <a:endParaRPr lang="bg-BG" sz="16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pic>
        <p:nvPicPr>
          <p:cNvPr id="3076" name="Picture 4" descr="D:\Pavel\Courses\MATERIALS\Course.WebGL 2015-16\Lectures\WebGL-19 Textures\singapore-243669_5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673" y="3050977"/>
            <a:ext cx="24384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D:\Pavel\Courses\MATERIALS\Course.WebGL 2015-16\Lectures\WebGL-19 Textures\singapore-243669_256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673" y="5039672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613073" y="3368189"/>
            <a:ext cx="1454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POT</a:t>
            </a:r>
          </a:p>
          <a:p>
            <a:r>
              <a:rPr lang="en-US" sz="16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(512 x 256)</a:t>
            </a:r>
            <a:endParaRPr lang="bg-BG" sz="16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93873" y="5356884"/>
            <a:ext cx="144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POT</a:t>
            </a:r>
          </a:p>
          <a:p>
            <a:r>
              <a:rPr lang="en-US" sz="16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(256 x 256)</a:t>
            </a:r>
            <a:endParaRPr lang="bg-BG" sz="16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3035" y="548666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(0,</a:t>
            </a:r>
            <a:r>
              <a:rPr lang="bg-BG" sz="1400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</a:t>
            </a:r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2694" y="360829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(1,</a:t>
            </a:r>
            <a:r>
              <a:rPr lang="bg-BG" sz="1400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3178" y="6152817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(0,</a:t>
            </a:r>
            <a:r>
              <a:rPr lang="bg-BG" sz="1400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</a:t>
            </a:r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365" y="419100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(0,</a:t>
            </a:r>
            <a:r>
              <a:rPr lang="bg-BG" sz="1400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</a:t>
            </a:r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8741" y="4784176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(1,</a:t>
            </a:r>
            <a:r>
              <a:rPr lang="bg-BG" sz="1400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941" y="278952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(1,</a:t>
            </a:r>
            <a:r>
              <a:rPr lang="bg-BG" sz="1400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bg-BG" sz="14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7" name="Freeform 6"/>
          <p:cNvSpPr/>
          <p:nvPr/>
        </p:nvSpPr>
        <p:spPr>
          <a:xfrm>
            <a:off x="2998693" y="3186792"/>
            <a:ext cx="2175980" cy="699408"/>
          </a:xfrm>
          <a:custGeom>
            <a:avLst/>
            <a:gdLst>
              <a:gd name="connsiteX0" fmla="*/ 0 w 1721224"/>
              <a:gd name="connsiteY0" fmla="*/ 363070 h 363070"/>
              <a:gd name="connsiteX1" fmla="*/ 1721224 w 1721224"/>
              <a:gd name="connsiteY1" fmla="*/ 0 h 363070"/>
              <a:gd name="connsiteX0" fmla="*/ 0 w 2057400"/>
              <a:gd name="connsiteY0" fmla="*/ 336176 h 336176"/>
              <a:gd name="connsiteX1" fmla="*/ 2057400 w 2057400"/>
              <a:gd name="connsiteY1" fmla="*/ 0 h 336176"/>
              <a:gd name="connsiteX0" fmla="*/ 0 w 2057400"/>
              <a:gd name="connsiteY0" fmla="*/ 355994 h 355994"/>
              <a:gd name="connsiteX1" fmla="*/ 2057400 w 2057400"/>
              <a:gd name="connsiteY1" fmla="*/ 19818 h 355994"/>
              <a:gd name="connsiteX0" fmla="*/ 0 w 2070847"/>
              <a:gd name="connsiteY0" fmla="*/ 524852 h 524852"/>
              <a:gd name="connsiteX1" fmla="*/ 2070847 w 2070847"/>
              <a:gd name="connsiteY1" fmla="*/ 13864 h 524852"/>
              <a:gd name="connsiteX0" fmla="*/ 0 w 2070847"/>
              <a:gd name="connsiteY0" fmla="*/ 699408 h 699408"/>
              <a:gd name="connsiteX1" fmla="*/ 2070847 w 2070847"/>
              <a:gd name="connsiteY1" fmla="*/ 188420 h 699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847" h="699408">
                <a:moveTo>
                  <a:pt x="0" y="699408"/>
                </a:moveTo>
                <a:cubicBezTo>
                  <a:pt x="0" y="-380840"/>
                  <a:pt x="1264024" y="85326"/>
                  <a:pt x="2070847" y="18842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252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Картинка в квадрат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Минимален пример</a:t>
            </a:r>
          </a:p>
        </p:txBody>
      </p:sp>
    </p:spTree>
    <p:extLst>
      <p:ext uri="{BB962C8B-B14F-4D97-AF65-F5344CB8AC3E}">
        <p14:creationId xmlns:p14="http://schemas.microsoft.com/office/powerpoint/2010/main" val="660025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Картинка в квадрат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Цел</a:t>
            </a:r>
          </a:p>
          <a:p>
            <a:pPr lvl="1"/>
            <a:r>
              <a:rPr lang="bg-BG" dirty="0"/>
              <a:t>Имаме картинка, зареждаме я като текстура</a:t>
            </a:r>
          </a:p>
          <a:p>
            <a:pPr lvl="1"/>
            <a:r>
              <a:rPr lang="bg-BG" dirty="0"/>
              <a:t>Наслагваме я върху квадрат</a:t>
            </a:r>
            <a:endParaRPr lang="en-US" dirty="0"/>
          </a:p>
          <a:p>
            <a:pPr lvl="1"/>
            <a:r>
              <a:rPr lang="bg-BG" dirty="0"/>
              <a:t>Да я видим в </a:t>
            </a:r>
            <a:r>
              <a:rPr lang="en-US" dirty="0"/>
              <a:t>WebGL</a:t>
            </a:r>
            <a:r>
              <a:rPr lang="bg-BG" dirty="0"/>
              <a:t> сцена с минимални настройки</a:t>
            </a:r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Стъпки</a:t>
            </a:r>
          </a:p>
          <a:p>
            <a:pPr lvl="1"/>
            <a:r>
              <a:rPr lang="bg-BG" dirty="0"/>
              <a:t>Създаване на текстура от картинка</a:t>
            </a:r>
          </a:p>
          <a:p>
            <a:pPr lvl="1"/>
            <a:r>
              <a:rPr lang="bg-BG" dirty="0"/>
              <a:t>Определяне на начина на наслагване върху квадрата</a:t>
            </a:r>
          </a:p>
          <a:p>
            <a:pPr lvl="1"/>
            <a:r>
              <a:rPr lang="bg-BG" dirty="0"/>
              <a:t>Промяна на </a:t>
            </a:r>
            <a:r>
              <a:rPr lang="bg-BG" dirty="0" err="1"/>
              <a:t>шейдърите</a:t>
            </a:r>
            <a:r>
              <a:rPr lang="bg-BG" dirty="0"/>
              <a:t>, за да извличат цветовете на </a:t>
            </a:r>
            <a:r>
              <a:rPr lang="bg-BG" dirty="0" err="1"/>
              <a:t>текселите</a:t>
            </a:r>
            <a:r>
              <a:rPr lang="bg-BG" dirty="0"/>
              <a:t> при рисуване на квадрата</a:t>
            </a:r>
          </a:p>
        </p:txBody>
      </p:sp>
    </p:spTree>
    <p:extLst>
      <p:ext uri="{BB962C8B-B14F-4D97-AF65-F5344CB8AC3E}">
        <p14:creationId xmlns:p14="http://schemas.microsoft.com/office/powerpoint/2010/main" val="70961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Предупреждение</a:t>
            </a:r>
          </a:p>
          <a:p>
            <a:pPr lvl="1"/>
            <a:r>
              <a:rPr lang="bg-BG" dirty="0"/>
              <a:t>Работата с текстури не е тривиална</a:t>
            </a:r>
          </a:p>
          <a:p>
            <a:pPr lvl="1"/>
            <a:r>
              <a:rPr lang="bg-BG" dirty="0"/>
              <a:t>Трябва няколко неща да са едновременно правилни, за да се види текстура върху обект на екрана</a:t>
            </a:r>
          </a:p>
          <a:p>
            <a:pPr lvl="1"/>
            <a:r>
              <a:rPr lang="bg-BG" dirty="0"/>
              <a:t>Има много неща, които могат да се объркат</a:t>
            </a:r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Външен ефект при проблем</a:t>
            </a:r>
          </a:p>
          <a:p>
            <a:pPr lvl="1"/>
            <a:r>
              <a:rPr lang="bg-BG" dirty="0"/>
              <a:t>Сериозен проблем: няма изображение</a:t>
            </a:r>
          </a:p>
          <a:p>
            <a:pPr lvl="1"/>
            <a:r>
              <a:rPr lang="bg-BG" dirty="0"/>
              <a:t>Среден проблем: вместо текстура се вижда черен цвят</a:t>
            </a:r>
          </a:p>
          <a:p>
            <a:pPr lvl="1"/>
            <a:r>
              <a:rPr lang="bg-BG" dirty="0"/>
              <a:t>Малък проблем: текстурата се простира над други обекти или е несъразмерна или изглежда странно</a:t>
            </a:r>
          </a:p>
          <a:p>
            <a:pPr lvl="1"/>
            <a:endParaRPr lang="bg-BG" dirty="0"/>
          </a:p>
          <a:p>
            <a:r>
              <a:rPr lang="bg-BG" dirty="0"/>
              <a:t>Съвет при работа с текстури</a:t>
            </a:r>
          </a:p>
          <a:p>
            <a:pPr lvl="1"/>
            <a:r>
              <a:rPr lang="bg-BG" dirty="0"/>
              <a:t>Търпение и упорство</a:t>
            </a:r>
          </a:p>
        </p:txBody>
      </p:sp>
    </p:spTree>
    <p:extLst>
      <p:ext uri="{BB962C8B-B14F-4D97-AF65-F5344CB8AC3E}">
        <p14:creationId xmlns:p14="http://schemas.microsoft.com/office/powerpoint/2010/main" val="389747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Архитектура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bg-BG" dirty="0" err="1"/>
              <a:t>екстури</a:t>
            </a:r>
            <a:r>
              <a:rPr lang="en-US" dirty="0"/>
              <a:t> </a:t>
            </a:r>
            <a:r>
              <a:rPr lang="bg-BG" dirty="0"/>
              <a:t>в </a:t>
            </a:r>
            <a:r>
              <a:rPr lang="en-US" dirty="0"/>
              <a:t>WebGL</a:t>
            </a:r>
            <a:endParaRPr lang="bg-BG" dirty="0"/>
          </a:p>
          <a:p>
            <a:pPr lvl="1"/>
            <a:r>
              <a:rPr lang="bg-BG" dirty="0"/>
              <a:t>Има няколко „модула“ или „единици“ (</a:t>
            </a:r>
            <a:r>
              <a:rPr lang="en-US" dirty="0"/>
              <a:t>texture units)</a:t>
            </a:r>
            <a:r>
              <a:rPr lang="bg-BG" dirty="0"/>
              <a:t> и във всеки момент по време на настройка на текстурите само един е активен (т.е. текущ)</a:t>
            </a:r>
          </a:p>
          <a:p>
            <a:pPr lvl="1"/>
            <a:r>
              <a:rPr lang="bg-BG" dirty="0"/>
              <a:t>По време на работа могат да се ползват няколко модула едновременно</a:t>
            </a:r>
          </a:p>
          <a:p>
            <a:pPr lvl="1"/>
            <a:r>
              <a:rPr lang="bg-BG" dirty="0"/>
              <a:t>Всеки модул може да обработва два типа текстури (двумерна или кубична), но в даден момент може да обработва само един от типовете</a:t>
            </a:r>
          </a:p>
          <a:p>
            <a:pPr lvl="1"/>
            <a:r>
              <a:rPr lang="bg-BG" dirty="0"/>
              <a:t>Модулите се „виждат“ от </a:t>
            </a:r>
            <a:r>
              <a:rPr lang="bg-BG" dirty="0" err="1"/>
              <a:t>шейдъра</a:t>
            </a:r>
            <a:r>
              <a:rPr lang="bg-BG" dirty="0"/>
              <a:t> за фрагменти като специален тип променливи – чрез тях се </a:t>
            </a:r>
            <a:r>
              <a:rPr lang="bg-BG" dirty="0" err="1"/>
              <a:t>извлеча</a:t>
            </a:r>
            <a:r>
              <a:rPr lang="bg-BG" dirty="0"/>
              <a:t> </a:t>
            </a:r>
            <a:r>
              <a:rPr lang="bg-BG" dirty="0" err="1"/>
              <a:t>интерполиран</a:t>
            </a:r>
            <a:r>
              <a:rPr lang="bg-BG" dirty="0"/>
              <a:t> цвят на </a:t>
            </a:r>
            <a:r>
              <a:rPr lang="bg-BG" dirty="0" err="1"/>
              <a:t>тексели</a:t>
            </a:r>
            <a:r>
              <a:rPr lang="bg-BG" dirty="0"/>
              <a:t> с дадени </a:t>
            </a:r>
            <a:r>
              <a:rPr lang="bg-BG" dirty="0" err="1"/>
              <a:t>текстурни</a:t>
            </a:r>
            <a:r>
              <a:rPr lang="bg-BG" dirty="0"/>
              <a:t> координати</a:t>
            </a:r>
          </a:p>
        </p:txBody>
      </p:sp>
    </p:spTree>
    <p:extLst>
      <p:ext uri="{BB962C8B-B14F-4D97-AF65-F5344CB8AC3E}">
        <p14:creationId xmlns:p14="http://schemas.microsoft.com/office/powerpoint/2010/main" val="4224662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8"/>
          <p:cNvSpPr/>
          <p:nvPr/>
        </p:nvSpPr>
        <p:spPr>
          <a:xfrm>
            <a:off x="4584401" y="1931272"/>
            <a:ext cx="2794596" cy="623049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sz="2000" dirty="0" err="1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Шейдър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за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върхове</a:t>
            </a:r>
          </a:p>
        </p:txBody>
      </p:sp>
      <p:sp>
        <p:nvSpPr>
          <p:cNvPr id="11" name="Snip Diagonal Corner Rectangle 10"/>
          <p:cNvSpPr/>
          <p:nvPr/>
        </p:nvSpPr>
        <p:spPr>
          <a:xfrm>
            <a:off x="4584400" y="3621122"/>
            <a:ext cx="2794597" cy="2855878"/>
          </a:xfrm>
          <a:prstGeom prst="snip2DiagRect">
            <a:avLst>
              <a:gd name="adj1" fmla="val 0"/>
              <a:gd name="adj2" fmla="val 6454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bg-BG" sz="2000" dirty="0" err="1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Шейдър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за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фрагменти</a:t>
            </a:r>
          </a:p>
        </p:txBody>
      </p:sp>
      <p:sp>
        <p:nvSpPr>
          <p:cNvPr id="15" name="Right Arrow 14"/>
          <p:cNvSpPr/>
          <p:nvPr/>
        </p:nvSpPr>
        <p:spPr>
          <a:xfrm rot="5400000">
            <a:off x="4968665" y="879346"/>
            <a:ext cx="304800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Right Arrow 15"/>
          <p:cNvSpPr/>
          <p:nvPr/>
        </p:nvSpPr>
        <p:spPr>
          <a:xfrm rot="5400000">
            <a:off x="4965866" y="1628871"/>
            <a:ext cx="302856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Snip Diagonal Corner Rectangle 16"/>
          <p:cNvSpPr/>
          <p:nvPr/>
        </p:nvSpPr>
        <p:spPr>
          <a:xfrm>
            <a:off x="4582631" y="1171219"/>
            <a:ext cx="1092958" cy="457200"/>
          </a:xfrm>
          <a:prstGeom prst="snip2Diag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bg-BG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</a:t>
            </a:r>
            <a:r>
              <a:rPr lang="en-US" sz="2000" b="1" baseline="-25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,t</a:t>
            </a:r>
            <a:r>
              <a:rPr lang="en-US" sz="2000" b="1" baseline="-25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8" name="Right Arrow 17"/>
          <p:cNvSpPr/>
          <p:nvPr/>
        </p:nvSpPr>
        <p:spPr>
          <a:xfrm rot="5400000">
            <a:off x="6670303" y="879346"/>
            <a:ext cx="304800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Right Arrow 18"/>
          <p:cNvSpPr/>
          <p:nvPr/>
        </p:nvSpPr>
        <p:spPr>
          <a:xfrm rot="5400000">
            <a:off x="6667504" y="1628871"/>
            <a:ext cx="302855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Snip Diagonal Corner Rectangle 19"/>
          <p:cNvSpPr/>
          <p:nvPr/>
        </p:nvSpPr>
        <p:spPr>
          <a:xfrm>
            <a:off x="6284269" y="1171219"/>
            <a:ext cx="1092958" cy="457200"/>
          </a:xfrm>
          <a:prstGeom prst="snip2Diag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(s</a:t>
            </a:r>
            <a:r>
              <a:rPr lang="en-US" sz="2000" b="1" baseline="-25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2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,t</a:t>
            </a:r>
            <a:r>
              <a:rPr lang="en-US" sz="2000" b="1" baseline="-25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2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1" name="Snip Diagonal Corner Rectangle 20"/>
          <p:cNvSpPr/>
          <p:nvPr/>
        </p:nvSpPr>
        <p:spPr>
          <a:xfrm>
            <a:off x="4652683" y="4475177"/>
            <a:ext cx="2650113" cy="689269"/>
          </a:xfrm>
          <a:prstGeom prst="snip2DiagRect">
            <a:avLst>
              <a:gd name="adj1" fmla="val 0"/>
              <a:gd name="adj2" fmla="val 1847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s,t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02797" y="2720168"/>
            <a:ext cx="18442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Интерполирани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текстурни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координати</a:t>
            </a:r>
          </a:p>
        </p:txBody>
      </p:sp>
      <p:sp>
        <p:nvSpPr>
          <p:cNvPr id="53" name="Snip Diagonal Corner Rectangle 52"/>
          <p:cNvSpPr/>
          <p:nvPr/>
        </p:nvSpPr>
        <p:spPr>
          <a:xfrm>
            <a:off x="4572000" y="344521"/>
            <a:ext cx="2806997" cy="544902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JavaScript</a:t>
            </a:r>
            <a:endParaRPr lang="bg-BG" sz="2000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02797" y="1027767"/>
            <a:ext cx="1448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Текстурни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координати за връх</a:t>
            </a:r>
          </a:p>
        </p:txBody>
      </p:sp>
      <p:sp>
        <p:nvSpPr>
          <p:cNvPr id="71" name="Right Arrow 70"/>
          <p:cNvSpPr/>
          <p:nvPr/>
        </p:nvSpPr>
        <p:spPr>
          <a:xfrm rot="5400000">
            <a:off x="4970435" y="2551808"/>
            <a:ext cx="304800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4" name="Right Arrow 73"/>
          <p:cNvSpPr/>
          <p:nvPr/>
        </p:nvSpPr>
        <p:spPr>
          <a:xfrm rot="5400000">
            <a:off x="4967636" y="3318718"/>
            <a:ext cx="302856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5" name="Snip Diagonal Corner Rectangle 74"/>
          <p:cNvSpPr/>
          <p:nvPr/>
        </p:nvSpPr>
        <p:spPr>
          <a:xfrm>
            <a:off x="4584401" y="2861066"/>
            <a:ext cx="1092958" cy="457200"/>
          </a:xfrm>
          <a:prstGeom prst="snip2Diag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bg-BG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</a:t>
            </a:r>
            <a:r>
              <a:rPr lang="en-US" sz="2000" b="1" baseline="-25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,t</a:t>
            </a:r>
            <a:r>
              <a:rPr lang="en-US" sz="2000" b="1" baseline="-25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1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6" name="Right Arrow 75"/>
          <p:cNvSpPr/>
          <p:nvPr/>
        </p:nvSpPr>
        <p:spPr>
          <a:xfrm rot="5400000">
            <a:off x="6672073" y="2551808"/>
            <a:ext cx="304800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7" name="Right Arrow 76"/>
          <p:cNvSpPr/>
          <p:nvPr/>
        </p:nvSpPr>
        <p:spPr>
          <a:xfrm rot="5400000">
            <a:off x="6669274" y="3318718"/>
            <a:ext cx="302855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8" name="Snip Diagonal Corner Rectangle 77"/>
          <p:cNvSpPr/>
          <p:nvPr/>
        </p:nvSpPr>
        <p:spPr>
          <a:xfrm>
            <a:off x="6286039" y="2861066"/>
            <a:ext cx="1092958" cy="457200"/>
          </a:xfrm>
          <a:prstGeom prst="snip2Diag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(s</a:t>
            </a:r>
            <a:r>
              <a:rPr lang="en-US" sz="2000" b="1" baseline="-25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2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,t</a:t>
            </a:r>
            <a:r>
              <a:rPr lang="en-US" sz="2000" b="1" baseline="-25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2</a:t>
            </a:r>
            <a:r>
              <a:rPr lang="en-US" sz="2000" b="1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  <a:endParaRPr lang="bg-BG" sz="2000" b="1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cxnSp>
        <p:nvCxnSpPr>
          <p:cNvPr id="83" name="Straight Connector 82"/>
          <p:cNvCxnSpPr/>
          <p:nvPr/>
        </p:nvCxnSpPr>
        <p:spPr>
          <a:xfrm rot="5400000">
            <a:off x="5898214" y="2850969"/>
            <a:ext cx="0" cy="472690"/>
          </a:xfrm>
          <a:prstGeom prst="line">
            <a:avLst/>
          </a:prstGeom>
          <a:ln w="76200" cap="rnd">
            <a:solidFill>
              <a:schemeClr val="accent1">
                <a:lumMod val="75000"/>
              </a:schemeClr>
            </a:solidFill>
            <a:prstDash val="sysDot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ight Arrow 83"/>
          <p:cNvSpPr/>
          <p:nvPr/>
        </p:nvSpPr>
        <p:spPr>
          <a:xfrm rot="5400000">
            <a:off x="6513381" y="2098973"/>
            <a:ext cx="624684" cy="288365"/>
          </a:xfrm>
          <a:prstGeom prst="rightArrow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5" name="Right Arrow 84"/>
          <p:cNvSpPr/>
          <p:nvPr/>
        </p:nvSpPr>
        <p:spPr>
          <a:xfrm rot="5400000">
            <a:off x="4808722" y="2098973"/>
            <a:ext cx="624684" cy="288365"/>
          </a:xfrm>
          <a:prstGeom prst="rightArrow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6" name="Snip Diagonal Corner Rectangle 85"/>
          <p:cNvSpPr/>
          <p:nvPr/>
        </p:nvSpPr>
        <p:spPr>
          <a:xfrm>
            <a:off x="1169891" y="2133600"/>
            <a:ext cx="1725709" cy="3276600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bg-BG" sz="2000" dirty="0" err="1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Текстурен</a:t>
            </a:r>
            <a:endParaRPr lang="en-US" sz="2000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Модул</a:t>
            </a:r>
            <a:endParaRPr lang="bg-BG" sz="2000" b="1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9" name="Snip Diagonal Corner Rectangle 88"/>
          <p:cNvSpPr/>
          <p:nvPr/>
        </p:nvSpPr>
        <p:spPr>
          <a:xfrm>
            <a:off x="4652682" y="5689119"/>
            <a:ext cx="2650114" cy="689269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bg-BG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Текстурна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променлива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cxnSp>
        <p:nvCxnSpPr>
          <p:cNvPr id="92" name="Elbow Connector 91"/>
          <p:cNvCxnSpPr>
            <a:stCxn id="89" idx="2"/>
            <a:endCxn id="86" idx="1"/>
          </p:cNvCxnSpPr>
          <p:nvPr/>
        </p:nvCxnSpPr>
        <p:spPr>
          <a:xfrm rot="10800000">
            <a:off x="2032746" y="5410200"/>
            <a:ext cx="2619936" cy="623554"/>
          </a:xfrm>
          <a:prstGeom prst="bentConnector2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895600" y="4823936"/>
            <a:ext cx="167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Текстурни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координати</a:t>
            </a:r>
            <a:b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</a:t>
            </a:r>
            <a:r>
              <a:rPr lang="en-US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s,t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077471" y="6029980"/>
            <a:ext cx="2367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Указва кой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текстурен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модул да се ползва</a:t>
            </a:r>
          </a:p>
        </p:txBody>
      </p:sp>
      <p:sp>
        <p:nvSpPr>
          <p:cNvPr id="116" name="Snip Diagonal Corner Rectangle 115"/>
          <p:cNvSpPr/>
          <p:nvPr/>
        </p:nvSpPr>
        <p:spPr>
          <a:xfrm>
            <a:off x="1300319" y="4355809"/>
            <a:ext cx="1464855" cy="929569"/>
          </a:xfrm>
          <a:prstGeom prst="snip2DiagRect">
            <a:avLst>
              <a:gd name="adj1" fmla="val 0"/>
              <a:gd name="adj2" fmla="val 1460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Изчислява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</a:br>
            <a:r>
              <a:rPr lang="bg-BG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текселни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координати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cxnSp>
        <p:nvCxnSpPr>
          <p:cNvPr id="118" name="Elbow Connector 117"/>
          <p:cNvCxnSpPr>
            <a:stCxn id="21" idx="2"/>
            <a:endCxn id="116" idx="0"/>
          </p:cNvCxnSpPr>
          <p:nvPr/>
        </p:nvCxnSpPr>
        <p:spPr>
          <a:xfrm flipH="1">
            <a:off x="2765174" y="4819812"/>
            <a:ext cx="1887509" cy="78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Snip Diagonal Corner Rectangle 122"/>
          <p:cNvSpPr/>
          <p:nvPr/>
        </p:nvSpPr>
        <p:spPr>
          <a:xfrm>
            <a:off x="1300317" y="3048000"/>
            <a:ext cx="1464855" cy="929569"/>
          </a:xfrm>
          <a:prstGeom prst="snip2DiagRect">
            <a:avLst>
              <a:gd name="adj1" fmla="val 0"/>
              <a:gd name="adj2" fmla="val 1460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Извлича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</a:br>
            <a:r>
              <a:rPr lang="bg-BG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текселен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цвят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cxnSp>
        <p:nvCxnSpPr>
          <p:cNvPr id="126" name="Elbow Connector 125"/>
          <p:cNvCxnSpPr>
            <a:stCxn id="116" idx="3"/>
            <a:endCxn id="123" idx="1"/>
          </p:cNvCxnSpPr>
          <p:nvPr/>
        </p:nvCxnSpPr>
        <p:spPr>
          <a:xfrm rot="16200000" flipV="1">
            <a:off x="1843626" y="4166688"/>
            <a:ext cx="378240" cy="2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123" idx="0"/>
          </p:cNvCxnSpPr>
          <p:nvPr/>
        </p:nvCxnSpPr>
        <p:spPr>
          <a:xfrm>
            <a:off x="2765172" y="3512785"/>
            <a:ext cx="1806828" cy="761791"/>
          </a:xfrm>
          <a:prstGeom prst="bentConnector3">
            <a:avLst>
              <a:gd name="adj1" fmla="val 23208"/>
            </a:avLst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3124200" y="3666565"/>
            <a:ext cx="1382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Цвят</a:t>
            </a:r>
            <a:b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</a:t>
            </a:r>
            <a:r>
              <a:rPr lang="en-US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r,g,b,a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43" name="Elbow Connector 117"/>
          <p:cNvCxnSpPr/>
          <p:nvPr/>
        </p:nvCxnSpPr>
        <p:spPr>
          <a:xfrm flipH="1">
            <a:off x="709613" y="3620339"/>
            <a:ext cx="590707" cy="783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Snip Diagonal Corner Rectangle 145"/>
          <p:cNvSpPr/>
          <p:nvPr/>
        </p:nvSpPr>
        <p:spPr>
          <a:xfrm>
            <a:off x="94130" y="2819400"/>
            <a:ext cx="615484" cy="1213565"/>
          </a:xfrm>
          <a:prstGeom prst="snip2DiagRect">
            <a:avLst>
              <a:gd name="adj1" fmla="val 0"/>
              <a:gd name="adj2" fmla="val 1254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bg-BG" sz="20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ра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47" name="Snip Diagonal Corner Rectangle 146"/>
          <p:cNvSpPr/>
          <p:nvPr/>
        </p:nvSpPr>
        <p:spPr>
          <a:xfrm>
            <a:off x="94130" y="3330705"/>
            <a:ext cx="520494" cy="620309"/>
          </a:xfrm>
          <a:prstGeom prst="snip2DiagRect">
            <a:avLst>
              <a:gd name="adj1" fmla="val 0"/>
              <a:gd name="adj2" fmla="val 20054"/>
            </a:avLst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73268" y="2569406"/>
            <a:ext cx="591670" cy="1597283"/>
          </a:xfrm>
          <a:prstGeom prst="rect">
            <a:avLst/>
          </a:prstGeom>
          <a:gradFill flip="none" rotWithShape="1">
            <a:gsLst>
              <a:gs pos="13000">
                <a:schemeClr val="bg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2" name="TextBox 151"/>
          <p:cNvSpPr txBox="1"/>
          <p:nvPr/>
        </p:nvSpPr>
        <p:spPr>
          <a:xfrm>
            <a:off x="-181005" y="2511623"/>
            <a:ext cx="1165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Текстура</a:t>
            </a:r>
          </a:p>
        </p:txBody>
      </p:sp>
    </p:spTree>
    <p:extLst>
      <p:ext uri="{BB962C8B-B14F-4D97-AF65-F5344CB8AC3E}">
        <p14:creationId xmlns:p14="http://schemas.microsoft.com/office/powerpoint/2010/main" val="1072013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>
          <a:xfrm>
            <a:off x="228600" y="5993197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Потребителски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текстурни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обекти</a:t>
            </a:r>
          </a:p>
        </p:txBody>
      </p:sp>
      <p:sp>
        <p:nvSpPr>
          <p:cNvPr id="59" name="Snip Diagonal Corner Rectangle 58"/>
          <p:cNvSpPr/>
          <p:nvPr/>
        </p:nvSpPr>
        <p:spPr>
          <a:xfrm>
            <a:off x="6781800" y="1901326"/>
            <a:ext cx="2057400" cy="2527714"/>
          </a:xfrm>
          <a:prstGeom prst="snip2DiagRect">
            <a:avLst>
              <a:gd name="adj1" fmla="val 0"/>
              <a:gd name="adj2" fmla="val 1242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bg-BG" sz="2000" dirty="0" err="1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Шейдър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за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фрагменти</a:t>
            </a:r>
          </a:p>
        </p:txBody>
      </p:sp>
      <p:sp>
        <p:nvSpPr>
          <p:cNvPr id="64" name="Snip Diagonal Corner Rectangle 63"/>
          <p:cNvSpPr/>
          <p:nvPr/>
        </p:nvSpPr>
        <p:spPr>
          <a:xfrm>
            <a:off x="2784764" y="819014"/>
            <a:ext cx="2930236" cy="1285967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r"/>
            <a:endParaRPr lang="bg-BG" sz="2000" b="1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8" name="Snip Diagonal Corner Rectangle 67"/>
          <p:cNvSpPr/>
          <p:nvPr/>
        </p:nvSpPr>
        <p:spPr>
          <a:xfrm>
            <a:off x="2937030" y="960708"/>
            <a:ext cx="685800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2</a:t>
            </a:r>
            <a:r>
              <a:rPr lang="en-US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D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69" name="Snip Diagonal Corner Rectangle 68"/>
          <p:cNvSpPr/>
          <p:nvPr/>
        </p:nvSpPr>
        <p:spPr>
          <a:xfrm>
            <a:off x="2937030" y="1542340"/>
            <a:ext cx="685800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CUBE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cxnSp>
        <p:nvCxnSpPr>
          <p:cNvPr id="82" name="Straight Connector 81"/>
          <p:cNvCxnSpPr/>
          <p:nvPr/>
        </p:nvCxnSpPr>
        <p:spPr>
          <a:xfrm>
            <a:off x="4156363" y="4126204"/>
            <a:ext cx="0" cy="472690"/>
          </a:xfrm>
          <a:prstGeom prst="line">
            <a:avLst/>
          </a:prstGeom>
          <a:ln w="76200" cap="rnd">
            <a:solidFill>
              <a:schemeClr val="accent1">
                <a:lumMod val="75000"/>
              </a:schemeClr>
            </a:solidFill>
            <a:prstDash val="sysDot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nip Diagonal Corner Rectangle 82"/>
          <p:cNvSpPr/>
          <p:nvPr/>
        </p:nvSpPr>
        <p:spPr>
          <a:xfrm>
            <a:off x="280987" y="3268332"/>
            <a:ext cx="1395413" cy="1213565"/>
          </a:xfrm>
          <a:prstGeom prst="snip2DiagRect">
            <a:avLst>
              <a:gd name="adj1" fmla="val 0"/>
              <a:gd name="adj2" fmla="val 1254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bg-BG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Текстура</a:t>
            </a:r>
          </a:p>
        </p:txBody>
      </p:sp>
      <p:sp>
        <p:nvSpPr>
          <p:cNvPr id="85" name="Snip Diagonal Corner Rectangle 84"/>
          <p:cNvSpPr/>
          <p:nvPr/>
        </p:nvSpPr>
        <p:spPr>
          <a:xfrm>
            <a:off x="375307" y="3779637"/>
            <a:ext cx="1206104" cy="620309"/>
          </a:xfrm>
          <a:prstGeom prst="snip2DiagRect">
            <a:avLst>
              <a:gd name="adj1" fmla="val 0"/>
              <a:gd name="adj2" fmla="val 20054"/>
            </a:avLst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86" name="Snip Diagonal Corner Rectangle 85"/>
          <p:cNvSpPr/>
          <p:nvPr/>
        </p:nvSpPr>
        <p:spPr>
          <a:xfrm>
            <a:off x="6972300" y="2736181"/>
            <a:ext cx="1714500" cy="659470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bg-BG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Текстурна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променлива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88" name="Snip Diagonal Corner Rectangle 87"/>
          <p:cNvSpPr/>
          <p:nvPr/>
        </p:nvSpPr>
        <p:spPr>
          <a:xfrm>
            <a:off x="280987" y="1210132"/>
            <a:ext cx="1395413" cy="1823965"/>
          </a:xfrm>
          <a:prstGeom prst="snip2DiagRect">
            <a:avLst>
              <a:gd name="adj1" fmla="val 0"/>
              <a:gd name="adj2" fmla="val 1254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bg-BG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Текстура</a:t>
            </a:r>
          </a:p>
        </p:txBody>
      </p:sp>
      <p:sp>
        <p:nvSpPr>
          <p:cNvPr id="89" name="Snip Diagonal Corner Rectangle 88"/>
          <p:cNvSpPr/>
          <p:nvPr/>
        </p:nvSpPr>
        <p:spPr>
          <a:xfrm>
            <a:off x="375307" y="1721437"/>
            <a:ext cx="1206104" cy="1225134"/>
          </a:xfrm>
          <a:prstGeom prst="snip2DiagRect">
            <a:avLst>
              <a:gd name="adj1" fmla="val 0"/>
              <a:gd name="adj2" fmla="val 1431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90" name="Snip Diagonal Corner Rectangle 89"/>
          <p:cNvSpPr/>
          <p:nvPr/>
        </p:nvSpPr>
        <p:spPr>
          <a:xfrm>
            <a:off x="280987" y="4716132"/>
            <a:ext cx="1395413" cy="1213565"/>
          </a:xfrm>
          <a:prstGeom prst="snip2DiagRect">
            <a:avLst>
              <a:gd name="adj1" fmla="val 0"/>
              <a:gd name="adj2" fmla="val 1254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bg-BG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Текстура</a:t>
            </a:r>
          </a:p>
        </p:txBody>
      </p:sp>
      <p:sp>
        <p:nvSpPr>
          <p:cNvPr id="91" name="Snip Diagonal Corner Rectangle 90"/>
          <p:cNvSpPr/>
          <p:nvPr/>
        </p:nvSpPr>
        <p:spPr>
          <a:xfrm>
            <a:off x="525277" y="5227437"/>
            <a:ext cx="906164" cy="620309"/>
          </a:xfrm>
          <a:prstGeom prst="snip2DiagRect">
            <a:avLst>
              <a:gd name="adj1" fmla="val 0"/>
              <a:gd name="adj2" fmla="val 20054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109" name="Snip Diagonal Corner Rectangle 108"/>
          <p:cNvSpPr/>
          <p:nvPr/>
        </p:nvSpPr>
        <p:spPr>
          <a:xfrm>
            <a:off x="4156363" y="953490"/>
            <a:ext cx="1447800" cy="1038832"/>
          </a:xfrm>
          <a:prstGeom prst="snip2Diag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bg-BG" sz="2000" dirty="0" err="1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Текстурен</a:t>
            </a:r>
            <a:endParaRPr lang="en-US" sz="2000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Модул</a:t>
            </a:r>
          </a:p>
          <a:p>
            <a:pPr algn="ctr"/>
            <a:r>
              <a:rPr lang="bg-BG" sz="2000" b="1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№</a:t>
            </a:r>
            <a:r>
              <a:rPr lang="en-US" sz="2000" b="1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0</a:t>
            </a:r>
            <a:endParaRPr lang="bg-BG" sz="2000" b="1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16" name="Elbow Connector 115"/>
          <p:cNvCxnSpPr>
            <a:stCxn id="109" idx="2"/>
            <a:endCxn id="68" idx="0"/>
          </p:cNvCxnSpPr>
          <p:nvPr/>
        </p:nvCxnSpPr>
        <p:spPr>
          <a:xfrm rot="10800000">
            <a:off x="3622831" y="1185700"/>
            <a:ext cx="533533" cy="287207"/>
          </a:xfrm>
          <a:prstGeom prst="bentConnector3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/>
          <p:cNvCxnSpPr>
            <a:stCxn id="68" idx="2"/>
            <a:endCxn id="83" idx="0"/>
          </p:cNvCxnSpPr>
          <p:nvPr/>
        </p:nvCxnSpPr>
        <p:spPr>
          <a:xfrm rot="10800000" flipV="1">
            <a:off x="1676400" y="1185699"/>
            <a:ext cx="1260630" cy="2689416"/>
          </a:xfrm>
          <a:prstGeom prst="bentConnector3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/>
          <p:cNvCxnSpPr>
            <a:stCxn id="86" idx="2"/>
            <a:endCxn id="64" idx="0"/>
          </p:cNvCxnSpPr>
          <p:nvPr/>
        </p:nvCxnSpPr>
        <p:spPr>
          <a:xfrm rot="10800000">
            <a:off x="5715000" y="1461998"/>
            <a:ext cx="1257300" cy="1603918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Snip Diagonal Corner Rectangle 126"/>
          <p:cNvSpPr/>
          <p:nvPr/>
        </p:nvSpPr>
        <p:spPr>
          <a:xfrm>
            <a:off x="2784763" y="2667000"/>
            <a:ext cx="2930236" cy="1285967"/>
          </a:xfrm>
          <a:prstGeom prst="snip2DiagRect">
            <a:avLst>
              <a:gd name="adj1" fmla="val 0"/>
              <a:gd name="adj2" fmla="val 10785"/>
            </a:avLst>
          </a:prstGeom>
          <a:noFill/>
          <a:ln>
            <a:prstDash val="sysDash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r"/>
            <a:endParaRPr lang="bg-BG" sz="2000" b="1" dirty="0">
              <a:solidFill>
                <a:schemeClr val="bg1">
                  <a:lumMod val="50000"/>
                </a:schemeClr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8" name="Snip Diagonal Corner Rectangle 127"/>
          <p:cNvSpPr/>
          <p:nvPr/>
        </p:nvSpPr>
        <p:spPr>
          <a:xfrm>
            <a:off x="2937029" y="2808694"/>
            <a:ext cx="685800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ln>
            <a:prstDash val="sysDash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bg-BG" sz="1600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2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D</a:t>
            </a:r>
            <a:endParaRPr lang="bg-BG" sz="2000" dirty="0">
              <a:solidFill>
                <a:schemeClr val="bg1">
                  <a:lumMod val="50000"/>
                </a:schemeClr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129" name="Snip Diagonal Corner Rectangle 128"/>
          <p:cNvSpPr/>
          <p:nvPr/>
        </p:nvSpPr>
        <p:spPr>
          <a:xfrm>
            <a:off x="2937029" y="3390326"/>
            <a:ext cx="685800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ln>
            <a:prstDash val="sysDash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CUBE</a:t>
            </a:r>
            <a:endParaRPr lang="bg-BG" sz="2000" dirty="0">
              <a:solidFill>
                <a:schemeClr val="bg1">
                  <a:lumMod val="50000"/>
                </a:schemeClr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130" name="Snip Diagonal Corner Rectangle 129"/>
          <p:cNvSpPr/>
          <p:nvPr/>
        </p:nvSpPr>
        <p:spPr>
          <a:xfrm>
            <a:off x="4156362" y="2801476"/>
            <a:ext cx="1447800" cy="1038832"/>
          </a:xfrm>
          <a:prstGeom prst="snip2DiagRect">
            <a:avLst/>
          </a:prstGeom>
          <a:solidFill>
            <a:schemeClr val="bg2">
              <a:lumMod val="20000"/>
              <a:lumOff val="80000"/>
            </a:schemeClr>
          </a:solidFill>
          <a:ln>
            <a:prstDash val="sysDash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bg-BG" sz="2000" dirty="0" err="1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Текстурен</a:t>
            </a:r>
            <a:endParaRPr lang="en-US" sz="2000" dirty="0">
              <a:solidFill>
                <a:schemeClr val="bg1">
                  <a:lumMod val="50000"/>
                </a:schemeClr>
              </a:solidFill>
              <a:effectLst>
                <a:outerShdw blurRad="63500" algn="c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  <a:p>
            <a:pPr algn="ctr"/>
            <a:r>
              <a:rPr lang="bg-BG" sz="2000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Модул</a:t>
            </a:r>
          </a:p>
          <a:p>
            <a:pPr algn="ctr"/>
            <a:r>
              <a:rPr lang="bg-BG" sz="2000" b="1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№1</a:t>
            </a:r>
          </a:p>
        </p:txBody>
      </p:sp>
      <p:sp>
        <p:nvSpPr>
          <p:cNvPr id="132" name="Snip Diagonal Corner Rectangle 131"/>
          <p:cNvSpPr/>
          <p:nvPr/>
        </p:nvSpPr>
        <p:spPr>
          <a:xfrm>
            <a:off x="2784763" y="4710497"/>
            <a:ext cx="2930236" cy="1285967"/>
          </a:xfrm>
          <a:prstGeom prst="snip2DiagRect">
            <a:avLst>
              <a:gd name="adj1" fmla="val 0"/>
              <a:gd name="adj2" fmla="val 10785"/>
            </a:avLst>
          </a:prstGeom>
          <a:noFill/>
          <a:ln>
            <a:prstDash val="sysDash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r"/>
            <a:endParaRPr lang="bg-BG" sz="2000" b="1" dirty="0">
              <a:solidFill>
                <a:schemeClr val="bg1">
                  <a:lumMod val="50000"/>
                </a:schemeClr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3" name="Snip Diagonal Corner Rectangle 132"/>
          <p:cNvSpPr/>
          <p:nvPr/>
        </p:nvSpPr>
        <p:spPr>
          <a:xfrm>
            <a:off x="2937029" y="4852191"/>
            <a:ext cx="685800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ln>
            <a:prstDash val="sysDash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bg-BG" sz="1600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2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D</a:t>
            </a:r>
            <a:endParaRPr lang="bg-BG" sz="1600" dirty="0">
              <a:solidFill>
                <a:schemeClr val="bg1">
                  <a:lumMod val="50000"/>
                </a:schemeClr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134" name="Snip Diagonal Corner Rectangle 133"/>
          <p:cNvSpPr/>
          <p:nvPr/>
        </p:nvSpPr>
        <p:spPr>
          <a:xfrm>
            <a:off x="2937029" y="5433823"/>
            <a:ext cx="685800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ln>
            <a:prstDash val="sysDash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CUBE</a:t>
            </a:r>
            <a:endParaRPr lang="bg-BG" sz="1600" dirty="0">
              <a:solidFill>
                <a:schemeClr val="bg1">
                  <a:lumMod val="50000"/>
                </a:schemeClr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135" name="Snip Diagonal Corner Rectangle 134"/>
          <p:cNvSpPr/>
          <p:nvPr/>
        </p:nvSpPr>
        <p:spPr>
          <a:xfrm>
            <a:off x="4156362" y="4844973"/>
            <a:ext cx="1447800" cy="1038832"/>
          </a:xfrm>
          <a:prstGeom prst="snip2DiagRect">
            <a:avLst/>
          </a:prstGeom>
          <a:solidFill>
            <a:schemeClr val="bg2">
              <a:lumMod val="20000"/>
              <a:lumOff val="80000"/>
            </a:schemeClr>
          </a:solidFill>
          <a:ln>
            <a:prstDash val="sysDash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bg-BG" sz="2000" dirty="0" err="1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Текстурен</a:t>
            </a:r>
            <a:endParaRPr lang="en-US" sz="2000" dirty="0">
              <a:solidFill>
                <a:schemeClr val="bg1">
                  <a:lumMod val="50000"/>
                </a:schemeClr>
              </a:solidFill>
              <a:effectLst>
                <a:outerShdw blurRad="63500" algn="ctr" rotWithShape="0">
                  <a:schemeClr val="bg1">
                    <a:lumMod val="50000"/>
                    <a:alpha val="40000"/>
                  </a:schemeClr>
                </a:outerShdw>
              </a:effectLst>
            </a:endParaRPr>
          </a:p>
          <a:p>
            <a:pPr algn="ctr"/>
            <a:r>
              <a:rPr lang="bg-BG" sz="2000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Модул</a:t>
            </a:r>
          </a:p>
          <a:p>
            <a:pPr algn="ctr"/>
            <a:r>
              <a:rPr lang="bg-BG" sz="2000" b="1" dirty="0">
                <a:solidFill>
                  <a:schemeClr val="bg1">
                    <a:lumMod val="50000"/>
                  </a:schemeClr>
                </a:solidFill>
                <a:effectLst>
                  <a:outerShdw blurRad="63500" algn="ctr" rotWithShape="0">
                    <a:schemeClr val="bg1">
                      <a:lumMod val="50000"/>
                      <a:alpha val="40000"/>
                    </a:schemeClr>
                  </a:outerShdw>
                </a:effectLst>
              </a:rPr>
              <a:t>№7</a:t>
            </a:r>
          </a:p>
        </p:txBody>
      </p:sp>
      <p:cxnSp>
        <p:nvCxnSpPr>
          <p:cNvPr id="136" name="Elbow Connector 135"/>
          <p:cNvCxnSpPr>
            <a:stCxn id="135" idx="2"/>
            <a:endCxn id="134" idx="0"/>
          </p:cNvCxnSpPr>
          <p:nvPr/>
        </p:nvCxnSpPr>
        <p:spPr>
          <a:xfrm rot="10800000" flipV="1">
            <a:off x="3622830" y="5364388"/>
            <a:ext cx="533533" cy="294425"/>
          </a:xfrm>
          <a:prstGeom prst="bentConnector3">
            <a:avLst/>
          </a:prstGeom>
          <a:ln w="31750" cap="flat">
            <a:solidFill>
              <a:schemeClr val="bg1">
                <a:lumMod val="50000"/>
              </a:schemeClr>
            </a:solidFill>
            <a:prstDash val="sysDash"/>
            <a:headEnd type="triangle" w="med" len="med"/>
            <a:tailEnd type="triangle" w="med" len="med"/>
          </a:ln>
          <a:effectLst>
            <a:outerShdw blurRad="635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Snip Diagonal Corner Rectangle 136"/>
          <p:cNvSpPr/>
          <p:nvPr/>
        </p:nvSpPr>
        <p:spPr>
          <a:xfrm>
            <a:off x="6972300" y="3567497"/>
            <a:ext cx="1714500" cy="659470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bg-BG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Текстурна</a:t>
            </a:r>
            <a:b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</a:br>
            <a:r>
              <a:rPr lang="bg-BG" sz="16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променлива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cxnSp>
        <p:nvCxnSpPr>
          <p:cNvPr id="138" name="Elbow Connector 137"/>
          <p:cNvCxnSpPr>
            <a:stCxn id="137" idx="2"/>
            <a:endCxn id="132" idx="0"/>
          </p:cNvCxnSpPr>
          <p:nvPr/>
        </p:nvCxnSpPr>
        <p:spPr>
          <a:xfrm rot="10800000" flipV="1">
            <a:off x="5715000" y="3897231"/>
            <a:ext cx="1257301" cy="1456249"/>
          </a:xfrm>
          <a:prstGeom prst="bentConnector3">
            <a:avLst>
              <a:gd name="adj1" fmla="val 50000"/>
            </a:avLst>
          </a:prstGeom>
          <a:ln w="31750" cap="flat">
            <a:solidFill>
              <a:schemeClr val="bg1">
                <a:lumMod val="50000"/>
              </a:schemeClr>
            </a:solidFill>
            <a:prstDash val="sysDash"/>
            <a:headEnd type="triangle" w="med" len="med"/>
            <a:tailEnd type="triangle" w="med" len="med"/>
          </a:ln>
          <a:effectLst>
            <a:outerShdw blurRad="635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Elbow Connector 141"/>
          <p:cNvCxnSpPr>
            <a:stCxn id="134" idx="2"/>
            <a:endCxn id="90" idx="0"/>
          </p:cNvCxnSpPr>
          <p:nvPr/>
        </p:nvCxnSpPr>
        <p:spPr>
          <a:xfrm rot="10800000">
            <a:off x="1676401" y="5322916"/>
            <a:ext cx="1260629" cy="335899"/>
          </a:xfrm>
          <a:prstGeom prst="bentConnector3">
            <a:avLst/>
          </a:prstGeom>
          <a:ln w="31750" cap="flat">
            <a:solidFill>
              <a:schemeClr val="bg1">
                <a:lumMod val="50000"/>
              </a:schemeClr>
            </a:solidFill>
            <a:prstDash val="sysDash"/>
            <a:headEnd type="triangle" w="med" len="med"/>
            <a:tailEnd type="triangle" w="med" len="med"/>
          </a:ln>
          <a:effectLst>
            <a:outerShdw blurRad="63500" algn="ctr" rotWithShape="0">
              <a:schemeClr val="bg1">
                <a:lumMod val="5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2514600" y="6019800"/>
            <a:ext cx="35548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Вградени в 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WebGL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текстурни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модули – потребителят може само да ги активира един по един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81572" y="4510873"/>
            <a:ext cx="25816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Потребителски променливи от специален тип указват от кои модули да се ползват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586370" y="76200"/>
            <a:ext cx="50148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Потребителят управлява връзките между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шейдъра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,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текстурните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модули и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текстурните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обекти</a:t>
            </a:r>
          </a:p>
        </p:txBody>
      </p:sp>
      <p:sp>
        <p:nvSpPr>
          <p:cNvPr id="4103" name="Freeform 4102"/>
          <p:cNvSpPr/>
          <p:nvPr/>
        </p:nvSpPr>
        <p:spPr>
          <a:xfrm>
            <a:off x="6078072" y="447311"/>
            <a:ext cx="585429" cy="1196788"/>
          </a:xfrm>
          <a:custGeom>
            <a:avLst/>
            <a:gdLst>
              <a:gd name="connsiteX0" fmla="*/ 0 w 669891"/>
              <a:gd name="connsiteY0" fmla="*/ 0 h 1196788"/>
              <a:gd name="connsiteX1" fmla="*/ 658905 w 669891"/>
              <a:gd name="connsiteY1" fmla="*/ 510988 h 1196788"/>
              <a:gd name="connsiteX2" fmla="*/ 349623 w 669891"/>
              <a:gd name="connsiteY2" fmla="*/ 1196788 h 1196788"/>
              <a:gd name="connsiteX0" fmla="*/ 0 w 349623"/>
              <a:gd name="connsiteY0" fmla="*/ 0 h 1196788"/>
              <a:gd name="connsiteX1" fmla="*/ 349623 w 349623"/>
              <a:gd name="connsiteY1" fmla="*/ 1196788 h 1196788"/>
              <a:gd name="connsiteX0" fmla="*/ 0 w 443408"/>
              <a:gd name="connsiteY0" fmla="*/ 0 h 1196788"/>
              <a:gd name="connsiteX1" fmla="*/ 349623 w 443408"/>
              <a:gd name="connsiteY1" fmla="*/ 1196788 h 1196788"/>
              <a:gd name="connsiteX0" fmla="*/ 0 w 585429"/>
              <a:gd name="connsiteY0" fmla="*/ 0 h 1196788"/>
              <a:gd name="connsiteX1" fmla="*/ 349623 w 585429"/>
              <a:gd name="connsiteY1" fmla="*/ 1196788 h 11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5429" h="1196788">
                <a:moveTo>
                  <a:pt x="0" y="0"/>
                </a:moveTo>
                <a:cubicBezTo>
                  <a:pt x="815788" y="210670"/>
                  <a:pt x="623046" y="770965"/>
                  <a:pt x="349623" y="1196788"/>
                </a:cubicBez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1" name="Freeform 150"/>
          <p:cNvSpPr/>
          <p:nvPr/>
        </p:nvSpPr>
        <p:spPr>
          <a:xfrm flipH="1">
            <a:off x="1849252" y="438346"/>
            <a:ext cx="362796" cy="968188"/>
          </a:xfrm>
          <a:custGeom>
            <a:avLst/>
            <a:gdLst>
              <a:gd name="connsiteX0" fmla="*/ 0 w 669891"/>
              <a:gd name="connsiteY0" fmla="*/ 0 h 1196788"/>
              <a:gd name="connsiteX1" fmla="*/ 658905 w 669891"/>
              <a:gd name="connsiteY1" fmla="*/ 510988 h 1196788"/>
              <a:gd name="connsiteX2" fmla="*/ 349623 w 669891"/>
              <a:gd name="connsiteY2" fmla="*/ 1196788 h 1196788"/>
              <a:gd name="connsiteX0" fmla="*/ 0 w 349623"/>
              <a:gd name="connsiteY0" fmla="*/ 0 h 1196788"/>
              <a:gd name="connsiteX1" fmla="*/ 349623 w 349623"/>
              <a:gd name="connsiteY1" fmla="*/ 1196788 h 1196788"/>
              <a:gd name="connsiteX0" fmla="*/ 0 w 443408"/>
              <a:gd name="connsiteY0" fmla="*/ 0 h 1196788"/>
              <a:gd name="connsiteX1" fmla="*/ 349623 w 443408"/>
              <a:gd name="connsiteY1" fmla="*/ 1196788 h 1196788"/>
              <a:gd name="connsiteX0" fmla="*/ 0 w 585429"/>
              <a:gd name="connsiteY0" fmla="*/ 0 h 1196788"/>
              <a:gd name="connsiteX1" fmla="*/ 349623 w 585429"/>
              <a:gd name="connsiteY1" fmla="*/ 1196788 h 1196788"/>
              <a:gd name="connsiteX0" fmla="*/ 0 w 500373"/>
              <a:gd name="connsiteY0" fmla="*/ 0 h 1048870"/>
              <a:gd name="connsiteX1" fmla="*/ 178053 w 500373"/>
              <a:gd name="connsiteY1" fmla="*/ 1048870 h 1048870"/>
              <a:gd name="connsiteX0" fmla="*/ 147927 w 533473"/>
              <a:gd name="connsiteY0" fmla="*/ 0 h 968188"/>
              <a:gd name="connsiteX1" fmla="*/ 0 w 533473"/>
              <a:gd name="connsiteY1" fmla="*/ 968188 h 968188"/>
              <a:gd name="connsiteX0" fmla="*/ 147927 w 426939"/>
              <a:gd name="connsiteY0" fmla="*/ 0 h 968188"/>
              <a:gd name="connsiteX1" fmla="*/ 0 w 426939"/>
              <a:gd name="connsiteY1" fmla="*/ 968188 h 968188"/>
              <a:gd name="connsiteX0" fmla="*/ 147927 w 462884"/>
              <a:gd name="connsiteY0" fmla="*/ 0 h 968188"/>
              <a:gd name="connsiteX1" fmla="*/ 0 w 462884"/>
              <a:gd name="connsiteY1" fmla="*/ 968188 h 96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2884" h="968188">
                <a:moveTo>
                  <a:pt x="147927" y="0"/>
                </a:moveTo>
                <a:cubicBezTo>
                  <a:pt x="723519" y="156882"/>
                  <a:pt x="410678" y="703730"/>
                  <a:pt x="0" y="968188"/>
                </a:cubicBez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2" name="Freeform 151"/>
          <p:cNvSpPr/>
          <p:nvPr/>
        </p:nvSpPr>
        <p:spPr>
          <a:xfrm flipH="1">
            <a:off x="3905078" y="562929"/>
            <a:ext cx="122293" cy="537881"/>
          </a:xfrm>
          <a:custGeom>
            <a:avLst/>
            <a:gdLst>
              <a:gd name="connsiteX0" fmla="*/ 0 w 669891"/>
              <a:gd name="connsiteY0" fmla="*/ 0 h 1196788"/>
              <a:gd name="connsiteX1" fmla="*/ 658905 w 669891"/>
              <a:gd name="connsiteY1" fmla="*/ 510988 h 1196788"/>
              <a:gd name="connsiteX2" fmla="*/ 349623 w 669891"/>
              <a:gd name="connsiteY2" fmla="*/ 1196788 h 1196788"/>
              <a:gd name="connsiteX0" fmla="*/ 0 w 349623"/>
              <a:gd name="connsiteY0" fmla="*/ 0 h 1196788"/>
              <a:gd name="connsiteX1" fmla="*/ 349623 w 349623"/>
              <a:gd name="connsiteY1" fmla="*/ 1196788 h 1196788"/>
              <a:gd name="connsiteX0" fmla="*/ 0 w 443408"/>
              <a:gd name="connsiteY0" fmla="*/ 0 h 1196788"/>
              <a:gd name="connsiteX1" fmla="*/ 349623 w 443408"/>
              <a:gd name="connsiteY1" fmla="*/ 1196788 h 1196788"/>
              <a:gd name="connsiteX0" fmla="*/ 0 w 585429"/>
              <a:gd name="connsiteY0" fmla="*/ 0 h 1196788"/>
              <a:gd name="connsiteX1" fmla="*/ 349623 w 585429"/>
              <a:gd name="connsiteY1" fmla="*/ 1196788 h 1196788"/>
              <a:gd name="connsiteX0" fmla="*/ 0 w 500373"/>
              <a:gd name="connsiteY0" fmla="*/ 0 h 1048870"/>
              <a:gd name="connsiteX1" fmla="*/ 178053 w 500373"/>
              <a:gd name="connsiteY1" fmla="*/ 1048870 h 1048870"/>
              <a:gd name="connsiteX0" fmla="*/ 147927 w 533473"/>
              <a:gd name="connsiteY0" fmla="*/ 0 h 968188"/>
              <a:gd name="connsiteX1" fmla="*/ 0 w 533473"/>
              <a:gd name="connsiteY1" fmla="*/ 968188 h 968188"/>
              <a:gd name="connsiteX0" fmla="*/ 147927 w 426939"/>
              <a:gd name="connsiteY0" fmla="*/ 0 h 968188"/>
              <a:gd name="connsiteX1" fmla="*/ 0 w 426939"/>
              <a:gd name="connsiteY1" fmla="*/ 968188 h 968188"/>
              <a:gd name="connsiteX0" fmla="*/ 147927 w 462884"/>
              <a:gd name="connsiteY0" fmla="*/ 0 h 968188"/>
              <a:gd name="connsiteX1" fmla="*/ 0 w 462884"/>
              <a:gd name="connsiteY1" fmla="*/ 968188 h 968188"/>
              <a:gd name="connsiteX0" fmla="*/ 0 w 1142280"/>
              <a:gd name="connsiteY0" fmla="*/ 0 h 484093"/>
              <a:gd name="connsiteX1" fmla="*/ 1035894 w 1142280"/>
              <a:gd name="connsiteY1" fmla="*/ 484093 h 484093"/>
              <a:gd name="connsiteX0" fmla="*/ 0 w 416022"/>
              <a:gd name="connsiteY0" fmla="*/ 0 h 537881"/>
              <a:gd name="connsiteX1" fmla="*/ 92269 w 416022"/>
              <a:gd name="connsiteY1" fmla="*/ 537881 h 537881"/>
              <a:gd name="connsiteX0" fmla="*/ 17437 w 250575"/>
              <a:gd name="connsiteY0" fmla="*/ 0 h 537881"/>
              <a:gd name="connsiteX1" fmla="*/ 109706 w 250575"/>
              <a:gd name="connsiteY1" fmla="*/ 537881 h 537881"/>
              <a:gd name="connsiteX0" fmla="*/ 63762 w 156031"/>
              <a:gd name="connsiteY0" fmla="*/ 0 h 537881"/>
              <a:gd name="connsiteX1" fmla="*/ 156031 w 156031"/>
              <a:gd name="connsiteY1" fmla="*/ 537881 h 537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6031" h="537881">
                <a:moveTo>
                  <a:pt x="63762" y="0"/>
                </a:moveTo>
                <a:cubicBezTo>
                  <a:pt x="-64076" y="197223"/>
                  <a:pt x="17692" y="354105"/>
                  <a:pt x="156031" y="537881"/>
                </a:cubicBez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3" name="TextBox 152"/>
          <p:cNvSpPr txBox="1"/>
          <p:nvPr/>
        </p:nvSpPr>
        <p:spPr>
          <a:xfrm>
            <a:off x="2886492" y="2104981"/>
            <a:ext cx="2828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Активен модул</a:t>
            </a:r>
          </a:p>
        </p:txBody>
      </p:sp>
    </p:spTree>
    <p:extLst>
      <p:ext uri="{BB962C8B-B14F-4D97-AF65-F5344CB8AC3E}">
        <p14:creationId xmlns:p14="http://schemas.microsoft.com/office/powerpoint/2010/main" val="2485628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Алгоритъм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Забележка</a:t>
            </a:r>
          </a:p>
          <a:p>
            <a:pPr lvl="1"/>
            <a:r>
              <a:rPr lang="bg-BG" dirty="0"/>
              <a:t>Текстурите са картинки, но сами по себе си нямат образ</a:t>
            </a:r>
          </a:p>
          <a:p>
            <a:pPr lvl="1"/>
            <a:r>
              <a:rPr lang="bg-BG" dirty="0"/>
              <a:t>Стават видими едва като се насложат върху обект</a:t>
            </a:r>
          </a:p>
          <a:p>
            <a:pPr lvl="1"/>
            <a:endParaRPr lang="bg-BG" dirty="0"/>
          </a:p>
          <a:p>
            <a:r>
              <a:rPr lang="bg-BG" dirty="0"/>
              <a:t>Дейности</a:t>
            </a:r>
          </a:p>
          <a:p>
            <a:pPr lvl="1"/>
            <a:r>
              <a:rPr lang="bg-BG" dirty="0"/>
              <a:t>Зареждане на изображението в </a:t>
            </a:r>
            <a:r>
              <a:rPr lang="bg-BG" dirty="0" err="1"/>
              <a:t>текстурен</a:t>
            </a:r>
            <a:r>
              <a:rPr lang="bg-BG" dirty="0"/>
              <a:t> обект</a:t>
            </a:r>
          </a:p>
          <a:p>
            <a:pPr lvl="1"/>
            <a:r>
              <a:rPr lang="bg-BG" dirty="0"/>
              <a:t>Определяне на наслагването върху геометричен обект</a:t>
            </a:r>
          </a:p>
          <a:p>
            <a:pPr lvl="1"/>
            <a:r>
              <a:rPr lang="bg-BG" dirty="0"/>
              <a:t>Програмиране на </a:t>
            </a:r>
            <a:r>
              <a:rPr lang="bg-BG" dirty="0" err="1"/>
              <a:t>шейдъра</a:t>
            </a:r>
            <a:r>
              <a:rPr lang="bg-BG" dirty="0"/>
              <a:t> да използва текстурата</a:t>
            </a:r>
          </a:p>
        </p:txBody>
      </p:sp>
    </p:spTree>
    <p:extLst>
      <p:ext uri="{BB962C8B-B14F-4D97-AF65-F5344CB8AC3E}">
        <p14:creationId xmlns:p14="http://schemas.microsoft.com/office/powerpoint/2010/main" val="85344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Извличане на изображение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Основен проблем</a:t>
            </a:r>
          </a:p>
          <a:p>
            <a:pPr lvl="1"/>
            <a:r>
              <a:rPr lang="bg-BG" dirty="0"/>
              <a:t>Достъпът до файл с някакво </a:t>
            </a:r>
            <a:r>
              <a:rPr lang="en-US" dirty="0"/>
              <a:t>URL</a:t>
            </a:r>
            <a:r>
              <a:rPr lang="bg-BG" dirty="0"/>
              <a:t> е асинхронен:</a:t>
            </a:r>
          </a:p>
          <a:p>
            <a:pPr marL="914400" lvl="2"/>
            <a:r>
              <a:rPr lang="bg-BG" b="1" dirty="0"/>
              <a:t>Стъпка №1:</a:t>
            </a:r>
            <a:r>
              <a:rPr lang="bg-BG" dirty="0"/>
              <a:t> подаваме заявка, че го искаме</a:t>
            </a:r>
          </a:p>
          <a:p>
            <a:pPr marL="914400" lvl="2"/>
            <a:r>
              <a:rPr lang="bg-BG" b="1" dirty="0"/>
              <a:t>Стъпка №2:</a:t>
            </a:r>
            <a:r>
              <a:rPr lang="bg-BG" dirty="0"/>
              <a:t> браузърът почва да го търси и извлича</a:t>
            </a:r>
          </a:p>
          <a:p>
            <a:pPr marL="914400" lvl="2"/>
            <a:r>
              <a:rPr lang="bg-BG" b="1" dirty="0"/>
              <a:t>Стъпка №3:</a:t>
            </a:r>
            <a:r>
              <a:rPr lang="bg-BG" dirty="0"/>
              <a:t> по някое време файлът е извлечен</a:t>
            </a:r>
          </a:p>
          <a:p>
            <a:pPr marL="914400" lvl="2"/>
            <a:r>
              <a:rPr lang="bg-BG" b="1" dirty="0"/>
              <a:t>Стъпка №4:</a:t>
            </a:r>
            <a:r>
              <a:rPr lang="bg-BG" dirty="0"/>
              <a:t> можем вече да работим с извлечения файл</a:t>
            </a:r>
          </a:p>
          <a:p>
            <a:pPr lvl="1"/>
            <a:r>
              <a:rPr lang="bg-BG" dirty="0"/>
              <a:t>Между №2 и №3 минава неизвестно време, през което браузърът и нашата програма продължават да работят</a:t>
            </a:r>
          </a:p>
        </p:txBody>
      </p:sp>
    </p:spTree>
    <p:extLst>
      <p:ext uri="{BB962C8B-B14F-4D97-AF65-F5344CB8AC3E}">
        <p14:creationId xmlns:p14="http://schemas.microsoft.com/office/powerpoint/2010/main" val="3397382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8"/>
          <p:cNvSpPr/>
          <p:nvPr/>
        </p:nvSpPr>
        <p:spPr>
          <a:xfrm>
            <a:off x="4238574" y="2612410"/>
            <a:ext cx="3193167" cy="1055623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en-US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</a:rPr>
              <a:t>Image</a:t>
            </a:r>
            <a:endParaRPr lang="bg-BG" sz="2000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18" name="Elbow Connector 117"/>
          <p:cNvCxnSpPr/>
          <p:nvPr/>
        </p:nvCxnSpPr>
        <p:spPr>
          <a:xfrm>
            <a:off x="2273759" y="1573513"/>
            <a:ext cx="0" cy="102545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nip Diagonal Corner Rectangle 38"/>
          <p:cNvSpPr/>
          <p:nvPr/>
        </p:nvSpPr>
        <p:spPr>
          <a:xfrm>
            <a:off x="1576387" y="2612410"/>
            <a:ext cx="1395413" cy="1213565"/>
          </a:xfrm>
          <a:prstGeom prst="snip2DiagRect">
            <a:avLst>
              <a:gd name="adj1" fmla="val 0"/>
              <a:gd name="adj2" fmla="val 1254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bg-BG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Текстура</a:t>
            </a:r>
          </a:p>
        </p:txBody>
      </p:sp>
      <p:sp>
        <p:nvSpPr>
          <p:cNvPr id="40" name="Snip Diagonal Corner Rectangle 39"/>
          <p:cNvSpPr/>
          <p:nvPr/>
        </p:nvSpPr>
        <p:spPr>
          <a:xfrm>
            <a:off x="1670707" y="3123715"/>
            <a:ext cx="1206104" cy="620309"/>
          </a:xfrm>
          <a:prstGeom prst="snip2DiagRect">
            <a:avLst>
              <a:gd name="adj1" fmla="val 0"/>
              <a:gd name="adj2" fmla="val 20054"/>
            </a:avLst>
          </a:pr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2000" y="1825433"/>
            <a:ext cx="1442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Създава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текстурен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обект</a:t>
            </a:r>
          </a:p>
        </p:txBody>
      </p:sp>
      <p:sp>
        <p:nvSpPr>
          <p:cNvPr id="44" name="Snip Diagonal Corner Rectangle 43"/>
          <p:cNvSpPr/>
          <p:nvPr/>
        </p:nvSpPr>
        <p:spPr>
          <a:xfrm>
            <a:off x="4913686" y="5189129"/>
            <a:ext cx="1911444" cy="983071"/>
          </a:xfrm>
          <a:prstGeom prst="snip2DiagRect">
            <a:avLst>
              <a:gd name="adj1" fmla="val 0"/>
              <a:gd name="adj2" fmla="val 0"/>
            </a:avLst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76800" y="6182380"/>
            <a:ext cx="1999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Картинка, някъде из мрежата</a:t>
            </a:r>
          </a:p>
        </p:txBody>
      </p:sp>
      <p:cxnSp>
        <p:nvCxnSpPr>
          <p:cNvPr id="46" name="Elbow Connector 117"/>
          <p:cNvCxnSpPr>
            <a:stCxn id="44" idx="3"/>
          </p:cNvCxnSpPr>
          <p:nvPr/>
        </p:nvCxnSpPr>
        <p:spPr>
          <a:xfrm flipH="1" flipV="1">
            <a:off x="5863784" y="3679210"/>
            <a:ext cx="5624" cy="1509919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nip Diagonal Corner Rectangle 50"/>
          <p:cNvSpPr/>
          <p:nvPr/>
        </p:nvSpPr>
        <p:spPr>
          <a:xfrm>
            <a:off x="5631567" y="3111726"/>
            <a:ext cx="840208" cy="435284"/>
          </a:xfrm>
          <a:prstGeom prst="snip2DiagRect">
            <a:avLst>
              <a:gd name="adj1" fmla="val 0"/>
              <a:gd name="adj2" fmla="val 16965"/>
            </a:avLst>
          </a:prstGeom>
          <a:blipFill dpi="0"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cxnSp>
        <p:nvCxnSpPr>
          <p:cNvPr id="54" name="Elbow Connector 117"/>
          <p:cNvCxnSpPr/>
          <p:nvPr/>
        </p:nvCxnSpPr>
        <p:spPr>
          <a:xfrm>
            <a:off x="5791200" y="1671116"/>
            <a:ext cx="0" cy="932227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752231" y="1733869"/>
            <a:ext cx="11057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Създава елемент 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Image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6" name="Snip Diagonal Corner Rectangle 55"/>
          <p:cNvSpPr/>
          <p:nvPr/>
        </p:nvSpPr>
        <p:spPr>
          <a:xfrm>
            <a:off x="6622167" y="3097027"/>
            <a:ext cx="685800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src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cxnSp>
        <p:nvCxnSpPr>
          <p:cNvPr id="57" name="Elbow Connector 117"/>
          <p:cNvCxnSpPr>
            <a:stCxn id="56" idx="0"/>
            <a:endCxn id="44" idx="0"/>
          </p:cNvCxnSpPr>
          <p:nvPr/>
        </p:nvCxnSpPr>
        <p:spPr>
          <a:xfrm flipH="1">
            <a:off x="6825130" y="3322018"/>
            <a:ext cx="482837" cy="2358647"/>
          </a:xfrm>
          <a:prstGeom prst="bentConnector3">
            <a:avLst>
              <a:gd name="adj1" fmla="val -155960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ouble Wave 28"/>
          <p:cNvSpPr/>
          <p:nvPr/>
        </p:nvSpPr>
        <p:spPr>
          <a:xfrm>
            <a:off x="4821292" y="3987176"/>
            <a:ext cx="1987402" cy="1091330"/>
          </a:xfrm>
          <a:prstGeom prst="doubleWave">
            <a:avLst>
              <a:gd name="adj1" fmla="val 8803"/>
              <a:gd name="adj2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Rectangle 29"/>
          <p:cNvSpPr/>
          <p:nvPr/>
        </p:nvSpPr>
        <p:spPr>
          <a:xfrm>
            <a:off x="4441470" y="3937869"/>
            <a:ext cx="462224" cy="109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3" name="Rectangle 72"/>
          <p:cNvSpPr/>
          <p:nvPr/>
        </p:nvSpPr>
        <p:spPr>
          <a:xfrm>
            <a:off x="6765365" y="3937869"/>
            <a:ext cx="462224" cy="109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9" name="TextBox 78"/>
          <p:cNvSpPr txBox="1"/>
          <p:nvPr/>
        </p:nvSpPr>
        <p:spPr>
          <a:xfrm>
            <a:off x="4231341" y="4138136"/>
            <a:ext cx="3276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Губи се неизвестно време, през което програмата продължава да си работи</a:t>
            </a:r>
          </a:p>
        </p:txBody>
      </p:sp>
      <p:sp>
        <p:nvSpPr>
          <p:cNvPr id="81" name="Snip Diagonal Corner Rectangle 80"/>
          <p:cNvSpPr/>
          <p:nvPr/>
        </p:nvSpPr>
        <p:spPr>
          <a:xfrm>
            <a:off x="4419600" y="3097027"/>
            <a:ext cx="1059567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onload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cxnSp>
        <p:nvCxnSpPr>
          <p:cNvPr id="23" name="Elbow Connector 117"/>
          <p:cNvCxnSpPr/>
          <p:nvPr/>
        </p:nvCxnSpPr>
        <p:spPr>
          <a:xfrm>
            <a:off x="6934200" y="1589425"/>
            <a:ext cx="0" cy="1501363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95231" y="1724904"/>
            <a:ext cx="13343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Указва връзка към картинката</a:t>
            </a:r>
          </a:p>
        </p:txBody>
      </p:sp>
      <p:cxnSp>
        <p:nvCxnSpPr>
          <p:cNvPr id="25" name="Elbow Connector 117"/>
          <p:cNvCxnSpPr/>
          <p:nvPr/>
        </p:nvCxnSpPr>
        <p:spPr>
          <a:xfrm>
            <a:off x="5029200" y="1581694"/>
            <a:ext cx="0" cy="1501363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0801" y="1717173"/>
            <a:ext cx="23994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Дефинира процедура, изчакваща зареждане на картинката</a:t>
            </a:r>
          </a:p>
        </p:txBody>
      </p:sp>
      <p:sp>
        <p:nvSpPr>
          <p:cNvPr id="53" name="Snip Diagonal Corner Rectangle 52"/>
          <p:cNvSpPr/>
          <p:nvPr/>
        </p:nvSpPr>
        <p:spPr>
          <a:xfrm>
            <a:off x="1371600" y="1164610"/>
            <a:ext cx="6388397" cy="544902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Потребителска програма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Действия по инициализиране</a:t>
            </a:r>
          </a:p>
        </p:txBody>
      </p:sp>
    </p:spTree>
    <p:extLst>
      <p:ext uri="{BB962C8B-B14F-4D97-AF65-F5344CB8AC3E}">
        <p14:creationId xmlns:p14="http://schemas.microsoft.com/office/powerpoint/2010/main" val="217957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Действия по финализиране</a:t>
            </a:r>
          </a:p>
          <a:p>
            <a:pPr lvl="1"/>
            <a:r>
              <a:rPr lang="bg-BG" dirty="0"/>
              <a:t>След прехвърлянето на картинката в </a:t>
            </a:r>
            <a:r>
              <a:rPr lang="bg-BG" dirty="0" err="1"/>
              <a:t>текстурния</a:t>
            </a:r>
            <a:r>
              <a:rPr lang="bg-BG" dirty="0"/>
              <a:t> елемент се инициализират други негови параметри</a:t>
            </a:r>
          </a:p>
          <a:p>
            <a:pPr lvl="1"/>
            <a:r>
              <a:rPr lang="bg-BG" dirty="0"/>
              <a:t>Без това </a:t>
            </a:r>
            <a:r>
              <a:rPr lang="bg-BG" dirty="0" err="1"/>
              <a:t>текстурният</a:t>
            </a:r>
            <a:r>
              <a:rPr lang="bg-BG" dirty="0"/>
              <a:t> обект не може да се ползва</a:t>
            </a:r>
          </a:p>
        </p:txBody>
      </p:sp>
      <p:sp>
        <p:nvSpPr>
          <p:cNvPr id="9" name="Snip Diagonal Corner Rectangle 8"/>
          <p:cNvSpPr/>
          <p:nvPr/>
        </p:nvSpPr>
        <p:spPr>
          <a:xfrm>
            <a:off x="4238574" y="3962400"/>
            <a:ext cx="3193167" cy="1055623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pPr algn="ctr"/>
            <a:r>
              <a:rPr lang="en-US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</a:rPr>
              <a:t>Image</a:t>
            </a:r>
            <a:endParaRPr lang="bg-BG" sz="2000" dirty="0">
              <a:solidFill>
                <a:sysClr val="windowText" lastClr="000000"/>
              </a:solidFill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9" name="Snip Diagonal Corner Rectangle 38"/>
          <p:cNvSpPr/>
          <p:nvPr/>
        </p:nvSpPr>
        <p:spPr>
          <a:xfrm>
            <a:off x="890587" y="3962400"/>
            <a:ext cx="1395413" cy="1213565"/>
          </a:xfrm>
          <a:prstGeom prst="snip2DiagRect">
            <a:avLst>
              <a:gd name="adj1" fmla="val 0"/>
              <a:gd name="adj2" fmla="val 1254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bg-BG" sz="200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Текстура</a:t>
            </a:r>
          </a:p>
        </p:txBody>
      </p:sp>
      <p:cxnSp>
        <p:nvCxnSpPr>
          <p:cNvPr id="54" name="Elbow Connector 117"/>
          <p:cNvCxnSpPr/>
          <p:nvPr/>
        </p:nvCxnSpPr>
        <p:spPr>
          <a:xfrm>
            <a:off x="5791200" y="3021106"/>
            <a:ext cx="0" cy="932227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752230" y="3083859"/>
            <a:ext cx="22487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Изтрива елемента 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Image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, ако не е нужен за друго</a:t>
            </a:r>
          </a:p>
        </p:txBody>
      </p:sp>
      <p:sp>
        <p:nvSpPr>
          <p:cNvPr id="56" name="Snip Diagonal Corner Rectangle 55"/>
          <p:cNvSpPr/>
          <p:nvPr/>
        </p:nvSpPr>
        <p:spPr>
          <a:xfrm>
            <a:off x="6622167" y="4447017"/>
            <a:ext cx="685800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src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81" name="Snip Diagonal Corner Rectangle 80"/>
          <p:cNvSpPr/>
          <p:nvPr/>
        </p:nvSpPr>
        <p:spPr>
          <a:xfrm>
            <a:off x="4419600" y="4447017"/>
            <a:ext cx="1059567" cy="449982"/>
          </a:xfrm>
          <a:prstGeom prst="snip2DiagRect">
            <a:avLst>
              <a:gd name="adj1" fmla="val 0"/>
              <a:gd name="adj2" fmla="val 18940"/>
            </a:avLst>
          </a:prstGeom>
          <a:solidFill>
            <a:schemeClr val="bg1"/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r>
              <a:rPr lang="en-US" sz="1600" dirty="0" err="1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ea typeface="+mj-ea"/>
                <a:cs typeface="+mj-cs"/>
              </a:rPr>
              <a:t>onload</a:t>
            </a: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53" name="Snip Diagonal Corner Rectangle 52"/>
          <p:cNvSpPr/>
          <p:nvPr/>
        </p:nvSpPr>
        <p:spPr>
          <a:xfrm>
            <a:off x="1371600" y="2514600"/>
            <a:ext cx="6388397" cy="544902"/>
          </a:xfrm>
          <a:prstGeom prst="snip2DiagRect">
            <a:avLst>
              <a:gd name="adj1" fmla="val 0"/>
              <a:gd name="adj2" fmla="val 10785"/>
            </a:avLst>
          </a:prstGeom>
          <a:solidFill>
            <a:schemeClr val="bg2">
              <a:lumMod val="60000"/>
              <a:lumOff val="4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Потребителска програма</a:t>
            </a:r>
          </a:p>
        </p:txBody>
      </p:sp>
      <p:sp>
        <p:nvSpPr>
          <p:cNvPr id="27" name="Snip Diagonal Corner Rectangle 26"/>
          <p:cNvSpPr/>
          <p:nvPr/>
        </p:nvSpPr>
        <p:spPr>
          <a:xfrm>
            <a:off x="990249" y="4474190"/>
            <a:ext cx="1206104" cy="620309"/>
          </a:xfrm>
          <a:prstGeom prst="snip2DiagRect">
            <a:avLst>
              <a:gd name="adj1" fmla="val 0"/>
              <a:gd name="adj2" fmla="val 20054"/>
            </a:avLst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28" name="Snip Diagonal Corner Rectangle 27"/>
          <p:cNvSpPr/>
          <p:nvPr/>
        </p:nvSpPr>
        <p:spPr>
          <a:xfrm>
            <a:off x="5631567" y="4431408"/>
            <a:ext cx="840208" cy="435284"/>
          </a:xfrm>
          <a:prstGeom prst="snip2DiagRect">
            <a:avLst>
              <a:gd name="adj1" fmla="val 0"/>
              <a:gd name="adj2" fmla="val 16965"/>
            </a:avLst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pPr algn="ctr">
              <a:spcBef>
                <a:spcPct val="0"/>
              </a:spcBef>
            </a:pPr>
            <a:endParaRPr lang="bg-BG" sz="2000" dirty="0">
              <a:solidFill>
                <a:schemeClr val="tx1"/>
              </a:solidFill>
              <a:effectLst>
                <a:outerShdw blurRad="63500" algn="ctr" rotWithShape="0">
                  <a:srgbClr val="003300">
                    <a:alpha val="40000"/>
                  </a:srgbClr>
                </a:outerShdw>
              </a:effectLst>
              <a:ea typeface="+mj-ea"/>
              <a:cs typeface="+mj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86000" y="3635990"/>
            <a:ext cx="198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Прехвърля данните в </a:t>
            </a:r>
            <a:r>
              <a:rPr lang="bg-BG" sz="1400" dirty="0" err="1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текстурния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обект и конфигурира параметрите</a:t>
            </a:r>
          </a:p>
        </p:txBody>
      </p:sp>
      <p:cxnSp>
        <p:nvCxnSpPr>
          <p:cNvPr id="32" name="Elbow Connector 117"/>
          <p:cNvCxnSpPr/>
          <p:nvPr/>
        </p:nvCxnSpPr>
        <p:spPr>
          <a:xfrm flipH="1">
            <a:off x="2274093" y="4641700"/>
            <a:ext cx="2145508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ross 32"/>
          <p:cNvSpPr/>
          <p:nvPr/>
        </p:nvSpPr>
        <p:spPr>
          <a:xfrm rot="18900000">
            <a:off x="5477040" y="3753873"/>
            <a:ext cx="628319" cy="628319"/>
          </a:xfrm>
          <a:prstGeom prst="plus">
            <a:avLst>
              <a:gd name="adj" fmla="val 3235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31107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 на четенето на картинка</a:t>
            </a:r>
          </a:p>
          <a:p>
            <a:pPr lvl="1"/>
            <a:r>
              <a:rPr lang="bg-BG" dirty="0"/>
              <a:t>Създава се </a:t>
            </a:r>
            <a:r>
              <a:rPr lang="bg-BG" dirty="0" err="1"/>
              <a:t>текстурен</a:t>
            </a:r>
            <a:r>
              <a:rPr lang="bg-BG" dirty="0"/>
              <a:t> обект с </a:t>
            </a:r>
            <a:r>
              <a:rPr lang="en-US" b="1" dirty="0" err="1"/>
              <a:t>createTexture</a:t>
            </a:r>
            <a:r>
              <a:rPr lang="en-US" dirty="0"/>
              <a:t> (</a:t>
            </a:r>
            <a:r>
              <a:rPr lang="bg-BG" dirty="0"/>
              <a:t>изтриването на подобен обект е с </a:t>
            </a:r>
            <a:r>
              <a:rPr lang="en-US" b="1" dirty="0" err="1"/>
              <a:t>deleteTexture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dirty="0"/>
              <a:t>Създава се </a:t>
            </a:r>
            <a:r>
              <a:rPr lang="en-US" dirty="0"/>
              <a:t>DOM</a:t>
            </a:r>
            <a:r>
              <a:rPr lang="bg-BG" dirty="0"/>
              <a:t> обект от клас </a:t>
            </a:r>
            <a:r>
              <a:rPr lang="en-US" b="1" dirty="0"/>
              <a:t>Image</a:t>
            </a:r>
            <a:r>
              <a:rPr lang="en-US" dirty="0"/>
              <a:t> (</a:t>
            </a:r>
            <a:r>
              <a:rPr lang="bg-BG" dirty="0"/>
              <a:t>съответства на </a:t>
            </a:r>
            <a:r>
              <a:rPr lang="en-US" dirty="0"/>
              <a:t>HTML</a:t>
            </a:r>
            <a:r>
              <a:rPr lang="bg-BG" dirty="0"/>
              <a:t> елемент с таг </a:t>
            </a:r>
            <a:r>
              <a:rPr lang="en-US" b="1" dirty="0"/>
              <a:t>&lt;</a:t>
            </a:r>
            <a:r>
              <a:rPr lang="en-US" b="1" dirty="0" err="1"/>
              <a:t>img</a:t>
            </a:r>
            <a:r>
              <a:rPr lang="en-US" b="1" dirty="0"/>
              <a:t>&gt;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dirty="0"/>
              <a:t>Обектът </a:t>
            </a:r>
            <a:r>
              <a:rPr lang="en-US" b="1" dirty="0"/>
              <a:t>image</a:t>
            </a:r>
            <a:r>
              <a:rPr lang="bg-BG" dirty="0"/>
              <a:t> не е вързан към </a:t>
            </a:r>
            <a:r>
              <a:rPr lang="en-US" dirty="0"/>
              <a:t>HTML</a:t>
            </a:r>
            <a:r>
              <a:rPr lang="bg-BG" dirty="0"/>
              <a:t> страницата, затова той остава невидим през цялото време</a:t>
            </a:r>
          </a:p>
          <a:p>
            <a:pPr lvl="1"/>
            <a:r>
              <a:rPr lang="bg-BG" dirty="0"/>
              <a:t>Дефинира се връзка между събитието </a:t>
            </a:r>
            <a:r>
              <a:rPr lang="en-US" b="1" dirty="0" err="1"/>
              <a:t>onload</a:t>
            </a:r>
            <a:r>
              <a:rPr lang="bg-BG" dirty="0"/>
              <a:t> и наша функция </a:t>
            </a:r>
            <a:r>
              <a:rPr lang="en-US" b="1" dirty="0" err="1"/>
              <a:t>imageLoaded</a:t>
            </a:r>
            <a:r>
              <a:rPr lang="en-US" dirty="0"/>
              <a:t>,</a:t>
            </a:r>
            <a:r>
              <a:rPr lang="bg-BG" dirty="0"/>
              <a:t> в някой бъдещ момент тя ще бъде извикана автоматично след зареждането на картинката</a:t>
            </a:r>
          </a:p>
          <a:p>
            <a:pPr lvl="1"/>
            <a:r>
              <a:rPr lang="bg-BG" dirty="0"/>
              <a:t>Едва накрая указваме в свойството </a:t>
            </a:r>
            <a:r>
              <a:rPr lang="en-US" b="1" dirty="0" err="1"/>
              <a:t>src</a:t>
            </a:r>
            <a:r>
              <a:rPr lang="bg-BG" dirty="0"/>
              <a:t> къде е картинката – по този начин се гарантира, че </a:t>
            </a:r>
            <a:r>
              <a:rPr lang="en-US" b="1" dirty="0" err="1"/>
              <a:t>onload</a:t>
            </a:r>
            <a:r>
              <a:rPr lang="bg-BG" dirty="0"/>
              <a:t> вече е дефиниран</a:t>
            </a:r>
          </a:p>
          <a:p>
            <a:pPr lvl="2"/>
            <a:r>
              <a:rPr lang="bg-BG" dirty="0"/>
              <a:t>(при </a:t>
            </a:r>
            <a:r>
              <a:rPr lang="bg-BG" dirty="0" err="1"/>
              <a:t>кеширани</a:t>
            </a:r>
            <a:r>
              <a:rPr lang="bg-BG" dirty="0"/>
              <a:t> картинки зареждането е моментално)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029200"/>
            <a:ext cx="8534400" cy="1524000"/>
          </a:xfrm>
          <a:prstGeom prst="snip2DiagRect">
            <a:avLst>
              <a:gd name="adj1" fmla="val 0"/>
              <a:gd name="adj2" fmla="val 12808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 =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createTexture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image =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Image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image.onload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function() {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imageLoaded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(image)};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image.src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'texture.jpg';</a:t>
            </a:r>
          </a:p>
        </p:txBody>
      </p:sp>
    </p:spTree>
    <p:extLst>
      <p:ext uri="{BB962C8B-B14F-4D97-AF65-F5344CB8AC3E}">
        <p14:creationId xmlns:p14="http://schemas.microsoft.com/office/powerpoint/2010/main" val="1429329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Обработване на събитието </a:t>
            </a:r>
            <a:r>
              <a:rPr lang="en-US" dirty="0" err="1"/>
              <a:t>onload</a:t>
            </a:r>
            <a:endParaRPr lang="bg-BG" dirty="0"/>
          </a:p>
          <a:p>
            <a:pPr lvl="1"/>
            <a:r>
              <a:rPr lang="bg-BG" dirty="0"/>
              <a:t>С </a:t>
            </a:r>
            <a:r>
              <a:rPr lang="en-US" b="1" dirty="0" err="1"/>
              <a:t>bindTexture</a:t>
            </a:r>
            <a:r>
              <a:rPr lang="bg-BG" dirty="0"/>
              <a:t> се указва, че текущата </a:t>
            </a:r>
            <a:r>
              <a:rPr lang="en-US" b="1" dirty="0"/>
              <a:t>TEXTURE_2D</a:t>
            </a:r>
            <a:r>
              <a:rPr lang="en-US" dirty="0"/>
              <a:t> </a:t>
            </a:r>
            <a:r>
              <a:rPr lang="bg-BG" dirty="0"/>
              <a:t>текстура е създаденият от по-рано </a:t>
            </a:r>
            <a:r>
              <a:rPr lang="bg-BG" dirty="0" err="1"/>
              <a:t>текстурен</a:t>
            </a:r>
            <a:r>
              <a:rPr lang="bg-BG" dirty="0"/>
              <a:t> обект </a:t>
            </a:r>
            <a:r>
              <a:rPr lang="en-US" b="1" dirty="0"/>
              <a:t>texture</a:t>
            </a:r>
            <a:endParaRPr lang="bg-BG" b="1" dirty="0"/>
          </a:p>
          <a:p>
            <a:pPr lvl="1"/>
            <a:r>
              <a:rPr lang="bg-BG" dirty="0"/>
              <a:t>Прехвърлянето на данните от заредената картинка в </a:t>
            </a:r>
            <a:r>
              <a:rPr lang="en-US" b="1" dirty="0"/>
              <a:t>image</a:t>
            </a:r>
            <a:r>
              <a:rPr lang="bg-BG" dirty="0"/>
              <a:t> към текущата </a:t>
            </a:r>
            <a:r>
              <a:rPr lang="en-US" dirty="0"/>
              <a:t>2D</a:t>
            </a:r>
            <a:r>
              <a:rPr lang="bg-BG" dirty="0"/>
              <a:t> текстура става с </a:t>
            </a:r>
            <a:r>
              <a:rPr lang="en-US" b="1" dirty="0"/>
              <a:t>texImage2D</a:t>
            </a:r>
            <a:endParaRPr lang="bg-BG" dirty="0"/>
          </a:p>
          <a:p>
            <a:pPr lvl="1"/>
            <a:r>
              <a:rPr lang="bg-BG" dirty="0"/>
              <a:t>Параметри:</a:t>
            </a:r>
          </a:p>
          <a:p>
            <a:pPr marL="914400" lvl="2"/>
            <a:r>
              <a:rPr lang="en-US" b="1" dirty="0"/>
              <a:t>TEXTURE_2D</a:t>
            </a:r>
            <a:r>
              <a:rPr lang="en-US" dirty="0"/>
              <a:t> –</a:t>
            </a:r>
            <a:r>
              <a:rPr lang="bg-BG" dirty="0"/>
              <a:t> тип на текущата текстура</a:t>
            </a:r>
          </a:p>
          <a:p>
            <a:pPr marL="914400" lvl="2"/>
            <a:r>
              <a:rPr lang="bg-BG" dirty="0"/>
              <a:t>0 – текстура от ниво 0 (за това по-късно ще има детайли)</a:t>
            </a:r>
          </a:p>
          <a:p>
            <a:pPr marL="914400" lvl="2"/>
            <a:r>
              <a:rPr lang="en-US" b="1" dirty="0" err="1"/>
              <a:t>RGB</a:t>
            </a:r>
            <a:r>
              <a:rPr lang="en-US" dirty="0"/>
              <a:t> –</a:t>
            </a:r>
            <a:r>
              <a:rPr lang="bg-BG" dirty="0"/>
              <a:t> текстурата ще съдържа </a:t>
            </a:r>
            <a:r>
              <a:rPr lang="en-US" dirty="0" err="1"/>
              <a:t>RGB</a:t>
            </a:r>
            <a:r>
              <a:rPr lang="en-US" dirty="0"/>
              <a:t> </a:t>
            </a:r>
            <a:r>
              <a:rPr lang="bg-BG" dirty="0"/>
              <a:t>цветове</a:t>
            </a:r>
          </a:p>
          <a:p>
            <a:pPr marL="914400" lvl="2"/>
            <a:r>
              <a:rPr lang="en-US" b="1" dirty="0" err="1"/>
              <a:t>RGB</a:t>
            </a:r>
            <a:r>
              <a:rPr lang="en-US" dirty="0"/>
              <a:t> –</a:t>
            </a:r>
            <a:r>
              <a:rPr lang="bg-BG" dirty="0"/>
              <a:t> картинката съдържа </a:t>
            </a:r>
            <a:r>
              <a:rPr lang="en-US" dirty="0" err="1"/>
              <a:t>RGB</a:t>
            </a:r>
            <a:r>
              <a:rPr lang="bg-BG" dirty="0"/>
              <a:t> цветове</a:t>
            </a:r>
          </a:p>
          <a:p>
            <a:pPr marL="914400" lvl="2"/>
            <a:r>
              <a:rPr lang="en-US" b="1" dirty="0" err="1"/>
              <a:t>UNSIGNED_BYTE</a:t>
            </a:r>
            <a:r>
              <a:rPr lang="en-US" dirty="0"/>
              <a:t> –</a:t>
            </a:r>
            <a:r>
              <a:rPr lang="bg-BG" dirty="0"/>
              <a:t> данните са поредица от байтове без знак</a:t>
            </a:r>
          </a:p>
          <a:p>
            <a:pPr marL="914400" lvl="2"/>
            <a:r>
              <a:rPr lang="en-US" b="1" dirty="0"/>
              <a:t>image</a:t>
            </a:r>
            <a:r>
              <a:rPr lang="en-US" dirty="0"/>
              <a:t> – </a:t>
            </a:r>
            <a:r>
              <a:rPr lang="bg-BG" dirty="0"/>
              <a:t>обект от клас </a:t>
            </a:r>
            <a:r>
              <a:rPr lang="en-US" b="1" dirty="0"/>
              <a:t>Image</a:t>
            </a:r>
            <a:r>
              <a:rPr lang="en-US" dirty="0"/>
              <a:t>,</a:t>
            </a:r>
            <a:r>
              <a:rPr lang="bg-BG" dirty="0"/>
              <a:t> в който е налична картинка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r>
              <a:rPr lang="bg-BG" dirty="0"/>
              <a:t>Премахването на текуща текстура става с </a:t>
            </a:r>
            <a:r>
              <a:rPr lang="en-US" dirty="0"/>
              <a:t>null</a:t>
            </a:r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4800600"/>
            <a:ext cx="8534400" cy="1752600"/>
          </a:xfrm>
          <a:prstGeom prst="snip2DiagRect">
            <a:avLst>
              <a:gd name="adj1" fmla="val 0"/>
              <a:gd name="adj2" fmla="val 1515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imageLoaded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(image)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bindTexture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TEXTURE_2D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,texture);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texImage2D</a:t>
            </a: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TEXTURE_2D</a:t>
            </a: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,0,gl.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RGB</a:t>
            </a: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,gl.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RGB</a:t>
            </a: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,gl.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UNSIGNED_BYTE</a:t>
            </a: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</a:t>
            </a: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gl.bindTexture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 null);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0642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Обаче</a:t>
            </a:r>
          </a:p>
          <a:p>
            <a:pPr lvl="1"/>
            <a:r>
              <a:rPr lang="bg-BG" dirty="0"/>
              <a:t>Само с подобен код няма да стане годна текстура</a:t>
            </a:r>
            <a:endParaRPr lang="bg-BG" b="1" dirty="0"/>
          </a:p>
          <a:p>
            <a:pPr lvl="1"/>
            <a:r>
              <a:rPr lang="bg-BG" dirty="0"/>
              <a:t>С </a:t>
            </a:r>
            <a:r>
              <a:rPr lang="en-US" b="1" dirty="0" err="1"/>
              <a:t>texParameteri</a:t>
            </a:r>
            <a:r>
              <a:rPr lang="en-US" dirty="0"/>
              <a:t> </a:t>
            </a:r>
            <a:r>
              <a:rPr lang="bg-BG" dirty="0"/>
              <a:t>или </a:t>
            </a:r>
            <a:r>
              <a:rPr lang="en-US" b="1" dirty="0" err="1"/>
              <a:t>texParameterf</a:t>
            </a:r>
            <a:r>
              <a:rPr lang="en-US" dirty="0"/>
              <a:t> </a:t>
            </a:r>
            <a:r>
              <a:rPr lang="bg-BG" dirty="0"/>
              <a:t>указваме допълнителни параметри:</a:t>
            </a:r>
          </a:p>
          <a:p>
            <a:pPr marL="914400" lvl="2"/>
            <a:r>
              <a:rPr lang="en-US" b="1" dirty="0" err="1"/>
              <a:t>TEXTURE_MAG_FILTER</a:t>
            </a:r>
            <a:r>
              <a:rPr lang="en-US" dirty="0"/>
              <a:t> – </a:t>
            </a:r>
            <a:r>
              <a:rPr lang="bg-BG" dirty="0"/>
              <a:t>контролира увеличение на текстурата</a:t>
            </a:r>
          </a:p>
          <a:p>
            <a:pPr marL="914400" lvl="2"/>
            <a:r>
              <a:rPr lang="en-US" b="1" dirty="0" err="1"/>
              <a:t>TEXTURE_MIN_FILTER</a:t>
            </a:r>
            <a:r>
              <a:rPr lang="en-US" dirty="0"/>
              <a:t> –</a:t>
            </a:r>
            <a:r>
              <a:rPr lang="bg-BG" dirty="0"/>
              <a:t> контролира смаляване на текстурата</a:t>
            </a:r>
          </a:p>
          <a:p>
            <a:pPr marL="914400" lvl="2"/>
            <a:r>
              <a:rPr lang="en-US" b="1" dirty="0"/>
              <a:t>NEAREST</a:t>
            </a:r>
            <a:r>
              <a:rPr lang="en-US" dirty="0"/>
              <a:t> – </a:t>
            </a:r>
            <a:r>
              <a:rPr lang="bg-BG" dirty="0"/>
              <a:t>при увеличаване/смаляване се взема цвета на най-близкия </a:t>
            </a:r>
            <a:r>
              <a:rPr lang="bg-BG" dirty="0" err="1"/>
              <a:t>тексел</a:t>
            </a:r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676900"/>
            <a:ext cx="8534400" cy="876300"/>
          </a:xfrm>
          <a:prstGeom prst="snip2DiagRect">
            <a:avLst>
              <a:gd name="adj1" fmla="val 0"/>
              <a:gd name="adj2" fmla="val 2589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texParameteri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TEXTURE_MAG_FILTER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NEAREST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gl.texParameteri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TEXTURE_MIN_FILTER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gl.NEAREST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pic>
        <p:nvPicPr>
          <p:cNvPr id="1026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741420"/>
            <a:ext cx="1259388" cy="706438"/>
          </a:xfrm>
          <a:prstGeom prst="rect">
            <a:avLst/>
          </a:prstGeom>
          <a:noFill/>
          <a:scene3d>
            <a:camera prst="perspectiveContrasting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803491"/>
            <a:ext cx="1259388" cy="706438"/>
          </a:xfrm>
          <a:prstGeom prst="rect">
            <a:avLst/>
          </a:prstGeom>
          <a:noFill/>
          <a:scene3d>
            <a:camera prst="perspectiveContrasting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>
            <a:off x="2876550" y="3657600"/>
            <a:ext cx="1824990" cy="914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973580" y="3851911"/>
            <a:ext cx="1070610" cy="22478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907030" y="4324351"/>
            <a:ext cx="1855470" cy="61721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019300" y="4552950"/>
            <a:ext cx="1131570" cy="85725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260" y="3893820"/>
            <a:ext cx="2296614" cy="1288257"/>
          </a:xfrm>
          <a:prstGeom prst="rect">
            <a:avLst/>
          </a:prstGeom>
          <a:noFill/>
          <a:scene3d>
            <a:camera prst="perspectiveContrasting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/>
          <p:cNvCxnSpPr/>
          <p:nvPr/>
        </p:nvCxnSpPr>
        <p:spPr>
          <a:xfrm>
            <a:off x="6416040" y="4381501"/>
            <a:ext cx="727710" cy="30860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528310" y="4613910"/>
            <a:ext cx="1165860" cy="18669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5478780" y="3912870"/>
            <a:ext cx="1196340" cy="54102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6377940" y="3718560"/>
            <a:ext cx="742950" cy="63246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0" y="4397893"/>
            <a:ext cx="629694" cy="353219"/>
          </a:xfrm>
          <a:prstGeom prst="rect">
            <a:avLst/>
          </a:prstGeom>
          <a:noFill/>
          <a:scene3d>
            <a:camera prst="perspectiveContrasting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778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Дефиниция на квадрат</a:t>
            </a:r>
          </a:p>
          <a:p>
            <a:pPr lvl="1"/>
            <a:r>
              <a:rPr lang="bg-BG" dirty="0"/>
              <a:t>За всеки връх указваме </a:t>
            </a:r>
            <a:r>
              <a:rPr lang="bg-BG" dirty="0" err="1"/>
              <a:t>текстурни</a:t>
            </a:r>
            <a:r>
              <a:rPr lang="bg-BG" dirty="0"/>
              <a:t> координати (т.е. коя точка от текстурата на кой връх от обекта закачаме)</a:t>
            </a:r>
          </a:p>
          <a:p>
            <a:pPr lvl="1"/>
            <a:r>
              <a:rPr lang="bg-BG" dirty="0"/>
              <a:t>Данните за връх са: </a:t>
            </a:r>
            <a:r>
              <a:rPr lang="en-US" dirty="0"/>
              <a:t>(</a:t>
            </a:r>
            <a:r>
              <a:rPr lang="en-US" dirty="0" err="1"/>
              <a:t>x,y,z,</a:t>
            </a:r>
            <a:r>
              <a:rPr lang="en-US" b="1" dirty="0" err="1"/>
              <a:t>s</a:t>
            </a:r>
            <a:r>
              <a:rPr lang="en-US" dirty="0" err="1"/>
              <a:t>,</a:t>
            </a:r>
            <a:r>
              <a:rPr lang="en-US" b="1" dirty="0" err="1"/>
              <a:t>t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dirty="0" err="1"/>
              <a:t>Текстурните</a:t>
            </a:r>
            <a:r>
              <a:rPr lang="bg-BG" dirty="0"/>
              <a:t> координати подаваме до </a:t>
            </a:r>
            <a:r>
              <a:rPr lang="bg-BG" dirty="0" err="1"/>
              <a:t>шейдъра</a:t>
            </a:r>
            <a:r>
              <a:rPr lang="bg-BG" dirty="0"/>
              <a:t> през </a:t>
            </a:r>
            <a:r>
              <a:rPr lang="en-US" b="1" dirty="0" err="1"/>
              <a:t>aST</a:t>
            </a:r>
            <a:endParaRPr lang="en-US" b="1" dirty="0"/>
          </a:p>
          <a:p>
            <a:pPr lvl="1"/>
            <a:r>
              <a:rPr lang="bg-BG" dirty="0"/>
              <a:t>Преди рисуването на обекта проверяваме дали текстурата ни е готова с </a:t>
            </a:r>
            <a:r>
              <a:rPr lang="en-US" b="1" dirty="0" err="1"/>
              <a:t>isTexture</a:t>
            </a:r>
            <a:r>
              <a:rPr lang="bg-BG" dirty="0"/>
              <a:t> и ако е, правим я текуща с </a:t>
            </a:r>
            <a:r>
              <a:rPr lang="en-US" b="1" dirty="0" err="1"/>
              <a:t>bindTexture</a:t>
            </a:r>
            <a:endParaRPr lang="bg-BG" b="1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8267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data = [ -0.5,-0.5,0,	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0,0,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+0.5,-0.5,0,	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1,0,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-0.5,+0.5,0,	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0,1,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 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+0.5,+0.5,0,	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1,1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gl.enableVertexAttribArray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gl.vertexAttribPointer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,2,gl.FLOAT,false,5*FLOATS,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3*FLOATS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isTexture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(texture)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bindTexture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 texture);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49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 в </a:t>
            </a:r>
            <a:r>
              <a:rPr lang="bg-BG" dirty="0" err="1"/>
              <a:t>шейдъра</a:t>
            </a:r>
            <a:endParaRPr lang="bg-BG" dirty="0"/>
          </a:p>
          <a:p>
            <a:pPr lvl="1"/>
            <a:r>
              <a:rPr lang="bg-BG" dirty="0"/>
              <a:t>В </a:t>
            </a:r>
            <a:r>
              <a:rPr lang="bg-BG" dirty="0" err="1"/>
              <a:t>шейдъра</a:t>
            </a:r>
            <a:r>
              <a:rPr lang="bg-BG" dirty="0"/>
              <a:t> за върхове има </a:t>
            </a:r>
            <a:r>
              <a:rPr lang="en-US" b="1" dirty="0" err="1"/>
              <a:t>aST</a:t>
            </a:r>
            <a:r>
              <a:rPr lang="bg-BG" dirty="0"/>
              <a:t> за </a:t>
            </a:r>
            <a:r>
              <a:rPr lang="bg-BG" dirty="0" err="1"/>
              <a:t>текстурни</a:t>
            </a:r>
            <a:r>
              <a:rPr lang="bg-BG" dirty="0"/>
              <a:t> координати</a:t>
            </a:r>
          </a:p>
          <a:p>
            <a:pPr lvl="1"/>
            <a:r>
              <a:rPr lang="bg-BG" dirty="0"/>
              <a:t>Те се подават към другия </a:t>
            </a:r>
            <a:r>
              <a:rPr lang="bg-BG" dirty="0" err="1"/>
              <a:t>шейдър</a:t>
            </a:r>
            <a:r>
              <a:rPr lang="bg-BG" dirty="0"/>
              <a:t> през </a:t>
            </a:r>
            <a:r>
              <a:rPr lang="en-US" b="1" dirty="0" err="1"/>
              <a:t>vST</a:t>
            </a:r>
            <a:r>
              <a:rPr lang="en-US" dirty="0"/>
              <a:t>,</a:t>
            </a:r>
            <a:r>
              <a:rPr lang="bg-BG" dirty="0"/>
              <a:t> за да може да се </a:t>
            </a:r>
            <a:r>
              <a:rPr lang="bg-BG" dirty="0" err="1"/>
              <a:t>интерполират</a:t>
            </a:r>
            <a:r>
              <a:rPr lang="bg-BG" dirty="0"/>
              <a:t> всички междинни координати</a:t>
            </a:r>
          </a:p>
          <a:p>
            <a:pPr lvl="1"/>
            <a:r>
              <a:rPr lang="bg-BG" dirty="0"/>
              <a:t>В </a:t>
            </a:r>
            <a:r>
              <a:rPr lang="bg-BG" dirty="0" err="1"/>
              <a:t>шейдъра</a:t>
            </a:r>
            <a:r>
              <a:rPr lang="bg-BG" dirty="0"/>
              <a:t> за фрагменти дефинираме </a:t>
            </a:r>
            <a:r>
              <a:rPr lang="en-US" b="1" dirty="0" err="1"/>
              <a:t>uSampler</a:t>
            </a:r>
            <a:r>
              <a:rPr lang="bg-BG" dirty="0"/>
              <a:t> от тип </a:t>
            </a:r>
            <a:r>
              <a:rPr lang="en-US" b="1" dirty="0"/>
              <a:t>sample2D</a:t>
            </a:r>
            <a:r>
              <a:rPr lang="bg-BG" dirty="0"/>
              <a:t> (указва кой </a:t>
            </a:r>
            <a:r>
              <a:rPr lang="bg-BG" dirty="0" err="1"/>
              <a:t>текстурен</a:t>
            </a:r>
            <a:r>
              <a:rPr lang="bg-BG" dirty="0"/>
              <a:t> модул ползваме)</a:t>
            </a:r>
          </a:p>
          <a:p>
            <a:pPr lvl="1"/>
            <a:r>
              <a:rPr lang="bg-BG" dirty="0"/>
              <a:t>Командата </a:t>
            </a:r>
            <a:r>
              <a:rPr lang="en-US" b="1" dirty="0"/>
              <a:t>texture2D</a:t>
            </a:r>
            <a:r>
              <a:rPr lang="bg-BG" dirty="0"/>
              <a:t> извлича цвят от съответните </a:t>
            </a:r>
            <a:r>
              <a:rPr lang="bg-BG" dirty="0" err="1"/>
              <a:t>текстурни</a:t>
            </a:r>
            <a:r>
              <a:rPr lang="bg-BG" dirty="0"/>
              <a:t> координати </a:t>
            </a:r>
            <a:r>
              <a:rPr lang="en-US" b="1" dirty="0" err="1"/>
              <a:t>vST</a:t>
            </a:r>
            <a:r>
              <a:rPr lang="en-US" dirty="0"/>
              <a:t> </a:t>
            </a:r>
            <a:r>
              <a:rPr lang="bg-BG" dirty="0"/>
              <a:t>на текущата текстура на указания в </a:t>
            </a:r>
            <a:r>
              <a:rPr lang="en-US" b="1" dirty="0" err="1"/>
              <a:t>uSampler</a:t>
            </a:r>
            <a:r>
              <a:rPr lang="en-US" dirty="0"/>
              <a:t> </a:t>
            </a:r>
            <a:r>
              <a:rPr lang="bg-BG" dirty="0"/>
              <a:t>номер на модул</a:t>
            </a:r>
          </a:p>
          <a:p>
            <a:pPr lvl="1"/>
            <a:r>
              <a:rPr lang="bg-BG" dirty="0"/>
              <a:t>Суфиксите са</a:t>
            </a:r>
            <a:r>
              <a:rPr lang="en-US" dirty="0"/>
              <a:t> </a:t>
            </a:r>
            <a:r>
              <a:rPr lang="bg-BG" dirty="0"/>
              <a:t>2</a:t>
            </a:r>
            <a:r>
              <a:rPr lang="en-US" dirty="0"/>
              <a:t>D,</a:t>
            </a:r>
            <a:r>
              <a:rPr lang="bg-BG" dirty="0"/>
              <a:t> защото ползваме </a:t>
            </a:r>
            <a:r>
              <a:rPr lang="en-US" dirty="0"/>
              <a:t>2D</a:t>
            </a:r>
            <a:r>
              <a:rPr lang="bg-BG" dirty="0"/>
              <a:t> текстура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486400"/>
            <a:ext cx="8534400" cy="1066800"/>
          </a:xfrm>
          <a:prstGeom prst="snip2DiagRect">
            <a:avLst>
              <a:gd name="adj1" fmla="val 0"/>
              <a:gd name="adj2" fmla="val 2315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uniform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sampler2D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uSampler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varying vec2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main( )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gl_FragColor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texture2D(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uSampler,vST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038600"/>
            <a:ext cx="8534400" cy="1295400"/>
          </a:xfrm>
          <a:prstGeom prst="snip2DiagRect">
            <a:avLst>
              <a:gd name="adj1" fmla="val 0"/>
              <a:gd name="adj2" fmla="val 2322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vec2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varying vec2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main ()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 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6180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304800"/>
            <a:ext cx="5324475" cy="570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1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Проблем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Черен квадрат</a:t>
            </a:r>
            <a:endParaRPr lang="en-US" dirty="0"/>
          </a:p>
          <a:p>
            <a:pPr lvl="1"/>
            <a:r>
              <a:rPr lang="bg-BG" dirty="0"/>
              <a:t>Съобщение за грешка:</a:t>
            </a:r>
            <a:br>
              <a:rPr lang="bg-BG" dirty="0"/>
            </a:br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Uncaught </a:t>
            </a:r>
            <a:r>
              <a:rPr lang="en-US" dirty="0" err="1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SecurityError</a:t>
            </a:r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: Failed to execute 'texImage2D' on '</a:t>
            </a:r>
            <a:r>
              <a:rPr lang="en-US" dirty="0" err="1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WebGLRenderingContext</a:t>
            </a:r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': The </a:t>
            </a:r>
            <a:r>
              <a:rPr lang="en-US" b="1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cross-origin image</a:t>
            </a:r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 at file://</a:t>
            </a:r>
            <a:r>
              <a:rPr lang="bg-BG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...</a:t>
            </a:r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/texture.jpg may not be loaded.</a:t>
            </a:r>
            <a:endParaRPr lang="bg-BG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  <a:p>
            <a:pPr lvl="1"/>
            <a:r>
              <a:rPr lang="bg-BG" dirty="0"/>
              <a:t>От съображения за сигурност е забранено да се ползват изображения от един домейн в друг</a:t>
            </a:r>
          </a:p>
          <a:p>
            <a:pPr lvl="1"/>
            <a:r>
              <a:rPr lang="bg-BG" dirty="0"/>
              <a:t>Има възможност това да се разреши, но само за протоколи </a:t>
            </a:r>
            <a:r>
              <a:rPr lang="en-US" b="1" dirty="0"/>
              <a:t>http://</a:t>
            </a:r>
            <a:r>
              <a:rPr lang="bg-BG" dirty="0"/>
              <a:t> или </a:t>
            </a:r>
            <a:r>
              <a:rPr lang="en-US" b="1" dirty="0"/>
              <a:t>https://</a:t>
            </a:r>
            <a:endParaRPr lang="bg-BG" b="1" dirty="0"/>
          </a:p>
          <a:p>
            <a:pPr lvl="1"/>
            <a:r>
              <a:rPr lang="bg-BG" dirty="0"/>
              <a:t>В нашия пример протоколът е </a:t>
            </a:r>
            <a:r>
              <a:rPr lang="en-US" b="1" dirty="0"/>
              <a:t>file://</a:t>
            </a: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2157448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Решение №1</a:t>
            </a:r>
          </a:p>
          <a:p>
            <a:pPr lvl="1"/>
            <a:r>
              <a:rPr lang="bg-BG" dirty="0"/>
              <a:t>Всичко е качено някъде онлайн</a:t>
            </a:r>
          </a:p>
          <a:p>
            <a:pPr lvl="1"/>
            <a:r>
              <a:rPr lang="bg-BG" dirty="0"/>
              <a:t>Това е най-типичният начин за справяне с проблема</a:t>
            </a:r>
          </a:p>
          <a:p>
            <a:pPr lvl="1"/>
            <a:endParaRPr lang="bg-BG" dirty="0"/>
          </a:p>
          <a:p>
            <a:r>
              <a:rPr lang="bg-BG" dirty="0"/>
              <a:t>Решение №2</a:t>
            </a:r>
          </a:p>
          <a:p>
            <a:pPr lvl="1"/>
            <a:r>
              <a:rPr lang="bg-BG" dirty="0"/>
              <a:t>Използваме настройки на браузъра</a:t>
            </a:r>
          </a:p>
          <a:p>
            <a:pPr lvl="1"/>
            <a:r>
              <a:rPr lang="bg-BG" dirty="0"/>
              <a:t>Прекалено са специфични – всеки браузър се настройва по различен начин</a:t>
            </a:r>
          </a:p>
          <a:p>
            <a:pPr lvl="1"/>
            <a:r>
              <a:rPr lang="bg-BG" dirty="0" err="1"/>
              <a:t>Пробойна</a:t>
            </a:r>
            <a:r>
              <a:rPr lang="bg-BG" dirty="0"/>
              <a:t> в сигурността, ако забравим да ги възстановим</a:t>
            </a:r>
          </a:p>
          <a:p>
            <a:pPr lvl="1"/>
            <a:endParaRPr lang="bg-BG" dirty="0"/>
          </a:p>
          <a:p>
            <a:r>
              <a:rPr lang="bg-BG" dirty="0"/>
              <a:t>Решение №3</a:t>
            </a:r>
          </a:p>
          <a:p>
            <a:pPr lvl="1"/>
            <a:r>
              <a:rPr lang="bg-BG" dirty="0"/>
              <a:t>Пускаме си локален уеб сървър</a:t>
            </a:r>
          </a:p>
          <a:p>
            <a:pPr lvl="1"/>
            <a:r>
              <a:rPr lang="bg-BG" dirty="0"/>
              <a:t>Разработването и тестването минава през него</a:t>
            </a:r>
          </a:p>
          <a:p>
            <a:pPr lvl="1"/>
            <a:r>
              <a:rPr lang="bg-BG" dirty="0"/>
              <a:t>Има малки </a:t>
            </a:r>
            <a:r>
              <a:rPr lang="bg-BG" dirty="0" err="1"/>
              <a:t>сървърчета</a:t>
            </a:r>
            <a:r>
              <a:rPr lang="en-US" dirty="0"/>
              <a:t>, </a:t>
            </a:r>
            <a:r>
              <a:rPr lang="bg-BG" dirty="0"/>
              <a:t>например </a:t>
            </a:r>
            <a:r>
              <a:rPr lang="en-US" dirty="0" err="1"/>
              <a:t>QuickPHP</a:t>
            </a:r>
            <a:r>
              <a:rPr lang="en-US" dirty="0"/>
              <a:t>, Mongoose</a:t>
            </a:r>
            <a:r>
              <a:rPr lang="bg-BG"/>
              <a:t>, …</a:t>
            </a:r>
            <a:endParaRPr lang="bg-BG" dirty="0"/>
          </a:p>
          <a:p>
            <a:pPr lvl="1"/>
            <a:r>
              <a:rPr lang="bg-BG" dirty="0"/>
              <a:t>Вместо </a:t>
            </a:r>
            <a:r>
              <a:rPr lang="en-US" b="1" dirty="0"/>
              <a:t>file://texture.jpg</a:t>
            </a:r>
            <a:r>
              <a:rPr lang="en-US" dirty="0"/>
              <a:t> </a:t>
            </a:r>
            <a:r>
              <a:rPr lang="bg-BG" dirty="0"/>
              <a:t>се ползва </a:t>
            </a:r>
            <a:r>
              <a:rPr lang="en-US" b="1" dirty="0"/>
              <a:t>http://localhost/texture.jpg</a:t>
            </a: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2581742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Използване на </a:t>
            </a:r>
            <a:r>
              <a:rPr lang="en-US" dirty="0" err="1"/>
              <a:t>QuickPHP</a:t>
            </a:r>
            <a:r>
              <a:rPr lang="bg-BG" dirty="0"/>
              <a:t> </a:t>
            </a:r>
            <a:r>
              <a:rPr lang="en-US" dirty="0"/>
              <a:t>Web Server</a:t>
            </a:r>
          </a:p>
          <a:p>
            <a:pPr lvl="1"/>
            <a:r>
              <a:rPr lang="bg-BG" dirty="0"/>
              <a:t>Стартира се </a:t>
            </a:r>
            <a:r>
              <a:rPr lang="en-GB" b="1" dirty="0"/>
              <a:t>QuickPHP.exe</a:t>
            </a:r>
            <a:endParaRPr lang="bg-BG" b="1" dirty="0"/>
          </a:p>
          <a:p>
            <a:pPr lvl="1"/>
            <a:r>
              <a:rPr lang="bg-BG" dirty="0"/>
              <a:t>В опциите се избира </a:t>
            </a:r>
            <a:r>
              <a:rPr lang="en-US" b="1" dirty="0"/>
              <a:t>binding address</a:t>
            </a:r>
            <a:r>
              <a:rPr lang="en-US" dirty="0"/>
              <a:t> </a:t>
            </a:r>
            <a:r>
              <a:rPr lang="bg-BG" dirty="0"/>
              <a:t>да е </a:t>
            </a:r>
            <a:r>
              <a:rPr lang="en-US" dirty="0"/>
              <a:t>127.0.0.1, </a:t>
            </a:r>
            <a:r>
              <a:rPr lang="en-US" b="1" dirty="0"/>
              <a:t>port</a:t>
            </a:r>
            <a:r>
              <a:rPr lang="bg-BG" dirty="0"/>
              <a:t> да е 80, </a:t>
            </a:r>
            <a:r>
              <a:rPr lang="en-US" b="1" dirty="0"/>
              <a:t>allow directory listing</a:t>
            </a:r>
            <a:r>
              <a:rPr lang="bg-BG" dirty="0"/>
              <a:t> да е включено, а </a:t>
            </a:r>
            <a:r>
              <a:rPr lang="en-US" b="1" dirty="0"/>
              <a:t>root folder</a:t>
            </a:r>
            <a:r>
              <a:rPr lang="bg-BG" dirty="0"/>
              <a:t> да е работната директория</a:t>
            </a:r>
            <a:endParaRPr lang="en-US" dirty="0"/>
          </a:p>
          <a:p>
            <a:pPr lvl="1"/>
            <a:r>
              <a:rPr lang="bg-BG" dirty="0"/>
              <a:t>Натиска се </a:t>
            </a:r>
            <a:r>
              <a:rPr lang="en-US" dirty="0"/>
              <a:t>[Start]</a:t>
            </a:r>
            <a:endParaRPr lang="bg-BG" dirty="0"/>
          </a:p>
          <a:p>
            <a:pPr lvl="1"/>
            <a:r>
              <a:rPr lang="bg-BG" dirty="0"/>
              <a:t>Директорията е достъпна на адрес </a:t>
            </a:r>
            <a:r>
              <a:rPr lang="en-US" b="1" dirty="0"/>
              <a:t>http://localhost</a:t>
            </a:r>
            <a:endParaRPr lang="bg-BG" b="1" dirty="0"/>
          </a:p>
          <a:p>
            <a:pPr lvl="1"/>
            <a:r>
              <a:rPr lang="bg-BG" dirty="0"/>
              <a:t>След приключване на работата сървърът се спира</a:t>
            </a:r>
          </a:p>
          <a:p>
            <a:pPr lvl="1"/>
            <a:endParaRPr lang="bg-BG" dirty="0"/>
          </a:p>
          <a:p>
            <a:r>
              <a:rPr lang="bg-BG" dirty="0"/>
              <a:t>Използване на </a:t>
            </a:r>
            <a:r>
              <a:rPr lang="en-US" dirty="0"/>
              <a:t>Mongoose Web Server</a:t>
            </a:r>
          </a:p>
          <a:p>
            <a:pPr lvl="1"/>
            <a:r>
              <a:rPr lang="bg-BG" dirty="0"/>
              <a:t>Стартира се </a:t>
            </a:r>
            <a:r>
              <a:rPr lang="en-GB" b="1" dirty="0"/>
              <a:t>mongoose-free-5.6.exe</a:t>
            </a:r>
          </a:p>
          <a:p>
            <a:pPr lvl="1"/>
            <a:r>
              <a:rPr lang="bg-BG" dirty="0"/>
              <a:t>В опциите се избира </a:t>
            </a:r>
            <a:r>
              <a:rPr lang="en-GB" b="1" dirty="0" err="1"/>
              <a:t>document_root</a:t>
            </a:r>
            <a:r>
              <a:rPr lang="bg-BG" dirty="0"/>
              <a:t> да е работната директория, а </a:t>
            </a:r>
            <a:r>
              <a:rPr lang="en-GB" b="1" dirty="0" err="1"/>
              <a:t>listening_port</a:t>
            </a:r>
            <a:r>
              <a:rPr lang="bg-BG" dirty="0"/>
              <a:t> да е 80</a:t>
            </a:r>
          </a:p>
          <a:p>
            <a:pPr lvl="1"/>
            <a:r>
              <a:rPr lang="bg-BG" dirty="0"/>
              <a:t>Директорията е достъпна на адрес </a:t>
            </a:r>
            <a:r>
              <a:rPr lang="en-US" b="1" dirty="0"/>
              <a:t>http://localhost</a:t>
            </a:r>
            <a:endParaRPr lang="en-US" dirty="0"/>
          </a:p>
          <a:p>
            <a:pPr lvl="1"/>
            <a:r>
              <a:rPr lang="bg-BG" dirty="0"/>
              <a:t>След приключване на работата сървърът се спира</a:t>
            </a:r>
          </a:p>
        </p:txBody>
      </p:sp>
    </p:spTree>
    <p:extLst>
      <p:ext uri="{BB962C8B-B14F-4D97-AF65-F5344CB8AC3E}">
        <p14:creationId xmlns:p14="http://schemas.microsoft.com/office/powerpoint/2010/main" val="1225700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2963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Обръщане на образа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Координатни системи</a:t>
            </a:r>
          </a:p>
          <a:p>
            <a:pPr lvl="1"/>
            <a:r>
              <a:rPr lang="bg-BG" dirty="0"/>
              <a:t>Посоката Т на текстура е „нагоре“</a:t>
            </a:r>
          </a:p>
          <a:p>
            <a:pPr lvl="1"/>
            <a:r>
              <a:rPr lang="bg-BG" dirty="0"/>
              <a:t>Посоката </a:t>
            </a:r>
            <a:r>
              <a:rPr lang="en-US" dirty="0"/>
              <a:t>Y</a:t>
            </a:r>
            <a:r>
              <a:rPr lang="bg-BG" dirty="0"/>
              <a:t> на картинките е „надолу“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3495020"/>
            <a:ext cx="2209801" cy="128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1676400" y="4784071"/>
            <a:ext cx="25908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r="5400000" algn="ctr" rotWithShape="0">
              <a:schemeClr val="bg1">
                <a:lumMod val="5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828799" y="3197318"/>
            <a:ext cx="0" cy="184059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r="5400000" algn="ctr" rotWithShape="0">
              <a:schemeClr val="bg1">
                <a:lumMod val="5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58671" y="482559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S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399" y="329496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T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8798" y="2971800"/>
            <a:ext cx="2209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Координатна система на текстура</a:t>
            </a:r>
          </a:p>
        </p:txBody>
      </p:sp>
      <p:pic>
        <p:nvPicPr>
          <p:cNvPr id="24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3495020"/>
            <a:ext cx="2209801" cy="128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>
            <a:off x="4953000" y="3502118"/>
            <a:ext cx="25908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r="5400000" algn="ctr" rotWithShape="0">
              <a:schemeClr val="bg1">
                <a:lumMod val="5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5105399" y="3337922"/>
            <a:ext cx="0" cy="184059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  <a:effectLst>
            <a:outerShdw blurRad="50800" dir="5400000" algn="ctr" rotWithShape="0">
              <a:schemeClr val="bg1">
                <a:lumMod val="5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96635" y="349502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X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90999" y="477840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Y</a:t>
            </a:r>
            <a:endParaRPr lang="bg-BG" sz="20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53000" y="2971800"/>
            <a:ext cx="2496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Координатна система на 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JPG 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1104022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Решение</a:t>
            </a:r>
          </a:p>
          <a:p>
            <a:pPr lvl="1"/>
            <a:r>
              <a:rPr lang="bg-BG" dirty="0"/>
              <a:t>Можем да зададем обратни </a:t>
            </a:r>
            <a:r>
              <a:rPr lang="bg-BG" dirty="0" err="1"/>
              <a:t>текстурни</a:t>
            </a:r>
            <a:r>
              <a:rPr lang="bg-BG" dirty="0"/>
              <a:t> координати по оста </a:t>
            </a:r>
            <a:r>
              <a:rPr lang="en-US" dirty="0"/>
              <a:t>T </a:t>
            </a:r>
            <a:r>
              <a:rPr lang="bg-BG" dirty="0"/>
              <a:t>– един вид ръчно обръщане на картинката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r>
              <a:rPr lang="bg-BG" dirty="0"/>
              <a:t>По-добре е да укажем </a:t>
            </a:r>
            <a:r>
              <a:rPr lang="bg-BG" dirty="0" err="1"/>
              <a:t>разпакетирането</a:t>
            </a:r>
            <a:r>
              <a:rPr lang="bg-BG" dirty="0"/>
              <a:t> с </a:t>
            </a:r>
            <a:r>
              <a:rPr lang="en-US" b="1" dirty="0" err="1"/>
              <a:t>pixelStorei</a:t>
            </a:r>
            <a:r>
              <a:rPr lang="bg-BG" dirty="0"/>
              <a:t> да е с обръщане на </a:t>
            </a:r>
            <a:r>
              <a:rPr lang="en-US" dirty="0"/>
              <a:t>Y</a:t>
            </a:r>
            <a:r>
              <a:rPr lang="bg-BG" dirty="0"/>
              <a:t> оста с </a:t>
            </a:r>
            <a:r>
              <a:rPr lang="en-GB" b="1" dirty="0" err="1"/>
              <a:t>UNPACK_FLIP_Y_WEBGL</a:t>
            </a:r>
            <a:endParaRPr lang="bg-BG" b="1" dirty="0"/>
          </a:p>
          <a:p>
            <a:pPr lvl="1"/>
            <a:r>
              <a:rPr lang="bg-BG" dirty="0"/>
              <a:t>Функцията </a:t>
            </a:r>
            <a:r>
              <a:rPr lang="en-US" b="1" dirty="0" err="1"/>
              <a:t>pixelStorei</a:t>
            </a:r>
            <a:r>
              <a:rPr lang="bg-BG" dirty="0"/>
              <a:t> трябва да се извика след </a:t>
            </a:r>
            <a:r>
              <a:rPr lang="en-US" b="1" dirty="0" err="1"/>
              <a:t>bindTexture</a:t>
            </a:r>
            <a:r>
              <a:rPr lang="en-US" dirty="0"/>
              <a:t>,</a:t>
            </a:r>
            <a:r>
              <a:rPr lang="bg-BG" dirty="0"/>
              <a:t> но преди </a:t>
            </a:r>
            <a:r>
              <a:rPr lang="en-US" b="1" dirty="0"/>
              <a:t>texImage2D</a:t>
            </a:r>
            <a:endParaRPr lang="bg-BG" b="1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562600"/>
            <a:ext cx="8534400" cy="990600"/>
          </a:xfrm>
          <a:prstGeom prst="snip2DiagRect">
            <a:avLst>
              <a:gd name="adj1" fmla="val 0"/>
              <a:gd name="adj2" fmla="val 3134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gl.bindTexture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 texture);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pixelStorei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UNPACK_FLIP_Y_WEBGL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,true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gl.texImage2D(gl.TEXTURE_2D,0,gl.RGB,gl.RGB,gl.UNSIGNED_BYTE,image);</a:t>
            </a:r>
          </a:p>
        </p:txBody>
      </p:sp>
      <p:pic>
        <p:nvPicPr>
          <p:cNvPr id="4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99" y="2136579"/>
            <a:ext cx="2209801" cy="128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485897" y="3415160"/>
            <a:ext cx="68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(0,0)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0" name="Picture 2" descr="D:\Pavel\Courses\MATERIALS\Course.WebGL 2015-16\Lectures\WebGL-19 Textures\singapore-243669_64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399" y="2136579"/>
            <a:ext cx="2209801" cy="128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ight Arrow 15"/>
          <p:cNvSpPr/>
          <p:nvPr/>
        </p:nvSpPr>
        <p:spPr>
          <a:xfrm>
            <a:off x="4419600" y="2683008"/>
            <a:ext cx="304800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4762498" y="1828802"/>
            <a:ext cx="68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(0,0)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95699" y="3425630"/>
            <a:ext cx="68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(1,0)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72299" y="1828801"/>
            <a:ext cx="68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(1,0)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54370" y="3415159"/>
            <a:ext cx="68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(1,1)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95698" y="1828800"/>
            <a:ext cx="68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(1,1)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85898" y="1828800"/>
            <a:ext cx="68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(0,1)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62498" y="3425630"/>
            <a:ext cx="68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(0,1)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3145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2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29118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Безшевни текстури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77056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Безшевност</a:t>
            </a:r>
            <a:endParaRPr lang="bg-B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Безшевна текстура</a:t>
            </a:r>
            <a:endParaRPr lang="en-US" dirty="0"/>
          </a:p>
          <a:p>
            <a:pPr lvl="1"/>
            <a:r>
              <a:rPr lang="bg-BG" dirty="0"/>
              <a:t>На английски: </a:t>
            </a:r>
            <a:r>
              <a:rPr lang="en-US" i="1" dirty="0"/>
              <a:t>seamless</a:t>
            </a:r>
          </a:p>
          <a:p>
            <a:pPr lvl="1"/>
            <a:r>
              <a:rPr lang="bg-BG" dirty="0"/>
              <a:t>Текстура се долепя до себе си без видим ръб</a:t>
            </a:r>
          </a:p>
          <a:p>
            <a:pPr lvl="1"/>
            <a:r>
              <a:rPr lang="bg-BG" dirty="0"/>
              <a:t>Получава се непрекъсната шарка</a:t>
            </a:r>
          </a:p>
          <a:p>
            <a:pPr lvl="1"/>
            <a:endParaRPr lang="bg-BG" dirty="0"/>
          </a:p>
          <a:p>
            <a:r>
              <a:rPr lang="bg-BG" dirty="0"/>
              <a:t>Употреба</a:t>
            </a:r>
          </a:p>
          <a:p>
            <a:pPr lvl="1"/>
            <a:r>
              <a:rPr lang="bg-BG" dirty="0"/>
              <a:t>За големи еднотипни повърхности</a:t>
            </a:r>
          </a:p>
          <a:p>
            <a:pPr lvl="1"/>
            <a:r>
              <a:rPr lang="bg-BG" dirty="0"/>
              <a:t>Стена, тротоар, пръст, паркет, ливада …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07544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Как действа</a:t>
            </a:r>
          </a:p>
          <a:p>
            <a:pPr lvl="1"/>
            <a:r>
              <a:rPr lang="bg-BG" dirty="0"/>
              <a:t>С измама – </a:t>
            </a:r>
            <a:r>
              <a:rPr lang="bg-BG" dirty="0" err="1"/>
              <a:t>текстурна</a:t>
            </a:r>
            <a:r>
              <a:rPr lang="bg-BG" dirty="0"/>
              <a:t> непрекъснатост</a:t>
            </a:r>
            <a:endParaRPr lang="en-US" dirty="0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33144"/>
            <a:ext cx="3657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937" y="1533144"/>
            <a:ext cx="3657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44000" y="1542081"/>
            <a:ext cx="75303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754276" y="1533144"/>
            <a:ext cx="7542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/>
          <p:nvPr/>
        </p:nvGrpSpPr>
        <p:grpSpPr>
          <a:xfrm>
            <a:off x="164592" y="6867144"/>
            <a:ext cx="8813945" cy="1371600"/>
            <a:chOff x="164592" y="6858000"/>
            <a:chExt cx="8813945" cy="1371600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6858000"/>
              <a:ext cx="3657600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6858000"/>
              <a:ext cx="3657600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5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229600" y="6858000"/>
              <a:ext cx="748937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5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1626"/>
            <a:stretch/>
          </p:blipFill>
          <p:spPr bwMode="auto">
            <a:xfrm>
              <a:off x="164592" y="6858000"/>
              <a:ext cx="762000" cy="1371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0" name="Group 19"/>
          <p:cNvGrpSpPr/>
          <p:nvPr/>
        </p:nvGrpSpPr>
        <p:grpSpPr>
          <a:xfrm>
            <a:off x="105335" y="1380744"/>
            <a:ext cx="8873202" cy="5257800"/>
            <a:chOff x="105335" y="1219200"/>
            <a:chExt cx="8873202" cy="5257800"/>
          </a:xfrm>
          <a:effectLst>
            <a:glow rad="152400">
              <a:schemeClr val="bg1">
                <a:alpha val="75000"/>
              </a:schemeClr>
            </a:glow>
          </a:effectLst>
        </p:grpSpPr>
        <p:cxnSp>
          <p:nvCxnSpPr>
            <p:cNvPr id="13" name="Straight Connector 12"/>
            <p:cNvCxnSpPr/>
            <p:nvPr/>
          </p:nvCxnSpPr>
          <p:spPr>
            <a:xfrm>
              <a:off x="4572000" y="1219200"/>
              <a:ext cx="0" cy="52578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  <a:effectLst>
              <a:outerShdw blurRad="63500" algn="ctr" rotWithShape="0">
                <a:srgbClr val="FF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229600" y="1219200"/>
              <a:ext cx="0" cy="52578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  <a:effectLst>
              <a:outerShdw blurRad="63500" algn="ctr" rotWithShape="0">
                <a:srgbClr val="FF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914400" y="1219200"/>
              <a:ext cx="0" cy="525780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  <a:effectLst>
              <a:outerShdw blurRad="63500" algn="ctr" rotWithShape="0">
                <a:srgbClr val="FF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114300" y="1380537"/>
              <a:ext cx="8864237" cy="1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  <a:effectLst>
              <a:outerShdw blurRad="63500" algn="ctr" rotWithShape="0">
                <a:srgbClr val="FF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 flipV="1">
              <a:off x="105335" y="5024690"/>
              <a:ext cx="8864237" cy="1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  <a:effectLst>
              <a:outerShdw blurRad="63500" algn="ctr" rotWithShape="0">
                <a:srgbClr val="FF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086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0.0007 L -0.08194 0.00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07 L 0.08333 0.000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07 L 0.1 0.000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07 L -0.10035 0.0004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 -0.2444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Тухлена стена</a:t>
            </a:r>
          </a:p>
          <a:p>
            <a:pPr lvl="1"/>
            <a:r>
              <a:rPr lang="bg-BG" dirty="0"/>
              <a:t>Стената е удължен правоъгълник с размери 6 х 1</a:t>
            </a:r>
          </a:p>
          <a:p>
            <a:pPr lvl="1"/>
            <a:r>
              <a:rPr lang="bg-BG" dirty="0"/>
              <a:t>Ако залепим текстура, тя ще се разтегли и деформира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Решение №1</a:t>
            </a:r>
          </a:p>
          <a:p>
            <a:pPr lvl="1"/>
            <a:r>
              <a:rPr lang="bg-BG" dirty="0"/>
              <a:t>Много квадрати, долепени един до друг</a:t>
            </a:r>
          </a:p>
          <a:p>
            <a:pPr lvl="1"/>
            <a:r>
              <a:rPr lang="bg-BG" dirty="0"/>
              <a:t>Не е добро решение – бавно и неудобно</a:t>
            </a:r>
          </a:p>
          <a:p>
            <a:pPr lvl="1"/>
            <a:endParaRPr lang="bg-BG" dirty="0"/>
          </a:p>
        </p:txBody>
      </p:sp>
      <p:sp>
        <p:nvSpPr>
          <p:cNvPr id="11" name="TextBox 10"/>
          <p:cNvSpPr txBox="1"/>
          <p:nvPr/>
        </p:nvSpPr>
        <p:spPr>
          <a:xfrm>
            <a:off x="2971800" y="6135469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Seamless Brick 09-28-1001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GB" sz="1200" dirty="0" err="1">
                <a:solidFill>
                  <a:schemeClr val="bg1">
                    <a:lumMod val="65000"/>
                  </a:schemeClr>
                </a:solidFill>
              </a:rPr>
              <a:t>texturemate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Public Domain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http://texturemate.com/content/free-texture-seamless-brick-09-28-1001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75494" y="4124980"/>
            <a:ext cx="887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s = 1.0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5" name="Picture 2" descr="D:\Pavel\Courses\MATERIALS\Course.WebGL 2015-16\Lectures\WebGL-19 Textures\Example 3 - Brick wall\brick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118" y="3200400"/>
            <a:ext cx="5458682" cy="93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D:\Pavel\Courses\MATERIALS\Course.WebGL 2015-16\Lectures\WebGL-19 Textures\Example 3 - Brick wall\brick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33" y="3225451"/>
            <a:ext cx="914400" cy="91440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2775644" y="4124980"/>
            <a:ext cx="5911156" cy="1340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r="5400000" algn="ctr" rotWithShape="0">
              <a:schemeClr val="bg1">
                <a:lumMod val="5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847118" y="2895600"/>
            <a:ext cx="0" cy="132191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50800" dir="5400000" algn="ctr" rotWithShape="0">
              <a:schemeClr val="bg1">
                <a:lumMod val="5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040538" y="3045023"/>
            <a:ext cx="833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t 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1762" y="3200400"/>
            <a:ext cx="1709038" cy="857671"/>
          </a:xfrm>
          <a:prstGeom prst="rect">
            <a:avLst/>
          </a:prstGeom>
          <a:solidFill>
            <a:schemeClr val="bg1"/>
          </a:solidFill>
          <a:effectLst>
            <a:softEdge rad="317500"/>
          </a:effectLst>
        </p:spPr>
        <p:txBody>
          <a:bodyPr wrap="square" rtlCol="0" anchor="ctr">
            <a:spAutoFit/>
          </a:bodyPr>
          <a:lstStyle/>
          <a:p>
            <a:pPr marL="1588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2000" b="1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6 x 1</a:t>
            </a:r>
            <a:endParaRPr lang="bg-BG" sz="2000" b="1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57200" y="4094560"/>
            <a:ext cx="1217066" cy="51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" algn="ct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Текстура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040538" y="3531675"/>
            <a:ext cx="304800" cy="30195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0562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239"/>
          <p:cNvGrpSpPr/>
          <p:nvPr/>
        </p:nvGrpSpPr>
        <p:grpSpPr>
          <a:xfrm>
            <a:off x="896309" y="3761510"/>
            <a:ext cx="7334012" cy="2761749"/>
            <a:chOff x="896023" y="3415145"/>
            <a:chExt cx="7306587" cy="2761749"/>
          </a:xfrm>
        </p:grpSpPr>
        <p:grpSp>
          <p:nvGrpSpPr>
            <p:cNvPr id="141" name="Group 140"/>
            <p:cNvGrpSpPr/>
            <p:nvPr/>
          </p:nvGrpSpPr>
          <p:grpSpPr>
            <a:xfrm>
              <a:off x="896023" y="3415553"/>
              <a:ext cx="6404134" cy="2761341"/>
              <a:chOff x="1828800" y="3657600"/>
              <a:chExt cx="6400800" cy="2743200"/>
            </a:xfrm>
          </p:grpSpPr>
          <p:grpSp>
            <p:nvGrpSpPr>
              <p:cNvPr id="140" name="Group 139"/>
              <p:cNvGrpSpPr/>
              <p:nvPr/>
            </p:nvGrpSpPr>
            <p:grpSpPr>
              <a:xfrm>
                <a:off x="1828800" y="4572000"/>
                <a:ext cx="6400556" cy="914400"/>
                <a:chOff x="1828800" y="4572000"/>
                <a:chExt cx="6400556" cy="914400"/>
              </a:xfrm>
            </p:grpSpPr>
            <p:pic>
              <p:nvPicPr>
                <p:cNvPr id="60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3200" y="45720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7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57600" y="45720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8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72000" y="45720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9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86400" y="45720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0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00800" y="45720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1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14956" y="45720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8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28800" y="45720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38" name="Group 137"/>
              <p:cNvGrpSpPr/>
              <p:nvPr/>
            </p:nvGrpSpPr>
            <p:grpSpPr>
              <a:xfrm>
                <a:off x="1828922" y="3657600"/>
                <a:ext cx="6400556" cy="914400"/>
                <a:chOff x="1828922" y="3657600"/>
                <a:chExt cx="6400556" cy="914400"/>
              </a:xfrm>
            </p:grpSpPr>
            <p:pic>
              <p:nvPicPr>
                <p:cNvPr id="74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3322" y="36576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5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57722" y="36576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6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72122" y="36576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7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86522" y="36576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8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00922" y="36576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9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15078" y="36576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0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28922" y="36576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39" name="Group 138"/>
              <p:cNvGrpSpPr/>
              <p:nvPr/>
            </p:nvGrpSpPr>
            <p:grpSpPr>
              <a:xfrm>
                <a:off x="1829044" y="5486400"/>
                <a:ext cx="6400556" cy="914400"/>
                <a:chOff x="1829044" y="5486400"/>
                <a:chExt cx="6400556" cy="914400"/>
              </a:xfrm>
            </p:grpSpPr>
            <p:pic>
              <p:nvPicPr>
                <p:cNvPr id="81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3444" y="54864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2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57844" y="54864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3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72244" y="54864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4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86644" y="54864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5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01044" y="54864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6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15200" y="54864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2" name="Picture 2" descr="D:\Pavel\Courses\MATERIALS\Course.WebGL 2015-16\Lectures\WebGL-19 Textures\Example 3 - Brick wall\bricks.jpg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29044" y="5486400"/>
                  <a:ext cx="914400" cy="914400"/>
                </a:xfrm>
                <a:prstGeom prst="rect">
                  <a:avLst/>
                </a:prstGeom>
                <a:noFill/>
                <a:ln w="38100"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pic>
          <p:nvPicPr>
            <p:cNvPr id="237" name="Picture 2" descr="D:\Pavel\Courses\MATERIALS\Course.WebGL 2015-16\Lectures\WebGL-19 Textures\Example 3 - Brick wall\bricks.jp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7490" y="4335592"/>
              <a:ext cx="914876" cy="920447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8" name="Picture 2" descr="D:\Pavel\Courses\MATERIALS\Course.WebGL 2015-16\Lectures\WebGL-19 Textures\Example 3 - Brick wall\bricks.jp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7612" y="3415145"/>
              <a:ext cx="914876" cy="920447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9" name="Picture 2" descr="D:\Pavel\Courses\MATERIALS\Course.WebGL 2015-16\Lectures\WebGL-19 Textures\Example 3 - Brick wall\bricks.jp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7734" y="5256039"/>
              <a:ext cx="914876" cy="920447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1" name="Rectangle 240"/>
          <p:cNvSpPr/>
          <p:nvPr/>
        </p:nvSpPr>
        <p:spPr>
          <a:xfrm>
            <a:off x="840888" y="3677310"/>
            <a:ext cx="7481364" cy="2897084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Решение №2</a:t>
            </a:r>
          </a:p>
          <a:p>
            <a:pPr lvl="1"/>
            <a:r>
              <a:rPr lang="bg-BG" dirty="0"/>
              <a:t>В </a:t>
            </a:r>
            <a:r>
              <a:rPr lang="en-US" dirty="0"/>
              <a:t>WebGL</a:t>
            </a:r>
            <a:r>
              <a:rPr lang="bg-BG" dirty="0"/>
              <a:t> може да се копира текстура като тапет</a:t>
            </a:r>
          </a:p>
          <a:p>
            <a:pPr lvl="1"/>
            <a:r>
              <a:rPr lang="bg-BG" dirty="0"/>
              <a:t>Функция </a:t>
            </a:r>
            <a:r>
              <a:rPr lang="en-GB" b="1" dirty="0" err="1"/>
              <a:t>texParameteri</a:t>
            </a:r>
            <a:r>
              <a:rPr lang="bg-BG" dirty="0"/>
              <a:t> с параметър </a:t>
            </a:r>
            <a:r>
              <a:rPr lang="en-GB" b="1" dirty="0" err="1"/>
              <a:t>TEXTURE_WRAP_S</a:t>
            </a:r>
            <a:r>
              <a:rPr lang="bg-BG" dirty="0"/>
              <a:t> или </a:t>
            </a:r>
            <a:r>
              <a:rPr lang="en-GB" b="1" dirty="0" err="1"/>
              <a:t>TEXTURE_WRAP_T</a:t>
            </a:r>
            <a:r>
              <a:rPr lang="bg-BG" dirty="0"/>
              <a:t> указва как се обработват </a:t>
            </a:r>
            <a:r>
              <a:rPr lang="bg-BG" dirty="0" err="1"/>
              <a:t>текстурни</a:t>
            </a:r>
            <a:r>
              <a:rPr lang="bg-BG" dirty="0"/>
              <a:t> координати по </a:t>
            </a:r>
            <a:r>
              <a:rPr lang="en-US" dirty="0"/>
              <a:t>S</a:t>
            </a:r>
            <a:r>
              <a:rPr lang="bg-BG" dirty="0"/>
              <a:t> или </a:t>
            </a:r>
            <a:r>
              <a:rPr lang="en-US" dirty="0"/>
              <a:t>T, </a:t>
            </a:r>
            <a:r>
              <a:rPr lang="bg-BG" dirty="0"/>
              <a:t>ако са извън диапазона 0…1</a:t>
            </a:r>
          </a:p>
          <a:p>
            <a:pPr marL="1546225" lvl="2" indent="-631825"/>
            <a:r>
              <a:rPr lang="en-GB" b="1" dirty="0"/>
              <a:t>REPEAT</a:t>
            </a:r>
            <a:r>
              <a:rPr lang="bg-BG" dirty="0"/>
              <a:t> – текстурата се повтаря по оста </a:t>
            </a:r>
            <a:r>
              <a:rPr lang="en-US" dirty="0"/>
              <a:t>S (</a:t>
            </a:r>
            <a:r>
              <a:rPr lang="bg-BG" dirty="0"/>
              <a:t>или </a:t>
            </a:r>
            <a:r>
              <a:rPr lang="en-US" dirty="0"/>
              <a:t>T)</a:t>
            </a:r>
            <a:endParaRPr lang="bg-BG" dirty="0"/>
          </a:p>
          <a:p>
            <a:pPr marL="1546225" lvl="2" indent="-631825"/>
            <a:r>
              <a:rPr lang="en-GB" b="1" dirty="0" err="1"/>
              <a:t>MIRRORED_REPEAT</a:t>
            </a:r>
            <a:r>
              <a:rPr lang="bg-BG" dirty="0"/>
              <a:t> – повтаря се с огледални копия</a:t>
            </a:r>
          </a:p>
          <a:p>
            <a:pPr marL="1546225" lvl="2" indent="-631825"/>
            <a:r>
              <a:rPr lang="en-GB" b="1" dirty="0" err="1"/>
              <a:t>CLAMP_TO_EDGE</a:t>
            </a:r>
            <a:r>
              <a:rPr lang="bg-BG" dirty="0"/>
              <a:t> – повтарят се само крайните </a:t>
            </a:r>
            <a:r>
              <a:rPr lang="bg-BG" dirty="0" err="1"/>
              <a:t>тексели</a:t>
            </a:r>
            <a:endParaRPr lang="bg-BG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651575" y="5591434"/>
            <a:ext cx="7882825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1806212" y="3295771"/>
            <a:ext cx="0" cy="3349783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/>
          <p:cNvGrpSpPr/>
          <p:nvPr/>
        </p:nvGrpSpPr>
        <p:grpSpPr>
          <a:xfrm>
            <a:off x="2743200" y="3596069"/>
            <a:ext cx="1828800" cy="3049485"/>
            <a:chOff x="5486400" y="3810000"/>
            <a:chExt cx="1828800" cy="2438402"/>
          </a:xfrm>
        </p:grpSpPr>
        <p:cxnSp>
          <p:nvCxnSpPr>
            <p:cNvPr id="100" name="Straight Connector 99"/>
            <p:cNvCxnSpPr/>
            <p:nvPr/>
          </p:nvCxnSpPr>
          <p:spPr>
            <a:xfrm flipV="1">
              <a:off x="5486400" y="3810000"/>
              <a:ext cx="0" cy="2438401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6400800" y="3810001"/>
              <a:ext cx="0" cy="2438401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7315200" y="3810000"/>
              <a:ext cx="0" cy="2438401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TextBox 109"/>
          <p:cNvSpPr txBox="1"/>
          <p:nvPr/>
        </p:nvSpPr>
        <p:spPr>
          <a:xfrm>
            <a:off x="838200" y="6474023"/>
            <a:ext cx="79294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-1       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  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0       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1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  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 2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 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3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   4</a:t>
            </a: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                5                 6                7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89572" y="3596069"/>
            <a:ext cx="526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5018" y="5422987"/>
            <a:ext cx="526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0</a:t>
            </a:r>
            <a:endParaRPr lang="bg-BG" sz="1400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grpSp>
        <p:nvGrpSpPr>
          <p:cNvPr id="129" name="Group 128"/>
          <p:cNvGrpSpPr/>
          <p:nvPr/>
        </p:nvGrpSpPr>
        <p:grpSpPr>
          <a:xfrm>
            <a:off x="770721" y="3761918"/>
            <a:ext cx="7593349" cy="2743201"/>
            <a:chOff x="896471" y="3415553"/>
            <a:chExt cx="7333129" cy="2743201"/>
          </a:xfrm>
        </p:grpSpPr>
        <p:cxnSp>
          <p:nvCxnSpPr>
            <p:cNvPr id="104" name="Straight Connector 103"/>
            <p:cNvCxnSpPr/>
            <p:nvPr/>
          </p:nvCxnSpPr>
          <p:spPr>
            <a:xfrm flipH="1">
              <a:off x="896471" y="4329953"/>
              <a:ext cx="7333129" cy="10076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H="1">
              <a:off x="914644" y="6158753"/>
              <a:ext cx="7314956" cy="1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H="1">
              <a:off x="896471" y="3415553"/>
              <a:ext cx="7332885" cy="0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Straight Connector 129"/>
          <p:cNvCxnSpPr/>
          <p:nvPr/>
        </p:nvCxnSpPr>
        <p:spPr>
          <a:xfrm flipV="1">
            <a:off x="8216153" y="3608035"/>
            <a:ext cx="0" cy="3049483"/>
          </a:xfrm>
          <a:prstGeom prst="line">
            <a:avLst/>
          </a:prstGeom>
          <a:ln w="12700">
            <a:solidFill>
              <a:srgbClr val="000000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263228" y="6349741"/>
            <a:ext cx="526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-</a:t>
            </a: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1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44410" y="4522429"/>
            <a:ext cx="526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bg-BG" sz="14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1</a:t>
            </a:r>
          </a:p>
        </p:txBody>
      </p:sp>
      <p:grpSp>
        <p:nvGrpSpPr>
          <p:cNvPr id="231" name="Group 230"/>
          <p:cNvGrpSpPr/>
          <p:nvPr/>
        </p:nvGrpSpPr>
        <p:grpSpPr>
          <a:xfrm>
            <a:off x="5471357" y="3612509"/>
            <a:ext cx="1828800" cy="3049485"/>
            <a:chOff x="5486400" y="3810000"/>
            <a:chExt cx="1828800" cy="2438402"/>
          </a:xfrm>
        </p:grpSpPr>
        <p:cxnSp>
          <p:nvCxnSpPr>
            <p:cNvPr id="232" name="Straight Connector 231"/>
            <p:cNvCxnSpPr/>
            <p:nvPr/>
          </p:nvCxnSpPr>
          <p:spPr>
            <a:xfrm flipV="1">
              <a:off x="5486400" y="3810000"/>
              <a:ext cx="0" cy="2438401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/>
          </p:nvCxnSpPr>
          <p:spPr>
            <a:xfrm flipV="1">
              <a:off x="6400800" y="3810001"/>
              <a:ext cx="0" cy="2438401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 flipV="1">
              <a:off x="7315200" y="3810000"/>
              <a:ext cx="0" cy="2438401"/>
            </a:xfrm>
            <a:prstGeom prst="line">
              <a:avLst/>
            </a:prstGeom>
            <a:ln w="12700">
              <a:solidFill>
                <a:srgbClr val="000000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5" name="Straight Connector 234"/>
          <p:cNvCxnSpPr/>
          <p:nvPr/>
        </p:nvCxnSpPr>
        <p:spPr>
          <a:xfrm flipV="1">
            <a:off x="896023" y="3608035"/>
            <a:ext cx="0" cy="3049483"/>
          </a:xfrm>
          <a:prstGeom prst="line">
            <a:avLst/>
          </a:prstGeom>
          <a:ln w="12700">
            <a:solidFill>
              <a:srgbClr val="000000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1219200" y="3352800"/>
            <a:ext cx="526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2000" b="1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T</a:t>
            </a:r>
            <a:endParaRPr lang="bg-BG" sz="1400" b="1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8216153" y="5619577"/>
            <a:ext cx="526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2000" b="1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S</a:t>
            </a:r>
            <a:endParaRPr lang="bg-BG" sz="1400" b="1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58" name="Picture 2" descr="D:\Pavel\Courses\MATERIALS\Course.WebGL 2015-16\Lectures\WebGL-19 Textures\Example 3 - Brick wall\brick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691322"/>
            <a:ext cx="914400" cy="91440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820067" y="4691322"/>
            <a:ext cx="5493945" cy="891400"/>
          </a:xfrm>
          <a:prstGeom prst="rect">
            <a:avLst/>
          </a:prstGeom>
          <a:solidFill>
            <a:srgbClr val="AAEA25">
              <a:alpha val="30196"/>
            </a:srgbClr>
          </a:solidFill>
          <a:ln w="38100">
            <a:solidFill>
              <a:srgbClr val="6F9500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4" name="TextBox 243"/>
          <p:cNvSpPr txBox="1"/>
          <p:nvPr/>
        </p:nvSpPr>
        <p:spPr>
          <a:xfrm>
            <a:off x="1079054" y="5619577"/>
            <a:ext cx="741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 algn="r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b="1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(0,0)</a:t>
            </a:r>
            <a:endParaRPr lang="bg-BG" sz="1400" b="1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7300157" y="4357333"/>
            <a:ext cx="741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8">
              <a:spcBef>
                <a:spcPct val="20000"/>
              </a:spcBef>
              <a:buClr>
                <a:schemeClr val="accent1"/>
              </a:buClr>
              <a:buSzPct val="76000"/>
            </a:pPr>
            <a:r>
              <a:rPr lang="en-US" sz="1400" b="1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(6,1)</a:t>
            </a:r>
            <a:endParaRPr lang="bg-BG" sz="1400" b="1" dirty="0">
              <a:effectLst>
                <a:outerShdw blurRad="635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0821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 err="1"/>
              <a:t>Текстурните</a:t>
            </a:r>
            <a:r>
              <a:rPr lang="bg-BG" dirty="0"/>
              <a:t> координати ще започват от (</a:t>
            </a:r>
            <a:r>
              <a:rPr lang="en-US" dirty="0"/>
              <a:t>0</a:t>
            </a:r>
            <a:r>
              <a:rPr lang="bg-BG" dirty="0"/>
              <a:t>,0)</a:t>
            </a:r>
          </a:p>
          <a:p>
            <a:pPr lvl="1"/>
            <a:r>
              <a:rPr lang="bg-BG" dirty="0"/>
              <a:t>Повторенията на текстурата ще е </a:t>
            </a:r>
            <a:r>
              <a:rPr lang="en-US" b="1" dirty="0" err="1"/>
              <a:t>nS</a:t>
            </a:r>
            <a:r>
              <a:rPr lang="bg-BG" dirty="0"/>
              <a:t> по оста </a:t>
            </a:r>
            <a:r>
              <a:rPr lang="en-US" dirty="0"/>
              <a:t>S</a:t>
            </a:r>
            <a:r>
              <a:rPr lang="bg-BG" dirty="0"/>
              <a:t> и </a:t>
            </a:r>
            <a:r>
              <a:rPr lang="en-US" b="1" dirty="0" err="1"/>
              <a:t>nT</a:t>
            </a:r>
            <a:r>
              <a:rPr lang="bg-BG" dirty="0"/>
              <a:t> по оста </a:t>
            </a:r>
            <a:r>
              <a:rPr lang="en-US" dirty="0"/>
              <a:t>T</a:t>
            </a:r>
            <a:endParaRPr lang="bg-BG" dirty="0"/>
          </a:p>
          <a:p>
            <a:pPr lvl="1"/>
            <a:r>
              <a:rPr lang="bg-BG" dirty="0"/>
              <a:t>При </a:t>
            </a:r>
            <a:r>
              <a:rPr lang="en-US" b="1" dirty="0" err="1"/>
              <a:t>nS</a:t>
            </a:r>
            <a:r>
              <a:rPr lang="en-US" dirty="0"/>
              <a:t>=</a:t>
            </a:r>
            <a:r>
              <a:rPr lang="bg-BG" dirty="0"/>
              <a:t>6 и </a:t>
            </a:r>
            <a:r>
              <a:rPr lang="en-US" b="1" dirty="0" err="1"/>
              <a:t>nT</a:t>
            </a:r>
            <a:r>
              <a:rPr lang="en-US" dirty="0"/>
              <a:t>=</a:t>
            </a:r>
            <a:r>
              <a:rPr lang="bg-BG" dirty="0"/>
              <a:t>1 имаме съвпадение на размера на правоъгълника с размера на </a:t>
            </a:r>
            <a:r>
              <a:rPr lang="bg-BG" dirty="0" err="1"/>
              <a:t>текстурната</a:t>
            </a:r>
            <a:r>
              <a:rPr lang="bg-BG" dirty="0"/>
              <a:t> зона</a:t>
            </a:r>
            <a:endParaRPr lang="en-US" dirty="0"/>
          </a:p>
          <a:p>
            <a:pPr lvl="1"/>
            <a:r>
              <a:rPr lang="bg-BG" dirty="0"/>
              <a:t>Правим две стени: </a:t>
            </a:r>
            <a:r>
              <a:rPr lang="en-US" b="1" dirty="0"/>
              <a:t>wall1</a:t>
            </a:r>
            <a:r>
              <a:rPr lang="bg-BG" dirty="0"/>
              <a:t> е с правилни пропорции на текстурата, а </a:t>
            </a:r>
            <a:r>
              <a:rPr lang="en-US" b="1" dirty="0"/>
              <a:t>wall2</a:t>
            </a:r>
            <a:r>
              <a:rPr lang="bg-BG" dirty="0"/>
              <a:t> е с разпъната текстура по цялата стена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657600"/>
            <a:ext cx="8534400" cy="2895600"/>
          </a:xfrm>
          <a:prstGeom prst="snip2DiagRect">
            <a:avLst>
              <a:gd name="adj1" fmla="val 0"/>
              <a:gd name="adj2" fmla="val 966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Rectangle = function(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center,size,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data = [ -0.5,-0.5,0,	 0,  0,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 +0.5,-0.5,0,	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0,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 -0.5,+0.5,0,	 0,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 +0.5,+0.5,0,	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wall1 = new Rectangle([0,0.76,0],[6,1.5,1],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6,1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wall2 = new Rectangle([0,-0.76,0],[6,1.5,1],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1,1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58563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81000"/>
            <a:ext cx="6048375" cy="561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0833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Mipmap</a:t>
            </a:r>
            <a:r>
              <a:rPr lang="en-US" dirty="0"/>
              <a:t> </a:t>
            </a:r>
            <a:r>
              <a:rPr lang="bg-BG" dirty="0"/>
              <a:t>текстури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233659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Проблеми с текстури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Гледане отблизо</a:t>
            </a:r>
          </a:p>
          <a:p>
            <a:pPr lvl="1"/>
            <a:r>
              <a:rPr lang="bg-BG" dirty="0"/>
              <a:t>Пиксел &lt;&lt; </a:t>
            </a:r>
            <a:r>
              <a:rPr lang="bg-BG" dirty="0" err="1"/>
              <a:t>тексел</a:t>
            </a:r>
            <a:endParaRPr lang="bg-BG" dirty="0"/>
          </a:p>
          <a:p>
            <a:pPr lvl="1"/>
            <a:r>
              <a:rPr lang="bg-BG" dirty="0"/>
              <a:t>Получава се </a:t>
            </a:r>
            <a:r>
              <a:rPr lang="bg-BG" dirty="0" err="1"/>
              <a:t>пикселизация</a:t>
            </a:r>
            <a:endParaRPr lang="bg-BG" dirty="0"/>
          </a:p>
          <a:p>
            <a:pPr lvl="1"/>
            <a:r>
              <a:rPr lang="bg-BG" dirty="0" err="1"/>
              <a:t>Текселите</a:t>
            </a:r>
            <a:r>
              <a:rPr lang="bg-BG" dirty="0"/>
              <a:t> се виждат като квадратчета</a:t>
            </a:r>
            <a:endParaRPr lang="en-US" baseline="30000" dirty="0"/>
          </a:p>
          <a:p>
            <a:pPr lvl="1"/>
            <a:r>
              <a:rPr lang="bg-BG" dirty="0"/>
              <a:t>Решение – текстура с голяма резолюция</a:t>
            </a:r>
          </a:p>
          <a:p>
            <a:pPr lvl="1"/>
            <a:endParaRPr lang="bg-BG" dirty="0"/>
          </a:p>
          <a:p>
            <a:r>
              <a:rPr lang="bg-BG" dirty="0"/>
              <a:t>Гледане </a:t>
            </a:r>
            <a:r>
              <a:rPr lang="bg-BG" dirty="0" err="1"/>
              <a:t>отдалеч</a:t>
            </a:r>
            <a:endParaRPr lang="bg-BG" dirty="0"/>
          </a:p>
          <a:p>
            <a:pPr lvl="1"/>
            <a:r>
              <a:rPr lang="bg-BG" dirty="0"/>
              <a:t>Пиксел &gt;&gt; </a:t>
            </a:r>
            <a:r>
              <a:rPr lang="bg-BG" dirty="0" err="1"/>
              <a:t>тексел</a:t>
            </a:r>
            <a:endParaRPr lang="bg-BG" dirty="0"/>
          </a:p>
          <a:p>
            <a:pPr lvl="1"/>
            <a:r>
              <a:rPr lang="bg-BG" dirty="0"/>
              <a:t>Губят се детайли и се пропускат </a:t>
            </a:r>
            <a:r>
              <a:rPr lang="bg-BG" dirty="0" err="1"/>
              <a:t>тексели</a:t>
            </a:r>
            <a:endParaRPr lang="bg-BG" dirty="0"/>
          </a:p>
          <a:p>
            <a:pPr lvl="1"/>
            <a:r>
              <a:rPr lang="bg-BG" dirty="0"/>
              <a:t>Цветове са като случайни, получава се шум</a:t>
            </a:r>
          </a:p>
          <a:p>
            <a:pPr lvl="1"/>
            <a:r>
              <a:rPr lang="bg-BG" dirty="0"/>
              <a:t>Решение – текстура с малка резолюция</a:t>
            </a:r>
          </a:p>
        </p:txBody>
      </p:sp>
    </p:spTree>
    <p:extLst>
      <p:ext uri="{BB962C8B-B14F-4D97-AF65-F5344CB8AC3E}">
        <p14:creationId xmlns:p14="http://schemas.microsoft.com/office/powerpoint/2010/main" val="11289943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Илюстрация на проблемите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8600" y="1066800"/>
            <a:ext cx="5805053" cy="5068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362200" y="6135469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Colourful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Wooden Blocks Background Texture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www.myfreetextures.com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лиценз: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CC-BY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http://www.myfreetextures.com/colourful-wooden-blocks-background-texture/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48400" y="4374416"/>
            <a:ext cx="2209800" cy="646331"/>
          </a:xfrm>
          <a:prstGeom prst="rect">
            <a:avLst/>
          </a:prstGeom>
          <a:noFill/>
          <a:effectLst/>
        </p:spPr>
        <p:txBody>
          <a:bodyPr wrap="square" tIns="182880" bIns="18288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Пикселизация</a:t>
            </a:r>
            <a:endParaRPr lang="en-US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8400" y="1109246"/>
            <a:ext cx="2209800" cy="646331"/>
          </a:xfrm>
          <a:prstGeom prst="rect">
            <a:avLst/>
          </a:prstGeom>
          <a:noFill/>
          <a:effectLst/>
        </p:spPr>
        <p:txBody>
          <a:bodyPr wrap="square" tIns="182880" bIns="18288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Текстурен</a:t>
            </a:r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шум</a:t>
            </a:r>
            <a:endParaRPr lang="en-US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48400" y="2000071"/>
            <a:ext cx="2743200" cy="1200329"/>
          </a:xfrm>
          <a:prstGeom prst="rect">
            <a:avLst/>
          </a:prstGeom>
          <a:noFill/>
          <a:effectLst/>
        </p:spPr>
        <p:txBody>
          <a:bodyPr wrap="square" tIns="182880" bIns="18288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Загуба на някои </a:t>
            </a:r>
            <a:r>
              <a:rPr lang="bg-BG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тексели</a:t>
            </a:r>
            <a:r>
              <a:rPr lang="bg-BG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, а при други става </a:t>
            </a:r>
            <a:r>
              <a:rPr lang="bg-BG" dirty="0" err="1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пикселизация</a:t>
            </a:r>
            <a:endParaRPr lang="en-US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Left Brace 7"/>
          <p:cNvSpPr/>
          <p:nvPr/>
        </p:nvSpPr>
        <p:spPr>
          <a:xfrm flipH="1">
            <a:off x="6096000" y="1066800"/>
            <a:ext cx="152400" cy="762000"/>
          </a:xfrm>
          <a:prstGeom prst="leftBrace">
            <a:avLst>
              <a:gd name="adj1" fmla="val 42403"/>
              <a:gd name="adj2" fmla="val 50000"/>
            </a:avLst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 flipH="1">
            <a:off x="6096000" y="1940859"/>
            <a:ext cx="152400" cy="1295400"/>
          </a:xfrm>
          <a:prstGeom prst="leftBrace">
            <a:avLst>
              <a:gd name="adj1" fmla="val 42403"/>
              <a:gd name="adj2" fmla="val 50000"/>
            </a:avLst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 flipH="1">
            <a:off x="6096000" y="3329940"/>
            <a:ext cx="152400" cy="2766060"/>
          </a:xfrm>
          <a:prstGeom prst="leftBrace">
            <a:avLst>
              <a:gd name="adj1" fmla="val 42403"/>
              <a:gd name="adj2" fmla="val 50000"/>
            </a:avLst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62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7200"/>
            <a:ext cx="60483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89414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Близък план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Проблем и решение</a:t>
            </a:r>
          </a:p>
          <a:p>
            <a:pPr lvl="1"/>
            <a:r>
              <a:rPr lang="bg-BG" dirty="0"/>
              <a:t>Един </a:t>
            </a:r>
            <a:r>
              <a:rPr lang="bg-BG" dirty="0" err="1"/>
              <a:t>тексел</a:t>
            </a:r>
            <a:r>
              <a:rPr lang="bg-BG" dirty="0"/>
              <a:t> се простира върху няколко пиксела</a:t>
            </a:r>
          </a:p>
          <a:p>
            <a:pPr lvl="1"/>
            <a:r>
              <a:rPr lang="bg-BG" dirty="0"/>
              <a:t>Увеличение на текстура се контролира</a:t>
            </a:r>
            <a:r>
              <a:rPr lang="en-US" dirty="0"/>
              <a:t> </a:t>
            </a:r>
            <a:r>
              <a:rPr lang="bg-BG" dirty="0"/>
              <a:t>с </a:t>
            </a:r>
            <a:r>
              <a:rPr lang="en-US" b="1" dirty="0" err="1"/>
              <a:t>texParameter</a:t>
            </a:r>
            <a:r>
              <a:rPr lang="bg-BG" dirty="0"/>
              <a:t> </a:t>
            </a:r>
            <a:r>
              <a:rPr lang="en-US" dirty="0"/>
              <a:t>(-</a:t>
            </a:r>
            <a:r>
              <a:rPr lang="en-US" b="1" dirty="0" err="1"/>
              <a:t>i</a:t>
            </a:r>
            <a:r>
              <a:rPr lang="en-US" dirty="0"/>
              <a:t>, -</a:t>
            </a:r>
            <a:r>
              <a:rPr lang="en-US" b="1" dirty="0"/>
              <a:t>f</a:t>
            </a:r>
            <a:r>
              <a:rPr lang="en-US" dirty="0"/>
              <a:t>) </a:t>
            </a:r>
            <a:r>
              <a:rPr lang="bg-BG" dirty="0"/>
              <a:t>с параметър </a:t>
            </a:r>
            <a:r>
              <a:rPr lang="en-US" b="1" dirty="0" err="1"/>
              <a:t>TEXTURE_MAG_FILTER</a:t>
            </a:r>
            <a:r>
              <a:rPr lang="bg-BG" dirty="0"/>
              <a:t> и стойност:</a:t>
            </a:r>
          </a:p>
          <a:p>
            <a:pPr marL="914400" lvl="2"/>
            <a:r>
              <a:rPr lang="en-US" b="1" dirty="0"/>
              <a:t>NEAREST</a:t>
            </a:r>
            <a:r>
              <a:rPr lang="en-US" dirty="0"/>
              <a:t> –</a:t>
            </a:r>
            <a:r>
              <a:rPr lang="bg-BG" dirty="0"/>
              <a:t> използва се цвета на най-близкия </a:t>
            </a:r>
            <a:r>
              <a:rPr lang="bg-BG" dirty="0" err="1"/>
              <a:t>тексел</a:t>
            </a:r>
            <a:endParaRPr lang="bg-BG" dirty="0"/>
          </a:p>
          <a:p>
            <a:pPr marL="914400" lvl="2"/>
            <a:r>
              <a:rPr lang="en-US" b="1" dirty="0"/>
              <a:t>LINEAR</a:t>
            </a:r>
            <a:r>
              <a:rPr lang="en-US" dirty="0"/>
              <a:t> –</a:t>
            </a:r>
            <a:r>
              <a:rPr lang="bg-BG" dirty="0"/>
              <a:t> с линейна комбинация се </a:t>
            </a:r>
            <a:r>
              <a:rPr lang="bg-BG" dirty="0" err="1"/>
              <a:t>интерполират</a:t>
            </a:r>
            <a:r>
              <a:rPr lang="bg-BG" dirty="0"/>
              <a:t> цветовете на 4-те най-близки </a:t>
            </a:r>
            <a:r>
              <a:rPr lang="bg-BG" dirty="0" err="1"/>
              <a:t>тексела</a:t>
            </a:r>
            <a:endParaRPr lang="bg-BG" dirty="0"/>
          </a:p>
          <a:p>
            <a:pPr lvl="1"/>
            <a:endParaRPr lang="bg-BG" dirty="0"/>
          </a:p>
        </p:txBody>
      </p:sp>
      <p:sp>
        <p:nvSpPr>
          <p:cNvPr id="85" name="Snip Diagonal Corner Rectangle 84"/>
          <p:cNvSpPr/>
          <p:nvPr/>
        </p:nvSpPr>
        <p:spPr>
          <a:xfrm>
            <a:off x="304800" y="4114800"/>
            <a:ext cx="8534400" cy="2438400"/>
          </a:xfrm>
          <a:prstGeom prst="snip2DiagRect">
            <a:avLst>
              <a:gd name="adj1" fmla="val 0"/>
              <a:gd name="adj2" fmla="val 12255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setMag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gl.bindTexture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 texture);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gl.texParameteri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TEXTURE_MAG_FILTER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filter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gl.bindTexture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 null);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setMag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NEAREST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)"&gt;NEAREST&lt;/button&gt;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setMag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)"&gt;LINEAR&lt;/button&gt;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13037940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81000"/>
            <a:ext cx="6048375" cy="561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85259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Далечен план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Проблем</a:t>
            </a:r>
          </a:p>
          <a:p>
            <a:pPr lvl="1"/>
            <a:r>
              <a:rPr lang="bg-BG" dirty="0"/>
              <a:t>Един пиксел се простира върху много </a:t>
            </a:r>
            <a:r>
              <a:rPr lang="bg-BG" dirty="0" err="1"/>
              <a:t>тексели</a:t>
            </a:r>
            <a:endParaRPr lang="bg-BG" dirty="0"/>
          </a:p>
          <a:p>
            <a:pPr lvl="1"/>
            <a:r>
              <a:rPr lang="bg-BG" dirty="0"/>
              <a:t>Съседни пиксели използват цвета на раздалечени </a:t>
            </a:r>
            <a:r>
              <a:rPr lang="bg-BG" dirty="0" err="1"/>
              <a:t>тексели</a:t>
            </a:r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Решение</a:t>
            </a:r>
          </a:p>
          <a:p>
            <a:pPr lvl="1"/>
            <a:r>
              <a:rPr lang="bg-BG" dirty="0"/>
              <a:t>Различни по размер текстури, наречени нива</a:t>
            </a:r>
          </a:p>
          <a:p>
            <a:pPr lvl="1"/>
            <a:r>
              <a:rPr lang="bg-BG" dirty="0"/>
              <a:t>В реално време се избира подходящата според мащаба</a:t>
            </a:r>
          </a:p>
          <a:p>
            <a:pPr marL="914400" lvl="2"/>
            <a:r>
              <a:rPr lang="bg-BG" dirty="0"/>
              <a:t>Ниво 0 – оригиналната текстура</a:t>
            </a:r>
          </a:p>
          <a:p>
            <a:pPr marL="914400" lvl="2"/>
            <a:r>
              <a:rPr lang="bg-BG" dirty="0"/>
              <a:t>Ниво 1 – двойно намалена текстура по </a:t>
            </a:r>
            <a:r>
              <a:rPr lang="en-US" dirty="0"/>
              <a:t>S</a:t>
            </a:r>
            <a:r>
              <a:rPr lang="bg-BG" dirty="0"/>
              <a:t> и </a:t>
            </a:r>
            <a:r>
              <a:rPr lang="en-US" dirty="0"/>
              <a:t>T</a:t>
            </a:r>
            <a:endParaRPr lang="bg-BG" dirty="0"/>
          </a:p>
          <a:p>
            <a:pPr marL="914400" lvl="2"/>
            <a:r>
              <a:rPr lang="bg-BG" dirty="0"/>
              <a:t>Ниво </a:t>
            </a:r>
            <a:r>
              <a:rPr lang="en-US" dirty="0"/>
              <a:t>2</a:t>
            </a:r>
            <a:r>
              <a:rPr lang="bg-BG" dirty="0"/>
              <a:t> – четворно намалена текстура по </a:t>
            </a:r>
            <a:r>
              <a:rPr lang="en-US" dirty="0"/>
              <a:t>S</a:t>
            </a:r>
            <a:r>
              <a:rPr lang="bg-BG" dirty="0"/>
              <a:t> и </a:t>
            </a:r>
            <a:r>
              <a:rPr lang="en-US" dirty="0"/>
              <a:t>T</a:t>
            </a:r>
            <a:endParaRPr lang="bg-BG" dirty="0"/>
          </a:p>
          <a:p>
            <a:pPr marL="914400" lvl="2"/>
            <a:r>
              <a:rPr lang="bg-BG" dirty="0"/>
              <a:t>Ниво </a:t>
            </a:r>
            <a:r>
              <a:rPr lang="en-US" dirty="0"/>
              <a:t>n</a:t>
            </a:r>
            <a:r>
              <a:rPr lang="bg-BG" dirty="0"/>
              <a:t> – </a:t>
            </a: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bg-BG" dirty="0"/>
              <a:t> намалена текстура по </a:t>
            </a:r>
            <a:r>
              <a:rPr lang="en-US" dirty="0"/>
              <a:t>S</a:t>
            </a:r>
            <a:r>
              <a:rPr lang="bg-BG" dirty="0"/>
              <a:t> и </a:t>
            </a:r>
            <a:r>
              <a:rPr lang="en-US" dirty="0"/>
              <a:t>T</a:t>
            </a:r>
            <a:endParaRPr lang="bg-BG" dirty="0"/>
          </a:p>
          <a:p>
            <a:pPr lvl="1"/>
            <a:r>
              <a:rPr lang="bg-BG" dirty="0"/>
              <a:t>Нивото на текстура е вторият параметър на </a:t>
            </a:r>
            <a:r>
              <a:rPr lang="en-US" b="1" dirty="0"/>
              <a:t>texImage2D</a:t>
            </a:r>
            <a:endParaRPr lang="bg-BG"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304800" y="6019800"/>
            <a:ext cx="8534400" cy="5334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texImage2D</a:t>
            </a:r>
            <a:r>
              <a:rPr lang="en-US" sz="167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l.TEXTURE_2D,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,gl.RGB,gl.RGB,gl.UNSIGNED_BYTE,image);</a:t>
            </a:r>
          </a:p>
        </p:txBody>
      </p:sp>
    </p:spTree>
    <p:extLst>
      <p:ext uri="{BB962C8B-B14F-4D97-AF65-F5344CB8AC3E}">
        <p14:creationId xmlns:p14="http://schemas.microsoft.com/office/powerpoint/2010/main" val="38207843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Mipmap</a:t>
            </a:r>
            <a:r>
              <a:rPr lang="en-US" dirty="0"/>
              <a:t> </a:t>
            </a:r>
            <a:r>
              <a:rPr lang="bg-BG" dirty="0"/>
              <a:t>текстури</a:t>
            </a:r>
          </a:p>
          <a:p>
            <a:pPr lvl="1"/>
            <a:r>
              <a:rPr lang="en-US" dirty="0"/>
              <a:t>MIP</a:t>
            </a:r>
            <a:r>
              <a:rPr lang="bg-BG" dirty="0"/>
              <a:t> (латински </a:t>
            </a:r>
            <a:r>
              <a:rPr lang="bg-BG" b="1" i="1" dirty="0"/>
              <a:t>М</a:t>
            </a:r>
            <a:r>
              <a:rPr lang="en-US" b="1" i="1" dirty="0" err="1"/>
              <a:t>ultum</a:t>
            </a:r>
            <a:r>
              <a:rPr lang="en-US" b="1" i="1" dirty="0"/>
              <a:t> in </a:t>
            </a:r>
            <a:r>
              <a:rPr lang="en-US" b="1" i="1" dirty="0" err="1"/>
              <a:t>parvo</a:t>
            </a:r>
            <a:r>
              <a:rPr lang="bg-BG" dirty="0"/>
              <a:t>, много в малкото)</a:t>
            </a:r>
          </a:p>
          <a:p>
            <a:pPr lvl="1"/>
            <a:r>
              <a:rPr lang="en-US" dirty="0"/>
              <a:t>MAP</a:t>
            </a:r>
            <a:r>
              <a:rPr lang="bg-BG" dirty="0"/>
              <a:t> (английски, карта)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Генериране на </a:t>
            </a:r>
            <a:r>
              <a:rPr lang="en-US" dirty="0" err="1"/>
              <a:t>mipmap</a:t>
            </a:r>
            <a:r>
              <a:rPr lang="en-US" dirty="0"/>
              <a:t> </a:t>
            </a:r>
            <a:r>
              <a:rPr lang="bg-BG" dirty="0"/>
              <a:t>текстури</a:t>
            </a:r>
          </a:p>
          <a:p>
            <a:pPr lvl="1"/>
            <a:r>
              <a:rPr lang="bg-BG" dirty="0"/>
              <a:t>Ръчно, подават се една по една с </a:t>
            </a:r>
            <a:r>
              <a:rPr lang="en-US" b="1" dirty="0"/>
              <a:t>texImage2D</a:t>
            </a:r>
            <a:endParaRPr lang="bg-BG" b="1" dirty="0"/>
          </a:p>
          <a:p>
            <a:pPr lvl="1"/>
            <a:r>
              <a:rPr lang="bg-BG" dirty="0"/>
              <a:t>Автоматично, генерират се с </a:t>
            </a:r>
            <a:r>
              <a:rPr lang="en-US" b="1" dirty="0" err="1"/>
              <a:t>generateMipmap</a:t>
            </a:r>
            <a:endParaRPr lang="bg-BG" b="1" dirty="0"/>
          </a:p>
          <a:p>
            <a:endParaRPr lang="bg-BG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2329491"/>
            <a:ext cx="2431164" cy="1077218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 algn="r">
              <a:tabLst>
                <a:tab pos="1828800" algn="l"/>
              </a:tabLst>
            </a:pPr>
            <a:r>
              <a:rPr lang="bg-BG" sz="2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0</a:t>
            </a:r>
          </a:p>
          <a:p>
            <a:pPr lvl="1" algn="r">
              <a:tabLst>
                <a:tab pos="1828800" algn="l"/>
              </a:tabLst>
            </a:pPr>
            <a:r>
              <a:rPr lang="bg-BG" sz="2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256 </a:t>
            </a:r>
            <a:r>
              <a:rPr lang="en-US" sz="2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bg-BG" sz="2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256</a:t>
            </a:r>
            <a:endParaRPr lang="bg-BG" sz="24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  <a:p>
            <a:pPr algn="r">
              <a:tabLst>
                <a:tab pos="1828800" algn="l"/>
              </a:tabLst>
            </a:pPr>
            <a:r>
              <a:rPr lang="bg-BG" sz="16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Оригинална текстура</a:t>
            </a:r>
            <a:endParaRPr lang="en-US" sz="12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54750" y="2266890"/>
            <a:ext cx="2736850" cy="400110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sz="20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1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[ 128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en-US" sz="20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128 ]</a:t>
            </a:r>
            <a:endParaRPr lang="en-US" sz="16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pic>
        <p:nvPicPr>
          <p:cNvPr id="5122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964" y="1820779"/>
            <a:ext cx="2340864" cy="234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122" y="1820779"/>
            <a:ext cx="1170432" cy="11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122" y="2991719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122" y="3576935"/>
            <a:ext cx="292608" cy="29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122" y="3869543"/>
            <a:ext cx="146304" cy="14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122" y="4015472"/>
            <a:ext cx="73152" cy="7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122" y="4088769"/>
            <a:ext cx="36576" cy="3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122" y="4124324"/>
            <a:ext cx="18288" cy="1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Connector 24"/>
          <p:cNvCxnSpPr/>
          <p:nvPr/>
        </p:nvCxnSpPr>
        <p:spPr>
          <a:xfrm>
            <a:off x="5077122" y="1600200"/>
            <a:ext cx="0" cy="28085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5077122" y="2991211"/>
            <a:ext cx="1323678" cy="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5077122" y="3573670"/>
            <a:ext cx="1323678" cy="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077122" y="3869574"/>
            <a:ext cx="1323678" cy="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077122" y="4015924"/>
            <a:ext cx="1323678" cy="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077122" y="4082936"/>
            <a:ext cx="1323678" cy="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077122" y="4120342"/>
            <a:ext cx="1323678" cy="5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2338" y="3101788"/>
            <a:ext cx="1974850" cy="369332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2</a:t>
            </a:r>
            <a:r>
              <a:rPr lang="en-US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[ </a:t>
            </a:r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64</a:t>
            </a:r>
            <a:r>
              <a:rPr lang="en-US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64</a:t>
            </a:r>
            <a:r>
              <a:rPr lang="en-US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]</a:t>
            </a:r>
            <a:endParaRPr lang="en-US" sz="14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69730" y="3581551"/>
            <a:ext cx="1974850" cy="307777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sz="1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3, </a:t>
            </a:r>
            <a:r>
              <a:rPr lang="en-US" sz="1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[ </a:t>
            </a:r>
            <a:r>
              <a:rPr lang="bg-BG" sz="1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32</a:t>
            </a:r>
            <a:r>
              <a:rPr lang="en-US" sz="1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bg-BG" sz="1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32</a:t>
            </a:r>
            <a:r>
              <a:rPr lang="en-US" sz="14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 ]</a:t>
            </a:r>
            <a:endParaRPr lang="en-US" sz="11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76152" y="3810000"/>
            <a:ext cx="1974850" cy="261610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sz="105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</a:t>
            </a:r>
            <a:r>
              <a:rPr lang="en-US" sz="105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4</a:t>
            </a:r>
            <a:r>
              <a:rPr lang="bg-BG" sz="105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, </a:t>
            </a:r>
            <a:r>
              <a:rPr lang="en-US" sz="105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[ 16</a:t>
            </a:r>
            <a:r>
              <a:rPr lang="en-US" sz="105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en-US" sz="105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16 ]</a:t>
            </a:r>
            <a:endParaRPr lang="en-US" sz="9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82660" y="3966728"/>
            <a:ext cx="1974850" cy="169277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sz="5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</a:t>
            </a:r>
            <a:r>
              <a:rPr lang="en-US" sz="5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5</a:t>
            </a:r>
            <a:r>
              <a:rPr lang="bg-BG" sz="5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, </a:t>
            </a:r>
            <a:r>
              <a:rPr lang="en-US" sz="5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[ 8</a:t>
            </a:r>
            <a:r>
              <a:rPr lang="en-US" sz="5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en-US" sz="5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8 ]</a:t>
            </a:r>
            <a:endParaRPr lang="en-US" sz="3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85414" y="4033838"/>
            <a:ext cx="1974850" cy="138499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sz="3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</a:t>
            </a:r>
            <a:r>
              <a:rPr lang="en-US" sz="3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6</a:t>
            </a:r>
            <a:r>
              <a:rPr lang="bg-BG" sz="3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, </a:t>
            </a:r>
            <a:r>
              <a:rPr lang="en-US" sz="3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[ 4</a:t>
            </a:r>
            <a:r>
              <a:rPr lang="en-US" sz="3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en-US" sz="3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4 ]</a:t>
            </a:r>
            <a:endParaRPr lang="en-US" sz="2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89010" y="4072651"/>
            <a:ext cx="1974850" cy="123111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sz="2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</a:t>
            </a:r>
            <a:r>
              <a:rPr lang="en-US" sz="2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7</a:t>
            </a:r>
            <a:r>
              <a:rPr lang="bg-BG" sz="2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, </a:t>
            </a:r>
            <a:r>
              <a:rPr lang="en-US" sz="2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[ 2</a:t>
            </a:r>
            <a:r>
              <a:rPr lang="en-US" sz="2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en-US" sz="2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2 ]</a:t>
            </a:r>
          </a:p>
        </p:txBody>
      </p:sp>
      <p:pic>
        <p:nvPicPr>
          <p:cNvPr id="42" name="Picture 2" descr="D:\Pavel\Courses\MATERIALS\Course.WebGL 2015-16\Lectures\WebGL-19 Textures\Example 5 - No pixelization\tiles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90" y="4150903"/>
            <a:ext cx="9144" cy="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5388168" y="4102895"/>
            <a:ext cx="1974850" cy="107722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>
              <a:tabLst>
                <a:tab pos="1828800" algn="l"/>
              </a:tabLst>
            </a:pPr>
            <a:r>
              <a:rPr lang="bg-BG" sz="1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Ниво </a:t>
            </a:r>
            <a:r>
              <a:rPr lang="en-US" sz="1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8</a:t>
            </a:r>
            <a:r>
              <a:rPr lang="bg-BG" sz="1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, </a:t>
            </a:r>
            <a:r>
              <a:rPr lang="en-US" sz="1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[ 1</a:t>
            </a:r>
            <a:r>
              <a:rPr lang="en-US" sz="1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</a:t>
            </a:r>
            <a:r>
              <a:rPr lang="en-US" sz="1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1 ]</a:t>
            </a:r>
          </a:p>
        </p:txBody>
      </p:sp>
      <p:sp>
        <p:nvSpPr>
          <p:cNvPr id="44" name="Snip Diagonal Corner Rectangle 43"/>
          <p:cNvSpPr/>
          <p:nvPr/>
        </p:nvSpPr>
        <p:spPr>
          <a:xfrm>
            <a:off x="304800" y="6019800"/>
            <a:ext cx="8534400" cy="533400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generateMipmap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(gl.TEXTURE_2D);</a:t>
            </a:r>
          </a:p>
        </p:txBody>
      </p:sp>
    </p:spTree>
    <p:extLst>
      <p:ext uri="{BB962C8B-B14F-4D97-AF65-F5344CB8AC3E}">
        <p14:creationId xmlns:p14="http://schemas.microsoft.com/office/powerpoint/2010/main" val="39547710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Намаление на текстура</a:t>
            </a:r>
          </a:p>
          <a:p>
            <a:pPr lvl="1"/>
            <a:r>
              <a:rPr lang="bg-BG" dirty="0"/>
              <a:t>Намаление на текстура се контролира с </a:t>
            </a:r>
            <a:r>
              <a:rPr lang="en-US" b="1" dirty="0" err="1"/>
              <a:t>texParameter</a:t>
            </a:r>
            <a:r>
              <a:rPr lang="bg-BG" dirty="0"/>
              <a:t> (</a:t>
            </a:r>
            <a:r>
              <a:rPr lang="en-US" dirty="0"/>
              <a:t>-</a:t>
            </a:r>
            <a:r>
              <a:rPr lang="en-US" b="1" dirty="0" err="1"/>
              <a:t>i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en-US" dirty="0"/>
              <a:t>-</a:t>
            </a:r>
            <a:r>
              <a:rPr lang="en-US" b="1" dirty="0"/>
              <a:t>f</a:t>
            </a:r>
            <a:r>
              <a:rPr lang="en-US" dirty="0"/>
              <a:t>) </a:t>
            </a:r>
            <a:r>
              <a:rPr lang="bg-BG" dirty="0"/>
              <a:t>с параметър </a:t>
            </a:r>
            <a:r>
              <a:rPr lang="en-US" b="1" dirty="0" err="1"/>
              <a:t>TEXTURE_MIN_FILTER</a:t>
            </a:r>
            <a:r>
              <a:rPr lang="bg-BG" dirty="0"/>
              <a:t> и стойност:</a:t>
            </a:r>
          </a:p>
          <a:p>
            <a:pPr marL="914400" lvl="2"/>
            <a:r>
              <a:rPr lang="en-US" b="1" dirty="0"/>
              <a:t>NEAREST</a:t>
            </a:r>
            <a:r>
              <a:rPr lang="en-US" dirty="0"/>
              <a:t> –</a:t>
            </a:r>
            <a:r>
              <a:rPr lang="bg-BG" dirty="0"/>
              <a:t> най-близкият </a:t>
            </a:r>
            <a:r>
              <a:rPr lang="bg-BG" dirty="0" err="1"/>
              <a:t>тексел</a:t>
            </a:r>
            <a:r>
              <a:rPr lang="bg-BG" dirty="0"/>
              <a:t> от оригиналната текстура</a:t>
            </a:r>
          </a:p>
          <a:p>
            <a:pPr marL="914400" lvl="2"/>
            <a:r>
              <a:rPr lang="en-US" b="1" dirty="0"/>
              <a:t>LINEAR</a:t>
            </a:r>
            <a:r>
              <a:rPr lang="en-US" dirty="0"/>
              <a:t> –</a:t>
            </a:r>
            <a:r>
              <a:rPr lang="bg-BG" dirty="0"/>
              <a:t> четирите най-близки </a:t>
            </a:r>
            <a:r>
              <a:rPr lang="bg-BG" dirty="0" err="1"/>
              <a:t>тексела</a:t>
            </a:r>
            <a:r>
              <a:rPr lang="bg-BG" dirty="0"/>
              <a:t> от оригиналната текстура</a:t>
            </a:r>
          </a:p>
          <a:p>
            <a:pPr marL="914400" lvl="2"/>
            <a:r>
              <a:rPr lang="en-US" b="1" dirty="0" err="1"/>
              <a:t>NEAREST_MIPMAP_NEAREST</a:t>
            </a:r>
            <a:r>
              <a:rPr lang="en-US" dirty="0"/>
              <a:t> –</a:t>
            </a:r>
            <a:r>
              <a:rPr lang="bg-BG" dirty="0"/>
              <a:t> най-близкият </a:t>
            </a:r>
            <a:r>
              <a:rPr lang="bg-BG" dirty="0" err="1"/>
              <a:t>тексел</a:t>
            </a:r>
            <a:r>
              <a:rPr lang="bg-BG" dirty="0"/>
              <a:t> от най-близката текстура </a:t>
            </a:r>
            <a:endParaRPr lang="en-US" dirty="0"/>
          </a:p>
          <a:p>
            <a:pPr marL="914400" lvl="2"/>
            <a:r>
              <a:rPr lang="en-US" b="1" dirty="0" err="1"/>
              <a:t>LINEAR_MIPMAP_NEAREST</a:t>
            </a:r>
            <a:r>
              <a:rPr lang="bg-BG" dirty="0"/>
              <a:t> – четирите най-близки </a:t>
            </a:r>
            <a:r>
              <a:rPr lang="bg-BG" dirty="0" err="1"/>
              <a:t>тексела</a:t>
            </a:r>
            <a:r>
              <a:rPr lang="bg-BG" dirty="0"/>
              <a:t> от най-близката текстура</a:t>
            </a:r>
            <a:endParaRPr lang="en-US" dirty="0"/>
          </a:p>
          <a:p>
            <a:pPr marL="914400" lvl="2"/>
            <a:r>
              <a:rPr lang="en-US" b="1" dirty="0" err="1"/>
              <a:t>NEAREST_MIPMAP_LINEAR</a:t>
            </a:r>
            <a:r>
              <a:rPr lang="bg-BG" dirty="0"/>
              <a:t> – двата най-близки </a:t>
            </a:r>
            <a:r>
              <a:rPr lang="bg-BG" dirty="0" err="1"/>
              <a:t>тексела</a:t>
            </a:r>
            <a:r>
              <a:rPr lang="bg-BG" dirty="0"/>
              <a:t>, по един от двете най-близки текстури</a:t>
            </a:r>
            <a:endParaRPr lang="en-US" dirty="0"/>
          </a:p>
          <a:p>
            <a:pPr marL="914400" lvl="2"/>
            <a:r>
              <a:rPr lang="en-US" b="1" dirty="0" err="1"/>
              <a:t>LINEAR_MIPMAP_LINEAR</a:t>
            </a:r>
            <a:r>
              <a:rPr lang="bg-BG" dirty="0"/>
              <a:t> – осемте най-близки </a:t>
            </a:r>
            <a:r>
              <a:rPr lang="bg-BG" dirty="0" err="1"/>
              <a:t>тексела</a:t>
            </a:r>
            <a:r>
              <a:rPr lang="bg-BG" dirty="0"/>
              <a:t>, по четири от двете най-близки текстури</a:t>
            </a:r>
            <a:endParaRPr lang="en-US" dirty="0"/>
          </a:p>
          <a:p>
            <a:pPr marL="733425" lvl="1" indent="-273050"/>
            <a:r>
              <a:rPr lang="bg-BG" dirty="0"/>
              <a:t>Колкото повече точки участват в изчисляването на цвят, толкова по-малко шум има в текстурата</a:t>
            </a:r>
          </a:p>
          <a:p>
            <a:pPr marL="733425" lvl="1" indent="-273050"/>
            <a:r>
              <a:rPr lang="bg-BG" dirty="0"/>
              <a:t>Най-бързо се рисува текстура при </a:t>
            </a:r>
            <a:r>
              <a:rPr lang="en-US" b="1" dirty="0"/>
              <a:t>NEAREST</a:t>
            </a:r>
          </a:p>
        </p:txBody>
      </p:sp>
    </p:spTree>
    <p:extLst>
      <p:ext uri="{BB962C8B-B14F-4D97-AF65-F5344CB8AC3E}">
        <p14:creationId xmlns:p14="http://schemas.microsoft.com/office/powerpoint/2010/main" val="4277569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717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28600"/>
            <a:ext cx="6048375" cy="580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2348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Текстуриран</a:t>
            </a:r>
            <a:r>
              <a:rPr lang="bg-BG" dirty="0"/>
              <a:t> куб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209830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Текстуриран</a:t>
            </a:r>
            <a:r>
              <a:rPr lang="bg-BG" dirty="0"/>
              <a:t> куб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Задача</a:t>
            </a:r>
          </a:p>
          <a:p>
            <a:pPr lvl="1"/>
            <a:r>
              <a:rPr lang="bg-BG" dirty="0"/>
              <a:t>Да направим пробит куб с текстура по стените му</a:t>
            </a:r>
          </a:p>
          <a:p>
            <a:pPr lvl="1"/>
            <a:r>
              <a:rPr lang="bg-BG" dirty="0"/>
              <a:t>Цветът да зависи от цвета на куба, от текстурата и от ориентацията на всяка стена</a:t>
            </a:r>
          </a:p>
          <a:p>
            <a:pPr lvl="1"/>
            <a:r>
              <a:rPr lang="bg-BG" dirty="0"/>
              <a:t>От куба да сглобим по-сложна конструкция</a:t>
            </a:r>
          </a:p>
          <a:p>
            <a:pPr lvl="1"/>
            <a:r>
              <a:rPr lang="bg-BG" dirty="0"/>
              <a:t>На тази конструкция да можем да променяме броя на кубовете, без да променяме размера</a:t>
            </a:r>
          </a:p>
        </p:txBody>
      </p:sp>
      <p:pic>
        <p:nvPicPr>
          <p:cNvPr id="8194" name="Picture 2" descr="D:\Pavel\Courses\MATERIALS\Course.WebGL 2015-16\Lectures\WebGL-19 Textures\Example 7 - Textured cube\bloc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230469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3321899" y="6059269"/>
            <a:ext cx="2493853" cy="584775"/>
          </a:xfrm>
          <a:prstGeom prst="rect">
            <a:avLst/>
          </a:prstGeom>
          <a:noFill/>
          <a:effectLst/>
        </p:spPr>
        <p:txBody>
          <a:bodyPr wrap="square" tIns="45720" bIns="45720" rtlCol="0">
            <a:spAutoFit/>
          </a:bodyPr>
          <a:lstStyle/>
          <a:p>
            <a:pPr algn="ctr">
              <a:tabLst>
                <a:tab pos="1828800" algn="l"/>
              </a:tabLst>
            </a:pPr>
            <a:r>
              <a:rPr lang="bg-BG" sz="1600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Текстура за всяка стена на куба</a:t>
            </a:r>
            <a:endParaRPr lang="en-US" sz="12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1432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>
          <a:xfrm>
            <a:off x="3367078" y="5577455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T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220231" y="4636476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T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087357" y="4489047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T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070125" y="5331184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S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387965" y="5095359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S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3204296" y="5763412"/>
            <a:ext cx="914400" cy="72724"/>
            <a:chOff x="6400800" y="5171431"/>
            <a:chExt cx="914400" cy="72724"/>
          </a:xfrm>
        </p:grpSpPr>
        <p:cxnSp>
          <p:nvCxnSpPr>
            <p:cNvPr id="55" name="Straight Arrow Connector 54"/>
            <p:cNvCxnSpPr/>
            <p:nvPr/>
          </p:nvCxnSpPr>
          <p:spPr>
            <a:xfrm flipV="1">
              <a:off x="6400800" y="5171431"/>
              <a:ext cx="269629" cy="72724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V="1">
              <a:off x="6400800" y="5244154"/>
              <a:ext cx="914400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3333262" y="4656016"/>
            <a:ext cx="291007" cy="1010138"/>
            <a:chOff x="6109793" y="4365469"/>
            <a:chExt cx="291007" cy="1010138"/>
          </a:xfrm>
        </p:grpSpPr>
        <p:cxnSp>
          <p:nvCxnSpPr>
            <p:cNvPr id="48" name="Straight Arrow Connector 47"/>
            <p:cNvCxnSpPr/>
            <p:nvPr/>
          </p:nvCxnSpPr>
          <p:spPr>
            <a:xfrm flipH="1">
              <a:off x="6109793" y="5244157"/>
              <a:ext cx="291007" cy="13145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V="1">
              <a:off x="6400800" y="4365469"/>
              <a:ext cx="0" cy="878686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 flipH="1">
            <a:off x="4515340" y="4636476"/>
            <a:ext cx="914400" cy="878686"/>
            <a:chOff x="6400800" y="4365469"/>
            <a:chExt cx="914400" cy="878686"/>
          </a:xfrm>
        </p:grpSpPr>
        <p:cxnSp>
          <p:nvCxnSpPr>
            <p:cNvPr id="44" name="Straight Arrow Connector 43"/>
            <p:cNvCxnSpPr/>
            <p:nvPr/>
          </p:nvCxnSpPr>
          <p:spPr>
            <a:xfrm flipV="1">
              <a:off x="6400800" y="4365469"/>
              <a:ext cx="0" cy="878686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V="1">
              <a:off x="6400800" y="5244154"/>
              <a:ext cx="914400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Текстурни</a:t>
            </a:r>
            <a:r>
              <a:rPr lang="bg-BG" dirty="0"/>
              <a:t> координати</a:t>
            </a:r>
          </a:p>
          <a:p>
            <a:pPr lvl="1"/>
            <a:r>
              <a:rPr lang="bg-BG" dirty="0"/>
              <a:t>Аранжираме </a:t>
            </a:r>
            <a:r>
              <a:rPr lang="bg-BG" dirty="0" err="1"/>
              <a:t>текстурните</a:t>
            </a:r>
            <a:r>
              <a:rPr lang="bg-BG" dirty="0"/>
              <a:t> координати по върховете</a:t>
            </a:r>
          </a:p>
          <a:p>
            <a:pPr lvl="1"/>
            <a:r>
              <a:rPr lang="bg-BG" dirty="0" err="1"/>
              <a:t>Текстурните</a:t>
            </a:r>
            <a:r>
              <a:rPr lang="bg-BG" dirty="0"/>
              <a:t> координати на връх ще зависят от стената</a:t>
            </a:r>
          </a:p>
          <a:p>
            <a:pPr lvl="1"/>
            <a:r>
              <a:rPr lang="bg-BG" dirty="0"/>
              <a:t>Връх 5 на предната е с </a:t>
            </a:r>
            <a:r>
              <a:rPr lang="bg-BG" dirty="0" err="1"/>
              <a:t>текстурни</a:t>
            </a:r>
            <a:r>
              <a:rPr lang="bg-BG" dirty="0"/>
              <a:t> координати (1,</a:t>
            </a:r>
            <a:r>
              <a:rPr lang="bg-BG" dirty="0" err="1"/>
              <a:t>1</a:t>
            </a:r>
            <a:r>
              <a:rPr lang="bg-BG" dirty="0"/>
              <a:t>), на дясната стена е с (1,0), а на горната е с (0,1)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93238" y="3776614"/>
            <a:ext cx="1805239" cy="1805238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2949904" y="3776614"/>
            <a:ext cx="743334" cy="212381"/>
          </a:xfrm>
          <a:prstGeom prst="line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949904" y="5581852"/>
            <a:ext cx="743334" cy="318571"/>
          </a:xfrm>
          <a:prstGeom prst="line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861334" y="5581852"/>
            <a:ext cx="637143" cy="318571"/>
          </a:xfrm>
          <a:prstGeom prst="line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4861334" y="3776614"/>
            <a:ext cx="637143" cy="212381"/>
          </a:xfrm>
          <a:prstGeom prst="line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Rectangle 13"/>
          <p:cNvSpPr/>
          <p:nvPr/>
        </p:nvSpPr>
        <p:spPr>
          <a:xfrm>
            <a:off x="2562032" y="5690499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0</a:t>
            </a:r>
            <a:endParaRPr lang="bg-BG" baseline="-250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44680" y="5900423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endParaRPr lang="bg-BG" baseline="-250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524682" y="5387509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2</a:t>
            </a:r>
            <a:endParaRPr lang="bg-BG" baseline="-250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78017" y="5244154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sz="2400" b="1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lumMod val="75000"/>
                      <a:alpha val="40000"/>
                    </a:schemeClr>
                  </a:outerShdw>
                </a:effectLst>
              </a:rPr>
              <a:t>3</a:t>
            </a:r>
            <a:endParaRPr lang="bg-BG" sz="2400" b="1" baseline="-25000" dirty="0">
              <a:solidFill>
                <a:schemeClr val="accent1">
                  <a:lumMod val="50000"/>
                </a:schemeClr>
              </a:solidFill>
              <a:effectLst>
                <a:outerShdw blurRad="63500" algn="ctr" rotWithShape="0">
                  <a:schemeClr val="accent1">
                    <a:lumMod val="75000"/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95282" y="3822329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4</a:t>
            </a:r>
            <a:endParaRPr lang="bg-BG" baseline="-250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87153" y="3908612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5</a:t>
            </a:r>
            <a:endParaRPr lang="bg-BG" baseline="-250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3067" y="3609353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6</a:t>
            </a:r>
            <a:endParaRPr lang="bg-BG" baseline="-250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21853" y="3429000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bg-BG" dirty="0">
                <a:solidFill>
                  <a:sysClr val="windowText" lastClr="000000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7</a:t>
            </a:r>
            <a:endParaRPr lang="bg-BG" baseline="-25000" dirty="0">
              <a:solidFill>
                <a:sysClr val="windowText" lastClr="000000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2971120" y="3793331"/>
            <a:ext cx="2507465" cy="2088147"/>
          </a:xfrm>
          <a:custGeom>
            <a:avLst/>
            <a:gdLst>
              <a:gd name="connsiteX0" fmla="*/ 160774 w 2416629"/>
              <a:gd name="connsiteY0" fmla="*/ 683288 h 1964453"/>
              <a:gd name="connsiteX1" fmla="*/ 537587 w 2416629"/>
              <a:gd name="connsiteY1" fmla="*/ 0 h 1964453"/>
              <a:gd name="connsiteX2" fmla="*/ 924448 w 2416629"/>
              <a:gd name="connsiteY2" fmla="*/ 0 h 1964453"/>
              <a:gd name="connsiteX3" fmla="*/ 2416629 w 2416629"/>
              <a:gd name="connsiteY3" fmla="*/ 1587639 h 1964453"/>
              <a:gd name="connsiteX4" fmla="*/ 2120202 w 2416629"/>
              <a:gd name="connsiteY4" fmla="*/ 1793631 h 1964453"/>
              <a:gd name="connsiteX5" fmla="*/ 256233 w 2416629"/>
              <a:gd name="connsiteY5" fmla="*/ 1964453 h 1964453"/>
              <a:gd name="connsiteX6" fmla="*/ 0 w 2416629"/>
              <a:gd name="connsiteY6" fmla="*/ 1924259 h 1964453"/>
              <a:gd name="connsiteX7" fmla="*/ 160774 w 2416629"/>
              <a:gd name="connsiteY7" fmla="*/ 683288 h 1964453"/>
              <a:gd name="connsiteX0" fmla="*/ 0 w 2416629"/>
              <a:gd name="connsiteY0" fmla="*/ 1924259 h 1964453"/>
              <a:gd name="connsiteX1" fmla="*/ 537587 w 2416629"/>
              <a:gd name="connsiteY1" fmla="*/ 0 h 1964453"/>
              <a:gd name="connsiteX2" fmla="*/ 924448 w 2416629"/>
              <a:gd name="connsiteY2" fmla="*/ 0 h 1964453"/>
              <a:gd name="connsiteX3" fmla="*/ 2416629 w 2416629"/>
              <a:gd name="connsiteY3" fmla="*/ 1587639 h 1964453"/>
              <a:gd name="connsiteX4" fmla="*/ 2120202 w 2416629"/>
              <a:gd name="connsiteY4" fmla="*/ 1793631 h 1964453"/>
              <a:gd name="connsiteX5" fmla="*/ 256233 w 2416629"/>
              <a:gd name="connsiteY5" fmla="*/ 1964453 h 1964453"/>
              <a:gd name="connsiteX6" fmla="*/ 0 w 2416629"/>
              <a:gd name="connsiteY6" fmla="*/ 1924259 h 1964453"/>
              <a:gd name="connsiteX0" fmla="*/ 0 w 2416629"/>
              <a:gd name="connsiteY0" fmla="*/ 2002797 h 2042991"/>
              <a:gd name="connsiteX1" fmla="*/ 663808 w 2416629"/>
              <a:gd name="connsiteY1" fmla="*/ 0 h 2042991"/>
              <a:gd name="connsiteX2" fmla="*/ 924448 w 2416629"/>
              <a:gd name="connsiteY2" fmla="*/ 78538 h 2042991"/>
              <a:gd name="connsiteX3" fmla="*/ 2416629 w 2416629"/>
              <a:gd name="connsiteY3" fmla="*/ 1666177 h 2042991"/>
              <a:gd name="connsiteX4" fmla="*/ 2120202 w 2416629"/>
              <a:gd name="connsiteY4" fmla="*/ 1872169 h 2042991"/>
              <a:gd name="connsiteX5" fmla="*/ 256233 w 2416629"/>
              <a:gd name="connsiteY5" fmla="*/ 2042991 h 2042991"/>
              <a:gd name="connsiteX6" fmla="*/ 0 w 2416629"/>
              <a:gd name="connsiteY6" fmla="*/ 2002797 h 2042991"/>
              <a:gd name="connsiteX0" fmla="*/ 0 w 2416629"/>
              <a:gd name="connsiteY0" fmla="*/ 2011212 h 2051406"/>
              <a:gd name="connsiteX1" fmla="*/ 663808 w 2416629"/>
              <a:gd name="connsiteY1" fmla="*/ 8415 h 2051406"/>
              <a:gd name="connsiteX2" fmla="*/ 725300 w 2416629"/>
              <a:gd name="connsiteY2" fmla="*/ 0 h 2051406"/>
              <a:gd name="connsiteX3" fmla="*/ 2416629 w 2416629"/>
              <a:gd name="connsiteY3" fmla="*/ 1674592 h 2051406"/>
              <a:gd name="connsiteX4" fmla="*/ 2120202 w 2416629"/>
              <a:gd name="connsiteY4" fmla="*/ 1880584 h 2051406"/>
              <a:gd name="connsiteX5" fmla="*/ 256233 w 2416629"/>
              <a:gd name="connsiteY5" fmla="*/ 2051406 h 2051406"/>
              <a:gd name="connsiteX6" fmla="*/ 0 w 2416629"/>
              <a:gd name="connsiteY6" fmla="*/ 2011212 h 2051406"/>
              <a:gd name="connsiteX0" fmla="*/ 0 w 2416629"/>
              <a:gd name="connsiteY0" fmla="*/ 2014616 h 2054810"/>
              <a:gd name="connsiteX1" fmla="*/ 663808 w 2416629"/>
              <a:gd name="connsiteY1" fmla="*/ 11819 h 2054810"/>
              <a:gd name="connsiteX2" fmla="*/ 684099 w 2416629"/>
              <a:gd name="connsiteY2" fmla="*/ 0 h 2054810"/>
              <a:gd name="connsiteX3" fmla="*/ 725300 w 2416629"/>
              <a:gd name="connsiteY3" fmla="*/ 3404 h 2054810"/>
              <a:gd name="connsiteX4" fmla="*/ 2416629 w 2416629"/>
              <a:gd name="connsiteY4" fmla="*/ 1677996 h 2054810"/>
              <a:gd name="connsiteX5" fmla="*/ 2120202 w 2416629"/>
              <a:gd name="connsiteY5" fmla="*/ 1883988 h 2054810"/>
              <a:gd name="connsiteX6" fmla="*/ 256233 w 2416629"/>
              <a:gd name="connsiteY6" fmla="*/ 2054810 h 2054810"/>
              <a:gd name="connsiteX7" fmla="*/ 0 w 2416629"/>
              <a:gd name="connsiteY7" fmla="*/ 2014616 h 2054810"/>
              <a:gd name="connsiteX0" fmla="*/ 0 w 2473779"/>
              <a:gd name="connsiteY0" fmla="*/ 2014616 h 2054810"/>
              <a:gd name="connsiteX1" fmla="*/ 663808 w 2473779"/>
              <a:gd name="connsiteY1" fmla="*/ 11819 h 2054810"/>
              <a:gd name="connsiteX2" fmla="*/ 684099 w 2473779"/>
              <a:gd name="connsiteY2" fmla="*/ 0 h 2054810"/>
              <a:gd name="connsiteX3" fmla="*/ 725300 w 2473779"/>
              <a:gd name="connsiteY3" fmla="*/ 3404 h 2054810"/>
              <a:gd name="connsiteX4" fmla="*/ 2473779 w 2473779"/>
              <a:gd name="connsiteY4" fmla="*/ 1768483 h 2054810"/>
              <a:gd name="connsiteX5" fmla="*/ 2120202 w 2473779"/>
              <a:gd name="connsiteY5" fmla="*/ 1883988 h 2054810"/>
              <a:gd name="connsiteX6" fmla="*/ 256233 w 2473779"/>
              <a:gd name="connsiteY6" fmla="*/ 2054810 h 2054810"/>
              <a:gd name="connsiteX7" fmla="*/ 0 w 2473779"/>
              <a:gd name="connsiteY7" fmla="*/ 2014616 h 2054810"/>
              <a:gd name="connsiteX0" fmla="*/ 0 w 2473779"/>
              <a:gd name="connsiteY0" fmla="*/ 2014616 h 2054810"/>
              <a:gd name="connsiteX1" fmla="*/ 663808 w 2473779"/>
              <a:gd name="connsiteY1" fmla="*/ 11819 h 2054810"/>
              <a:gd name="connsiteX2" fmla="*/ 684099 w 2473779"/>
              <a:gd name="connsiteY2" fmla="*/ 0 h 2054810"/>
              <a:gd name="connsiteX3" fmla="*/ 725300 w 2473779"/>
              <a:gd name="connsiteY3" fmla="*/ 3404 h 2054810"/>
              <a:gd name="connsiteX4" fmla="*/ 2473779 w 2473779"/>
              <a:gd name="connsiteY4" fmla="*/ 1768483 h 2054810"/>
              <a:gd name="connsiteX5" fmla="*/ 2422621 w 2473779"/>
              <a:gd name="connsiteY5" fmla="*/ 1803026 h 2054810"/>
              <a:gd name="connsiteX6" fmla="*/ 256233 w 2473779"/>
              <a:gd name="connsiteY6" fmla="*/ 2054810 h 2054810"/>
              <a:gd name="connsiteX7" fmla="*/ 0 w 2473779"/>
              <a:gd name="connsiteY7" fmla="*/ 2014616 h 2054810"/>
              <a:gd name="connsiteX0" fmla="*/ 0 w 2473779"/>
              <a:gd name="connsiteY0" fmla="*/ 2014616 h 2088147"/>
              <a:gd name="connsiteX1" fmla="*/ 663808 w 2473779"/>
              <a:gd name="connsiteY1" fmla="*/ 11819 h 2088147"/>
              <a:gd name="connsiteX2" fmla="*/ 684099 w 2473779"/>
              <a:gd name="connsiteY2" fmla="*/ 0 h 2088147"/>
              <a:gd name="connsiteX3" fmla="*/ 725300 w 2473779"/>
              <a:gd name="connsiteY3" fmla="*/ 3404 h 2088147"/>
              <a:gd name="connsiteX4" fmla="*/ 2473779 w 2473779"/>
              <a:gd name="connsiteY4" fmla="*/ 1768483 h 2088147"/>
              <a:gd name="connsiteX5" fmla="*/ 2422621 w 2473779"/>
              <a:gd name="connsiteY5" fmla="*/ 1803026 h 2088147"/>
              <a:gd name="connsiteX6" fmla="*/ 41921 w 2473779"/>
              <a:gd name="connsiteY6" fmla="*/ 2088147 h 2088147"/>
              <a:gd name="connsiteX7" fmla="*/ 0 w 2473779"/>
              <a:gd name="connsiteY7" fmla="*/ 2014616 h 2088147"/>
              <a:gd name="connsiteX0" fmla="*/ 0 w 2507116"/>
              <a:gd name="connsiteY0" fmla="*/ 2081291 h 2088147"/>
              <a:gd name="connsiteX1" fmla="*/ 697145 w 2507116"/>
              <a:gd name="connsiteY1" fmla="*/ 11819 h 2088147"/>
              <a:gd name="connsiteX2" fmla="*/ 717436 w 2507116"/>
              <a:gd name="connsiteY2" fmla="*/ 0 h 2088147"/>
              <a:gd name="connsiteX3" fmla="*/ 758637 w 2507116"/>
              <a:gd name="connsiteY3" fmla="*/ 3404 h 2088147"/>
              <a:gd name="connsiteX4" fmla="*/ 2507116 w 2507116"/>
              <a:gd name="connsiteY4" fmla="*/ 1768483 h 2088147"/>
              <a:gd name="connsiteX5" fmla="*/ 2455958 w 2507116"/>
              <a:gd name="connsiteY5" fmla="*/ 1803026 h 2088147"/>
              <a:gd name="connsiteX6" fmla="*/ 75258 w 2507116"/>
              <a:gd name="connsiteY6" fmla="*/ 2088147 h 2088147"/>
              <a:gd name="connsiteX7" fmla="*/ 0 w 2507116"/>
              <a:gd name="connsiteY7" fmla="*/ 2081291 h 2088147"/>
              <a:gd name="connsiteX0" fmla="*/ 0 w 2507465"/>
              <a:gd name="connsiteY0" fmla="*/ 2081291 h 2088147"/>
              <a:gd name="connsiteX1" fmla="*/ 697145 w 2507465"/>
              <a:gd name="connsiteY1" fmla="*/ 11819 h 2088147"/>
              <a:gd name="connsiteX2" fmla="*/ 717436 w 2507465"/>
              <a:gd name="connsiteY2" fmla="*/ 0 h 2088147"/>
              <a:gd name="connsiteX3" fmla="*/ 758637 w 2507465"/>
              <a:gd name="connsiteY3" fmla="*/ 3404 h 2088147"/>
              <a:gd name="connsiteX4" fmla="*/ 2507465 w 2507465"/>
              <a:gd name="connsiteY4" fmla="*/ 821654 h 2088147"/>
              <a:gd name="connsiteX5" fmla="*/ 2507116 w 2507465"/>
              <a:gd name="connsiteY5" fmla="*/ 1768483 h 2088147"/>
              <a:gd name="connsiteX6" fmla="*/ 2455958 w 2507465"/>
              <a:gd name="connsiteY6" fmla="*/ 1803026 h 2088147"/>
              <a:gd name="connsiteX7" fmla="*/ 75258 w 2507465"/>
              <a:gd name="connsiteY7" fmla="*/ 2088147 h 2088147"/>
              <a:gd name="connsiteX8" fmla="*/ 0 w 2507465"/>
              <a:gd name="connsiteY8" fmla="*/ 2081291 h 2088147"/>
              <a:gd name="connsiteX0" fmla="*/ 0 w 2507465"/>
              <a:gd name="connsiteY0" fmla="*/ 2081291 h 2088147"/>
              <a:gd name="connsiteX1" fmla="*/ 697145 w 2507465"/>
              <a:gd name="connsiteY1" fmla="*/ 11819 h 2088147"/>
              <a:gd name="connsiteX2" fmla="*/ 717436 w 2507465"/>
              <a:gd name="connsiteY2" fmla="*/ 0 h 2088147"/>
              <a:gd name="connsiteX3" fmla="*/ 758637 w 2507465"/>
              <a:gd name="connsiteY3" fmla="*/ 3404 h 2088147"/>
              <a:gd name="connsiteX4" fmla="*/ 2507465 w 2507465"/>
              <a:gd name="connsiteY4" fmla="*/ 821654 h 2088147"/>
              <a:gd name="connsiteX5" fmla="*/ 2507116 w 2507465"/>
              <a:gd name="connsiteY5" fmla="*/ 1768483 h 2088147"/>
              <a:gd name="connsiteX6" fmla="*/ 2455958 w 2507465"/>
              <a:gd name="connsiteY6" fmla="*/ 1803026 h 2088147"/>
              <a:gd name="connsiteX7" fmla="*/ 1475834 w 2507465"/>
              <a:gd name="connsiteY7" fmla="*/ 2076023 h 2088147"/>
              <a:gd name="connsiteX8" fmla="*/ 75258 w 2507465"/>
              <a:gd name="connsiteY8" fmla="*/ 2088147 h 2088147"/>
              <a:gd name="connsiteX9" fmla="*/ 0 w 2507465"/>
              <a:gd name="connsiteY9" fmla="*/ 2081291 h 208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07465" h="2088147">
                <a:moveTo>
                  <a:pt x="0" y="2081291"/>
                </a:moveTo>
                <a:lnTo>
                  <a:pt x="697145" y="11819"/>
                </a:lnTo>
                <a:cubicBezTo>
                  <a:pt x="700734" y="9467"/>
                  <a:pt x="713847" y="2352"/>
                  <a:pt x="717436" y="0"/>
                </a:cubicBezTo>
                <a:lnTo>
                  <a:pt x="758637" y="3404"/>
                </a:lnTo>
                <a:cubicBezTo>
                  <a:pt x="1183969" y="428554"/>
                  <a:pt x="2082133" y="396504"/>
                  <a:pt x="2507465" y="821654"/>
                </a:cubicBezTo>
                <a:cubicBezTo>
                  <a:pt x="2507349" y="1137264"/>
                  <a:pt x="2507232" y="1452873"/>
                  <a:pt x="2507116" y="1768483"/>
                </a:cubicBezTo>
                <a:lnTo>
                  <a:pt x="2455958" y="1803026"/>
                </a:lnTo>
                <a:cubicBezTo>
                  <a:pt x="2146183" y="1840620"/>
                  <a:pt x="1785609" y="2038429"/>
                  <a:pt x="1475834" y="2076023"/>
                </a:cubicBezTo>
                <a:lnTo>
                  <a:pt x="75258" y="2088147"/>
                </a:lnTo>
                <a:lnTo>
                  <a:pt x="0" y="2081291"/>
                </a:lnTo>
                <a:close/>
              </a:path>
            </a:pathLst>
          </a:custGeom>
          <a:solidFill>
            <a:srgbClr val="FFFFFF">
              <a:alpha val="69804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Rectangle 26"/>
          <p:cNvSpPr/>
          <p:nvPr/>
        </p:nvSpPr>
        <p:spPr>
          <a:xfrm>
            <a:off x="2949904" y="3988995"/>
            <a:ext cx="1911430" cy="1911428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grpSp>
        <p:nvGrpSpPr>
          <p:cNvPr id="38" name="Group 37"/>
          <p:cNvGrpSpPr/>
          <p:nvPr/>
        </p:nvGrpSpPr>
        <p:grpSpPr>
          <a:xfrm>
            <a:off x="3006972" y="4953542"/>
            <a:ext cx="914400" cy="878686"/>
            <a:chOff x="6400800" y="4365469"/>
            <a:chExt cx="914400" cy="878686"/>
          </a:xfrm>
        </p:grpSpPr>
        <p:cxnSp>
          <p:nvCxnSpPr>
            <p:cNvPr id="31" name="Straight Arrow Connector 30"/>
            <p:cNvCxnSpPr/>
            <p:nvPr/>
          </p:nvCxnSpPr>
          <p:spPr>
            <a:xfrm flipV="1">
              <a:off x="6400800" y="4365469"/>
              <a:ext cx="0" cy="878686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V="1">
              <a:off x="6400800" y="5244154"/>
              <a:ext cx="914400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919788" y="4924238"/>
            <a:ext cx="281350" cy="878687"/>
            <a:chOff x="6400800" y="4365469"/>
            <a:chExt cx="281350" cy="878687"/>
          </a:xfrm>
        </p:grpSpPr>
        <p:cxnSp>
          <p:nvCxnSpPr>
            <p:cNvPr id="40" name="Straight Arrow Connector 39"/>
            <p:cNvCxnSpPr/>
            <p:nvPr/>
          </p:nvCxnSpPr>
          <p:spPr>
            <a:xfrm flipV="1">
              <a:off x="6400800" y="4365469"/>
              <a:ext cx="0" cy="878686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6400800" y="5107385"/>
              <a:ext cx="281350" cy="13677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3247296" y="3868615"/>
            <a:ext cx="914400" cy="72724"/>
            <a:chOff x="6400800" y="5171431"/>
            <a:chExt cx="914400" cy="72724"/>
          </a:xfrm>
        </p:grpSpPr>
        <p:cxnSp>
          <p:nvCxnSpPr>
            <p:cNvPr id="51" name="Straight Arrow Connector 50"/>
            <p:cNvCxnSpPr/>
            <p:nvPr/>
          </p:nvCxnSpPr>
          <p:spPr>
            <a:xfrm flipV="1">
              <a:off x="6400800" y="5171431"/>
              <a:ext cx="269629" cy="72724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V="1">
              <a:off x="6400800" y="5244154"/>
              <a:ext cx="914400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ectangle 56"/>
          <p:cNvSpPr/>
          <p:nvPr/>
        </p:nvSpPr>
        <p:spPr>
          <a:xfrm>
            <a:off x="3606018" y="5915739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S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019929" y="5715000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S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794158" y="3992265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S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842017" y="4769564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T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3138817" y="3500659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T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514599" y="4944709"/>
            <a:ext cx="415783" cy="367956"/>
          </a:xfrm>
          <a:prstGeom prst="rect">
            <a:avLst/>
          </a:prstGeom>
          <a:noFill/>
          <a:ln>
            <a:noFill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T</a:t>
            </a:r>
            <a:endParaRPr lang="bg-BG" baseline="-25000" dirty="0">
              <a:solidFill>
                <a:srgbClr val="FF0000"/>
              </a:solidFill>
              <a:effectLst>
                <a:outerShdw blurRad="63500" algn="ctr" rotWithShape="0">
                  <a:srgbClr val="FF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00375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Промени в </a:t>
            </a:r>
            <a:r>
              <a:rPr lang="en-US" dirty="0"/>
              <a:t>Cube</a:t>
            </a:r>
            <a:endParaRPr lang="bg-BG" dirty="0"/>
          </a:p>
          <a:p>
            <a:pPr lvl="1"/>
            <a:r>
              <a:rPr lang="bg-BG" dirty="0"/>
              <a:t>Всеки куб трябва да може да има отделна текстура</a:t>
            </a:r>
          </a:p>
          <a:p>
            <a:pPr lvl="1"/>
            <a:r>
              <a:rPr lang="bg-BG" dirty="0"/>
              <a:t>Тя се запазва в полето </a:t>
            </a:r>
            <a:r>
              <a:rPr lang="en-US" b="1" dirty="0"/>
              <a:t>texture</a:t>
            </a:r>
            <a:r>
              <a:rPr lang="en-US" dirty="0"/>
              <a:t>,</a:t>
            </a:r>
            <a:r>
              <a:rPr lang="bg-BG" dirty="0"/>
              <a:t> което се подава при рисуване на каноничния куб</a:t>
            </a:r>
          </a:p>
          <a:p>
            <a:pPr lvl="1"/>
            <a:r>
              <a:rPr lang="bg-BG" dirty="0"/>
              <a:t>Мащабът на текстурата е в полето </a:t>
            </a:r>
            <a:r>
              <a:rPr lang="en-US" b="1" dirty="0" err="1"/>
              <a:t>texScale</a:t>
            </a:r>
            <a:endParaRPr lang="bg-BG" b="1" dirty="0"/>
          </a:p>
        </p:txBody>
      </p:sp>
      <p:sp>
        <p:nvSpPr>
          <p:cNvPr id="85" name="Snip Diagonal Corner Rectangle 84"/>
          <p:cNvSpPr/>
          <p:nvPr/>
        </p:nvSpPr>
        <p:spPr>
          <a:xfrm>
            <a:off x="304800" y="3124200"/>
            <a:ext cx="8534400" cy="3429000"/>
          </a:xfrm>
          <a:prstGeom prst="snip2DiagRect">
            <a:avLst>
              <a:gd name="adj1" fmla="val 0"/>
              <a:gd name="adj2" fmla="val 859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Cube = function(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center,size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undefined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texScale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Cube.prototype.draw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gl.uniform1f(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uTexScale,this.texScale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bg-BG" sz="17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canonicalCube.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draw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this.texture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3347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Промени в </a:t>
            </a:r>
            <a:r>
              <a:rPr lang="en-US" dirty="0" err="1"/>
              <a:t>CanonicalCube</a:t>
            </a:r>
            <a:endParaRPr lang="bg-BG" dirty="0"/>
          </a:p>
          <a:p>
            <a:pPr lvl="1"/>
            <a:r>
              <a:rPr lang="bg-BG" dirty="0"/>
              <a:t>В конструктора вграждаме </a:t>
            </a:r>
            <a:r>
              <a:rPr lang="bg-BG" dirty="0" err="1"/>
              <a:t>текстурните</a:t>
            </a:r>
            <a:r>
              <a:rPr lang="bg-BG" dirty="0"/>
              <a:t> координати</a:t>
            </a:r>
          </a:p>
          <a:p>
            <a:pPr lvl="1"/>
            <a:r>
              <a:rPr lang="bg-BG" dirty="0"/>
              <a:t>В метода </a:t>
            </a:r>
            <a:r>
              <a:rPr lang="en-US" b="1" dirty="0"/>
              <a:t>draw</a:t>
            </a:r>
            <a:r>
              <a:rPr lang="bg-BG" dirty="0"/>
              <a:t> очакваме текстурата като параметър</a:t>
            </a:r>
          </a:p>
          <a:p>
            <a:pPr lvl="1"/>
            <a:endParaRPr lang="bg-BG" dirty="0"/>
          </a:p>
        </p:txBody>
      </p:sp>
      <p:sp>
        <p:nvSpPr>
          <p:cNvPr id="85" name="Snip Diagonal Corner Rectangle 84"/>
          <p:cNvSpPr/>
          <p:nvPr/>
        </p:nvSpPr>
        <p:spPr>
          <a:xfrm>
            <a:off x="304800" y="1752600"/>
            <a:ext cx="8534400" cy="4800600"/>
          </a:xfrm>
          <a:prstGeom prst="snip2DiagRect">
            <a:avLst>
              <a:gd name="adj1" fmla="val 0"/>
              <a:gd name="adj2" fmla="val 536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CanonicalCube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	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data = [].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concat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v[0],n[0],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0,0,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v[1],n[0],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1,0,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v[4],n[0],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0,1,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v[4],n[0],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0,1,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v[1],n[0],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1,0,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v[5],n[0],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1,1,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CanonicalCube.prototype.draw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function(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isTexture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(texture))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gl.bindTexture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(gl.TEXTURE_2D,texture);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enableVertexAttribArray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vertexAttribPointer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,2,gl.FLOAT,false,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8*FLOATS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6*FLOATS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else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gl.disableVertexAttribArray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:</a:t>
            </a:r>
            <a:endParaRPr lang="en-US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9137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Промени в </a:t>
            </a:r>
            <a:r>
              <a:rPr lang="bg-BG" dirty="0" err="1"/>
              <a:t>шейдъра</a:t>
            </a:r>
            <a:r>
              <a:rPr lang="bg-BG" dirty="0"/>
              <a:t> за фрагменти</a:t>
            </a:r>
          </a:p>
          <a:p>
            <a:pPr lvl="1"/>
            <a:r>
              <a:rPr lang="bg-BG" dirty="0"/>
              <a:t>В глобалната променлива </a:t>
            </a:r>
            <a:r>
              <a:rPr lang="en-US" b="1" dirty="0" err="1"/>
              <a:t>uTexScale</a:t>
            </a:r>
            <a:r>
              <a:rPr lang="bg-BG" b="1" dirty="0"/>
              <a:t> </a:t>
            </a:r>
            <a:r>
              <a:rPr lang="bg-BG" dirty="0"/>
              <a:t>е мащабът на текстурата (еднакъв по </a:t>
            </a:r>
            <a:r>
              <a:rPr lang="en-US" dirty="0"/>
              <a:t>S</a:t>
            </a:r>
            <a:r>
              <a:rPr lang="bg-BG" dirty="0"/>
              <a:t> и </a:t>
            </a:r>
            <a:r>
              <a:rPr lang="en-US" dirty="0"/>
              <a:t>T)</a:t>
            </a:r>
            <a:endParaRPr lang="bg-BG" dirty="0"/>
          </a:p>
          <a:p>
            <a:pPr lvl="1"/>
            <a:r>
              <a:rPr lang="bg-BG" dirty="0"/>
              <a:t>Извлича се отделно цвета на </a:t>
            </a:r>
            <a:r>
              <a:rPr lang="bg-BG" dirty="0" err="1"/>
              <a:t>тексела</a:t>
            </a:r>
            <a:r>
              <a:rPr lang="bg-BG" dirty="0"/>
              <a:t>, като </a:t>
            </a:r>
            <a:r>
              <a:rPr lang="bg-BG" dirty="0" err="1"/>
              <a:t>текстурните</a:t>
            </a:r>
            <a:r>
              <a:rPr lang="bg-BG" dirty="0"/>
              <a:t> координати </a:t>
            </a:r>
            <a:r>
              <a:rPr lang="en-US" b="1" dirty="0" err="1"/>
              <a:t>vST</a:t>
            </a:r>
            <a:r>
              <a:rPr lang="bg-BG" dirty="0"/>
              <a:t> се умножават по мащаба </a:t>
            </a:r>
            <a:r>
              <a:rPr lang="en-US" b="1" dirty="0" err="1"/>
              <a:t>uTexScale</a:t>
            </a:r>
            <a:endParaRPr lang="en-US" b="1" dirty="0"/>
          </a:p>
          <a:p>
            <a:pPr lvl="1"/>
            <a:r>
              <a:rPr lang="bg-BG" dirty="0"/>
              <a:t>Крайният цвят е </a:t>
            </a:r>
            <a:r>
              <a:rPr lang="bg-BG" dirty="0" err="1"/>
              <a:t>покомпонентното</a:t>
            </a:r>
            <a:r>
              <a:rPr lang="bg-BG" dirty="0"/>
              <a:t> произведение на </a:t>
            </a:r>
            <a:r>
              <a:rPr lang="bg-BG" dirty="0" err="1"/>
              <a:t>текстурния</a:t>
            </a:r>
            <a:r>
              <a:rPr lang="bg-BG" dirty="0"/>
              <a:t> цвят и на цветът, който би се ползвал без текстура – така по-тъмните цветове ще </a:t>
            </a:r>
            <a:r>
              <a:rPr lang="bg-BG" dirty="0" err="1"/>
              <a:t>потъмнят</a:t>
            </a:r>
            <a:r>
              <a:rPr lang="bg-BG" dirty="0"/>
              <a:t> текстурата</a:t>
            </a:r>
          </a:p>
          <a:p>
            <a:pPr lvl="1"/>
            <a:endParaRPr lang="bg-BG" dirty="0"/>
          </a:p>
        </p:txBody>
      </p:sp>
      <p:sp>
        <p:nvSpPr>
          <p:cNvPr id="85" name="Snip Diagonal Corner Rectangle 84"/>
          <p:cNvSpPr/>
          <p:nvPr/>
        </p:nvSpPr>
        <p:spPr>
          <a:xfrm>
            <a:off x="304800" y="3810000"/>
            <a:ext cx="8534400" cy="2743200"/>
          </a:xfrm>
          <a:prstGeom prst="snip2DiagRect">
            <a:avLst>
              <a:gd name="adj1" fmla="val 0"/>
              <a:gd name="adj2" fmla="val 928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uniform float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uTexScale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uniform sampler2D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uSampler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7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varying vec2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varying vec3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main( 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{'+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vec4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texCol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texture2D(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uSampler,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vST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uTexScale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gl_FragColor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texCol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*vec4(vColor,1.0)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66248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Straight Connector 101"/>
          <p:cNvCxnSpPr/>
          <p:nvPr/>
        </p:nvCxnSpPr>
        <p:spPr>
          <a:xfrm flipH="1" flipV="1">
            <a:off x="3313645" y="2672287"/>
            <a:ext cx="7008" cy="170637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Пробиване на куба</a:t>
            </a:r>
          </a:p>
          <a:p>
            <a:pPr lvl="1"/>
            <a:r>
              <a:rPr lang="bg-BG" dirty="0"/>
              <a:t>Кубът ще е съставен първоначално от 3х3х3 малки куба</a:t>
            </a:r>
          </a:p>
          <a:p>
            <a:pPr lvl="1"/>
            <a:r>
              <a:rPr lang="bg-BG" dirty="0"/>
              <a:t>Централните редове, колони и стълбове са премахнати</a:t>
            </a:r>
          </a:p>
          <a:p>
            <a:pPr lvl="1"/>
            <a:r>
              <a:rPr lang="bg-BG" dirty="0"/>
              <a:t>Ако разгледаме центровете на премахнатите кубове, те са на разстояние 1 до центъра на големия куб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93238" y="2514600"/>
            <a:ext cx="1805239" cy="180523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3" name="Straight Connector 22"/>
          <p:cNvCxnSpPr/>
          <p:nvPr/>
        </p:nvCxnSpPr>
        <p:spPr>
          <a:xfrm flipV="1">
            <a:off x="2949904" y="2514600"/>
            <a:ext cx="743334" cy="21238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949904" y="4319838"/>
            <a:ext cx="743334" cy="31857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861334" y="4319838"/>
            <a:ext cx="637143" cy="31857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4861334" y="2514600"/>
            <a:ext cx="637143" cy="21238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Oval 4"/>
          <p:cNvSpPr/>
          <p:nvPr/>
        </p:nvSpPr>
        <p:spPr>
          <a:xfrm>
            <a:off x="4495800" y="24384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3" name="Oval 52"/>
          <p:cNvSpPr/>
          <p:nvPr/>
        </p:nvSpPr>
        <p:spPr>
          <a:xfrm>
            <a:off x="3617038" y="24384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8" name="Oval 67"/>
          <p:cNvSpPr/>
          <p:nvPr/>
        </p:nvSpPr>
        <p:spPr>
          <a:xfrm>
            <a:off x="5427669" y="24384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4" name="Oval 73"/>
          <p:cNvSpPr/>
          <p:nvPr/>
        </p:nvSpPr>
        <p:spPr>
          <a:xfrm>
            <a:off x="5103705" y="254459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6" name="Oval 75"/>
          <p:cNvSpPr/>
          <p:nvPr/>
        </p:nvSpPr>
        <p:spPr>
          <a:xfrm>
            <a:off x="3610000" y="3290171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7" name="Oval 76"/>
          <p:cNvSpPr/>
          <p:nvPr/>
        </p:nvSpPr>
        <p:spPr>
          <a:xfrm>
            <a:off x="5420631" y="3290171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4" name="Oval 83"/>
          <p:cNvSpPr/>
          <p:nvPr/>
        </p:nvSpPr>
        <p:spPr>
          <a:xfrm>
            <a:off x="4502808" y="4246603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5" name="Oval 84"/>
          <p:cNvSpPr/>
          <p:nvPr/>
        </p:nvSpPr>
        <p:spPr>
          <a:xfrm>
            <a:off x="3624046" y="4246603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6" name="Oval 85"/>
          <p:cNvSpPr/>
          <p:nvPr/>
        </p:nvSpPr>
        <p:spPr>
          <a:xfrm>
            <a:off x="5434677" y="4246603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0" name="Oval 89"/>
          <p:cNvSpPr/>
          <p:nvPr/>
        </p:nvSpPr>
        <p:spPr>
          <a:xfrm>
            <a:off x="3252379" y="4390088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2" name="Oval 91"/>
          <p:cNvSpPr/>
          <p:nvPr/>
        </p:nvSpPr>
        <p:spPr>
          <a:xfrm>
            <a:off x="5110713" y="4403361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7" name="Straight Connector 6"/>
          <p:cNvCxnSpPr>
            <a:stCxn id="73" idx="4"/>
            <a:endCxn id="91" idx="0"/>
          </p:cNvCxnSpPr>
          <p:nvPr/>
        </p:nvCxnSpPr>
        <p:spPr>
          <a:xfrm>
            <a:off x="4224852" y="2696990"/>
            <a:ext cx="7008" cy="17063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81" idx="6"/>
            <a:endCxn id="83" idx="2"/>
          </p:cNvCxnSpPr>
          <p:nvPr/>
        </p:nvCxnSpPr>
        <p:spPr>
          <a:xfrm>
            <a:off x="3390733" y="3484572"/>
            <a:ext cx="1705934" cy="132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 flipV="1">
            <a:off x="3836709" y="3366547"/>
            <a:ext cx="725864" cy="2545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949904" y="2726981"/>
            <a:ext cx="1911430" cy="191142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9" name="Oval 68"/>
          <p:cNvSpPr/>
          <p:nvPr/>
        </p:nvSpPr>
        <p:spPr>
          <a:xfrm>
            <a:off x="3773536" y="2650781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0" name="Oval 69"/>
          <p:cNvSpPr/>
          <p:nvPr/>
        </p:nvSpPr>
        <p:spPr>
          <a:xfrm>
            <a:off x="2873704" y="2650781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1" name="Oval 70"/>
          <p:cNvSpPr/>
          <p:nvPr/>
        </p:nvSpPr>
        <p:spPr>
          <a:xfrm>
            <a:off x="4792172" y="2650781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2" name="Oval 71"/>
          <p:cNvSpPr/>
          <p:nvPr/>
        </p:nvSpPr>
        <p:spPr>
          <a:xfrm>
            <a:off x="3245371" y="2531317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9" name="Oval 78"/>
          <p:cNvSpPr/>
          <p:nvPr/>
        </p:nvSpPr>
        <p:spPr>
          <a:xfrm>
            <a:off x="2866666" y="3544692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0" name="Oval 79"/>
          <p:cNvSpPr/>
          <p:nvPr/>
        </p:nvSpPr>
        <p:spPr>
          <a:xfrm>
            <a:off x="4785134" y="3544692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7" name="Oval 86"/>
          <p:cNvSpPr/>
          <p:nvPr/>
        </p:nvSpPr>
        <p:spPr>
          <a:xfrm>
            <a:off x="3780544" y="4543264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8" name="Oval 87"/>
          <p:cNvSpPr/>
          <p:nvPr/>
        </p:nvSpPr>
        <p:spPr>
          <a:xfrm>
            <a:off x="2880712" y="4543264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9" name="Oval 88"/>
          <p:cNvSpPr/>
          <p:nvPr/>
        </p:nvSpPr>
        <p:spPr>
          <a:xfrm>
            <a:off x="4799180" y="4543264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5" name="Snip Diagonal Corner Rectangle 94"/>
          <p:cNvSpPr/>
          <p:nvPr/>
        </p:nvSpPr>
        <p:spPr>
          <a:xfrm>
            <a:off x="304800" y="4953000"/>
            <a:ext cx="8534400" cy="1600200"/>
          </a:xfrm>
          <a:prstGeom prst="snip2DiagRect">
            <a:avLst>
              <a:gd name="adj1" fmla="val 0"/>
              <a:gd name="adj2" fmla="val 1570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[];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x=-1; x&lt;2; x++)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y=-1; y&lt;2; y++)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z=-1; z&lt;2; z++)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x*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x+y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y+z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*z&gt;1.1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53975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c.push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new Cube([</a:t>
            </a:r>
            <a:r>
              <a:rPr lang="en-US" sz="17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x,y,z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  <a:r>
              <a:rPr lang="en-US" sz="17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);</a:t>
            </a:r>
          </a:p>
        </p:txBody>
      </p:sp>
      <p:cxnSp>
        <p:nvCxnSpPr>
          <p:cNvPr id="96" name="Straight Connector 95"/>
          <p:cNvCxnSpPr/>
          <p:nvPr/>
        </p:nvCxnSpPr>
        <p:spPr>
          <a:xfrm flipV="1">
            <a:off x="3823042" y="2510790"/>
            <a:ext cx="745148" cy="232909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Straight Connector 96"/>
          <p:cNvCxnSpPr/>
          <p:nvPr/>
        </p:nvCxnSpPr>
        <p:spPr>
          <a:xfrm flipV="1">
            <a:off x="2941672" y="3368040"/>
            <a:ext cx="742598" cy="25052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1" name="Oval 80"/>
          <p:cNvSpPr/>
          <p:nvPr/>
        </p:nvSpPr>
        <p:spPr>
          <a:xfrm>
            <a:off x="3238333" y="3408372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98" name="Straight Connector 97"/>
          <p:cNvCxnSpPr/>
          <p:nvPr/>
        </p:nvCxnSpPr>
        <p:spPr>
          <a:xfrm flipV="1">
            <a:off x="4865144" y="3371850"/>
            <a:ext cx="640306" cy="24179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3857332" y="4328160"/>
            <a:ext cx="718478" cy="29892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Straight Connector 99"/>
          <p:cNvCxnSpPr>
            <a:stCxn id="90" idx="6"/>
            <a:endCxn id="92" idx="2"/>
          </p:cNvCxnSpPr>
          <p:nvPr/>
        </p:nvCxnSpPr>
        <p:spPr>
          <a:xfrm>
            <a:off x="3404779" y="4466288"/>
            <a:ext cx="1705934" cy="13273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1" name="Oval 90"/>
          <p:cNvSpPr/>
          <p:nvPr/>
        </p:nvSpPr>
        <p:spPr>
          <a:xfrm>
            <a:off x="4155660" y="4403361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01" name="Straight Connector 100"/>
          <p:cNvCxnSpPr>
            <a:stCxn id="92" idx="0"/>
            <a:endCxn id="74" idx="4"/>
          </p:cNvCxnSpPr>
          <p:nvPr/>
        </p:nvCxnSpPr>
        <p:spPr>
          <a:xfrm flipH="1" flipV="1">
            <a:off x="5179905" y="2696990"/>
            <a:ext cx="7008" cy="170637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3" name="Oval 82"/>
          <p:cNvSpPr/>
          <p:nvPr/>
        </p:nvSpPr>
        <p:spPr>
          <a:xfrm>
            <a:off x="5096667" y="3421645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03" name="Straight Connector 102"/>
          <p:cNvCxnSpPr>
            <a:stCxn id="72" idx="6"/>
            <a:endCxn id="74" idx="2"/>
          </p:cNvCxnSpPr>
          <p:nvPr/>
        </p:nvCxnSpPr>
        <p:spPr>
          <a:xfrm>
            <a:off x="3397771" y="2607517"/>
            <a:ext cx="1705934" cy="13273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Oval 72"/>
          <p:cNvSpPr/>
          <p:nvPr/>
        </p:nvSpPr>
        <p:spPr>
          <a:xfrm>
            <a:off x="4148652" y="254459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06" name="Straight Connector 105"/>
          <p:cNvCxnSpPr>
            <a:stCxn id="76" idx="6"/>
            <a:endCxn id="77" idx="2"/>
          </p:cNvCxnSpPr>
          <p:nvPr/>
        </p:nvCxnSpPr>
        <p:spPr>
          <a:xfrm>
            <a:off x="3762400" y="3366371"/>
            <a:ext cx="1658231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9" name="Straight Connector 108"/>
          <p:cNvCxnSpPr>
            <a:stCxn id="5" idx="4"/>
            <a:endCxn id="84" idx="0"/>
          </p:cNvCxnSpPr>
          <p:nvPr/>
        </p:nvCxnSpPr>
        <p:spPr>
          <a:xfrm>
            <a:off x="4572000" y="2590800"/>
            <a:ext cx="7008" cy="1655803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Oval 74"/>
          <p:cNvSpPr/>
          <p:nvPr/>
        </p:nvSpPr>
        <p:spPr>
          <a:xfrm>
            <a:off x="4488762" y="3290171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12" name="Straight Connector 111"/>
          <p:cNvCxnSpPr>
            <a:stCxn id="69" idx="4"/>
            <a:endCxn id="87" idx="0"/>
          </p:cNvCxnSpPr>
          <p:nvPr/>
        </p:nvCxnSpPr>
        <p:spPr>
          <a:xfrm>
            <a:off x="3849736" y="2803181"/>
            <a:ext cx="7008" cy="1740083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Straight Connector 114"/>
          <p:cNvCxnSpPr>
            <a:stCxn id="79" idx="6"/>
            <a:endCxn id="80" idx="2"/>
          </p:cNvCxnSpPr>
          <p:nvPr/>
        </p:nvCxnSpPr>
        <p:spPr>
          <a:xfrm>
            <a:off x="3019066" y="3620892"/>
            <a:ext cx="176606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  <a:effectLst>
            <a:outerShdw blurRad="635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Oval 77"/>
          <p:cNvSpPr/>
          <p:nvPr/>
        </p:nvSpPr>
        <p:spPr>
          <a:xfrm>
            <a:off x="3766498" y="3544692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2" name="Oval 81"/>
          <p:cNvSpPr/>
          <p:nvPr/>
        </p:nvSpPr>
        <p:spPr>
          <a:xfrm>
            <a:off x="4101818" y="3354954"/>
            <a:ext cx="245441" cy="24544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836282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921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894" y="327212"/>
            <a:ext cx="2962469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>
            <a:hlinkClick r:id="rId2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659" y="327212"/>
            <a:ext cx="2962469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895" y="3209365"/>
            <a:ext cx="2962469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659" y="3209365"/>
            <a:ext cx="2962469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12959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Речник</a:t>
            </a:r>
          </a:p>
        </p:txBody>
      </p:sp>
    </p:spTree>
    <p:extLst>
      <p:ext uri="{BB962C8B-B14F-4D97-AF65-F5344CB8AC3E}">
        <p14:creationId xmlns:p14="http://schemas.microsoft.com/office/powerpoint/2010/main" val="5810776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Речник на новите неща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DOM</a:t>
            </a:r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r>
              <a:rPr lang="en-US" dirty="0" err="1"/>
              <a:t>GLSL</a:t>
            </a:r>
            <a:endParaRPr lang="bg-BG" dirty="0"/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619842"/>
              </p:ext>
            </p:extLst>
          </p:nvPr>
        </p:nvGraphicFramePr>
        <p:xfrm>
          <a:off x="609600" y="1981200"/>
          <a:ext cx="8077200" cy="13208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Image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DOM 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клас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за обект-картинка, съответства на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&lt;</a:t>
                      </a:r>
                      <a:r>
                        <a:rPr lang="en-US" sz="1600" baseline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img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&gt;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в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HTML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Image.onload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Метод на класа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Image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, който се активира автоматично при приключване на зареждането на картинка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Image.src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Поле за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URL/URI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адреса на картинка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09221"/>
              </p:ext>
            </p:extLst>
          </p:nvPr>
        </p:nvGraphicFramePr>
        <p:xfrm>
          <a:off x="609600" y="4404360"/>
          <a:ext cx="8077200" cy="94996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sampler2D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Тип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данни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,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указващи номер на </a:t>
                      </a:r>
                      <a:r>
                        <a:rPr lang="bg-BG" sz="1600" baseline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текстурен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модул с 2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текстура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texture2D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Извлича цвят (или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други данни) от текстура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7986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WebGL</a:t>
            </a:r>
            <a:r>
              <a:rPr lang="bg-BG" dirty="0"/>
              <a:t> – функции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431502"/>
              </p:ext>
            </p:extLst>
          </p:nvPr>
        </p:nvGraphicFramePr>
        <p:xfrm>
          <a:off x="609600" y="1066800"/>
          <a:ext cx="8077200" cy="37541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activeTexture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Активира </a:t>
                      </a:r>
                      <a:r>
                        <a:rPr lang="bg-BG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текстурен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модул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createTexture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Създаване на </a:t>
                      </a:r>
                      <a:r>
                        <a:rPr lang="bg-BG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текстурен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обект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deleteTexture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Изтриване на </a:t>
                      </a:r>
                      <a:r>
                        <a:rPr lang="bg-BG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текстурен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обект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bindTexture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Избор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текуща текстура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texParameteri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Задаване на допълнителни параметри на текстура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texParameterf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Като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en-US" sz="1600" baseline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texParameteri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,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но с дробна стойност на параметъра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isTexture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Проверка дали текстура е налична за ползване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pixelStorei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Определя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начина на съхранение и </a:t>
                      </a:r>
                      <a:r>
                        <a:rPr lang="bg-BG" sz="1600" baseline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разпакетиране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пиксели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generateMipmap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Автоматично генериране на всички </a:t>
                      </a:r>
                      <a:r>
                        <a:rPr lang="en-US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mipmap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текстури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0818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WebGL</a:t>
            </a:r>
            <a:r>
              <a:rPr lang="bg-BG" dirty="0"/>
              <a:t> – константи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25852"/>
              </p:ext>
            </p:extLst>
          </p:nvPr>
        </p:nvGraphicFramePr>
        <p:xfrm>
          <a:off x="609600" y="1066800"/>
          <a:ext cx="8077200" cy="491236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gl.TEXTURE</a:t>
                      </a:r>
                      <a:r>
                        <a:rPr lang="en-GB" sz="1800" b="0" i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bg-BG" sz="1800" b="0" i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Номер на </a:t>
                      </a:r>
                      <a:r>
                        <a:rPr lang="bg-BG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текстурен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модул,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n = 0, 1,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2, …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TEXTURE_2D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Константа за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2D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текстура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Данните съдържат </a:t>
                      </a:r>
                      <a:r>
                        <a:rPr lang="en-US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RGB</a:t>
                      </a: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цветове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UNSIGNED_BYTE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Данните са представени като поредица от байтове без знак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TEXTURE_MAG_FILTER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Филтър</a:t>
                      </a:r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при увеличение на текстура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TEXTURE_MIN_FILTER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Филтър при смаляване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текстура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UNPACK_FLIP_Y_WEBGL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Обръщане по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оста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Y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при съхранение или </a:t>
                      </a:r>
                      <a:r>
                        <a:rPr lang="bg-BG" sz="1600" baseline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разпакетиране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на пиксели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NEAREST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Най-близкият </a:t>
                      </a:r>
                      <a:r>
                        <a:rPr lang="bg-BG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тексел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LINEAR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4-те най-близки </a:t>
                      </a:r>
                      <a:r>
                        <a:rPr lang="bg-BG" sz="1600" baseline="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тексела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NEAREST_MIPMAP_NEAREST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Най-близкият</a:t>
                      </a:r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ru-RU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тексел</a:t>
                      </a:r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от </a:t>
                      </a:r>
                      <a:r>
                        <a:rPr lang="ru-RU" sz="1600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най-близката</a:t>
                      </a:r>
                      <a:r>
                        <a:rPr lang="ru-RU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текстура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LINEAR_MIPMAP_NEAREST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4-те най-близки </a:t>
                      </a:r>
                      <a:r>
                        <a:rPr lang="bg-BG" sz="160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тексела</a:t>
                      </a: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от най-близката текстура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1483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191143"/>
              </p:ext>
            </p:extLst>
          </p:nvPr>
        </p:nvGraphicFramePr>
        <p:xfrm>
          <a:off x="609600" y="381000"/>
          <a:ext cx="8077200" cy="115824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NEAREST_MIPMAP_LINEAR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2-та най-близки </a:t>
                      </a:r>
                      <a:r>
                        <a:rPr lang="bg-BG" sz="160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тексела</a:t>
                      </a: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, по един от двете най-близки текстури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LINEAR_MIPMAP_LINEAR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8-те най-близки </a:t>
                      </a:r>
                      <a:r>
                        <a:rPr lang="bg-BG" sz="160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тексела</a:t>
                      </a:r>
                      <a:r>
                        <a:rPr lang="bg-BG" sz="1600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, по 4 от двете най-близки текстури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901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/>
              <a:t>Въпроси и коментари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049308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44825</TotalTime>
  <Words>3862</Words>
  <Application>Microsoft Office PowerPoint</Application>
  <PresentationFormat>On-screen Show (4:3)</PresentationFormat>
  <Paragraphs>661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Arial Black</vt:lpstr>
      <vt:lpstr>Calibri</vt:lpstr>
      <vt:lpstr>Century Gothic</vt:lpstr>
      <vt:lpstr>Consolas</vt:lpstr>
      <vt:lpstr>Symbol</vt:lpstr>
      <vt:lpstr>Times New Roman</vt:lpstr>
      <vt:lpstr>Wingdings 2</vt:lpstr>
      <vt:lpstr>Austin</vt:lpstr>
      <vt:lpstr>Текстури</vt:lpstr>
      <vt:lpstr>В тази лекция</vt:lpstr>
      <vt:lpstr>PowerPoint Presentation</vt:lpstr>
      <vt:lpstr>Текстура</vt:lpstr>
      <vt:lpstr>Използване</vt:lpstr>
      <vt:lpstr>Структура и координати</vt:lpstr>
      <vt:lpstr>PowerPoint Presentation</vt:lpstr>
      <vt:lpstr>PowerPoint Presentation</vt:lpstr>
      <vt:lpstr>Минимален пример</vt:lpstr>
      <vt:lpstr>Картинка в квадрат</vt:lpstr>
      <vt:lpstr>PowerPoint Presentation</vt:lpstr>
      <vt:lpstr>Архитектура</vt:lpstr>
      <vt:lpstr>PowerPoint Presentation</vt:lpstr>
      <vt:lpstr>PowerPoint Presentation</vt:lpstr>
      <vt:lpstr>Алгоритъм</vt:lpstr>
      <vt:lpstr>Извличане на изображение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Проблем</vt:lpstr>
      <vt:lpstr>PowerPoint Presentation</vt:lpstr>
      <vt:lpstr>PowerPoint Presentation</vt:lpstr>
      <vt:lpstr>PowerPoint Presentation</vt:lpstr>
      <vt:lpstr>Обръщане на образа</vt:lpstr>
      <vt:lpstr>PowerPoint Presentation</vt:lpstr>
      <vt:lpstr>PowerPoint Presentation</vt:lpstr>
      <vt:lpstr>PowerPoint Presentation</vt:lpstr>
      <vt:lpstr>Безшевност</vt:lpstr>
      <vt:lpstr>PowerPoint Presentation</vt:lpstr>
      <vt:lpstr>Пример</vt:lpstr>
      <vt:lpstr>PowerPoint Presentation</vt:lpstr>
      <vt:lpstr>PowerPoint Presentation</vt:lpstr>
      <vt:lpstr>PowerPoint Presentation</vt:lpstr>
      <vt:lpstr>PowerPoint Presentation</vt:lpstr>
      <vt:lpstr>Проблеми с текстури</vt:lpstr>
      <vt:lpstr>PowerPoint Presentation</vt:lpstr>
      <vt:lpstr>PowerPoint Presentation</vt:lpstr>
      <vt:lpstr>Близък план</vt:lpstr>
      <vt:lpstr>PowerPoint Presentation</vt:lpstr>
      <vt:lpstr>Далечен план</vt:lpstr>
      <vt:lpstr>PowerPoint Presentation</vt:lpstr>
      <vt:lpstr>PowerPoint Presentation</vt:lpstr>
      <vt:lpstr>PowerPoint Presentation</vt:lpstr>
      <vt:lpstr>PowerPoint Presentation</vt:lpstr>
      <vt:lpstr>Текстуриран куб</vt:lpstr>
      <vt:lpstr>Реализация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Речник на новите неща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WebGL-19. Textures</dc:title>
  <dc:creator>Pavel Boytchev</dc:creator>
  <cp:lastModifiedBy>Pavel Boytchev</cp:lastModifiedBy>
  <cp:revision>1645</cp:revision>
  <dcterms:created xsi:type="dcterms:W3CDTF">2013-12-13T09:03:57Z</dcterms:created>
  <dcterms:modified xsi:type="dcterms:W3CDTF">2021-10-30T09:46:50Z</dcterms:modified>
</cp:coreProperties>
</file>