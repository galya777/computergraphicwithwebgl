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64"/>
  </p:notesMasterIdLst>
  <p:sldIdLst>
    <p:sldId id="256" r:id="rId2"/>
    <p:sldId id="297" r:id="rId3"/>
    <p:sldId id="1236" r:id="rId4"/>
    <p:sldId id="1230" r:id="rId5"/>
    <p:sldId id="1231" r:id="rId6"/>
    <p:sldId id="1292" r:id="rId7"/>
    <p:sldId id="1294" r:id="rId8"/>
    <p:sldId id="1295" r:id="rId9"/>
    <p:sldId id="1296" r:id="rId10"/>
    <p:sldId id="1297" r:id="rId11"/>
    <p:sldId id="1298" r:id="rId12"/>
    <p:sldId id="1299" r:id="rId13"/>
    <p:sldId id="1300" r:id="rId14"/>
    <p:sldId id="1301" r:id="rId15"/>
    <p:sldId id="1302" r:id="rId16"/>
    <p:sldId id="1303" r:id="rId17"/>
    <p:sldId id="1304" r:id="rId18"/>
    <p:sldId id="1305" r:id="rId19"/>
    <p:sldId id="1306" r:id="rId20"/>
    <p:sldId id="1307" r:id="rId21"/>
    <p:sldId id="1308" r:id="rId22"/>
    <p:sldId id="1309" r:id="rId23"/>
    <p:sldId id="1310" r:id="rId24"/>
    <p:sldId id="1311" r:id="rId25"/>
    <p:sldId id="1312" r:id="rId26"/>
    <p:sldId id="1313" r:id="rId27"/>
    <p:sldId id="1314" r:id="rId28"/>
    <p:sldId id="1315" r:id="rId29"/>
    <p:sldId id="1316" r:id="rId30"/>
    <p:sldId id="1317" r:id="rId31"/>
    <p:sldId id="1318" r:id="rId32"/>
    <p:sldId id="1319" r:id="rId33"/>
    <p:sldId id="1320" r:id="rId34"/>
    <p:sldId id="1321" r:id="rId35"/>
    <p:sldId id="1322" r:id="rId36"/>
    <p:sldId id="1323" r:id="rId37"/>
    <p:sldId id="1324" r:id="rId38"/>
    <p:sldId id="1325" r:id="rId39"/>
    <p:sldId id="1326" r:id="rId40"/>
    <p:sldId id="1327" r:id="rId41"/>
    <p:sldId id="1328" r:id="rId42"/>
    <p:sldId id="1329" r:id="rId43"/>
    <p:sldId id="1330" r:id="rId44"/>
    <p:sldId id="1331" r:id="rId45"/>
    <p:sldId id="1332" r:id="rId46"/>
    <p:sldId id="1333" r:id="rId47"/>
    <p:sldId id="1334" r:id="rId48"/>
    <p:sldId id="1335" r:id="rId49"/>
    <p:sldId id="1336" r:id="rId50"/>
    <p:sldId id="1338" r:id="rId51"/>
    <p:sldId id="1339" r:id="rId52"/>
    <p:sldId id="1337" r:id="rId53"/>
    <p:sldId id="1340" r:id="rId54"/>
    <p:sldId id="1341" r:id="rId55"/>
    <p:sldId id="1342" r:id="rId56"/>
    <p:sldId id="1343" r:id="rId57"/>
    <p:sldId id="1345" r:id="rId58"/>
    <p:sldId id="1346" r:id="rId59"/>
    <p:sldId id="1076" r:id="rId60"/>
    <p:sldId id="1235" r:id="rId61"/>
    <p:sldId id="289" r:id="rId62"/>
    <p:sldId id="290" r:id="rId6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CCCC"/>
    <a:srgbClr val="FFFFFF"/>
    <a:srgbClr val="D2FEBA"/>
    <a:srgbClr val="99FF99"/>
    <a:srgbClr val="94C600"/>
    <a:srgbClr val="AAEA25"/>
    <a:srgbClr val="6F9500"/>
    <a:srgbClr val="0000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4" autoAdjust="0"/>
    <p:restoredTop sz="99825" autoAdjust="0"/>
  </p:normalViewPr>
  <p:slideViewPr>
    <p:cSldViewPr snapToObjects="1">
      <p:cViewPr varScale="1">
        <p:scale>
          <a:sx n="84" d="100"/>
          <a:sy n="84" d="100"/>
        </p:scale>
        <p:origin x="128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09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4170"/>
    </p:cViewPr>
  </p:sorterViewPr>
  <p:gridSpacing cx="152705" cy="1527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3.11.2021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1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>
              <a:buClr>
                <a:schemeClr val="accent1">
                  <a:lumMod val="75000"/>
                </a:schemeClr>
              </a:buClr>
              <a:defRPr lang="en-US" sz="20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bg-BG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>
              <a:buClrTx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bg2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rgbClr val="006600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rgbClr val="0066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156307" y="4478669"/>
            <a:ext cx="626552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проф. П. Бойчев ● КИТ ● ФМИ ● СУ ●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7332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rgbClr val="0033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rgbClr val="339933"/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rgbClr val="006600"/>
          </a:solidFill>
          <a:effectLst>
            <a:outerShdw blurRad="63500" algn="ctr" rotWithShape="0">
              <a:srgbClr val="339933">
                <a:alpha val="40000"/>
              </a:srgb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strolog.org/labyrnth/algrithm.htm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Example%201%20-%20Labyrinth%20with%20thin%20walls" TargetMode="External"/><Relationship Id="rId2" Type="http://schemas.openxmlformats.org/officeDocument/2006/relationships/hyperlink" Target="Example%201%20-%20Labyrinth%20with%20thin%20walls/Example%20230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Example%202%20-%20Labyrinth%20with%20rooms" TargetMode="External"/><Relationship Id="rId2" Type="http://schemas.openxmlformats.org/officeDocument/2006/relationships/hyperlink" Target="Example%202%20-%20Labyrinth%20with%20rooms/Example%20230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Example%203%20-%20Labyrinth%20with%20doors" TargetMode="External"/><Relationship Id="rId2" Type="http://schemas.openxmlformats.org/officeDocument/2006/relationships/hyperlink" Target="Example%203%20-%20Labyrinth%20with%20doors/Example%2023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Example%204%20-%20Navigation%20with%20keys" TargetMode="External"/><Relationship Id="rId2" Type="http://schemas.openxmlformats.org/officeDocument/2006/relationships/hyperlink" Target="Example%204%20-%20Navigation%20with%20keys/Example%202304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Example%205%20-%20In%20the%20labyrinth" TargetMode="External"/><Relationship Id="rId2" Type="http://schemas.openxmlformats.org/officeDocument/2006/relationships/hyperlink" Target="Example%205%20-%20In%20the%20labyrinth/Example%202305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Example%206%20-%20Avoiding%20walls" TargetMode="External"/><Relationship Id="rId2" Type="http://schemas.openxmlformats.org/officeDocument/2006/relationships/hyperlink" Target="Example%206%20-%20Avoiding%20walls/Example%202306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Example%202%20-%20Labyrinth%20with%20rooms/Example%202302.html" TargetMode="Externa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Example%207%20-%20Diamonds" TargetMode="External"/><Relationship Id="rId2" Type="http://schemas.openxmlformats.org/officeDocument/2006/relationships/hyperlink" Target="Example%207%20-%20Diamonds/Example%202307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Example%208%20-%20Collecting%20diamonds" TargetMode="External"/><Relationship Id="rId2" Type="http://schemas.openxmlformats.org/officeDocument/2006/relationships/hyperlink" Target="Example%208%20-%20Collecting%20diamonds/Example%202308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Example%209%20-%20Textured%20walls" TargetMode="External"/><Relationship Id="rId2" Type="http://schemas.openxmlformats.org/officeDocument/2006/relationships/hyperlink" Target="http://localhost/Example%209%20-%20Textured%20walls/Example%202309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Example%2010%20-%20Doors%20casing" TargetMode="External"/><Relationship Id="rId2" Type="http://schemas.openxmlformats.org/officeDocument/2006/relationships/hyperlink" Target="http://localhost/Example%2010%20-%20Doors%20casing/Example%202310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Example%2011%20-%20Light%20explosion" TargetMode="External"/><Relationship Id="rId2" Type="http://schemas.openxmlformats.org/officeDocument/2006/relationships/hyperlink" Target="http://localhost/Example%2011%20-%20Light%20explosion/Example%20231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Example%2012%20-%20Collected%20diamonds" TargetMode="External"/><Relationship Id="rId2" Type="http://schemas.openxmlformats.org/officeDocument/2006/relationships/hyperlink" Target="http://localhost/Example%2012%20-%20Collected%20diamonds/Example%20231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Example%2013%20-%20Jumping" TargetMode="External"/><Relationship Id="rId2" Type="http://schemas.openxmlformats.org/officeDocument/2006/relationships/hyperlink" Target="http://localhost/Example%2013%20-%20Jumping/Example%20231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Игра Лабиринт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Тема №</a:t>
            </a:r>
            <a:r>
              <a:rPr lang="en-US" dirty="0"/>
              <a:t>23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В тази лекция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Игра Лабиринт</a:t>
            </a:r>
          </a:p>
          <a:p>
            <a:pPr lvl="1"/>
            <a:r>
              <a:rPr lang="bg-BG" dirty="0"/>
              <a:t>Генериране на лабиринт</a:t>
            </a:r>
          </a:p>
          <a:p>
            <a:pPr lvl="1"/>
            <a:r>
              <a:rPr lang="bg-BG" dirty="0"/>
              <a:t>Навигация из лабиринт</a:t>
            </a:r>
          </a:p>
          <a:p>
            <a:pPr lvl="1"/>
            <a:r>
              <a:rPr lang="bg-BG" dirty="0"/>
              <a:t>Декориране и оформяне</a:t>
            </a:r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Игра Лабиринт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7503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Основна цел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Цел</a:t>
            </a:r>
          </a:p>
          <a:p>
            <a:pPr lvl="1"/>
            <a:r>
              <a:rPr lang="bg-BG" dirty="0"/>
              <a:t>Създаване на заготовка на игра </a:t>
            </a:r>
          </a:p>
          <a:p>
            <a:pPr lvl="1"/>
            <a:r>
              <a:rPr lang="bg-BG" dirty="0"/>
              <a:t>Програмно създаден лабиринт</a:t>
            </a:r>
          </a:p>
          <a:p>
            <a:pPr lvl="1"/>
            <a:r>
              <a:rPr lang="bg-BG" dirty="0"/>
              <a:t>Навигация из лабиринта</a:t>
            </a:r>
          </a:p>
          <a:p>
            <a:pPr lvl="1"/>
            <a:endParaRPr lang="bg-BG" dirty="0"/>
          </a:p>
          <a:p>
            <a:r>
              <a:rPr lang="bg-BG" dirty="0"/>
              <a:t>Не е цел</a:t>
            </a:r>
          </a:p>
          <a:p>
            <a:pPr lvl="1"/>
            <a:r>
              <a:rPr lang="bg-BG" dirty="0"/>
              <a:t>Създаване на пълна игра</a:t>
            </a:r>
          </a:p>
          <a:p>
            <a:pPr lvl="1"/>
            <a:r>
              <a:rPr lang="bg-BG" dirty="0"/>
              <a:t>Поддържане на потребителски профили</a:t>
            </a:r>
          </a:p>
          <a:p>
            <a:pPr lvl="1"/>
            <a:r>
              <a:rPr lang="bg-BG" dirty="0"/>
              <a:t>Защита и сигурност</a:t>
            </a:r>
          </a:p>
        </p:txBody>
      </p:sp>
    </p:spTree>
    <p:extLst>
      <p:ext uri="{BB962C8B-B14F-4D97-AF65-F5344CB8AC3E}">
        <p14:creationId xmlns:p14="http://schemas.microsoft.com/office/powerpoint/2010/main" val="117507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Повече за играта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Сцена</a:t>
            </a:r>
          </a:p>
          <a:p>
            <a:pPr lvl="1"/>
            <a:r>
              <a:rPr lang="bg-BG" dirty="0"/>
              <a:t>Лабиринт от стаи с преходи между тях</a:t>
            </a:r>
          </a:p>
          <a:p>
            <a:pPr lvl="1"/>
            <a:r>
              <a:rPr lang="bg-BG" dirty="0"/>
              <a:t>Всеки път лабиринтът е случаен</a:t>
            </a:r>
          </a:p>
          <a:p>
            <a:pPr lvl="1"/>
            <a:r>
              <a:rPr lang="bg-BG" dirty="0"/>
              <a:t>Стаите също са със случайни размери и положение</a:t>
            </a:r>
          </a:p>
          <a:p>
            <a:pPr lvl="1"/>
            <a:r>
              <a:rPr lang="bg-BG" dirty="0"/>
              <a:t>Стените да са с декорация</a:t>
            </a:r>
          </a:p>
          <a:p>
            <a:pPr lvl="1"/>
            <a:r>
              <a:rPr lang="bg-BG" dirty="0"/>
              <a:t>Във всяка стая има диамант</a:t>
            </a:r>
          </a:p>
          <a:p>
            <a:pPr lvl="1"/>
            <a:endParaRPr lang="bg-BG" dirty="0"/>
          </a:p>
          <a:p>
            <a:r>
              <a:rPr lang="bg-BG" dirty="0"/>
              <a:t>Движение</a:t>
            </a:r>
          </a:p>
          <a:p>
            <a:pPr lvl="1"/>
            <a:r>
              <a:rPr lang="bg-BG" dirty="0"/>
              <a:t>Играе се от първо лице</a:t>
            </a:r>
          </a:p>
          <a:p>
            <a:pPr lvl="1"/>
            <a:r>
              <a:rPr lang="bg-BG" dirty="0"/>
              <a:t>Движението е с клавиатура</a:t>
            </a:r>
          </a:p>
          <a:p>
            <a:pPr lvl="1"/>
            <a:r>
              <a:rPr lang="bg-BG" dirty="0"/>
              <a:t>Събират се диамантите от стаите</a:t>
            </a:r>
          </a:p>
        </p:txBody>
      </p:sp>
    </p:spTree>
    <p:extLst>
      <p:ext uri="{BB962C8B-B14F-4D97-AF65-F5344CB8AC3E}">
        <p14:creationId xmlns:p14="http://schemas.microsoft.com/office/powerpoint/2010/main" val="1522990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Идея за реализация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Ще се преборим с редица дребни препятствия</a:t>
            </a:r>
          </a:p>
          <a:p>
            <a:pPr lvl="1"/>
            <a:r>
              <a:rPr lang="bg-BG" dirty="0"/>
              <a:t>Създаването ще е на стъпки</a:t>
            </a:r>
          </a:p>
          <a:p>
            <a:pPr lvl="1"/>
            <a:endParaRPr lang="bg-BG" dirty="0"/>
          </a:p>
          <a:p>
            <a:r>
              <a:rPr lang="bg-BG" dirty="0"/>
              <a:t>Стъпки</a:t>
            </a:r>
          </a:p>
          <a:p>
            <a:pPr lvl="1"/>
            <a:r>
              <a:rPr lang="bg-BG" dirty="0"/>
              <a:t>Стъпка 1: генериране на лабиринта</a:t>
            </a:r>
          </a:p>
          <a:p>
            <a:pPr lvl="1"/>
            <a:r>
              <a:rPr lang="bg-BG" dirty="0"/>
              <a:t>Стъпка 2: движение из лабиринта</a:t>
            </a:r>
          </a:p>
          <a:p>
            <a:pPr lvl="1"/>
            <a:r>
              <a:rPr lang="bg-BG" dirty="0"/>
              <a:t>Стъпка 3: украсяване на лабиринта</a:t>
            </a:r>
          </a:p>
        </p:txBody>
      </p:sp>
    </p:spTree>
    <p:extLst>
      <p:ext uri="{BB962C8B-B14F-4D97-AF65-F5344CB8AC3E}">
        <p14:creationId xmlns:p14="http://schemas.microsoft.com/office/powerpoint/2010/main" val="1220782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Генериране на лабиринт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1626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Разграничаване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Какво е лабиринт</a:t>
            </a:r>
          </a:p>
          <a:p>
            <a:pPr lvl="1"/>
            <a:r>
              <a:rPr lang="bg-BG" dirty="0"/>
              <a:t>Две структури, които на български са все </a:t>
            </a:r>
            <a:r>
              <a:rPr lang="bg-BG" b="1" dirty="0"/>
              <a:t>лабиринт</a:t>
            </a:r>
          </a:p>
          <a:p>
            <a:pPr lvl="1"/>
            <a:r>
              <a:rPr lang="bg-BG" dirty="0"/>
              <a:t>В други езици се ползват различни термини, например в английския има </a:t>
            </a:r>
            <a:r>
              <a:rPr lang="en-US" b="1" dirty="0"/>
              <a:t>labyrinth</a:t>
            </a:r>
            <a:r>
              <a:rPr lang="bg-BG" dirty="0"/>
              <a:t> и </a:t>
            </a:r>
            <a:r>
              <a:rPr lang="en-US" b="1" dirty="0"/>
              <a:t>maze</a:t>
            </a:r>
            <a:endParaRPr lang="bg-BG" b="1" dirty="0"/>
          </a:p>
          <a:p>
            <a:pPr lvl="1"/>
            <a:r>
              <a:rPr lang="bg-BG" dirty="0"/>
              <a:t>Общото е, че има криволичещ път</a:t>
            </a:r>
          </a:p>
          <a:p>
            <a:pPr lvl="1"/>
            <a:r>
              <a:rPr lang="bg-BG" dirty="0"/>
              <a:t>Разликата е, че лабиринт (</a:t>
            </a:r>
            <a:r>
              <a:rPr lang="en-US" dirty="0"/>
              <a:t>labyrinth)</a:t>
            </a:r>
            <a:r>
              <a:rPr lang="bg-BG" dirty="0"/>
              <a:t> има един-единствен път, който е с много завои, докато лабиринт (</a:t>
            </a:r>
            <a:r>
              <a:rPr lang="en-US" dirty="0"/>
              <a:t>maze)</a:t>
            </a:r>
            <a:r>
              <a:rPr lang="bg-BG" dirty="0"/>
              <a:t> има разклонения, глухи зони, а често и няколко пътя</a:t>
            </a:r>
            <a:endParaRPr lang="en-US" dirty="0"/>
          </a:p>
        </p:txBody>
      </p:sp>
      <p:grpSp>
        <p:nvGrpSpPr>
          <p:cNvPr id="414" name="Group 413"/>
          <p:cNvGrpSpPr/>
          <p:nvPr/>
        </p:nvGrpSpPr>
        <p:grpSpPr>
          <a:xfrm>
            <a:off x="1188757" y="4517024"/>
            <a:ext cx="3108960" cy="1828800"/>
            <a:chOff x="4571968" y="4526268"/>
            <a:chExt cx="3108960" cy="1828800"/>
          </a:xfrm>
        </p:grpSpPr>
        <p:sp>
          <p:nvSpPr>
            <p:cNvPr id="233" name="Rectangle 232"/>
            <p:cNvSpPr/>
            <p:nvPr/>
          </p:nvSpPr>
          <p:spPr>
            <a:xfrm>
              <a:off x="603500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621788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640076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658364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676652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694940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713228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0" name="Rectangle 239"/>
            <p:cNvSpPr/>
            <p:nvPr/>
          </p:nvSpPr>
          <p:spPr>
            <a:xfrm>
              <a:off x="731516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1" name="Rectangle 240"/>
            <p:cNvSpPr/>
            <p:nvPr/>
          </p:nvSpPr>
          <p:spPr>
            <a:xfrm>
              <a:off x="457196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475484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493772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512060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530348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548636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7" name="Rectangle 246"/>
            <p:cNvSpPr/>
            <p:nvPr/>
          </p:nvSpPr>
          <p:spPr>
            <a:xfrm>
              <a:off x="566924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585212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6766528" y="47091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4571968" y="47091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5303488" y="47091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6035008" y="48920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6217888" y="48920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6400768" y="48920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6766528" y="48920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7132288" y="48920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4571968" y="48920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4937728" y="48920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5669248" y="48920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5852128" y="48920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6400768" y="50749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87" name="Rectangle 286"/>
            <p:cNvSpPr/>
            <p:nvPr/>
          </p:nvSpPr>
          <p:spPr>
            <a:xfrm>
              <a:off x="7132288" y="50749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4571968" y="50749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1" name="Rectangle 290"/>
            <p:cNvSpPr/>
            <p:nvPr/>
          </p:nvSpPr>
          <p:spPr>
            <a:xfrm>
              <a:off x="4937728" y="50749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5120608" y="50749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5303488" y="50749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5486368" y="50749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5" name="Rectangle 294"/>
            <p:cNvSpPr/>
            <p:nvPr/>
          </p:nvSpPr>
          <p:spPr>
            <a:xfrm>
              <a:off x="5669248" y="50749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7" name="Rectangle 296"/>
            <p:cNvSpPr/>
            <p:nvPr/>
          </p:nvSpPr>
          <p:spPr>
            <a:xfrm>
              <a:off x="6035008" y="52577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6400768" y="52577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0" name="Rectangle 299"/>
            <p:cNvSpPr/>
            <p:nvPr/>
          </p:nvSpPr>
          <p:spPr>
            <a:xfrm>
              <a:off x="6583648" y="52577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1" name="Rectangle 300"/>
            <p:cNvSpPr/>
            <p:nvPr/>
          </p:nvSpPr>
          <p:spPr>
            <a:xfrm>
              <a:off x="6766528" y="52577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2" name="Rectangle 301"/>
            <p:cNvSpPr/>
            <p:nvPr/>
          </p:nvSpPr>
          <p:spPr>
            <a:xfrm>
              <a:off x="6949408" y="52577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7132288" y="52577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5" name="Rectangle 304"/>
            <p:cNvSpPr/>
            <p:nvPr/>
          </p:nvSpPr>
          <p:spPr>
            <a:xfrm>
              <a:off x="4571968" y="52577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11" name="Rectangle 310"/>
            <p:cNvSpPr/>
            <p:nvPr/>
          </p:nvSpPr>
          <p:spPr>
            <a:xfrm>
              <a:off x="5669248" y="52577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13" name="Rectangle 312"/>
            <p:cNvSpPr/>
            <p:nvPr/>
          </p:nvSpPr>
          <p:spPr>
            <a:xfrm>
              <a:off x="6035008" y="54406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15" name="Rectangle 314"/>
            <p:cNvSpPr/>
            <p:nvPr/>
          </p:nvSpPr>
          <p:spPr>
            <a:xfrm>
              <a:off x="6400768" y="54406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1" name="Rectangle 320"/>
            <p:cNvSpPr/>
            <p:nvPr/>
          </p:nvSpPr>
          <p:spPr>
            <a:xfrm>
              <a:off x="4571968" y="54406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2" name="Rectangle 321"/>
            <p:cNvSpPr/>
            <p:nvPr/>
          </p:nvSpPr>
          <p:spPr>
            <a:xfrm>
              <a:off x="4754848" y="54406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4937728" y="54406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5120608" y="54406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5" name="Rectangle 324"/>
            <p:cNvSpPr/>
            <p:nvPr/>
          </p:nvSpPr>
          <p:spPr>
            <a:xfrm>
              <a:off x="5303488" y="54406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7" name="Rectangle 326"/>
            <p:cNvSpPr/>
            <p:nvPr/>
          </p:nvSpPr>
          <p:spPr>
            <a:xfrm>
              <a:off x="5669248" y="54406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6035008" y="56235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1" name="Rectangle 330"/>
            <p:cNvSpPr/>
            <p:nvPr/>
          </p:nvSpPr>
          <p:spPr>
            <a:xfrm>
              <a:off x="6400768" y="56235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6766528" y="56235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4" name="Rectangle 333"/>
            <p:cNvSpPr/>
            <p:nvPr/>
          </p:nvSpPr>
          <p:spPr>
            <a:xfrm>
              <a:off x="6949408" y="56235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5" name="Rectangle 334"/>
            <p:cNvSpPr/>
            <p:nvPr/>
          </p:nvSpPr>
          <p:spPr>
            <a:xfrm>
              <a:off x="7132288" y="56235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6" name="Rectangle 335"/>
            <p:cNvSpPr/>
            <p:nvPr/>
          </p:nvSpPr>
          <p:spPr>
            <a:xfrm>
              <a:off x="7315168" y="56235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7" name="Rectangle 336"/>
            <p:cNvSpPr/>
            <p:nvPr/>
          </p:nvSpPr>
          <p:spPr>
            <a:xfrm>
              <a:off x="4571968" y="56235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41" name="Rectangle 340"/>
            <p:cNvSpPr/>
            <p:nvPr/>
          </p:nvSpPr>
          <p:spPr>
            <a:xfrm>
              <a:off x="5303488" y="56235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45" name="Rectangle 344"/>
            <p:cNvSpPr/>
            <p:nvPr/>
          </p:nvSpPr>
          <p:spPr>
            <a:xfrm>
              <a:off x="6035008" y="58064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47" name="Rectangle 346"/>
            <p:cNvSpPr/>
            <p:nvPr/>
          </p:nvSpPr>
          <p:spPr>
            <a:xfrm>
              <a:off x="6400768" y="58064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6766528" y="58064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4571968" y="58064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5" name="Rectangle 354"/>
            <p:cNvSpPr/>
            <p:nvPr/>
          </p:nvSpPr>
          <p:spPr>
            <a:xfrm>
              <a:off x="4937728" y="58064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7" name="Rectangle 356"/>
            <p:cNvSpPr/>
            <p:nvPr/>
          </p:nvSpPr>
          <p:spPr>
            <a:xfrm>
              <a:off x="5303488" y="58064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8" name="Rectangle 357"/>
            <p:cNvSpPr/>
            <p:nvPr/>
          </p:nvSpPr>
          <p:spPr>
            <a:xfrm>
              <a:off x="5486368" y="58064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9" name="Rectangle 358"/>
            <p:cNvSpPr/>
            <p:nvPr/>
          </p:nvSpPr>
          <p:spPr>
            <a:xfrm>
              <a:off x="5669248" y="58064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60" name="Rectangle 359"/>
            <p:cNvSpPr/>
            <p:nvPr/>
          </p:nvSpPr>
          <p:spPr>
            <a:xfrm>
              <a:off x="5852128" y="58064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6400768" y="59893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67" name="Rectangle 366"/>
            <p:cNvSpPr/>
            <p:nvPr/>
          </p:nvSpPr>
          <p:spPr>
            <a:xfrm>
              <a:off x="7132288" y="59893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4571968" y="59893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1" name="Rectangle 370"/>
            <p:cNvSpPr/>
            <p:nvPr/>
          </p:nvSpPr>
          <p:spPr>
            <a:xfrm>
              <a:off x="4937728" y="59893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7" name="Rectangle 376"/>
            <p:cNvSpPr/>
            <p:nvPr/>
          </p:nvSpPr>
          <p:spPr>
            <a:xfrm>
              <a:off x="603500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621788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640076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0" name="Rectangle 379"/>
            <p:cNvSpPr/>
            <p:nvPr/>
          </p:nvSpPr>
          <p:spPr>
            <a:xfrm>
              <a:off x="658364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1" name="Rectangle 380"/>
            <p:cNvSpPr/>
            <p:nvPr/>
          </p:nvSpPr>
          <p:spPr>
            <a:xfrm>
              <a:off x="676652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2" name="Rectangle 381"/>
            <p:cNvSpPr/>
            <p:nvPr/>
          </p:nvSpPr>
          <p:spPr>
            <a:xfrm>
              <a:off x="694940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713228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5" name="Rectangle 384"/>
            <p:cNvSpPr/>
            <p:nvPr/>
          </p:nvSpPr>
          <p:spPr>
            <a:xfrm>
              <a:off x="457196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7" name="Rectangle 386"/>
            <p:cNvSpPr/>
            <p:nvPr/>
          </p:nvSpPr>
          <p:spPr>
            <a:xfrm>
              <a:off x="493772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512060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530348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0" name="Rectangle 389"/>
            <p:cNvSpPr/>
            <p:nvPr/>
          </p:nvSpPr>
          <p:spPr>
            <a:xfrm>
              <a:off x="548636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1" name="Rectangle 390"/>
            <p:cNvSpPr/>
            <p:nvPr/>
          </p:nvSpPr>
          <p:spPr>
            <a:xfrm>
              <a:off x="566924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2" name="Rectangle 391"/>
            <p:cNvSpPr/>
            <p:nvPr/>
          </p:nvSpPr>
          <p:spPr>
            <a:xfrm>
              <a:off x="585212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7498048" y="45262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7498048" y="47091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5" name="Rectangle 394"/>
            <p:cNvSpPr/>
            <p:nvPr/>
          </p:nvSpPr>
          <p:spPr>
            <a:xfrm>
              <a:off x="7498048" y="48920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6" name="Rectangle 395"/>
            <p:cNvSpPr/>
            <p:nvPr/>
          </p:nvSpPr>
          <p:spPr>
            <a:xfrm>
              <a:off x="7498048" y="50749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7" name="Rectangle 396"/>
            <p:cNvSpPr/>
            <p:nvPr/>
          </p:nvSpPr>
          <p:spPr>
            <a:xfrm>
              <a:off x="7498048" y="52577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8" name="Rectangle 397"/>
            <p:cNvSpPr/>
            <p:nvPr/>
          </p:nvSpPr>
          <p:spPr>
            <a:xfrm>
              <a:off x="7498048" y="544066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7498048" y="562354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0" name="Rectangle 399"/>
            <p:cNvSpPr/>
            <p:nvPr/>
          </p:nvSpPr>
          <p:spPr>
            <a:xfrm>
              <a:off x="7498048" y="580642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1" name="Rectangle 400"/>
            <p:cNvSpPr/>
            <p:nvPr/>
          </p:nvSpPr>
          <p:spPr>
            <a:xfrm>
              <a:off x="7498048" y="598930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7498048" y="6172188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13" name="Group 412"/>
          <p:cNvGrpSpPr/>
          <p:nvPr/>
        </p:nvGrpSpPr>
        <p:grpSpPr>
          <a:xfrm>
            <a:off x="4846283" y="4517024"/>
            <a:ext cx="3108960" cy="1828800"/>
            <a:chOff x="515383" y="4517024"/>
            <a:chExt cx="3108960" cy="1828800"/>
          </a:xfrm>
        </p:grpSpPr>
        <p:sp>
          <p:nvSpPr>
            <p:cNvPr id="5" name="Rectangle 4"/>
            <p:cNvSpPr/>
            <p:nvPr/>
          </p:nvSpPr>
          <p:spPr>
            <a:xfrm>
              <a:off x="197842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16130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34418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52706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70994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89282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07570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25858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1538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9826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8114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06402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24690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42978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61266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79554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15383" y="469990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978423" y="48827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161303" y="48827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344183" y="48827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2527063" y="48827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2892823" y="48827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3075703" y="48827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15383" y="48827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881143" y="48827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46903" y="48827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429783" y="48827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612663" y="48827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527063" y="50656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709943" y="50656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892823" y="50656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3075703" y="50656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515383" y="50656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881143" y="50656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1612663" y="50656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161303" y="50656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3075703" y="52485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15383" y="52485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881143" y="52485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1064023" y="52485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1246903" y="52485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612663" y="52485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1978423" y="54314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2161303" y="54314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2527063" y="54314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2709943" y="54314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2892823" y="54314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3075703" y="54314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515383" y="54314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881143" y="54314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1246903" y="54314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698263" y="52485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1612663" y="54314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1795543" y="54314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2527063" y="561430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2892823" y="561430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515383" y="561430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881143" y="561430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1978423" y="57971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2161303" y="57971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2527063" y="57971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2892823" y="57971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3075703" y="57971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3258583" y="57971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515383" y="57971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881143" y="57971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1064023" y="57971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1246903" y="57971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1612663" y="57971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2161303" y="59800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515383" y="59800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1612663" y="59800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97842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216130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234418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252706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270994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289282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307570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51538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88114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106402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124690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142978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161266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179554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3441463" y="45170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3441463" y="469990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5" name="Rectangle 404"/>
            <p:cNvSpPr/>
            <p:nvPr/>
          </p:nvSpPr>
          <p:spPr>
            <a:xfrm>
              <a:off x="3441463" y="48827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6" name="Rectangle 405"/>
            <p:cNvSpPr/>
            <p:nvPr/>
          </p:nvSpPr>
          <p:spPr>
            <a:xfrm>
              <a:off x="3441463" y="50656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7" name="Rectangle 406"/>
            <p:cNvSpPr/>
            <p:nvPr/>
          </p:nvSpPr>
          <p:spPr>
            <a:xfrm>
              <a:off x="3441463" y="52485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3441463" y="543142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9" name="Rectangle 408"/>
            <p:cNvSpPr/>
            <p:nvPr/>
          </p:nvSpPr>
          <p:spPr>
            <a:xfrm>
              <a:off x="3441463" y="561430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10" name="Rectangle 409"/>
            <p:cNvSpPr/>
            <p:nvPr/>
          </p:nvSpPr>
          <p:spPr>
            <a:xfrm>
              <a:off x="3441463" y="579718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11" name="Rectangle 410"/>
            <p:cNvSpPr/>
            <p:nvPr/>
          </p:nvSpPr>
          <p:spPr>
            <a:xfrm>
              <a:off x="3441463" y="598006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12" name="Rectangle 411"/>
            <p:cNvSpPr/>
            <p:nvPr/>
          </p:nvSpPr>
          <p:spPr>
            <a:xfrm>
              <a:off x="3441463" y="6162944"/>
              <a:ext cx="182880" cy="18288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3175">
              <a:solidFill>
                <a:schemeClr val="accent1">
                  <a:lumMod val="75000"/>
                </a:schemeClr>
              </a:solidFill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t"/>
            <a:lstStyle/>
            <a:p>
              <a:endParaRPr lang="bg-BG" sz="2000"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A602B09-6567-4C0A-865F-C988351059E1}"/>
              </a:ext>
            </a:extLst>
          </p:cNvPr>
          <p:cNvSpPr/>
          <p:nvPr/>
        </p:nvSpPr>
        <p:spPr>
          <a:xfrm>
            <a:off x="1443990" y="4789170"/>
            <a:ext cx="2586990" cy="1756410"/>
          </a:xfrm>
          <a:custGeom>
            <a:avLst/>
            <a:gdLst>
              <a:gd name="connsiteX0" fmla="*/ 0 w 2586990"/>
              <a:gd name="connsiteY0" fmla="*/ 1756410 h 1756410"/>
              <a:gd name="connsiteX1" fmla="*/ 0 w 2586990"/>
              <a:gd name="connsiteY1" fmla="*/ 937260 h 1756410"/>
              <a:gd name="connsiteX2" fmla="*/ 384810 w 2586990"/>
              <a:gd name="connsiteY2" fmla="*/ 937260 h 1756410"/>
              <a:gd name="connsiteX3" fmla="*/ 384810 w 2586990"/>
              <a:gd name="connsiteY3" fmla="*/ 1287780 h 1756410"/>
              <a:gd name="connsiteX4" fmla="*/ 1474470 w 2586990"/>
              <a:gd name="connsiteY4" fmla="*/ 1287780 h 1756410"/>
              <a:gd name="connsiteX5" fmla="*/ 1474470 w 2586990"/>
              <a:gd name="connsiteY5" fmla="*/ 381000 h 1756410"/>
              <a:gd name="connsiteX6" fmla="*/ 1112520 w 2586990"/>
              <a:gd name="connsiteY6" fmla="*/ 381000 h 1756410"/>
              <a:gd name="connsiteX7" fmla="*/ 1112520 w 2586990"/>
              <a:gd name="connsiteY7" fmla="*/ 910590 h 1756410"/>
              <a:gd name="connsiteX8" fmla="*/ 754380 w 2586990"/>
              <a:gd name="connsiteY8" fmla="*/ 910590 h 1756410"/>
              <a:gd name="connsiteX9" fmla="*/ 754380 w 2586990"/>
              <a:gd name="connsiteY9" fmla="*/ 552450 h 1756410"/>
              <a:gd name="connsiteX10" fmla="*/ 19050 w 2586990"/>
              <a:gd name="connsiteY10" fmla="*/ 552450 h 1756410"/>
              <a:gd name="connsiteX11" fmla="*/ 19050 w 2586990"/>
              <a:gd name="connsiteY11" fmla="*/ 0 h 1756410"/>
              <a:gd name="connsiteX12" fmla="*/ 381000 w 2586990"/>
              <a:gd name="connsiteY12" fmla="*/ 0 h 1756410"/>
              <a:gd name="connsiteX13" fmla="*/ 381000 w 2586990"/>
              <a:gd name="connsiteY13" fmla="*/ 179070 h 1756410"/>
              <a:gd name="connsiteX14" fmla="*/ 742950 w 2586990"/>
              <a:gd name="connsiteY14" fmla="*/ 179070 h 1756410"/>
              <a:gd name="connsiteX15" fmla="*/ 742950 w 2586990"/>
              <a:gd name="connsiteY15" fmla="*/ 3810 h 1756410"/>
              <a:gd name="connsiteX16" fmla="*/ 1840230 w 2586990"/>
              <a:gd name="connsiteY16" fmla="*/ 3810 h 1756410"/>
              <a:gd name="connsiteX17" fmla="*/ 1840230 w 2586990"/>
              <a:gd name="connsiteY17" fmla="*/ 361950 h 1756410"/>
              <a:gd name="connsiteX18" fmla="*/ 2205990 w 2586990"/>
              <a:gd name="connsiteY18" fmla="*/ 361950 h 1756410"/>
              <a:gd name="connsiteX19" fmla="*/ 2205990 w 2586990"/>
              <a:gd name="connsiteY19" fmla="*/ 7620 h 1756410"/>
              <a:gd name="connsiteX20" fmla="*/ 2586990 w 2586990"/>
              <a:gd name="connsiteY20" fmla="*/ 7620 h 1756410"/>
              <a:gd name="connsiteX21" fmla="*/ 2586990 w 2586990"/>
              <a:gd name="connsiteY21" fmla="*/ 739140 h 1756410"/>
              <a:gd name="connsiteX22" fmla="*/ 1847850 w 2586990"/>
              <a:gd name="connsiteY22" fmla="*/ 739140 h 1756410"/>
              <a:gd name="connsiteX23" fmla="*/ 1847850 w 2586990"/>
              <a:gd name="connsiteY23" fmla="*/ 1276350 h 1756410"/>
              <a:gd name="connsiteX24" fmla="*/ 2213610 w 2586990"/>
              <a:gd name="connsiteY24" fmla="*/ 1276350 h 1756410"/>
              <a:gd name="connsiteX25" fmla="*/ 2213610 w 2586990"/>
              <a:gd name="connsiteY25" fmla="*/ 1097280 h 1756410"/>
              <a:gd name="connsiteX26" fmla="*/ 2571750 w 2586990"/>
              <a:gd name="connsiteY26" fmla="*/ 1097280 h 1756410"/>
              <a:gd name="connsiteX27" fmla="*/ 2571750 w 2586990"/>
              <a:gd name="connsiteY27" fmla="*/ 1695450 h 1756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586990" h="1756410">
                <a:moveTo>
                  <a:pt x="0" y="1756410"/>
                </a:moveTo>
                <a:lnTo>
                  <a:pt x="0" y="937260"/>
                </a:lnTo>
                <a:lnTo>
                  <a:pt x="384810" y="937260"/>
                </a:lnTo>
                <a:lnTo>
                  <a:pt x="384810" y="1287780"/>
                </a:lnTo>
                <a:lnTo>
                  <a:pt x="1474470" y="1287780"/>
                </a:lnTo>
                <a:lnTo>
                  <a:pt x="1474470" y="381000"/>
                </a:lnTo>
                <a:lnTo>
                  <a:pt x="1112520" y="381000"/>
                </a:lnTo>
                <a:lnTo>
                  <a:pt x="1112520" y="910590"/>
                </a:lnTo>
                <a:lnTo>
                  <a:pt x="754380" y="910590"/>
                </a:lnTo>
                <a:lnTo>
                  <a:pt x="754380" y="552450"/>
                </a:lnTo>
                <a:lnTo>
                  <a:pt x="19050" y="552450"/>
                </a:lnTo>
                <a:lnTo>
                  <a:pt x="19050" y="0"/>
                </a:lnTo>
                <a:lnTo>
                  <a:pt x="381000" y="0"/>
                </a:lnTo>
                <a:lnTo>
                  <a:pt x="381000" y="179070"/>
                </a:lnTo>
                <a:lnTo>
                  <a:pt x="742950" y="179070"/>
                </a:lnTo>
                <a:lnTo>
                  <a:pt x="742950" y="3810"/>
                </a:lnTo>
                <a:lnTo>
                  <a:pt x="1840230" y="3810"/>
                </a:lnTo>
                <a:lnTo>
                  <a:pt x="1840230" y="361950"/>
                </a:lnTo>
                <a:lnTo>
                  <a:pt x="2205990" y="361950"/>
                </a:lnTo>
                <a:lnTo>
                  <a:pt x="2205990" y="7620"/>
                </a:lnTo>
                <a:lnTo>
                  <a:pt x="2586990" y="7620"/>
                </a:lnTo>
                <a:lnTo>
                  <a:pt x="2586990" y="739140"/>
                </a:lnTo>
                <a:lnTo>
                  <a:pt x="1847850" y="739140"/>
                </a:lnTo>
                <a:lnTo>
                  <a:pt x="1847850" y="1276350"/>
                </a:lnTo>
                <a:lnTo>
                  <a:pt x="2213610" y="1276350"/>
                </a:lnTo>
                <a:lnTo>
                  <a:pt x="2213610" y="1097280"/>
                </a:lnTo>
                <a:lnTo>
                  <a:pt x="2571750" y="1097280"/>
                </a:lnTo>
                <a:lnTo>
                  <a:pt x="2571750" y="1695450"/>
                </a:lnTo>
              </a:path>
            </a:pathLst>
          </a:custGeom>
          <a:noFill/>
          <a:ln w="12700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F4C7421-4CF4-419C-8B2F-30825FA2104F}"/>
              </a:ext>
            </a:extLst>
          </p:cNvPr>
          <p:cNvSpPr/>
          <p:nvPr/>
        </p:nvSpPr>
        <p:spPr>
          <a:xfrm>
            <a:off x="5154930" y="5734050"/>
            <a:ext cx="2468880" cy="750570"/>
          </a:xfrm>
          <a:custGeom>
            <a:avLst/>
            <a:gdLst>
              <a:gd name="connsiteX0" fmla="*/ 0 w 2487930"/>
              <a:gd name="connsiteY0" fmla="*/ 723900 h 750570"/>
              <a:gd name="connsiteX1" fmla="*/ 0 w 2487930"/>
              <a:gd name="connsiteY1" fmla="*/ 373380 h 750570"/>
              <a:gd name="connsiteX2" fmla="*/ 739140 w 2487930"/>
              <a:gd name="connsiteY2" fmla="*/ 373380 h 750570"/>
              <a:gd name="connsiteX3" fmla="*/ 739140 w 2487930"/>
              <a:gd name="connsiteY3" fmla="*/ 0 h 750570"/>
              <a:gd name="connsiteX4" fmla="*/ 1573530 w 2487930"/>
              <a:gd name="connsiteY4" fmla="*/ 0 h 750570"/>
              <a:gd name="connsiteX5" fmla="*/ 1573530 w 2487930"/>
              <a:gd name="connsiteY5" fmla="*/ 365760 h 750570"/>
              <a:gd name="connsiteX6" fmla="*/ 2468880 w 2487930"/>
              <a:gd name="connsiteY6" fmla="*/ 365760 h 750570"/>
              <a:gd name="connsiteX7" fmla="*/ 2468880 w 2487930"/>
              <a:gd name="connsiteY7" fmla="*/ 750570 h 750570"/>
              <a:gd name="connsiteX8" fmla="*/ 2487930 w 2487930"/>
              <a:gd name="connsiteY8" fmla="*/ 750570 h 750570"/>
              <a:gd name="connsiteX0" fmla="*/ 0 w 2468880"/>
              <a:gd name="connsiteY0" fmla="*/ 723900 h 750570"/>
              <a:gd name="connsiteX1" fmla="*/ 0 w 2468880"/>
              <a:gd name="connsiteY1" fmla="*/ 373380 h 750570"/>
              <a:gd name="connsiteX2" fmla="*/ 739140 w 2468880"/>
              <a:gd name="connsiteY2" fmla="*/ 373380 h 750570"/>
              <a:gd name="connsiteX3" fmla="*/ 739140 w 2468880"/>
              <a:gd name="connsiteY3" fmla="*/ 0 h 750570"/>
              <a:gd name="connsiteX4" fmla="*/ 1573530 w 2468880"/>
              <a:gd name="connsiteY4" fmla="*/ 0 h 750570"/>
              <a:gd name="connsiteX5" fmla="*/ 1573530 w 2468880"/>
              <a:gd name="connsiteY5" fmla="*/ 365760 h 750570"/>
              <a:gd name="connsiteX6" fmla="*/ 2468880 w 2468880"/>
              <a:gd name="connsiteY6" fmla="*/ 365760 h 750570"/>
              <a:gd name="connsiteX7" fmla="*/ 2468880 w 2468880"/>
              <a:gd name="connsiteY7" fmla="*/ 750570 h 75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68880" h="750570">
                <a:moveTo>
                  <a:pt x="0" y="723900"/>
                </a:moveTo>
                <a:lnTo>
                  <a:pt x="0" y="373380"/>
                </a:lnTo>
                <a:lnTo>
                  <a:pt x="739140" y="373380"/>
                </a:lnTo>
                <a:lnTo>
                  <a:pt x="739140" y="0"/>
                </a:lnTo>
                <a:lnTo>
                  <a:pt x="1573530" y="0"/>
                </a:lnTo>
                <a:lnTo>
                  <a:pt x="1573530" y="365760"/>
                </a:lnTo>
                <a:lnTo>
                  <a:pt x="2468880" y="365760"/>
                </a:lnTo>
                <a:lnTo>
                  <a:pt x="2468880" y="750570"/>
                </a:lnTo>
              </a:path>
            </a:pathLst>
          </a:custGeom>
          <a:noFill/>
          <a:ln w="12700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ACB0119-97F9-4481-9D61-316DD7A4A9CA}"/>
              </a:ext>
            </a:extLst>
          </p:cNvPr>
          <p:cNvSpPr/>
          <p:nvPr/>
        </p:nvSpPr>
        <p:spPr>
          <a:xfrm>
            <a:off x="5093970" y="4800600"/>
            <a:ext cx="2609850" cy="1684020"/>
          </a:xfrm>
          <a:custGeom>
            <a:avLst/>
            <a:gdLst>
              <a:gd name="connsiteX0" fmla="*/ 0 w 2609850"/>
              <a:gd name="connsiteY0" fmla="*/ 1653540 h 1672590"/>
              <a:gd name="connsiteX1" fmla="*/ 0 w 2609850"/>
              <a:gd name="connsiteY1" fmla="*/ 1245870 h 1672590"/>
              <a:gd name="connsiteX2" fmla="*/ 739140 w 2609850"/>
              <a:gd name="connsiteY2" fmla="*/ 1245870 h 1672590"/>
              <a:gd name="connsiteX3" fmla="*/ 739140 w 2609850"/>
              <a:gd name="connsiteY3" fmla="*/ 365760 h 1672590"/>
              <a:gd name="connsiteX4" fmla="*/ 396240 w 2609850"/>
              <a:gd name="connsiteY4" fmla="*/ 365760 h 1672590"/>
              <a:gd name="connsiteX5" fmla="*/ 396240 w 2609850"/>
              <a:gd name="connsiteY5" fmla="*/ 0 h 1672590"/>
              <a:gd name="connsiteX6" fmla="*/ 1127760 w 2609850"/>
              <a:gd name="connsiteY6" fmla="*/ 0 h 1672590"/>
              <a:gd name="connsiteX7" fmla="*/ 1127760 w 2609850"/>
              <a:gd name="connsiteY7" fmla="*/ 548640 h 1672590"/>
              <a:gd name="connsiteX8" fmla="*/ 1706880 w 2609850"/>
              <a:gd name="connsiteY8" fmla="*/ 548640 h 1672590"/>
              <a:gd name="connsiteX9" fmla="*/ 1706880 w 2609850"/>
              <a:gd name="connsiteY9" fmla="*/ 1253490 h 1672590"/>
              <a:gd name="connsiteX10" fmla="*/ 2609850 w 2609850"/>
              <a:gd name="connsiteY10" fmla="*/ 1253490 h 1672590"/>
              <a:gd name="connsiteX11" fmla="*/ 2609850 w 2609850"/>
              <a:gd name="connsiteY11" fmla="*/ 1672590 h 1672590"/>
              <a:gd name="connsiteX0" fmla="*/ 0 w 2609850"/>
              <a:gd name="connsiteY0" fmla="*/ 1653540 h 1691640"/>
              <a:gd name="connsiteX1" fmla="*/ 0 w 2609850"/>
              <a:gd name="connsiteY1" fmla="*/ 1245870 h 1691640"/>
              <a:gd name="connsiteX2" fmla="*/ 739140 w 2609850"/>
              <a:gd name="connsiteY2" fmla="*/ 1245870 h 1691640"/>
              <a:gd name="connsiteX3" fmla="*/ 739140 w 2609850"/>
              <a:gd name="connsiteY3" fmla="*/ 365760 h 1691640"/>
              <a:gd name="connsiteX4" fmla="*/ 396240 w 2609850"/>
              <a:gd name="connsiteY4" fmla="*/ 365760 h 1691640"/>
              <a:gd name="connsiteX5" fmla="*/ 396240 w 2609850"/>
              <a:gd name="connsiteY5" fmla="*/ 0 h 1691640"/>
              <a:gd name="connsiteX6" fmla="*/ 1127760 w 2609850"/>
              <a:gd name="connsiteY6" fmla="*/ 0 h 1691640"/>
              <a:gd name="connsiteX7" fmla="*/ 1127760 w 2609850"/>
              <a:gd name="connsiteY7" fmla="*/ 548640 h 1691640"/>
              <a:gd name="connsiteX8" fmla="*/ 1706880 w 2609850"/>
              <a:gd name="connsiteY8" fmla="*/ 548640 h 1691640"/>
              <a:gd name="connsiteX9" fmla="*/ 1706880 w 2609850"/>
              <a:gd name="connsiteY9" fmla="*/ 1253490 h 1691640"/>
              <a:gd name="connsiteX10" fmla="*/ 2609850 w 2609850"/>
              <a:gd name="connsiteY10" fmla="*/ 1253490 h 1691640"/>
              <a:gd name="connsiteX11" fmla="*/ 2609850 w 2609850"/>
              <a:gd name="connsiteY11" fmla="*/ 1691640 h 1691640"/>
              <a:gd name="connsiteX0" fmla="*/ 0 w 2609850"/>
              <a:gd name="connsiteY0" fmla="*/ 1653540 h 1684020"/>
              <a:gd name="connsiteX1" fmla="*/ 0 w 2609850"/>
              <a:gd name="connsiteY1" fmla="*/ 1245870 h 1684020"/>
              <a:gd name="connsiteX2" fmla="*/ 739140 w 2609850"/>
              <a:gd name="connsiteY2" fmla="*/ 1245870 h 1684020"/>
              <a:gd name="connsiteX3" fmla="*/ 739140 w 2609850"/>
              <a:gd name="connsiteY3" fmla="*/ 365760 h 1684020"/>
              <a:gd name="connsiteX4" fmla="*/ 396240 w 2609850"/>
              <a:gd name="connsiteY4" fmla="*/ 365760 h 1684020"/>
              <a:gd name="connsiteX5" fmla="*/ 396240 w 2609850"/>
              <a:gd name="connsiteY5" fmla="*/ 0 h 1684020"/>
              <a:gd name="connsiteX6" fmla="*/ 1127760 w 2609850"/>
              <a:gd name="connsiteY6" fmla="*/ 0 h 1684020"/>
              <a:gd name="connsiteX7" fmla="*/ 1127760 w 2609850"/>
              <a:gd name="connsiteY7" fmla="*/ 548640 h 1684020"/>
              <a:gd name="connsiteX8" fmla="*/ 1706880 w 2609850"/>
              <a:gd name="connsiteY8" fmla="*/ 548640 h 1684020"/>
              <a:gd name="connsiteX9" fmla="*/ 1706880 w 2609850"/>
              <a:gd name="connsiteY9" fmla="*/ 1253490 h 1684020"/>
              <a:gd name="connsiteX10" fmla="*/ 2609850 w 2609850"/>
              <a:gd name="connsiteY10" fmla="*/ 1253490 h 1684020"/>
              <a:gd name="connsiteX11" fmla="*/ 2609850 w 2609850"/>
              <a:gd name="connsiteY11" fmla="*/ 1684020 h 168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09850" h="1684020">
                <a:moveTo>
                  <a:pt x="0" y="1653540"/>
                </a:moveTo>
                <a:lnTo>
                  <a:pt x="0" y="1245870"/>
                </a:lnTo>
                <a:lnTo>
                  <a:pt x="739140" y="1245870"/>
                </a:lnTo>
                <a:lnTo>
                  <a:pt x="739140" y="365760"/>
                </a:lnTo>
                <a:lnTo>
                  <a:pt x="396240" y="365760"/>
                </a:lnTo>
                <a:lnTo>
                  <a:pt x="396240" y="0"/>
                </a:lnTo>
                <a:lnTo>
                  <a:pt x="1127760" y="0"/>
                </a:lnTo>
                <a:lnTo>
                  <a:pt x="1127760" y="548640"/>
                </a:lnTo>
                <a:lnTo>
                  <a:pt x="1706880" y="548640"/>
                </a:lnTo>
                <a:lnTo>
                  <a:pt x="1706880" y="1253490"/>
                </a:lnTo>
                <a:lnTo>
                  <a:pt x="2609850" y="1253490"/>
                </a:lnTo>
                <a:lnTo>
                  <a:pt x="2609850" y="1684020"/>
                </a:lnTo>
              </a:path>
            </a:pathLst>
          </a:custGeom>
          <a:noFill/>
          <a:ln w="12700">
            <a:solidFill>
              <a:srgbClr val="0070C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38217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Алгоритъм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Изисквания</a:t>
            </a:r>
          </a:p>
          <a:p>
            <a:pPr lvl="1"/>
            <a:r>
              <a:rPr lang="bg-BG" dirty="0"/>
              <a:t>Ще имаме разклонения и глухи участъци</a:t>
            </a:r>
          </a:p>
          <a:p>
            <a:pPr lvl="1"/>
            <a:r>
              <a:rPr lang="bg-BG" dirty="0"/>
              <a:t>Цялостната форма ще е правоъгълна</a:t>
            </a:r>
          </a:p>
          <a:p>
            <a:pPr lvl="1"/>
            <a:r>
              <a:rPr lang="bg-BG" dirty="0"/>
              <a:t>Координатите и размерите ще са целочислени</a:t>
            </a:r>
          </a:p>
          <a:p>
            <a:pPr lvl="1"/>
            <a:endParaRPr lang="bg-BG" dirty="0"/>
          </a:p>
          <a:p>
            <a:r>
              <a:rPr lang="bg-BG" dirty="0"/>
              <a:t>Алгоритми за генериране на лабиринт</a:t>
            </a:r>
          </a:p>
          <a:p>
            <a:pPr lvl="1"/>
            <a:r>
              <a:rPr lang="bg-BG" dirty="0"/>
              <a:t>Има много алгоритми</a:t>
            </a:r>
          </a:p>
          <a:p>
            <a:pPr lvl="1"/>
            <a:r>
              <a:rPr lang="bg-BG" dirty="0"/>
              <a:t>Създават лабиринти с различни свойства</a:t>
            </a:r>
          </a:p>
          <a:p>
            <a:pPr lvl="1"/>
            <a:r>
              <a:rPr lang="bg-BG" dirty="0"/>
              <a:t>Повече информация на </a:t>
            </a:r>
            <a:r>
              <a:rPr lang="en-GB" dirty="0">
                <a:hlinkClick r:id="rId2"/>
              </a:rPr>
              <a:t>Maze Algorithms</a:t>
            </a:r>
            <a:r>
              <a:rPr lang="bg-BG" dirty="0"/>
              <a:t>, секции „</a:t>
            </a:r>
            <a:r>
              <a:rPr lang="en-GB" dirty="0"/>
              <a:t>Maze Creation Algorithms</a:t>
            </a:r>
            <a:r>
              <a:rPr lang="bg-BG" dirty="0"/>
              <a:t>“ и „</a:t>
            </a:r>
            <a:r>
              <a:rPr lang="en-GB" dirty="0"/>
              <a:t>Perfect Maze Creation Algorithms</a:t>
            </a:r>
            <a:r>
              <a:rPr lang="bg-BG" dirty="0"/>
              <a:t>“</a:t>
            </a:r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270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Избран алгоритъм</a:t>
            </a:r>
          </a:p>
          <a:p>
            <a:pPr lvl="1"/>
            <a:r>
              <a:rPr lang="bg-BG" dirty="0"/>
              <a:t>Ще ползваме „Рекурсивно разделяне“</a:t>
            </a:r>
          </a:p>
          <a:p>
            <a:pPr lvl="1"/>
            <a:r>
              <a:rPr lang="bg-BG" dirty="0"/>
              <a:t>Концептуално различен от останалите – в празна зона изгражда стени вместо в плътна зона да проправя път</a:t>
            </a:r>
          </a:p>
          <a:p>
            <a:pPr lvl="1"/>
            <a:endParaRPr lang="bg-BG" dirty="0"/>
          </a:p>
          <a:p>
            <a:r>
              <a:rPr lang="bg-BG" dirty="0"/>
              <a:t>Алгоритъм</a:t>
            </a:r>
          </a:p>
          <a:p>
            <a:pPr lvl="1"/>
            <a:r>
              <a:rPr lang="bg-BG" dirty="0"/>
              <a:t>Започваме с правоъгълна зона</a:t>
            </a:r>
          </a:p>
          <a:p>
            <a:pPr lvl="1"/>
            <a:r>
              <a:rPr lang="bg-BG" dirty="0"/>
              <a:t>Делим я на две зони с хоризонтална или вертикална стена</a:t>
            </a:r>
          </a:p>
          <a:p>
            <a:pPr lvl="1"/>
            <a:r>
              <a:rPr lang="bg-BG" dirty="0"/>
              <a:t>В стената слагаме отвор на произволно място</a:t>
            </a:r>
          </a:p>
          <a:p>
            <a:pPr lvl="1"/>
            <a:r>
              <a:rPr lang="bg-BG" dirty="0"/>
              <a:t>С всяка от двете зони повтаряме същото, докато не стигнем до прекалено малки зони</a:t>
            </a:r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72613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Илюстрация на алгоритъма</a:t>
            </a:r>
          </a:p>
          <a:p>
            <a:pPr lvl="1"/>
            <a:r>
              <a:rPr lang="bg-BG" dirty="0"/>
              <a:t>Разделяме на „произволно“ място</a:t>
            </a:r>
          </a:p>
          <a:p>
            <a:pPr lvl="1"/>
            <a:r>
              <a:rPr lang="bg-BG" dirty="0"/>
              <a:t>Правим отвор на „произволно“ място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2057420"/>
            <a:ext cx="2743160" cy="182878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142990" y="2057420"/>
            <a:ext cx="0" cy="91439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142990" y="3200400"/>
            <a:ext cx="0" cy="68580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1" name="Rounded Rectangle 90"/>
          <p:cNvSpPr/>
          <p:nvPr/>
        </p:nvSpPr>
        <p:spPr>
          <a:xfrm>
            <a:off x="280781" y="2141982"/>
            <a:ext cx="809958" cy="1659636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2" name="Rounded Rectangle 91"/>
          <p:cNvSpPr/>
          <p:nvPr/>
        </p:nvSpPr>
        <p:spPr>
          <a:xfrm>
            <a:off x="1227542" y="2141982"/>
            <a:ext cx="1659635" cy="1659636"/>
          </a:xfrm>
          <a:prstGeom prst="roundRect">
            <a:avLst>
              <a:gd name="adj" fmla="val 7085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3" name="Rectangle 92"/>
          <p:cNvSpPr/>
          <p:nvPr/>
        </p:nvSpPr>
        <p:spPr>
          <a:xfrm>
            <a:off x="3200360" y="2057410"/>
            <a:ext cx="2743160" cy="182878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4" name="Straight Connector 93"/>
          <p:cNvCxnSpPr/>
          <p:nvPr/>
        </p:nvCxnSpPr>
        <p:spPr>
          <a:xfrm>
            <a:off x="4114750" y="2057410"/>
            <a:ext cx="0" cy="91439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4114750" y="3200390"/>
            <a:ext cx="0" cy="68580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6" name="Rounded Rectangle 95"/>
          <p:cNvSpPr/>
          <p:nvPr/>
        </p:nvSpPr>
        <p:spPr>
          <a:xfrm>
            <a:off x="3252541" y="2141972"/>
            <a:ext cx="809958" cy="123335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7" name="Rounded Rectangle 96"/>
          <p:cNvSpPr/>
          <p:nvPr/>
        </p:nvSpPr>
        <p:spPr>
          <a:xfrm>
            <a:off x="4199302" y="2141972"/>
            <a:ext cx="1659635" cy="1659636"/>
          </a:xfrm>
          <a:prstGeom prst="roundRect">
            <a:avLst>
              <a:gd name="adj" fmla="val 7085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98" name="Straight Connector 97"/>
          <p:cNvCxnSpPr/>
          <p:nvPr/>
        </p:nvCxnSpPr>
        <p:spPr>
          <a:xfrm>
            <a:off x="3200360" y="3429000"/>
            <a:ext cx="45720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Straight Connector 102"/>
          <p:cNvCxnSpPr/>
          <p:nvPr/>
        </p:nvCxnSpPr>
        <p:spPr>
          <a:xfrm flipV="1">
            <a:off x="3882184" y="3429000"/>
            <a:ext cx="228600" cy="1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6" name="Rounded Rectangle 105"/>
          <p:cNvSpPr/>
          <p:nvPr/>
        </p:nvSpPr>
        <p:spPr>
          <a:xfrm>
            <a:off x="3252541" y="3502551"/>
            <a:ext cx="809958" cy="314528"/>
          </a:xfrm>
          <a:prstGeom prst="roundRect">
            <a:avLst>
              <a:gd name="adj" fmla="val 29307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7" name="Rectangle 106"/>
          <p:cNvSpPr/>
          <p:nvPr/>
        </p:nvSpPr>
        <p:spPr>
          <a:xfrm>
            <a:off x="6172160" y="2057400"/>
            <a:ext cx="2743160" cy="182878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8" name="Straight Connector 107"/>
          <p:cNvCxnSpPr/>
          <p:nvPr/>
        </p:nvCxnSpPr>
        <p:spPr>
          <a:xfrm>
            <a:off x="7086550" y="2057400"/>
            <a:ext cx="0" cy="91439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7086550" y="3200380"/>
            <a:ext cx="0" cy="68580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Rounded Rectangle 109"/>
          <p:cNvSpPr/>
          <p:nvPr/>
        </p:nvSpPr>
        <p:spPr>
          <a:xfrm>
            <a:off x="6224341" y="2141962"/>
            <a:ext cx="809958" cy="123335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1" name="Rounded Rectangle 110"/>
          <p:cNvSpPr/>
          <p:nvPr/>
        </p:nvSpPr>
        <p:spPr>
          <a:xfrm>
            <a:off x="7171102" y="2842590"/>
            <a:ext cx="1659635" cy="959007"/>
          </a:xfrm>
          <a:prstGeom prst="roundRect">
            <a:avLst>
              <a:gd name="adj" fmla="val 7085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12" name="Straight Connector 111"/>
          <p:cNvCxnSpPr/>
          <p:nvPr/>
        </p:nvCxnSpPr>
        <p:spPr>
          <a:xfrm>
            <a:off x="6172160" y="3428990"/>
            <a:ext cx="45720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Straight Connector 112"/>
          <p:cNvCxnSpPr/>
          <p:nvPr/>
        </p:nvCxnSpPr>
        <p:spPr>
          <a:xfrm flipV="1">
            <a:off x="6853984" y="3428990"/>
            <a:ext cx="228600" cy="1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ounded Rectangle 113"/>
          <p:cNvSpPr/>
          <p:nvPr/>
        </p:nvSpPr>
        <p:spPr>
          <a:xfrm>
            <a:off x="6224341" y="3502541"/>
            <a:ext cx="809958" cy="314528"/>
          </a:xfrm>
          <a:prstGeom prst="roundRect">
            <a:avLst>
              <a:gd name="adj" fmla="val 29307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15" name="Straight Connector 114"/>
          <p:cNvCxnSpPr/>
          <p:nvPr/>
        </p:nvCxnSpPr>
        <p:spPr>
          <a:xfrm flipV="1">
            <a:off x="7082584" y="2758640"/>
            <a:ext cx="689776" cy="1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Straight Connector 116"/>
          <p:cNvCxnSpPr/>
          <p:nvPr/>
        </p:nvCxnSpPr>
        <p:spPr>
          <a:xfrm flipV="1">
            <a:off x="8000960" y="2758640"/>
            <a:ext cx="914360" cy="1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Rounded Rectangle 118"/>
          <p:cNvSpPr/>
          <p:nvPr/>
        </p:nvSpPr>
        <p:spPr>
          <a:xfrm>
            <a:off x="7174021" y="2139103"/>
            <a:ext cx="1659635" cy="515436"/>
          </a:xfrm>
          <a:prstGeom prst="roundRect">
            <a:avLst>
              <a:gd name="adj" fmla="val 7085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3" name="Rectangle 132"/>
          <p:cNvSpPr/>
          <p:nvPr/>
        </p:nvSpPr>
        <p:spPr>
          <a:xfrm>
            <a:off x="228600" y="4114820"/>
            <a:ext cx="2743160" cy="182878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4" name="Straight Connector 133"/>
          <p:cNvCxnSpPr/>
          <p:nvPr/>
        </p:nvCxnSpPr>
        <p:spPr>
          <a:xfrm>
            <a:off x="1142990" y="4114820"/>
            <a:ext cx="0" cy="91439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5" name="Straight Connector 134"/>
          <p:cNvCxnSpPr/>
          <p:nvPr/>
        </p:nvCxnSpPr>
        <p:spPr>
          <a:xfrm>
            <a:off x="1142990" y="5257800"/>
            <a:ext cx="0" cy="68580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6" name="Rounded Rectangle 135"/>
          <p:cNvSpPr/>
          <p:nvPr/>
        </p:nvSpPr>
        <p:spPr>
          <a:xfrm>
            <a:off x="280781" y="4199382"/>
            <a:ext cx="809958" cy="123335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7" name="Rounded Rectangle 136"/>
          <p:cNvSpPr/>
          <p:nvPr/>
        </p:nvSpPr>
        <p:spPr>
          <a:xfrm>
            <a:off x="1691600" y="4900010"/>
            <a:ext cx="1195577" cy="959007"/>
          </a:xfrm>
          <a:prstGeom prst="roundRect">
            <a:avLst>
              <a:gd name="adj" fmla="val 7085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38" name="Straight Connector 137"/>
          <p:cNvCxnSpPr/>
          <p:nvPr/>
        </p:nvCxnSpPr>
        <p:spPr>
          <a:xfrm>
            <a:off x="228600" y="5486410"/>
            <a:ext cx="45720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9" name="Straight Connector 138"/>
          <p:cNvCxnSpPr/>
          <p:nvPr/>
        </p:nvCxnSpPr>
        <p:spPr>
          <a:xfrm flipV="1">
            <a:off x="910424" y="5486410"/>
            <a:ext cx="228600" cy="1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0" name="Rounded Rectangle 139"/>
          <p:cNvSpPr/>
          <p:nvPr/>
        </p:nvSpPr>
        <p:spPr>
          <a:xfrm>
            <a:off x="280781" y="5559961"/>
            <a:ext cx="809958" cy="314528"/>
          </a:xfrm>
          <a:prstGeom prst="roundRect">
            <a:avLst>
              <a:gd name="adj" fmla="val 29307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41" name="Straight Connector 140"/>
          <p:cNvCxnSpPr/>
          <p:nvPr/>
        </p:nvCxnSpPr>
        <p:spPr>
          <a:xfrm flipV="1">
            <a:off x="1139024" y="4816060"/>
            <a:ext cx="689776" cy="1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2" name="Straight Connector 141"/>
          <p:cNvCxnSpPr/>
          <p:nvPr/>
        </p:nvCxnSpPr>
        <p:spPr>
          <a:xfrm flipV="1">
            <a:off x="2057400" y="4816060"/>
            <a:ext cx="914360" cy="1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3" name="Rounded Rectangle 142"/>
          <p:cNvSpPr/>
          <p:nvPr/>
        </p:nvSpPr>
        <p:spPr>
          <a:xfrm>
            <a:off x="1230461" y="4196523"/>
            <a:ext cx="1659635" cy="515436"/>
          </a:xfrm>
          <a:prstGeom prst="roundRect">
            <a:avLst>
              <a:gd name="adj" fmla="val 7085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44" name="Straight Connector 143"/>
          <p:cNvCxnSpPr/>
          <p:nvPr/>
        </p:nvCxnSpPr>
        <p:spPr>
          <a:xfrm>
            <a:off x="1600180" y="4816070"/>
            <a:ext cx="0" cy="901155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Rounded Rectangle 146"/>
          <p:cNvSpPr/>
          <p:nvPr/>
        </p:nvSpPr>
        <p:spPr>
          <a:xfrm>
            <a:off x="1238377" y="4900010"/>
            <a:ext cx="278294" cy="959007"/>
          </a:xfrm>
          <a:prstGeom prst="roundRect">
            <a:avLst>
              <a:gd name="adj" fmla="val 18514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8" name="Rectangle 147"/>
          <p:cNvSpPr/>
          <p:nvPr/>
        </p:nvSpPr>
        <p:spPr>
          <a:xfrm>
            <a:off x="3200360" y="4119259"/>
            <a:ext cx="2743160" cy="182878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9" name="Straight Connector 148"/>
          <p:cNvCxnSpPr/>
          <p:nvPr/>
        </p:nvCxnSpPr>
        <p:spPr>
          <a:xfrm>
            <a:off x="4114750" y="4119259"/>
            <a:ext cx="0" cy="91439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4114750" y="5262239"/>
            <a:ext cx="0" cy="68580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Rounded Rectangle 150"/>
          <p:cNvSpPr/>
          <p:nvPr/>
        </p:nvSpPr>
        <p:spPr>
          <a:xfrm>
            <a:off x="3252541" y="4203822"/>
            <a:ext cx="809958" cy="54310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2" name="Rounded Rectangle 151"/>
          <p:cNvSpPr/>
          <p:nvPr/>
        </p:nvSpPr>
        <p:spPr>
          <a:xfrm>
            <a:off x="4663360" y="4904449"/>
            <a:ext cx="1195577" cy="959007"/>
          </a:xfrm>
          <a:prstGeom prst="roundRect">
            <a:avLst>
              <a:gd name="adj" fmla="val 7085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53" name="Straight Connector 152"/>
          <p:cNvCxnSpPr/>
          <p:nvPr/>
        </p:nvCxnSpPr>
        <p:spPr>
          <a:xfrm>
            <a:off x="3200360" y="5490849"/>
            <a:ext cx="45720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4" name="Straight Connector 153"/>
          <p:cNvCxnSpPr/>
          <p:nvPr/>
        </p:nvCxnSpPr>
        <p:spPr>
          <a:xfrm flipV="1">
            <a:off x="3882184" y="5490849"/>
            <a:ext cx="228600" cy="1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Rounded Rectangle 154"/>
          <p:cNvSpPr/>
          <p:nvPr/>
        </p:nvSpPr>
        <p:spPr>
          <a:xfrm>
            <a:off x="3252541" y="5564400"/>
            <a:ext cx="809958" cy="314528"/>
          </a:xfrm>
          <a:prstGeom prst="roundRect">
            <a:avLst>
              <a:gd name="adj" fmla="val 29307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56" name="Straight Connector 155"/>
          <p:cNvCxnSpPr/>
          <p:nvPr/>
        </p:nvCxnSpPr>
        <p:spPr>
          <a:xfrm flipV="1">
            <a:off x="4110784" y="4820499"/>
            <a:ext cx="689776" cy="1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7" name="Straight Connector 156"/>
          <p:cNvCxnSpPr/>
          <p:nvPr/>
        </p:nvCxnSpPr>
        <p:spPr>
          <a:xfrm flipV="1">
            <a:off x="5029160" y="4820499"/>
            <a:ext cx="914360" cy="1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8" name="Rounded Rectangle 157"/>
          <p:cNvSpPr/>
          <p:nvPr/>
        </p:nvSpPr>
        <p:spPr>
          <a:xfrm>
            <a:off x="4202221" y="4200962"/>
            <a:ext cx="1659635" cy="515436"/>
          </a:xfrm>
          <a:prstGeom prst="roundRect">
            <a:avLst>
              <a:gd name="adj" fmla="val 7085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59" name="Straight Connector 158"/>
          <p:cNvCxnSpPr/>
          <p:nvPr/>
        </p:nvCxnSpPr>
        <p:spPr>
          <a:xfrm>
            <a:off x="4571940" y="4820509"/>
            <a:ext cx="0" cy="901155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0" name="Rounded Rectangle 159"/>
          <p:cNvSpPr/>
          <p:nvPr/>
        </p:nvSpPr>
        <p:spPr>
          <a:xfrm>
            <a:off x="4210137" y="4904449"/>
            <a:ext cx="278294" cy="959007"/>
          </a:xfrm>
          <a:prstGeom prst="roundRect">
            <a:avLst>
              <a:gd name="adj" fmla="val 18514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61" name="Straight Connector 160"/>
          <p:cNvCxnSpPr/>
          <p:nvPr/>
        </p:nvCxnSpPr>
        <p:spPr>
          <a:xfrm>
            <a:off x="3644639" y="4826472"/>
            <a:ext cx="45720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Straight Connector 161"/>
          <p:cNvCxnSpPr/>
          <p:nvPr/>
        </p:nvCxnSpPr>
        <p:spPr>
          <a:xfrm>
            <a:off x="3187439" y="4826472"/>
            <a:ext cx="22860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4" name="Rounded Rectangle 163"/>
          <p:cNvSpPr/>
          <p:nvPr/>
        </p:nvSpPr>
        <p:spPr>
          <a:xfrm>
            <a:off x="3247611" y="4905955"/>
            <a:ext cx="809958" cy="50888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5" name="Rectangle 164"/>
          <p:cNvSpPr/>
          <p:nvPr/>
        </p:nvSpPr>
        <p:spPr>
          <a:xfrm>
            <a:off x="6172160" y="4114820"/>
            <a:ext cx="2743160" cy="182878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6" name="Straight Connector 165"/>
          <p:cNvCxnSpPr/>
          <p:nvPr/>
        </p:nvCxnSpPr>
        <p:spPr>
          <a:xfrm>
            <a:off x="7086550" y="4114820"/>
            <a:ext cx="0" cy="91439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7" name="Straight Connector 166"/>
          <p:cNvCxnSpPr/>
          <p:nvPr/>
        </p:nvCxnSpPr>
        <p:spPr>
          <a:xfrm>
            <a:off x="7086550" y="5257800"/>
            <a:ext cx="0" cy="68580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8" name="Rounded Rectangle 167"/>
          <p:cNvSpPr/>
          <p:nvPr/>
        </p:nvSpPr>
        <p:spPr>
          <a:xfrm>
            <a:off x="6224341" y="4199383"/>
            <a:ext cx="809958" cy="54310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9" name="Rounded Rectangle 168"/>
          <p:cNvSpPr/>
          <p:nvPr/>
        </p:nvSpPr>
        <p:spPr>
          <a:xfrm>
            <a:off x="7635160" y="4900011"/>
            <a:ext cx="1195577" cy="292192"/>
          </a:xfrm>
          <a:prstGeom prst="roundRect">
            <a:avLst>
              <a:gd name="adj" fmla="val 20692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70" name="Straight Connector 169"/>
          <p:cNvCxnSpPr/>
          <p:nvPr/>
        </p:nvCxnSpPr>
        <p:spPr>
          <a:xfrm>
            <a:off x="6172160" y="5486410"/>
            <a:ext cx="45720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1" name="Straight Connector 170"/>
          <p:cNvCxnSpPr/>
          <p:nvPr/>
        </p:nvCxnSpPr>
        <p:spPr>
          <a:xfrm flipV="1">
            <a:off x="6853984" y="5486410"/>
            <a:ext cx="228600" cy="1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2" name="Rounded Rectangle 171"/>
          <p:cNvSpPr/>
          <p:nvPr/>
        </p:nvSpPr>
        <p:spPr>
          <a:xfrm>
            <a:off x="6224341" y="5559961"/>
            <a:ext cx="809958" cy="314528"/>
          </a:xfrm>
          <a:prstGeom prst="roundRect">
            <a:avLst>
              <a:gd name="adj" fmla="val 29307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73" name="Straight Connector 172"/>
          <p:cNvCxnSpPr/>
          <p:nvPr/>
        </p:nvCxnSpPr>
        <p:spPr>
          <a:xfrm flipV="1">
            <a:off x="7082584" y="4816060"/>
            <a:ext cx="689776" cy="1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Straight Connector 173"/>
          <p:cNvCxnSpPr/>
          <p:nvPr/>
        </p:nvCxnSpPr>
        <p:spPr>
          <a:xfrm flipV="1">
            <a:off x="8000960" y="4816060"/>
            <a:ext cx="914360" cy="1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5" name="Rounded Rectangle 174"/>
          <p:cNvSpPr/>
          <p:nvPr/>
        </p:nvSpPr>
        <p:spPr>
          <a:xfrm>
            <a:off x="7174021" y="4196523"/>
            <a:ext cx="1659635" cy="515436"/>
          </a:xfrm>
          <a:prstGeom prst="roundRect">
            <a:avLst>
              <a:gd name="adj" fmla="val 7085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76" name="Straight Connector 175"/>
          <p:cNvCxnSpPr/>
          <p:nvPr/>
        </p:nvCxnSpPr>
        <p:spPr>
          <a:xfrm>
            <a:off x="7543740" y="4816070"/>
            <a:ext cx="0" cy="901155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Rounded Rectangle 176"/>
          <p:cNvSpPr/>
          <p:nvPr/>
        </p:nvSpPr>
        <p:spPr>
          <a:xfrm>
            <a:off x="7181937" y="4900010"/>
            <a:ext cx="278294" cy="959007"/>
          </a:xfrm>
          <a:prstGeom prst="roundRect">
            <a:avLst>
              <a:gd name="adj" fmla="val 18514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78" name="Straight Connector 177"/>
          <p:cNvCxnSpPr/>
          <p:nvPr/>
        </p:nvCxnSpPr>
        <p:spPr>
          <a:xfrm>
            <a:off x="6616439" y="4822033"/>
            <a:ext cx="45720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9" name="Straight Connector 178"/>
          <p:cNvCxnSpPr/>
          <p:nvPr/>
        </p:nvCxnSpPr>
        <p:spPr>
          <a:xfrm>
            <a:off x="6159239" y="4822033"/>
            <a:ext cx="22860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0" name="Rounded Rectangle 179"/>
          <p:cNvSpPr/>
          <p:nvPr/>
        </p:nvSpPr>
        <p:spPr>
          <a:xfrm>
            <a:off x="6219411" y="4901516"/>
            <a:ext cx="809958" cy="50888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81" name="Straight Connector 180"/>
          <p:cNvCxnSpPr/>
          <p:nvPr/>
        </p:nvCxnSpPr>
        <p:spPr>
          <a:xfrm>
            <a:off x="7543740" y="5257800"/>
            <a:ext cx="689208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8458160" y="5257800"/>
            <a:ext cx="463996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5" name="Rounded Rectangle 184"/>
          <p:cNvSpPr/>
          <p:nvPr/>
        </p:nvSpPr>
        <p:spPr>
          <a:xfrm>
            <a:off x="7635159" y="5312947"/>
            <a:ext cx="1195577" cy="546070"/>
          </a:xfrm>
          <a:prstGeom prst="roundRect">
            <a:avLst>
              <a:gd name="adj" fmla="val 17278"/>
            </a:avLst>
          </a:prstGeom>
          <a:solidFill>
            <a:schemeClr val="bg2">
              <a:lumMod val="20000"/>
              <a:lumOff val="80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06848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Повтаряме</a:t>
            </a:r>
          </a:p>
          <a:p>
            <a:pPr lvl="1"/>
            <a:r>
              <a:rPr lang="bg-BG" dirty="0"/>
              <a:t>Докато се получат прекалено малки зони, които не е възможно да разделим повече</a:t>
            </a:r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Избор на „произволно“ място</a:t>
            </a:r>
          </a:p>
          <a:p>
            <a:pPr lvl="1"/>
            <a:r>
              <a:rPr lang="bg-BG" dirty="0"/>
              <a:t>Ако зоната е по-висока, делим я с хоризонтална стена</a:t>
            </a:r>
          </a:p>
          <a:p>
            <a:pPr lvl="1"/>
            <a:r>
              <a:rPr lang="bg-BG" dirty="0"/>
              <a:t>Ако зоната е по-широка, делим я с вертикална стена</a:t>
            </a:r>
          </a:p>
          <a:p>
            <a:pPr lvl="1"/>
            <a:r>
              <a:rPr lang="bg-BG" dirty="0"/>
              <a:t>В рамките на стена, правим отвора на произволно място, стига да съответства на „коридор“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200420" y="1828800"/>
            <a:ext cx="2743160" cy="182878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66" name="Straight Connector 165"/>
          <p:cNvCxnSpPr/>
          <p:nvPr/>
        </p:nvCxnSpPr>
        <p:spPr>
          <a:xfrm>
            <a:off x="4114810" y="1845467"/>
            <a:ext cx="0" cy="91439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7" name="Straight Connector 166"/>
          <p:cNvCxnSpPr/>
          <p:nvPr/>
        </p:nvCxnSpPr>
        <p:spPr>
          <a:xfrm>
            <a:off x="4114810" y="2971780"/>
            <a:ext cx="0" cy="68580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0" name="Straight Connector 169"/>
          <p:cNvCxnSpPr/>
          <p:nvPr/>
        </p:nvCxnSpPr>
        <p:spPr>
          <a:xfrm>
            <a:off x="3200420" y="3200390"/>
            <a:ext cx="45720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1" name="Straight Connector 170"/>
          <p:cNvCxnSpPr/>
          <p:nvPr/>
        </p:nvCxnSpPr>
        <p:spPr>
          <a:xfrm flipV="1">
            <a:off x="3882244" y="3200390"/>
            <a:ext cx="228600" cy="1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3" name="Straight Connector 172"/>
          <p:cNvCxnSpPr/>
          <p:nvPr/>
        </p:nvCxnSpPr>
        <p:spPr>
          <a:xfrm flipV="1">
            <a:off x="4110844" y="2530040"/>
            <a:ext cx="689776" cy="1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Straight Connector 173"/>
          <p:cNvCxnSpPr/>
          <p:nvPr/>
        </p:nvCxnSpPr>
        <p:spPr>
          <a:xfrm flipV="1">
            <a:off x="5029220" y="2530040"/>
            <a:ext cx="914360" cy="1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Straight Connector 175"/>
          <p:cNvCxnSpPr/>
          <p:nvPr/>
        </p:nvCxnSpPr>
        <p:spPr>
          <a:xfrm>
            <a:off x="4572000" y="2285995"/>
            <a:ext cx="0" cy="114521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8" name="Straight Connector 177"/>
          <p:cNvCxnSpPr/>
          <p:nvPr/>
        </p:nvCxnSpPr>
        <p:spPr>
          <a:xfrm>
            <a:off x="3626166" y="2530050"/>
            <a:ext cx="50292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9" name="Straight Connector 178"/>
          <p:cNvCxnSpPr/>
          <p:nvPr/>
        </p:nvCxnSpPr>
        <p:spPr>
          <a:xfrm>
            <a:off x="3187499" y="2522052"/>
            <a:ext cx="22860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1" name="Straight Connector 180"/>
          <p:cNvCxnSpPr/>
          <p:nvPr/>
        </p:nvCxnSpPr>
        <p:spPr>
          <a:xfrm>
            <a:off x="4572000" y="2971780"/>
            <a:ext cx="689208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3" name="Straight Connector 182"/>
          <p:cNvCxnSpPr/>
          <p:nvPr/>
        </p:nvCxnSpPr>
        <p:spPr>
          <a:xfrm>
            <a:off x="5486420" y="2971780"/>
            <a:ext cx="463996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Straight Connector 74"/>
          <p:cNvCxnSpPr/>
          <p:nvPr/>
        </p:nvCxnSpPr>
        <p:spPr>
          <a:xfrm flipH="1">
            <a:off x="5029200" y="2988447"/>
            <a:ext cx="20" cy="459425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5029200" y="3431205"/>
            <a:ext cx="68580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Straight Connector 80"/>
          <p:cNvCxnSpPr/>
          <p:nvPr/>
        </p:nvCxnSpPr>
        <p:spPr>
          <a:xfrm flipH="1">
            <a:off x="4572000" y="3182033"/>
            <a:ext cx="22862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5479277" y="2959198"/>
            <a:ext cx="0" cy="23763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4788267" y="3431205"/>
            <a:ext cx="0" cy="226375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5702396" y="3213397"/>
            <a:ext cx="0" cy="23763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5261208" y="2953234"/>
            <a:ext cx="0" cy="23763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Straight Connector 89"/>
          <p:cNvCxnSpPr/>
          <p:nvPr/>
        </p:nvCxnSpPr>
        <p:spPr>
          <a:xfrm>
            <a:off x="4800620" y="2734148"/>
            <a:ext cx="0" cy="23763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5479736" y="2741912"/>
            <a:ext cx="0" cy="23763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Straight Connector 99"/>
          <p:cNvCxnSpPr>
            <a:endCxn id="165" idx="3"/>
          </p:cNvCxnSpPr>
          <p:nvPr/>
        </p:nvCxnSpPr>
        <p:spPr>
          <a:xfrm>
            <a:off x="5722449" y="2743190"/>
            <a:ext cx="221131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5277653" y="2740832"/>
            <a:ext cx="221131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4783933" y="2743822"/>
            <a:ext cx="221131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4343400" y="2971780"/>
            <a:ext cx="221131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3657620" y="3415153"/>
            <a:ext cx="678311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4345166" y="3181564"/>
            <a:ext cx="221131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4345166" y="2285995"/>
            <a:ext cx="0" cy="473689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3207889" y="3415153"/>
            <a:ext cx="221131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3657600" y="2753196"/>
            <a:ext cx="20" cy="46624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2" name="Straight Connector 121"/>
          <p:cNvCxnSpPr/>
          <p:nvPr/>
        </p:nvCxnSpPr>
        <p:spPr>
          <a:xfrm>
            <a:off x="3885978" y="2740832"/>
            <a:ext cx="221131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Straight Connector 122"/>
          <p:cNvCxnSpPr/>
          <p:nvPr/>
        </p:nvCxnSpPr>
        <p:spPr>
          <a:xfrm>
            <a:off x="3885978" y="2721784"/>
            <a:ext cx="0" cy="23763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4" name="Straight Connector 123"/>
          <p:cNvCxnSpPr/>
          <p:nvPr/>
        </p:nvCxnSpPr>
        <p:spPr>
          <a:xfrm>
            <a:off x="3416099" y="2963860"/>
            <a:ext cx="0" cy="23763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Straight Connector 124"/>
          <p:cNvCxnSpPr/>
          <p:nvPr/>
        </p:nvCxnSpPr>
        <p:spPr>
          <a:xfrm>
            <a:off x="3420577" y="2501899"/>
            <a:ext cx="0" cy="23763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6" name="Straight Connector 125"/>
          <p:cNvCxnSpPr/>
          <p:nvPr/>
        </p:nvCxnSpPr>
        <p:spPr>
          <a:xfrm>
            <a:off x="3644699" y="2285995"/>
            <a:ext cx="0" cy="228595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Straight Connector 126"/>
          <p:cNvCxnSpPr/>
          <p:nvPr/>
        </p:nvCxnSpPr>
        <p:spPr>
          <a:xfrm>
            <a:off x="3657580" y="1828800"/>
            <a:ext cx="20" cy="257303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8" name="Straight Connector 127"/>
          <p:cNvCxnSpPr/>
          <p:nvPr/>
        </p:nvCxnSpPr>
        <p:spPr>
          <a:xfrm>
            <a:off x="3436489" y="2279626"/>
            <a:ext cx="436810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9" name="Straight Connector 128"/>
          <p:cNvCxnSpPr/>
          <p:nvPr/>
        </p:nvCxnSpPr>
        <p:spPr>
          <a:xfrm>
            <a:off x="3207888" y="2086103"/>
            <a:ext cx="221131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0" name="Straight Connector 129"/>
          <p:cNvCxnSpPr/>
          <p:nvPr/>
        </p:nvCxnSpPr>
        <p:spPr>
          <a:xfrm>
            <a:off x="3886200" y="1838635"/>
            <a:ext cx="0" cy="23763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" name="Straight Connector 130"/>
          <p:cNvCxnSpPr/>
          <p:nvPr/>
        </p:nvCxnSpPr>
        <p:spPr>
          <a:xfrm>
            <a:off x="4564531" y="1838635"/>
            <a:ext cx="0" cy="23763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2" name="Straight Connector 131"/>
          <p:cNvCxnSpPr/>
          <p:nvPr/>
        </p:nvCxnSpPr>
        <p:spPr>
          <a:xfrm>
            <a:off x="5479736" y="1828800"/>
            <a:ext cx="1" cy="450826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5" name="Straight Connector 144"/>
          <p:cNvCxnSpPr/>
          <p:nvPr/>
        </p:nvCxnSpPr>
        <p:spPr>
          <a:xfrm>
            <a:off x="4345166" y="2054213"/>
            <a:ext cx="451709" cy="3177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Straight Connector 145"/>
          <p:cNvCxnSpPr/>
          <p:nvPr/>
        </p:nvCxnSpPr>
        <p:spPr>
          <a:xfrm>
            <a:off x="4552626" y="2285995"/>
            <a:ext cx="464689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Straight Connector 162"/>
          <p:cNvCxnSpPr/>
          <p:nvPr/>
        </p:nvCxnSpPr>
        <p:spPr>
          <a:xfrm>
            <a:off x="5276652" y="2279626"/>
            <a:ext cx="221131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2" name="Straight Connector 181"/>
          <p:cNvCxnSpPr/>
          <p:nvPr/>
        </p:nvCxnSpPr>
        <p:spPr>
          <a:xfrm>
            <a:off x="5722449" y="2054213"/>
            <a:ext cx="0" cy="48048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4" name="Straight Connector 183"/>
          <p:cNvCxnSpPr/>
          <p:nvPr/>
        </p:nvCxnSpPr>
        <p:spPr>
          <a:xfrm>
            <a:off x="5029200" y="1848146"/>
            <a:ext cx="0" cy="23763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6" name="Straight Connector 185"/>
          <p:cNvCxnSpPr/>
          <p:nvPr/>
        </p:nvCxnSpPr>
        <p:spPr>
          <a:xfrm>
            <a:off x="5261534" y="2059359"/>
            <a:ext cx="221131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230779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Функция </a:t>
            </a:r>
            <a:r>
              <a:rPr lang="en-US" b="1" dirty="0"/>
              <a:t>labyrinth</a:t>
            </a:r>
            <a:r>
              <a:rPr lang="bg-BG" dirty="0"/>
              <a:t> с параметри границите на зона</a:t>
            </a:r>
          </a:p>
          <a:p>
            <a:pPr lvl="1"/>
            <a:r>
              <a:rPr lang="bg-BG" dirty="0"/>
              <a:t>Помощни променливи </a:t>
            </a:r>
            <a:r>
              <a:rPr lang="en-US" b="1" dirty="0"/>
              <a:t>dx</a:t>
            </a:r>
            <a:r>
              <a:rPr lang="bg-BG" dirty="0"/>
              <a:t> и </a:t>
            </a:r>
            <a:r>
              <a:rPr lang="en-US" b="1" dirty="0" err="1"/>
              <a:t>dy</a:t>
            </a:r>
            <a:r>
              <a:rPr lang="bg-BG" dirty="0"/>
              <a:t> за размерите на зоната,</a:t>
            </a:r>
            <a:r>
              <a:rPr lang="en-US" dirty="0"/>
              <a:t> </a:t>
            </a:r>
            <a:r>
              <a:rPr lang="bg-BG" dirty="0"/>
              <a:t>като </a:t>
            </a:r>
            <a:r>
              <a:rPr lang="en-US" b="1" dirty="0"/>
              <a:t>m</a:t>
            </a:r>
            <a:r>
              <a:rPr lang="bg-BG" dirty="0"/>
              <a:t> е по-големият размер, а </a:t>
            </a:r>
            <a:r>
              <a:rPr lang="en-US" b="1" dirty="0"/>
              <a:t>n</a:t>
            </a:r>
            <a:r>
              <a:rPr lang="bg-BG" dirty="0"/>
              <a:t> е по-малкият</a:t>
            </a:r>
          </a:p>
          <a:p>
            <a:pPr lvl="1"/>
            <a:r>
              <a:rPr lang="bg-BG" dirty="0"/>
              <a:t>Ако в най-просторната си част зоната е достигнала размер 1, тя е прекалено малка за рекурсивно делене</a:t>
            </a:r>
          </a:p>
          <a:p>
            <a:pPr lvl="1"/>
            <a:r>
              <a:rPr lang="bg-BG" dirty="0"/>
              <a:t>Изчисляваме ново </a:t>
            </a:r>
            <a:r>
              <a:rPr lang="en-US" b="1" dirty="0"/>
              <a:t>m</a:t>
            </a:r>
            <a:r>
              <a:rPr lang="en-US" dirty="0"/>
              <a:t>,</a:t>
            </a:r>
            <a:r>
              <a:rPr lang="bg-BG" dirty="0"/>
              <a:t> което е мястото на срязването на зоната (оставяме дупка от 1 от двата края)</a:t>
            </a:r>
          </a:p>
          <a:p>
            <a:pPr lvl="1"/>
            <a:r>
              <a:rPr lang="bg-BG" dirty="0"/>
              <a:t>А новото </a:t>
            </a:r>
            <a:r>
              <a:rPr lang="en-US" b="1" dirty="0"/>
              <a:t>n</a:t>
            </a:r>
            <a:r>
              <a:rPr lang="bg-BG" dirty="0"/>
              <a:t> е мястото на отвора (с размер 1) в стената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732580"/>
            <a:ext cx="8534400" cy="2820620"/>
          </a:xfrm>
          <a:prstGeom prst="snip2DiagRect">
            <a:avLst>
              <a:gd name="adj1" fmla="val 0"/>
              <a:gd name="adj2" fmla="val 967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labyrinth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(x1,x2,y1,y2)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x2-x1,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y2-y1;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Math.max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dx,dy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Math.min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dx,dy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m&lt;=1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return;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round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(random(1,m-1))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// 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делене на зоната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round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(random(0,n-1))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// 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делене на стената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07242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Рекурсия</a:t>
            </a:r>
          </a:p>
          <a:p>
            <a:pPr lvl="1"/>
            <a:r>
              <a:rPr lang="bg-BG" dirty="0"/>
              <a:t>Ако зоната е по-широка отколкото висока, слагаме две вертикални стени </a:t>
            </a:r>
            <a:r>
              <a:rPr lang="en-US" dirty="0"/>
              <a:t>(</a:t>
            </a:r>
            <a:r>
              <a:rPr lang="bg-BG" dirty="0"/>
              <a:t>има дупка от</a:t>
            </a:r>
            <a:r>
              <a:rPr lang="en-US" dirty="0"/>
              <a:t> </a:t>
            </a:r>
            <a:r>
              <a:rPr lang="en-US" b="1" dirty="0"/>
              <a:t>n</a:t>
            </a:r>
            <a:r>
              <a:rPr lang="bg-BG" dirty="0"/>
              <a:t> до </a:t>
            </a:r>
            <a:r>
              <a:rPr lang="en-US" b="1" dirty="0"/>
              <a:t>n+1</a:t>
            </a:r>
            <a:r>
              <a:rPr lang="en-US" dirty="0"/>
              <a:t>)</a:t>
            </a:r>
            <a:r>
              <a:rPr lang="bg-BG" dirty="0"/>
              <a:t>, иначе слагаме две хоризонтални</a:t>
            </a:r>
          </a:p>
          <a:p>
            <a:pPr lvl="1"/>
            <a:r>
              <a:rPr lang="bg-BG" dirty="0"/>
              <a:t>Рекурсивно обработваме двете </a:t>
            </a:r>
            <a:r>
              <a:rPr lang="bg-BG" dirty="0" err="1"/>
              <a:t>новополучени</a:t>
            </a:r>
            <a:r>
              <a:rPr lang="bg-BG" dirty="0"/>
              <a:t> зони</a:t>
            </a:r>
          </a:p>
          <a:p>
            <a:pPr lvl="1"/>
            <a:r>
              <a:rPr lang="bg-BG" dirty="0"/>
              <a:t>Функцията </a:t>
            </a:r>
            <a:r>
              <a:rPr lang="en-US" b="1" dirty="0"/>
              <a:t>Wall</a:t>
            </a:r>
            <a:r>
              <a:rPr lang="bg-BG" dirty="0"/>
              <a:t> създава стена-паралелепипед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2745945"/>
            <a:ext cx="8534400" cy="3807256"/>
          </a:xfrm>
          <a:prstGeom prst="snip2DiagRect">
            <a:avLst>
              <a:gd name="adj1" fmla="val 0"/>
              <a:gd name="adj2" fmla="val 6850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labyrinth(x1,x2,y1,y2)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dx&gt;=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(x1+m,y1,0,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(x1+m,y1+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n+1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,0,dy-n-1)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labyrinth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(x1,x1+m,y1,y2);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labyrinth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(x1+m,x2,y1,y2);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(x1,y1+m,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,0)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(x1+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n+1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,y1+m,dx-n-1,0)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labyrinth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(x1,x2,y1,y1+m);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labyrinth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(x1,x2,y1+m,y2);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1782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64"/>
          <p:cNvSpPr/>
          <p:nvPr/>
        </p:nvSpPr>
        <p:spPr>
          <a:xfrm>
            <a:off x="1249432" y="2500763"/>
            <a:ext cx="2743160" cy="182878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762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465197" y="1607520"/>
            <a:ext cx="1821480" cy="27358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8637" y="4563735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x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7" name="Straight Connector 56"/>
          <p:cNvCxnSpPr/>
          <p:nvPr/>
        </p:nvCxnSpPr>
        <p:spPr>
          <a:xfrm flipV="1">
            <a:off x="960472" y="2214680"/>
            <a:ext cx="1" cy="2352744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TextBox 60"/>
          <p:cNvSpPr txBox="1"/>
          <p:nvPr/>
        </p:nvSpPr>
        <p:spPr>
          <a:xfrm>
            <a:off x="3850301" y="4572379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x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2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89856" y="4160266"/>
            <a:ext cx="370615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y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89857" y="2331486"/>
            <a:ext cx="37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y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2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6" name="Straight Connector 65"/>
          <p:cNvCxnSpPr/>
          <p:nvPr/>
        </p:nvCxnSpPr>
        <p:spPr>
          <a:xfrm flipV="1">
            <a:off x="960472" y="4567424"/>
            <a:ext cx="3248443" cy="1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Group 26"/>
          <p:cNvGrpSpPr/>
          <p:nvPr/>
        </p:nvGrpSpPr>
        <p:grpSpPr>
          <a:xfrm>
            <a:off x="960472" y="2500763"/>
            <a:ext cx="3030624" cy="2066662"/>
            <a:chOff x="960472" y="2500763"/>
            <a:chExt cx="3030624" cy="2066662"/>
          </a:xfrm>
        </p:grpSpPr>
        <p:cxnSp>
          <p:nvCxnSpPr>
            <p:cNvPr id="120" name="Straight Connector 119"/>
            <p:cNvCxnSpPr/>
            <p:nvPr/>
          </p:nvCxnSpPr>
          <p:spPr>
            <a:xfrm>
              <a:off x="2181346" y="2537595"/>
              <a:ext cx="0" cy="511930"/>
            </a:xfrm>
            <a:prstGeom prst="line">
              <a:avLst/>
            </a:prstGeom>
            <a:solidFill>
              <a:schemeClr val="bg2">
                <a:lumMod val="60000"/>
                <a:lumOff val="40000"/>
              </a:schemeClr>
            </a:solidFill>
            <a:ln w="76200">
              <a:solidFill>
                <a:srgbClr val="FF0000"/>
              </a:solidFill>
            </a:ln>
            <a:effectLst>
              <a:outerShdw blurRad="127000" dir="2700000" algn="tl" rotWithShape="0">
                <a:srgbClr val="FF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2181366" y="3429000"/>
              <a:ext cx="0" cy="864351"/>
            </a:xfrm>
            <a:prstGeom prst="line">
              <a:avLst/>
            </a:prstGeom>
            <a:solidFill>
              <a:schemeClr val="bg2">
                <a:lumMod val="60000"/>
                <a:lumOff val="40000"/>
              </a:schemeClr>
            </a:solidFill>
            <a:ln w="76200">
              <a:solidFill>
                <a:srgbClr val="FF0000"/>
              </a:solidFill>
            </a:ln>
            <a:effectLst>
              <a:outerShdw blurRad="127000" dir="2700000" algn="tl" rotWithShape="0">
                <a:srgbClr val="FF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1249432" y="4343390"/>
              <a:ext cx="0" cy="224035"/>
            </a:xfrm>
            <a:prstGeom prst="line">
              <a:avLst/>
            </a:prstGeom>
            <a:solidFill>
              <a:schemeClr val="bg2">
                <a:lumMod val="60000"/>
                <a:lumOff val="40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  <a:headEnd type="none" w="med" len="med"/>
              <a:tailEnd type="none" w="med" len="med"/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2181366" y="4329543"/>
              <a:ext cx="0" cy="224035"/>
            </a:xfrm>
            <a:prstGeom prst="line">
              <a:avLst/>
            </a:prstGeom>
            <a:solidFill>
              <a:schemeClr val="bg2">
                <a:lumMod val="60000"/>
                <a:lumOff val="40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  <a:headEnd type="none" w="med" len="med"/>
              <a:tailEnd type="none" w="med" len="med"/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3991096" y="4339740"/>
              <a:ext cx="0" cy="224035"/>
            </a:xfrm>
            <a:prstGeom prst="line">
              <a:avLst/>
            </a:prstGeom>
            <a:solidFill>
              <a:schemeClr val="bg2">
                <a:lumMod val="60000"/>
                <a:lumOff val="40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  <a:headEnd type="none" w="med" len="med"/>
              <a:tailEnd type="none" w="med" len="med"/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H="1">
              <a:off x="960473" y="2500763"/>
              <a:ext cx="288959" cy="0"/>
            </a:xfrm>
            <a:prstGeom prst="line">
              <a:avLst/>
            </a:prstGeom>
            <a:solidFill>
              <a:schemeClr val="bg2">
                <a:lumMod val="60000"/>
                <a:lumOff val="40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  <a:headEnd type="none" w="med" len="med"/>
              <a:tailEnd type="none" w="med" len="med"/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flipH="1">
              <a:off x="960472" y="3049525"/>
              <a:ext cx="1220874" cy="0"/>
            </a:xfrm>
            <a:prstGeom prst="line">
              <a:avLst/>
            </a:prstGeom>
            <a:solidFill>
              <a:schemeClr val="bg2">
                <a:lumMod val="60000"/>
                <a:lumOff val="40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  <a:headEnd type="none" w="med" len="med"/>
              <a:tailEnd type="none" w="med" len="med"/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flipH="1">
              <a:off x="960492" y="3429000"/>
              <a:ext cx="1220874" cy="0"/>
            </a:xfrm>
            <a:prstGeom prst="line">
              <a:avLst/>
            </a:prstGeom>
            <a:solidFill>
              <a:schemeClr val="bg2">
                <a:lumMod val="60000"/>
                <a:lumOff val="40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  <a:headEnd type="none" w="med" len="med"/>
              <a:tailEnd type="none" w="med" len="med"/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960473" y="4339740"/>
              <a:ext cx="288959" cy="0"/>
            </a:xfrm>
            <a:prstGeom prst="line">
              <a:avLst/>
            </a:prstGeom>
            <a:solidFill>
              <a:schemeClr val="bg2">
                <a:lumMod val="60000"/>
                <a:lumOff val="40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dash"/>
              <a:headEnd type="none" w="med" len="med"/>
              <a:tailEnd type="none" w="med" len="med"/>
            </a:ln>
            <a:effectLst>
              <a:outerShdw blurRad="127000" dir="2700000" algn="tl" rotWithShape="0">
                <a:schemeClr val="bg2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5" name="TextBox 84"/>
          <p:cNvSpPr txBox="1"/>
          <p:nvPr/>
        </p:nvSpPr>
        <p:spPr>
          <a:xfrm>
            <a:off x="1843774" y="4572379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x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+m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33042" y="3221775"/>
            <a:ext cx="620684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y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+n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4195" y="2883221"/>
            <a:ext cx="859531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y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+n+1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1" name="Straight Connector 90"/>
          <p:cNvCxnSpPr/>
          <p:nvPr/>
        </p:nvCxnSpPr>
        <p:spPr>
          <a:xfrm flipV="1">
            <a:off x="5211507" y="1365319"/>
            <a:ext cx="0" cy="3268439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Straight Connector 91"/>
          <p:cNvCxnSpPr/>
          <p:nvPr/>
        </p:nvCxnSpPr>
        <p:spPr>
          <a:xfrm flipV="1">
            <a:off x="5215450" y="4625173"/>
            <a:ext cx="2428640" cy="2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7" name="Straight Connector 96"/>
          <p:cNvCxnSpPr/>
          <p:nvPr/>
        </p:nvCxnSpPr>
        <p:spPr>
          <a:xfrm flipH="1">
            <a:off x="6723218" y="3408611"/>
            <a:ext cx="533922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762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Straight Connector 97"/>
          <p:cNvCxnSpPr/>
          <p:nvPr/>
        </p:nvCxnSpPr>
        <p:spPr>
          <a:xfrm rot="5400000" flipH="1">
            <a:off x="5911568" y="2976416"/>
            <a:ext cx="0" cy="864351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76200">
            <a:solidFill>
              <a:srgbClr val="FF0000"/>
            </a:solidFill>
          </a:ln>
          <a:effectLst>
            <a:outerShdw blurRad="127000" dir="2700000" algn="tl" rotWithShape="0">
              <a:srgbClr val="FF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Straight Connector 102"/>
          <p:cNvCxnSpPr/>
          <p:nvPr/>
        </p:nvCxnSpPr>
        <p:spPr>
          <a:xfrm rot="5400000" flipH="1">
            <a:off x="5342739" y="4228508"/>
            <a:ext cx="0" cy="224035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none" w="med" len="med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Straight Connector 105"/>
          <p:cNvCxnSpPr/>
          <p:nvPr/>
        </p:nvCxnSpPr>
        <p:spPr>
          <a:xfrm rot="5400000" flipH="1">
            <a:off x="5331183" y="3296574"/>
            <a:ext cx="0" cy="224035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none" w="med" len="med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7" name="Straight Connector 106"/>
          <p:cNvCxnSpPr/>
          <p:nvPr/>
        </p:nvCxnSpPr>
        <p:spPr>
          <a:xfrm rot="5400000" flipH="1">
            <a:off x="5346389" y="1486844"/>
            <a:ext cx="0" cy="224035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none" w="med" len="med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8" name="Straight Connector 107"/>
          <p:cNvCxnSpPr/>
          <p:nvPr/>
        </p:nvCxnSpPr>
        <p:spPr>
          <a:xfrm rot="5400000">
            <a:off x="7134759" y="4485005"/>
            <a:ext cx="288959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none" w="med" len="med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9" name="Straight Connector 108"/>
          <p:cNvCxnSpPr/>
          <p:nvPr/>
        </p:nvCxnSpPr>
        <p:spPr>
          <a:xfrm rot="5400000">
            <a:off x="6112781" y="4019048"/>
            <a:ext cx="1220874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none" w="med" len="med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Straight Connector 109"/>
          <p:cNvCxnSpPr/>
          <p:nvPr/>
        </p:nvCxnSpPr>
        <p:spPr>
          <a:xfrm rot="5400000">
            <a:off x="5733306" y="4019028"/>
            <a:ext cx="1220874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none" w="med" len="med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Straight Connector 110"/>
          <p:cNvCxnSpPr/>
          <p:nvPr/>
        </p:nvCxnSpPr>
        <p:spPr>
          <a:xfrm rot="5400000">
            <a:off x="5313927" y="4485005"/>
            <a:ext cx="288959" cy="0"/>
          </a:xfrm>
          <a:prstGeom prst="lin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none" w="med" len="med"/>
          </a:ln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TextBox 111"/>
          <p:cNvSpPr txBox="1"/>
          <p:nvPr/>
        </p:nvSpPr>
        <p:spPr>
          <a:xfrm>
            <a:off x="5344630" y="4625173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x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100344" y="4633758"/>
            <a:ext cx="357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x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2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4831137" y="1438243"/>
            <a:ext cx="3706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y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2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848550" y="4146451"/>
            <a:ext cx="370615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y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531659" y="3259723"/>
            <a:ext cx="68800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y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+m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19" name="TextBox 118"/>
          <p:cNvSpPr txBox="1"/>
          <p:nvPr/>
        </p:nvSpPr>
        <p:spPr>
          <a:xfrm rot="5400000">
            <a:off x="6063403" y="4777273"/>
            <a:ext cx="607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x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+n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33" name="TextBox 132"/>
          <p:cNvSpPr txBox="1"/>
          <p:nvPr/>
        </p:nvSpPr>
        <p:spPr>
          <a:xfrm rot="5400000">
            <a:off x="6299865" y="4898981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x</a:t>
            </a:r>
            <a:r>
              <a:rPr lang="en-US" sz="1600" baseline="-250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1</a:t>
            </a:r>
            <a:r>
              <a:rPr lang="en-US" sz="1600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+n+1</a:t>
            </a:r>
            <a:endParaRPr lang="bg-BG" sz="1600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Вертикален разрез	   Хоризонтален разрез</a:t>
            </a:r>
          </a:p>
        </p:txBody>
      </p:sp>
    </p:spTree>
    <p:extLst>
      <p:ext uri="{BB962C8B-B14F-4D97-AF65-F5344CB8AC3E}">
        <p14:creationId xmlns:p14="http://schemas.microsoft.com/office/powerpoint/2010/main" val="1036895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932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2505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Добавяне на стаи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Изискване към стаите</a:t>
            </a:r>
          </a:p>
          <a:p>
            <a:pPr lvl="1"/>
            <a:r>
              <a:rPr lang="bg-BG" dirty="0"/>
              <a:t>Да са с различни размери</a:t>
            </a:r>
          </a:p>
          <a:p>
            <a:pPr lvl="1"/>
            <a:r>
              <a:rPr lang="bg-BG" dirty="0"/>
              <a:t>Да са с различна ориентация</a:t>
            </a:r>
          </a:p>
          <a:p>
            <a:pPr lvl="1"/>
            <a:endParaRPr lang="bg-BG" dirty="0"/>
          </a:p>
          <a:p>
            <a:r>
              <a:rPr lang="bg-BG" dirty="0"/>
              <a:t>Решение</a:t>
            </a:r>
          </a:p>
          <a:p>
            <a:pPr lvl="1"/>
            <a:r>
              <a:rPr lang="bg-BG" dirty="0"/>
              <a:t>Променяме условието за изход от рекурсията</a:t>
            </a:r>
          </a:p>
          <a:p>
            <a:pPr lvl="1"/>
            <a:r>
              <a:rPr lang="bg-BG" dirty="0"/>
              <a:t>При </a:t>
            </a:r>
            <a:r>
              <a:rPr lang="en-US" b="1" dirty="0"/>
              <a:t>m</a:t>
            </a:r>
            <a:r>
              <a:rPr lang="en-US" b="1" dirty="0">
                <a:sym typeface="Symbol"/>
              </a:rPr>
              <a:t></a:t>
            </a:r>
            <a:r>
              <a:rPr lang="en-US" b="1" dirty="0"/>
              <a:t>1</a:t>
            </a:r>
            <a:r>
              <a:rPr lang="bg-BG" b="1" dirty="0"/>
              <a:t> </a:t>
            </a:r>
            <a:r>
              <a:rPr lang="bg-BG" dirty="0"/>
              <a:t>получаваме „стаи“ с размер 1х1</a:t>
            </a:r>
          </a:p>
          <a:p>
            <a:pPr lvl="1"/>
            <a:r>
              <a:rPr lang="bg-BG" dirty="0"/>
              <a:t>При по-голяма граница ще получим по-големи стаи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871004"/>
            <a:ext cx="8534400" cy="1682195"/>
          </a:xfrm>
          <a:prstGeom prst="snip2DiagRect">
            <a:avLst>
              <a:gd name="adj1" fmla="val 0"/>
              <a:gd name="adj2" fmla="val 1367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labyrinth(x1,x2,y1,y2)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m&lt;=1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return;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4265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Лабиринти</a:t>
            </a:r>
            <a:r>
              <a:rPr lang="en-US" dirty="0"/>
              <a:t> </a:t>
            </a:r>
            <a:r>
              <a:rPr lang="bg-BG" dirty="0"/>
              <a:t>с различни минимални размери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635" y="888890"/>
            <a:ext cx="854721" cy="400110"/>
          </a:xfrm>
          <a:prstGeom prst="rect">
            <a:avLst/>
          </a:prstGeom>
          <a:noFill/>
          <a:effectLst>
            <a:softEdge rad="127000"/>
          </a:effectLst>
        </p:spPr>
        <p:txBody>
          <a:bodyPr wrap="none" rtlCol="0">
            <a:spAutoFit/>
          </a:bodyPr>
          <a:lstStyle/>
          <a:p>
            <a:r>
              <a:rPr lang="en-US" sz="20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m </a:t>
            </a:r>
            <a:r>
              <a:rPr lang="en-US" sz="20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 1</a:t>
            </a:r>
            <a:endParaRPr lang="bg-BG" sz="2000" b="1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09150" y="888890"/>
            <a:ext cx="854721" cy="400110"/>
          </a:xfrm>
          <a:prstGeom prst="rect">
            <a:avLst/>
          </a:prstGeom>
          <a:noFill/>
          <a:effectLst>
            <a:softEdge rad="127000"/>
          </a:effectLst>
        </p:spPr>
        <p:txBody>
          <a:bodyPr wrap="none" rtlCol="0">
            <a:spAutoFit/>
          </a:bodyPr>
          <a:lstStyle/>
          <a:p>
            <a:r>
              <a:rPr lang="en-US" sz="20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m </a:t>
            </a:r>
            <a:r>
              <a:rPr lang="en-US" sz="20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 2</a:t>
            </a:r>
            <a:endParaRPr lang="bg-BG" sz="2000" b="1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3656" y="3787731"/>
            <a:ext cx="854721" cy="400110"/>
          </a:xfrm>
          <a:prstGeom prst="rect">
            <a:avLst/>
          </a:prstGeom>
          <a:noFill/>
          <a:effectLst>
            <a:softEdge rad="127000"/>
          </a:effectLst>
        </p:spPr>
        <p:txBody>
          <a:bodyPr wrap="none" rtlCol="0">
            <a:spAutoFit/>
          </a:bodyPr>
          <a:lstStyle/>
          <a:p>
            <a:r>
              <a:rPr lang="en-US" sz="20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m </a:t>
            </a:r>
            <a:r>
              <a:rPr lang="en-US" sz="20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 5</a:t>
            </a:r>
            <a:endParaRPr lang="bg-BG" sz="2000" b="1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98171" y="3787731"/>
            <a:ext cx="998991" cy="400110"/>
          </a:xfrm>
          <a:prstGeom prst="rect">
            <a:avLst/>
          </a:prstGeom>
          <a:noFill/>
          <a:effectLst>
            <a:softEdge rad="127000"/>
          </a:effectLst>
        </p:spPr>
        <p:txBody>
          <a:bodyPr wrap="none" rtlCol="0">
            <a:spAutoFit/>
          </a:bodyPr>
          <a:lstStyle/>
          <a:p>
            <a:r>
              <a:rPr lang="en-US" sz="20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m </a:t>
            </a:r>
            <a:r>
              <a:rPr lang="en-US" sz="2000" b="1" dirty="0"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sym typeface="Symbol"/>
              </a:rPr>
              <a:t> 10</a:t>
            </a:r>
            <a:endParaRPr lang="bg-BG" sz="2000" b="1" dirty="0"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D2FEBA">
                <a:alpha val="49804"/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150" y="4187841"/>
            <a:ext cx="3657600" cy="2443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D2FEBA">
                <a:alpha val="49804"/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51" y="4187841"/>
            <a:ext cx="3657600" cy="2443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D2FEBA">
                <a:alpha val="49804"/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215" y="1289000"/>
            <a:ext cx="3657600" cy="2443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D2FEBA">
                <a:alpha val="49804"/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51" y="1289000"/>
            <a:ext cx="3657600" cy="2443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4807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Оразмеряване на стаите</a:t>
            </a:r>
          </a:p>
          <a:p>
            <a:pPr lvl="1"/>
            <a:r>
              <a:rPr lang="bg-BG" dirty="0"/>
              <a:t>Избираме граница 10</a:t>
            </a:r>
          </a:p>
          <a:p>
            <a:pPr lvl="1"/>
            <a:r>
              <a:rPr lang="bg-BG" dirty="0"/>
              <a:t>За елиминиране на „коридорите“ делението на зоната вместо в интервала </a:t>
            </a:r>
            <a:r>
              <a:rPr lang="bg-BG" b="1" dirty="0"/>
              <a:t>(1,</a:t>
            </a:r>
            <a:r>
              <a:rPr lang="en-US" b="1" dirty="0"/>
              <a:t>m-1)</a:t>
            </a:r>
            <a:r>
              <a:rPr lang="bg-BG" dirty="0"/>
              <a:t> се прави в интервала </a:t>
            </a:r>
            <a:r>
              <a:rPr lang="bg-BG" b="1" dirty="0"/>
              <a:t>(3,</a:t>
            </a:r>
            <a:r>
              <a:rPr lang="en-US" b="1" dirty="0"/>
              <a:t>m-3)</a:t>
            </a:r>
          </a:p>
          <a:p>
            <a:pPr lvl="1"/>
            <a:r>
              <a:rPr lang="bg-BG" dirty="0"/>
              <a:t>Така максималният размер на стая става 10, а минималният става 3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187950"/>
            <a:ext cx="8534400" cy="2365249"/>
          </a:xfrm>
          <a:prstGeom prst="snip2DiagRect">
            <a:avLst>
              <a:gd name="adj1" fmla="val 0"/>
              <a:gd name="adj2" fmla="val 10262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labyrinth(x1,x2,y1,y2)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m&lt;=10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return;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Math.round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(random(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,m-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n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Math.round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(random(0,n-1));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0472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932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4598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Врати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Оформяне на врати</a:t>
            </a:r>
          </a:p>
          <a:p>
            <a:pPr lvl="1"/>
            <a:r>
              <a:rPr lang="bg-BG" dirty="0"/>
              <a:t>Отворите в стените да станат н</a:t>
            </a:r>
            <a:r>
              <a:rPr lang="en-US" dirty="0"/>
              <a:t>a</a:t>
            </a:r>
            <a:r>
              <a:rPr lang="bg-BG" dirty="0"/>
              <a:t> врати</a:t>
            </a:r>
          </a:p>
          <a:p>
            <a:pPr lvl="1"/>
            <a:r>
              <a:rPr lang="bg-BG" dirty="0"/>
              <a:t>Отворите да не достигат до горния край на стената</a:t>
            </a:r>
          </a:p>
          <a:p>
            <a:pPr lvl="1"/>
            <a:r>
              <a:rPr lang="bg-BG" dirty="0"/>
              <a:t>Да няма ръбеста „чупка“, когато напречна стена свършва до ръб на врата</a:t>
            </a:r>
          </a:p>
        </p:txBody>
      </p:sp>
      <p:sp>
        <p:nvSpPr>
          <p:cNvPr id="4" name="Freeform 3"/>
          <p:cNvSpPr/>
          <p:nvPr/>
        </p:nvSpPr>
        <p:spPr>
          <a:xfrm>
            <a:off x="754382" y="4308453"/>
            <a:ext cx="3665719" cy="1317998"/>
          </a:xfrm>
          <a:custGeom>
            <a:avLst/>
            <a:gdLst>
              <a:gd name="connsiteX0" fmla="*/ 0 w 3200400"/>
              <a:gd name="connsiteY0" fmla="*/ 1250577 h 1264024"/>
              <a:gd name="connsiteX1" fmla="*/ 1398494 w 3200400"/>
              <a:gd name="connsiteY1" fmla="*/ 1264024 h 1264024"/>
              <a:gd name="connsiteX2" fmla="*/ 1385047 w 3200400"/>
              <a:gd name="connsiteY2" fmla="*/ 336177 h 1264024"/>
              <a:gd name="connsiteX3" fmla="*/ 1976718 w 3200400"/>
              <a:gd name="connsiteY3" fmla="*/ 349624 h 1264024"/>
              <a:gd name="connsiteX4" fmla="*/ 1976718 w 3200400"/>
              <a:gd name="connsiteY4" fmla="*/ 1264024 h 1264024"/>
              <a:gd name="connsiteX5" fmla="*/ 3200400 w 3200400"/>
              <a:gd name="connsiteY5" fmla="*/ 1264024 h 1264024"/>
              <a:gd name="connsiteX6" fmla="*/ 3200400 w 3200400"/>
              <a:gd name="connsiteY6" fmla="*/ 26895 h 1264024"/>
              <a:gd name="connsiteX7" fmla="*/ 40341 w 3200400"/>
              <a:gd name="connsiteY7" fmla="*/ 0 h 1264024"/>
              <a:gd name="connsiteX8" fmla="*/ 0 w 3200400"/>
              <a:gd name="connsiteY8" fmla="*/ 1250577 h 1264024"/>
              <a:gd name="connsiteX0" fmla="*/ 0 w 3642852"/>
              <a:gd name="connsiteY0" fmla="*/ 1250577 h 1264024"/>
              <a:gd name="connsiteX1" fmla="*/ 1398494 w 3642852"/>
              <a:gd name="connsiteY1" fmla="*/ 1264024 h 1264024"/>
              <a:gd name="connsiteX2" fmla="*/ 1385047 w 3642852"/>
              <a:gd name="connsiteY2" fmla="*/ 336177 h 1264024"/>
              <a:gd name="connsiteX3" fmla="*/ 1976718 w 3642852"/>
              <a:gd name="connsiteY3" fmla="*/ 349624 h 1264024"/>
              <a:gd name="connsiteX4" fmla="*/ 1976718 w 3642852"/>
              <a:gd name="connsiteY4" fmla="*/ 1264024 h 1264024"/>
              <a:gd name="connsiteX5" fmla="*/ 3642852 w 3642852"/>
              <a:gd name="connsiteY5" fmla="*/ 1264024 h 1264024"/>
              <a:gd name="connsiteX6" fmla="*/ 3200400 w 3642852"/>
              <a:gd name="connsiteY6" fmla="*/ 26895 h 1264024"/>
              <a:gd name="connsiteX7" fmla="*/ 40341 w 3642852"/>
              <a:gd name="connsiteY7" fmla="*/ 0 h 1264024"/>
              <a:gd name="connsiteX8" fmla="*/ 0 w 3642852"/>
              <a:gd name="connsiteY8" fmla="*/ 1250577 h 1264024"/>
              <a:gd name="connsiteX0" fmla="*/ 0 w 3642852"/>
              <a:gd name="connsiteY0" fmla="*/ 1291103 h 1304550"/>
              <a:gd name="connsiteX1" fmla="*/ 1398494 w 3642852"/>
              <a:gd name="connsiteY1" fmla="*/ 1304550 h 1304550"/>
              <a:gd name="connsiteX2" fmla="*/ 1385047 w 3642852"/>
              <a:gd name="connsiteY2" fmla="*/ 376703 h 1304550"/>
              <a:gd name="connsiteX3" fmla="*/ 1976718 w 3642852"/>
              <a:gd name="connsiteY3" fmla="*/ 390150 h 1304550"/>
              <a:gd name="connsiteX4" fmla="*/ 1976718 w 3642852"/>
              <a:gd name="connsiteY4" fmla="*/ 1304550 h 1304550"/>
              <a:gd name="connsiteX5" fmla="*/ 3642852 w 3642852"/>
              <a:gd name="connsiteY5" fmla="*/ 1304550 h 1304550"/>
              <a:gd name="connsiteX6" fmla="*/ 3642851 w 3642852"/>
              <a:gd name="connsiteY6" fmla="*/ 0 h 1304550"/>
              <a:gd name="connsiteX7" fmla="*/ 40341 w 3642852"/>
              <a:gd name="connsiteY7" fmla="*/ 40526 h 1304550"/>
              <a:gd name="connsiteX8" fmla="*/ 0 w 3642852"/>
              <a:gd name="connsiteY8" fmla="*/ 1291103 h 1304550"/>
              <a:gd name="connsiteX0" fmla="*/ 22867 w 3665719"/>
              <a:gd name="connsiteY0" fmla="*/ 1296929 h 1310376"/>
              <a:gd name="connsiteX1" fmla="*/ 1421361 w 3665719"/>
              <a:gd name="connsiteY1" fmla="*/ 1310376 h 1310376"/>
              <a:gd name="connsiteX2" fmla="*/ 1407914 w 3665719"/>
              <a:gd name="connsiteY2" fmla="*/ 382529 h 1310376"/>
              <a:gd name="connsiteX3" fmla="*/ 1999585 w 3665719"/>
              <a:gd name="connsiteY3" fmla="*/ 395976 h 1310376"/>
              <a:gd name="connsiteX4" fmla="*/ 1999585 w 3665719"/>
              <a:gd name="connsiteY4" fmla="*/ 1310376 h 1310376"/>
              <a:gd name="connsiteX5" fmla="*/ 3665719 w 3665719"/>
              <a:gd name="connsiteY5" fmla="*/ 1310376 h 1310376"/>
              <a:gd name="connsiteX6" fmla="*/ 3665718 w 3665719"/>
              <a:gd name="connsiteY6" fmla="*/ 5826 h 1310376"/>
              <a:gd name="connsiteX7" fmla="*/ 0 w 3665719"/>
              <a:gd name="connsiteY7" fmla="*/ 0 h 1310376"/>
              <a:gd name="connsiteX8" fmla="*/ 22867 w 3665719"/>
              <a:gd name="connsiteY8" fmla="*/ 1296929 h 1310376"/>
              <a:gd name="connsiteX0" fmla="*/ 1798 w 3665719"/>
              <a:gd name="connsiteY0" fmla="*/ 1317998 h 1317998"/>
              <a:gd name="connsiteX1" fmla="*/ 1421361 w 3665719"/>
              <a:gd name="connsiteY1" fmla="*/ 1310376 h 1317998"/>
              <a:gd name="connsiteX2" fmla="*/ 1407914 w 3665719"/>
              <a:gd name="connsiteY2" fmla="*/ 382529 h 1317998"/>
              <a:gd name="connsiteX3" fmla="*/ 1999585 w 3665719"/>
              <a:gd name="connsiteY3" fmla="*/ 395976 h 1317998"/>
              <a:gd name="connsiteX4" fmla="*/ 1999585 w 3665719"/>
              <a:gd name="connsiteY4" fmla="*/ 1310376 h 1317998"/>
              <a:gd name="connsiteX5" fmla="*/ 3665719 w 3665719"/>
              <a:gd name="connsiteY5" fmla="*/ 1310376 h 1317998"/>
              <a:gd name="connsiteX6" fmla="*/ 3665718 w 3665719"/>
              <a:gd name="connsiteY6" fmla="*/ 5826 h 1317998"/>
              <a:gd name="connsiteX7" fmla="*/ 0 w 3665719"/>
              <a:gd name="connsiteY7" fmla="*/ 0 h 1317998"/>
              <a:gd name="connsiteX8" fmla="*/ 1798 w 3665719"/>
              <a:gd name="connsiteY8" fmla="*/ 1317998 h 1317998"/>
              <a:gd name="connsiteX0" fmla="*/ 1798 w 3665719"/>
              <a:gd name="connsiteY0" fmla="*/ 1317998 h 1317998"/>
              <a:gd name="connsiteX1" fmla="*/ 1421361 w 3665719"/>
              <a:gd name="connsiteY1" fmla="*/ 1310376 h 1317998"/>
              <a:gd name="connsiteX2" fmla="*/ 1407914 w 3665719"/>
              <a:gd name="connsiteY2" fmla="*/ 382529 h 1317998"/>
              <a:gd name="connsiteX3" fmla="*/ 1999585 w 3665719"/>
              <a:gd name="connsiteY3" fmla="*/ 395976 h 1317998"/>
              <a:gd name="connsiteX4" fmla="*/ 2189207 w 3665719"/>
              <a:gd name="connsiteY4" fmla="*/ 1162893 h 1317998"/>
              <a:gd name="connsiteX5" fmla="*/ 3665719 w 3665719"/>
              <a:gd name="connsiteY5" fmla="*/ 1310376 h 1317998"/>
              <a:gd name="connsiteX6" fmla="*/ 3665718 w 3665719"/>
              <a:gd name="connsiteY6" fmla="*/ 5826 h 1317998"/>
              <a:gd name="connsiteX7" fmla="*/ 0 w 3665719"/>
              <a:gd name="connsiteY7" fmla="*/ 0 h 1317998"/>
              <a:gd name="connsiteX8" fmla="*/ 1798 w 3665719"/>
              <a:gd name="connsiteY8" fmla="*/ 1317998 h 1317998"/>
              <a:gd name="connsiteX0" fmla="*/ 1798 w 3665719"/>
              <a:gd name="connsiteY0" fmla="*/ 1317998 h 1317998"/>
              <a:gd name="connsiteX1" fmla="*/ 1421361 w 3665719"/>
              <a:gd name="connsiteY1" fmla="*/ 1310376 h 1317998"/>
              <a:gd name="connsiteX2" fmla="*/ 1407914 w 3665719"/>
              <a:gd name="connsiteY2" fmla="*/ 382529 h 1317998"/>
              <a:gd name="connsiteX3" fmla="*/ 1999585 w 3665719"/>
              <a:gd name="connsiteY3" fmla="*/ 395976 h 1317998"/>
              <a:gd name="connsiteX4" fmla="*/ 2210276 w 3665719"/>
              <a:gd name="connsiteY4" fmla="*/ 1306163 h 1317998"/>
              <a:gd name="connsiteX5" fmla="*/ 3665719 w 3665719"/>
              <a:gd name="connsiteY5" fmla="*/ 1310376 h 1317998"/>
              <a:gd name="connsiteX6" fmla="*/ 3665718 w 3665719"/>
              <a:gd name="connsiteY6" fmla="*/ 5826 h 1317998"/>
              <a:gd name="connsiteX7" fmla="*/ 0 w 3665719"/>
              <a:gd name="connsiteY7" fmla="*/ 0 h 1317998"/>
              <a:gd name="connsiteX8" fmla="*/ 1798 w 3665719"/>
              <a:gd name="connsiteY8" fmla="*/ 1317998 h 1317998"/>
              <a:gd name="connsiteX0" fmla="*/ 1798 w 3665719"/>
              <a:gd name="connsiteY0" fmla="*/ 1317998 h 1317998"/>
              <a:gd name="connsiteX1" fmla="*/ 1421361 w 3665719"/>
              <a:gd name="connsiteY1" fmla="*/ 1310376 h 1317998"/>
              <a:gd name="connsiteX2" fmla="*/ 1407914 w 3665719"/>
              <a:gd name="connsiteY2" fmla="*/ 382529 h 1317998"/>
              <a:gd name="connsiteX3" fmla="*/ 2206063 w 3665719"/>
              <a:gd name="connsiteY3" fmla="*/ 391763 h 1317998"/>
              <a:gd name="connsiteX4" fmla="*/ 2210276 w 3665719"/>
              <a:gd name="connsiteY4" fmla="*/ 1306163 h 1317998"/>
              <a:gd name="connsiteX5" fmla="*/ 3665719 w 3665719"/>
              <a:gd name="connsiteY5" fmla="*/ 1310376 h 1317998"/>
              <a:gd name="connsiteX6" fmla="*/ 3665718 w 3665719"/>
              <a:gd name="connsiteY6" fmla="*/ 5826 h 1317998"/>
              <a:gd name="connsiteX7" fmla="*/ 0 w 3665719"/>
              <a:gd name="connsiteY7" fmla="*/ 0 h 1317998"/>
              <a:gd name="connsiteX8" fmla="*/ 1798 w 3665719"/>
              <a:gd name="connsiteY8" fmla="*/ 1317998 h 1317998"/>
              <a:gd name="connsiteX0" fmla="*/ 1798 w 3665719"/>
              <a:gd name="connsiteY0" fmla="*/ 1317998 h 1317998"/>
              <a:gd name="connsiteX1" fmla="*/ 1455071 w 3665719"/>
              <a:gd name="connsiteY1" fmla="*/ 1310376 h 1317998"/>
              <a:gd name="connsiteX2" fmla="*/ 1407914 w 3665719"/>
              <a:gd name="connsiteY2" fmla="*/ 382529 h 1317998"/>
              <a:gd name="connsiteX3" fmla="*/ 2206063 w 3665719"/>
              <a:gd name="connsiteY3" fmla="*/ 391763 h 1317998"/>
              <a:gd name="connsiteX4" fmla="*/ 2210276 w 3665719"/>
              <a:gd name="connsiteY4" fmla="*/ 1306163 h 1317998"/>
              <a:gd name="connsiteX5" fmla="*/ 3665719 w 3665719"/>
              <a:gd name="connsiteY5" fmla="*/ 1310376 h 1317998"/>
              <a:gd name="connsiteX6" fmla="*/ 3665718 w 3665719"/>
              <a:gd name="connsiteY6" fmla="*/ 5826 h 1317998"/>
              <a:gd name="connsiteX7" fmla="*/ 0 w 3665719"/>
              <a:gd name="connsiteY7" fmla="*/ 0 h 1317998"/>
              <a:gd name="connsiteX8" fmla="*/ 1798 w 3665719"/>
              <a:gd name="connsiteY8" fmla="*/ 1317998 h 1317998"/>
              <a:gd name="connsiteX0" fmla="*/ 1798 w 3665719"/>
              <a:gd name="connsiteY0" fmla="*/ 1317998 h 1317998"/>
              <a:gd name="connsiteX1" fmla="*/ 1455071 w 3665719"/>
              <a:gd name="connsiteY1" fmla="*/ 1310376 h 1317998"/>
              <a:gd name="connsiteX2" fmla="*/ 1247789 w 3665719"/>
              <a:gd name="connsiteY2" fmla="*/ 243473 h 1317998"/>
              <a:gd name="connsiteX3" fmla="*/ 2206063 w 3665719"/>
              <a:gd name="connsiteY3" fmla="*/ 391763 h 1317998"/>
              <a:gd name="connsiteX4" fmla="*/ 2210276 w 3665719"/>
              <a:gd name="connsiteY4" fmla="*/ 1306163 h 1317998"/>
              <a:gd name="connsiteX5" fmla="*/ 3665719 w 3665719"/>
              <a:gd name="connsiteY5" fmla="*/ 1310376 h 1317998"/>
              <a:gd name="connsiteX6" fmla="*/ 3665718 w 3665719"/>
              <a:gd name="connsiteY6" fmla="*/ 5826 h 1317998"/>
              <a:gd name="connsiteX7" fmla="*/ 0 w 3665719"/>
              <a:gd name="connsiteY7" fmla="*/ 0 h 1317998"/>
              <a:gd name="connsiteX8" fmla="*/ 1798 w 3665719"/>
              <a:gd name="connsiteY8" fmla="*/ 1317998 h 1317998"/>
              <a:gd name="connsiteX0" fmla="*/ 1798 w 3665719"/>
              <a:gd name="connsiteY0" fmla="*/ 1317998 h 1317998"/>
              <a:gd name="connsiteX1" fmla="*/ 1455071 w 3665719"/>
              <a:gd name="connsiteY1" fmla="*/ 1310376 h 1317998"/>
              <a:gd name="connsiteX2" fmla="*/ 1458480 w 3665719"/>
              <a:gd name="connsiteY2" fmla="*/ 390957 h 1317998"/>
              <a:gd name="connsiteX3" fmla="*/ 2206063 w 3665719"/>
              <a:gd name="connsiteY3" fmla="*/ 391763 h 1317998"/>
              <a:gd name="connsiteX4" fmla="*/ 2210276 w 3665719"/>
              <a:gd name="connsiteY4" fmla="*/ 1306163 h 1317998"/>
              <a:gd name="connsiteX5" fmla="*/ 3665719 w 3665719"/>
              <a:gd name="connsiteY5" fmla="*/ 1310376 h 1317998"/>
              <a:gd name="connsiteX6" fmla="*/ 3665718 w 3665719"/>
              <a:gd name="connsiteY6" fmla="*/ 5826 h 1317998"/>
              <a:gd name="connsiteX7" fmla="*/ 0 w 3665719"/>
              <a:gd name="connsiteY7" fmla="*/ 0 h 1317998"/>
              <a:gd name="connsiteX8" fmla="*/ 1798 w 3665719"/>
              <a:gd name="connsiteY8" fmla="*/ 1317998 h 131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5719" h="1317998">
                <a:moveTo>
                  <a:pt x="1798" y="1317998"/>
                </a:moveTo>
                <a:lnTo>
                  <a:pt x="1455071" y="1310376"/>
                </a:lnTo>
                <a:cubicBezTo>
                  <a:pt x="1456207" y="1003903"/>
                  <a:pt x="1457344" y="697430"/>
                  <a:pt x="1458480" y="390957"/>
                </a:cubicBezTo>
                <a:lnTo>
                  <a:pt x="2206063" y="391763"/>
                </a:lnTo>
                <a:cubicBezTo>
                  <a:pt x="2207467" y="696563"/>
                  <a:pt x="2208872" y="1001363"/>
                  <a:pt x="2210276" y="1306163"/>
                </a:cubicBezTo>
                <a:lnTo>
                  <a:pt x="3665719" y="1310376"/>
                </a:lnTo>
                <a:cubicBezTo>
                  <a:pt x="3665719" y="875526"/>
                  <a:pt x="3665718" y="440676"/>
                  <a:pt x="3665718" y="5826"/>
                </a:cubicBezTo>
                <a:lnTo>
                  <a:pt x="0" y="0"/>
                </a:lnTo>
                <a:cubicBezTo>
                  <a:pt x="599" y="439333"/>
                  <a:pt x="1199" y="878665"/>
                  <a:pt x="1798" y="1317998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5460" y="4241739"/>
            <a:ext cx="834845" cy="1527081"/>
          </a:xfrm>
          <a:prstGeom prst="rect">
            <a:avLst/>
          </a:prstGeom>
          <a:gradFill>
            <a:gsLst>
              <a:gs pos="11000">
                <a:schemeClr val="bg1"/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 5"/>
          <p:cNvSpPr/>
          <p:nvPr/>
        </p:nvSpPr>
        <p:spPr>
          <a:xfrm rot="10800000">
            <a:off x="3661261" y="4187950"/>
            <a:ext cx="834845" cy="1527081"/>
          </a:xfrm>
          <a:prstGeom prst="rect">
            <a:avLst/>
          </a:prstGeom>
          <a:gradFill>
            <a:gsLst>
              <a:gs pos="11000">
                <a:schemeClr val="bg1"/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Rectangle 6"/>
          <p:cNvSpPr/>
          <p:nvPr/>
        </p:nvSpPr>
        <p:spPr>
          <a:xfrm>
            <a:off x="4799685" y="4795110"/>
            <a:ext cx="1897375" cy="4553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59590" y="4795110"/>
            <a:ext cx="1062530" cy="4553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 rot="5400000">
            <a:off x="6089900" y="4187952"/>
            <a:ext cx="1214319" cy="4553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8100"/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t"/>
          <a:lstStyle/>
          <a:p>
            <a:endParaRPr lang="bg-BG" sz="2000" b="1">
              <a:solidFill>
                <a:schemeClr val="tx1"/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 rot="10800000">
            <a:off x="8071828" y="4714426"/>
            <a:ext cx="834845" cy="607161"/>
          </a:xfrm>
          <a:prstGeom prst="rect">
            <a:avLst/>
          </a:prstGeom>
          <a:gradFill>
            <a:gsLst>
              <a:gs pos="11000">
                <a:schemeClr val="bg1"/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Rectangle 11"/>
          <p:cNvSpPr/>
          <p:nvPr/>
        </p:nvSpPr>
        <p:spPr>
          <a:xfrm rot="5400000">
            <a:off x="6148016" y="3942487"/>
            <a:ext cx="1098084" cy="607161"/>
          </a:xfrm>
          <a:prstGeom prst="rect">
            <a:avLst/>
          </a:prstGeom>
          <a:gradFill>
            <a:gsLst>
              <a:gs pos="23000">
                <a:schemeClr val="bg1"/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Rectangle 12"/>
          <p:cNvSpPr/>
          <p:nvPr/>
        </p:nvSpPr>
        <p:spPr>
          <a:xfrm>
            <a:off x="4709991" y="4735830"/>
            <a:ext cx="1098084" cy="607161"/>
          </a:xfrm>
          <a:prstGeom prst="rect">
            <a:avLst/>
          </a:prstGeom>
          <a:gradFill>
            <a:gsLst>
              <a:gs pos="23000">
                <a:schemeClr val="bg1"/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Oval 13"/>
          <p:cNvSpPr/>
          <p:nvPr/>
        </p:nvSpPr>
        <p:spPr>
          <a:xfrm>
            <a:off x="2576049" y="4187876"/>
            <a:ext cx="683055" cy="683055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Oval 14"/>
          <p:cNvSpPr/>
          <p:nvPr/>
        </p:nvSpPr>
        <p:spPr>
          <a:xfrm>
            <a:off x="6583217" y="4795110"/>
            <a:ext cx="683055" cy="683055"/>
          </a:xfrm>
          <a:prstGeom prst="ellipse">
            <a:avLst/>
          </a:prstGeom>
          <a:solidFill>
            <a:srgbClr val="FF0000">
              <a:alpha val="3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99281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При създаване на стена от два паралелепипеда добавяме и трети отгоре им</a:t>
            </a:r>
          </a:p>
          <a:p>
            <a:pPr lvl="1"/>
            <a:r>
              <a:rPr lang="bg-BG" dirty="0"/>
              <a:t>Отворите стесняваме от двете страни толкова, колкото е половината ширина на стена</a:t>
            </a:r>
            <a:endParaRPr lang="en-US" dirty="0"/>
          </a:p>
          <a:p>
            <a:pPr lvl="1"/>
            <a:r>
              <a:rPr lang="bg-BG" dirty="0"/>
              <a:t>Параметърът </a:t>
            </a:r>
            <a:r>
              <a:rPr lang="en-US" b="1" dirty="0"/>
              <a:t>true</a:t>
            </a:r>
            <a:r>
              <a:rPr lang="bg-BG" dirty="0"/>
              <a:t> на </a:t>
            </a:r>
            <a:r>
              <a:rPr lang="en-US" b="1" dirty="0"/>
              <a:t>Wall</a:t>
            </a:r>
            <a:r>
              <a:rPr lang="bg-BG" dirty="0"/>
              <a:t> указва да се рисува издигната и по-ниска стена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2973629"/>
            <a:ext cx="8534400" cy="3579569"/>
          </a:xfrm>
          <a:prstGeom prst="snip2DiagRect">
            <a:avLst>
              <a:gd name="adj1" fmla="val 0"/>
              <a:gd name="adj2" fmla="val 69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(dx&gt;=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Wall(x1+m,y1,0,n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+0.15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Wall(x1+m,y1+n+1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-0.15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,0,dy-n-1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+0.15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Wall(x1+m,y1,0,dy,true)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Wall(x1,y1+m,n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+0.15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,0)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Wall(x1+n+1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-0.15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,y1+m,dx-n-1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+0.15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,0)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Wall(x1,y1+m,dx,0,true)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3046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8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932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518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Навигация из лабиринт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59873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Навигация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Цел</a:t>
            </a:r>
          </a:p>
          <a:p>
            <a:pPr lvl="1"/>
            <a:r>
              <a:rPr lang="bg-BG" dirty="0"/>
              <a:t>Възможност за интерактивно движение в лабиринта</a:t>
            </a:r>
          </a:p>
          <a:p>
            <a:pPr lvl="1"/>
            <a:r>
              <a:rPr lang="bg-BG" dirty="0"/>
              <a:t>Контролиране с клавиатура или с мишка</a:t>
            </a:r>
          </a:p>
          <a:p>
            <a:pPr lvl="1"/>
            <a:r>
              <a:rPr lang="bg-BG" dirty="0"/>
              <a:t>Избягване на препятствия</a:t>
            </a:r>
          </a:p>
          <a:p>
            <a:pPr lvl="1"/>
            <a:endParaRPr lang="bg-BG" dirty="0"/>
          </a:p>
          <a:p>
            <a:r>
              <a:rPr lang="bg-BG" dirty="0"/>
              <a:t>Предизвикателства</a:t>
            </a:r>
          </a:p>
          <a:p>
            <a:pPr lvl="1"/>
            <a:r>
              <a:rPr lang="bg-BG" dirty="0"/>
              <a:t>Поради наличието на стаи движението не е по строго регламентирани пътища</a:t>
            </a:r>
          </a:p>
          <a:p>
            <a:pPr lvl="1"/>
            <a:r>
              <a:rPr lang="bg-BG" dirty="0"/>
              <a:t>За всяка от целите има много възможни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1442770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Навигация с клавиатура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Движения</a:t>
            </a:r>
          </a:p>
          <a:p>
            <a:pPr lvl="1"/>
            <a:r>
              <a:rPr lang="bg-BG" dirty="0"/>
              <a:t>Движение напред и спиране</a:t>
            </a:r>
          </a:p>
          <a:p>
            <a:pPr lvl="1"/>
            <a:r>
              <a:rPr lang="bg-BG" dirty="0"/>
              <a:t>Завъртане наляво и надясно</a:t>
            </a:r>
          </a:p>
          <a:p>
            <a:pPr lvl="1"/>
            <a:r>
              <a:rPr lang="bg-BG" dirty="0"/>
              <a:t>Да има малка инерция</a:t>
            </a:r>
          </a:p>
          <a:p>
            <a:pPr lvl="1"/>
            <a:endParaRPr lang="bg-BG" dirty="0"/>
          </a:p>
          <a:p>
            <a:r>
              <a:rPr lang="bg-BG" dirty="0"/>
              <a:t>Избор на клавиши</a:t>
            </a:r>
          </a:p>
          <a:p>
            <a:pPr lvl="1"/>
            <a:r>
              <a:rPr lang="bg-BG" dirty="0"/>
              <a:t>Движение напред със стрелка нагоре </a:t>
            </a:r>
            <a:r>
              <a:rPr lang="en-US" dirty="0"/>
              <a:t>[ </a:t>
            </a:r>
            <a:r>
              <a:rPr lang="en-US" dirty="0">
                <a:sym typeface="Symbol"/>
              </a:rPr>
              <a:t> </a:t>
            </a:r>
            <a:r>
              <a:rPr lang="en-US" dirty="0"/>
              <a:t>]</a:t>
            </a:r>
          </a:p>
          <a:p>
            <a:pPr lvl="1"/>
            <a:r>
              <a:rPr lang="bg-BG" dirty="0"/>
              <a:t>Движение наляво с лява стрелка</a:t>
            </a:r>
            <a:r>
              <a:rPr lang="en-US" dirty="0"/>
              <a:t> [</a:t>
            </a:r>
            <a:r>
              <a:rPr lang="en-US" dirty="0">
                <a:sym typeface="Symbol"/>
              </a:rPr>
              <a:t></a:t>
            </a:r>
            <a:r>
              <a:rPr lang="en-US" dirty="0"/>
              <a:t>]</a:t>
            </a:r>
          </a:p>
          <a:p>
            <a:pPr lvl="1"/>
            <a:r>
              <a:rPr lang="bg-BG" dirty="0"/>
              <a:t>Движение надясно с дясна стрелка</a:t>
            </a:r>
            <a:r>
              <a:rPr lang="en-US" dirty="0"/>
              <a:t> [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]</a:t>
            </a:r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04611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Улавяне на клавиши</a:t>
            </a:r>
          </a:p>
          <a:p>
            <a:pPr lvl="1"/>
            <a:r>
              <a:rPr lang="bg-BG" dirty="0"/>
              <a:t>Следим събитията </a:t>
            </a:r>
            <a:r>
              <a:rPr lang="en-US" b="1" dirty="0" err="1"/>
              <a:t>keydown</a:t>
            </a:r>
            <a:r>
              <a:rPr lang="bg-BG" dirty="0"/>
              <a:t> и </a:t>
            </a:r>
            <a:r>
              <a:rPr lang="en-US" b="1" dirty="0" err="1"/>
              <a:t>keyup</a:t>
            </a:r>
            <a:endParaRPr lang="en-US" b="1" dirty="0"/>
          </a:p>
          <a:p>
            <a:pPr lvl="1"/>
            <a:r>
              <a:rPr lang="bg-BG" dirty="0"/>
              <a:t>Проверяваме </a:t>
            </a:r>
            <a:r>
              <a:rPr lang="en-US" b="1" dirty="0" err="1"/>
              <a:t>keyCode</a:t>
            </a:r>
            <a:r>
              <a:rPr lang="bg-BG" dirty="0"/>
              <a:t> за </a:t>
            </a:r>
            <a:r>
              <a:rPr lang="en-US" dirty="0"/>
              <a:t>[ </a:t>
            </a:r>
            <a:r>
              <a:rPr lang="en-US" dirty="0">
                <a:sym typeface="Symbol"/>
              </a:rPr>
              <a:t> </a:t>
            </a:r>
            <a:r>
              <a:rPr lang="en-US" dirty="0"/>
              <a:t>]</a:t>
            </a:r>
            <a:r>
              <a:rPr lang="bg-BG" dirty="0"/>
              <a:t>=37, </a:t>
            </a:r>
            <a:r>
              <a:rPr lang="en-US" dirty="0"/>
              <a:t>[</a:t>
            </a:r>
            <a:r>
              <a:rPr lang="en-US" dirty="0">
                <a:sym typeface="Symbol"/>
              </a:rPr>
              <a:t></a:t>
            </a:r>
            <a:r>
              <a:rPr lang="en-US" dirty="0"/>
              <a:t>]</a:t>
            </a:r>
            <a:r>
              <a:rPr lang="bg-BG" dirty="0"/>
              <a:t>=38 и </a:t>
            </a:r>
            <a:r>
              <a:rPr lang="en-US" dirty="0"/>
              <a:t>[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]</a:t>
            </a:r>
            <a:r>
              <a:rPr lang="bg-BG" dirty="0"/>
              <a:t>=39</a:t>
            </a:r>
          </a:p>
          <a:p>
            <a:pPr lvl="1"/>
            <a:r>
              <a:rPr lang="bg-BG" dirty="0"/>
              <a:t>В променливите </a:t>
            </a:r>
            <a:r>
              <a:rPr lang="en-US" b="1" dirty="0" err="1"/>
              <a:t>kLeft</a:t>
            </a:r>
            <a:r>
              <a:rPr lang="en-US" dirty="0"/>
              <a:t>, </a:t>
            </a:r>
            <a:r>
              <a:rPr lang="en-US" b="1" dirty="0" err="1"/>
              <a:t>kRight</a:t>
            </a:r>
            <a:r>
              <a:rPr lang="bg-BG" dirty="0"/>
              <a:t> и </a:t>
            </a:r>
            <a:r>
              <a:rPr lang="en-US" b="1" dirty="0" err="1"/>
              <a:t>kForward</a:t>
            </a:r>
            <a:r>
              <a:rPr lang="en-US" dirty="0"/>
              <a:t> </a:t>
            </a:r>
            <a:r>
              <a:rPr lang="bg-BG" dirty="0"/>
              <a:t>помним кои от трите клавиша са натиснати (</a:t>
            </a:r>
            <a:r>
              <a:rPr lang="en-US" dirty="0"/>
              <a:t>true)</a:t>
            </a:r>
            <a:r>
              <a:rPr lang="bg-BG" dirty="0"/>
              <a:t> или пуснати (</a:t>
            </a:r>
            <a:r>
              <a:rPr lang="en-US" dirty="0"/>
              <a:t>false)</a:t>
            </a:r>
            <a:endParaRPr lang="bg-BG" dirty="0"/>
          </a:p>
          <a:p>
            <a:endParaRPr lang="bg-BG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366470"/>
            <a:ext cx="8534400" cy="4186729"/>
          </a:xfrm>
          <a:prstGeom prst="snip2DiagRect">
            <a:avLst>
              <a:gd name="adj1" fmla="val 0"/>
              <a:gd name="adj2" fmla="val 69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document.body.addEventListener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keydown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keyDown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,false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document.body.addEventListener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keyup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keyUp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,false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keyDown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keyCode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37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kLeft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true,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kRight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false;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event.keyCode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38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kForward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event.keyCode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39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kRight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true,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kLeft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false;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	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keyUp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event.keyCode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==37)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kLeft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false;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event.keyCode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==38)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kForward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false;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event.keyCode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==39)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kRight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false;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000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Гледна точка и инерция</a:t>
            </a:r>
          </a:p>
          <a:p>
            <a:pPr lvl="1"/>
            <a:r>
              <a:rPr lang="bg-BG" dirty="0"/>
              <a:t>В </a:t>
            </a:r>
            <a:r>
              <a:rPr lang="en-US" b="1" dirty="0" err="1"/>
              <a:t>pos</a:t>
            </a:r>
            <a:r>
              <a:rPr lang="bg-BG" dirty="0"/>
              <a:t> помним текущата позиция, а в </a:t>
            </a:r>
            <a:r>
              <a:rPr lang="en-US" b="1" dirty="0" err="1"/>
              <a:t>dir</a:t>
            </a:r>
            <a:r>
              <a:rPr lang="en-US" dirty="0"/>
              <a:t> –</a:t>
            </a:r>
            <a:r>
              <a:rPr lang="bg-BG" dirty="0"/>
              <a:t> посока </a:t>
            </a:r>
          </a:p>
          <a:p>
            <a:pPr lvl="1"/>
            <a:r>
              <a:rPr lang="bg-BG" dirty="0"/>
              <a:t>Ако е натиснат ляв</a:t>
            </a:r>
            <a:r>
              <a:rPr lang="en-US" dirty="0"/>
              <a:t>/</a:t>
            </a:r>
            <a:r>
              <a:rPr lang="bg-BG" dirty="0"/>
              <a:t>десен бутон, посоката се променя според скоростта </a:t>
            </a:r>
            <a:r>
              <a:rPr lang="en-US" b="1" dirty="0" err="1"/>
              <a:t>dDir</a:t>
            </a:r>
            <a:r>
              <a:rPr lang="bg-BG" dirty="0"/>
              <a:t> и изминалото време </a:t>
            </a:r>
            <a:r>
              <a:rPr lang="en-US" b="1" dirty="0" err="1"/>
              <a:t>dTime</a:t>
            </a:r>
            <a:endParaRPr lang="en-US" b="1" dirty="0"/>
          </a:p>
          <a:p>
            <a:pPr lvl="1"/>
            <a:r>
              <a:rPr lang="bg-BG" dirty="0"/>
              <a:t>Ако не е натиснат, скоростта </a:t>
            </a:r>
            <a:r>
              <a:rPr lang="en-US" b="1" dirty="0" err="1"/>
              <a:t>dDir</a:t>
            </a:r>
            <a:r>
              <a:rPr lang="en-US" dirty="0"/>
              <a:t> </a:t>
            </a:r>
            <a:r>
              <a:rPr lang="bg-BG" dirty="0"/>
              <a:t>намалява плавно</a:t>
            </a:r>
          </a:p>
          <a:p>
            <a:pPr lvl="1"/>
            <a:r>
              <a:rPr lang="bg-BG" dirty="0"/>
              <a:t>Аналогично се обработва и позицията </a:t>
            </a:r>
            <a:r>
              <a:rPr lang="en-US" b="1" dirty="0" err="1"/>
              <a:t>pos</a:t>
            </a:r>
            <a:endParaRPr lang="en-US" b="1" dirty="0"/>
          </a:p>
          <a:p>
            <a:pPr lvl="1"/>
            <a:r>
              <a:rPr lang="bg-BG" dirty="0"/>
              <a:t>Гледната точка засега е над лабиринта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201315"/>
            <a:ext cx="8534400" cy="3351884"/>
          </a:xfrm>
          <a:prstGeom prst="snip2DiagRect">
            <a:avLst>
              <a:gd name="adj1" fmla="val 0"/>
              <a:gd name="adj2" fmla="val 69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kLeft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dDir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+1;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kRight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dDir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-1;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dDir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dTime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(!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kLeft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&amp;&amp; !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kRight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dDir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*= (1-5*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dTime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kForward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dPos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5;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+=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dPos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dTime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*cos(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 +=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dPos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dTime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*sin(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(!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kForward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dPos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*= (1-5*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dTime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s-E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lookAt</a:t>
            </a:r>
            <a:r>
              <a:rPr lang="es-E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E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[pos[0],pos[1],4],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s-E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[pos[0]+10*</a:t>
            </a:r>
            <a:r>
              <a:rPr lang="es-E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cos</a:t>
            </a:r>
            <a:r>
              <a:rPr lang="es-E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</a:t>
            </a:r>
            <a:r>
              <a:rPr lang="es-E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s-E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,pos[1]+10*</a:t>
            </a:r>
            <a:r>
              <a:rPr lang="es-E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sin(</a:t>
            </a:r>
            <a:r>
              <a:rPr lang="es-E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dir</a:t>
            </a:r>
            <a:r>
              <a:rPr lang="es-E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s-E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,1],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s-E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[0,0,1] );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021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7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932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6690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Влизане в лабиринта</a:t>
            </a:r>
          </a:p>
          <a:p>
            <a:pPr lvl="1"/>
            <a:r>
              <a:rPr lang="bg-BG" dirty="0"/>
              <a:t>По-широки врати: от ширина 1 до ширина 2</a:t>
            </a:r>
          </a:p>
          <a:p>
            <a:pPr lvl="1"/>
            <a:r>
              <a:rPr lang="bg-BG" dirty="0"/>
              <a:t>Страничен ефект: стените трябва да са на четна позиция, за да не се случи напречна стена до средата на врата </a:t>
            </a:r>
          </a:p>
          <a:p>
            <a:pPr lvl="1"/>
            <a:r>
              <a:rPr lang="bg-BG" dirty="0"/>
              <a:t>Все още минаваме свободно през стените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442366"/>
            <a:ext cx="8534400" cy="4110834"/>
          </a:xfrm>
          <a:prstGeom prst="snip2DiagRect">
            <a:avLst>
              <a:gd name="adj1" fmla="val 0"/>
              <a:gd name="adj2" fmla="val 69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labyrinth(x1,x2,y1,y2)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m =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Math.round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(random(3,m-3)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n =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Math.round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(random(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n-4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(dx&gt;=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Wall(x1+m,y1+n+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-0.15,0,dy-n-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+0.15)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else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Wall(x1+n+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-0.15,y1+m,dx-n-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+0.15,0) 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lookAt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],[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],[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);</a:t>
            </a:r>
          </a:p>
        </p:txBody>
      </p:sp>
    </p:spTree>
    <p:extLst>
      <p:ext uri="{BB962C8B-B14F-4D97-AF65-F5344CB8AC3E}">
        <p14:creationId xmlns:p14="http://schemas.microsoft.com/office/powerpoint/2010/main" val="455337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932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3813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Избягване на стени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Основна цел</a:t>
            </a:r>
          </a:p>
          <a:p>
            <a:pPr lvl="1"/>
            <a:r>
              <a:rPr lang="bg-BG" dirty="0"/>
              <a:t>Да не може да се минава през стени</a:t>
            </a:r>
          </a:p>
          <a:p>
            <a:pPr lvl="1"/>
            <a:r>
              <a:rPr lang="bg-BG" dirty="0"/>
              <a:t>Да е улеснено „уцелването“ на врата</a:t>
            </a:r>
          </a:p>
          <a:p>
            <a:pPr lvl="1"/>
            <a:endParaRPr lang="bg-BG" dirty="0"/>
          </a:p>
          <a:p>
            <a:r>
              <a:rPr lang="bg-BG" dirty="0"/>
              <a:t>Фактори за отчитане</a:t>
            </a:r>
          </a:p>
          <a:p>
            <a:pPr lvl="1"/>
            <a:r>
              <a:rPr lang="bg-BG" dirty="0"/>
              <a:t>Нямаме битова маска на лабиринта, т.е. няма директна проверка дали дадена позиция е заета</a:t>
            </a:r>
          </a:p>
          <a:p>
            <a:pPr lvl="1"/>
            <a:r>
              <a:rPr lang="bg-BG" dirty="0"/>
              <a:t>Около всяка стена има забранена зона, за да не може да се приближим прекалено близо до нея</a:t>
            </a:r>
          </a:p>
        </p:txBody>
      </p:sp>
    </p:spTree>
    <p:extLst>
      <p:ext uri="{BB962C8B-B14F-4D97-AF65-F5344CB8AC3E}">
        <p14:creationId xmlns:p14="http://schemas.microsoft.com/office/powerpoint/2010/main" val="1528835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01671" y="3276295"/>
            <a:ext cx="7635249" cy="2901396"/>
          </a:xfrm>
          <a:custGeom>
            <a:avLst/>
            <a:gdLst/>
            <a:ahLst/>
            <a:cxnLst/>
            <a:rect l="l" t="t" r="r" b="b"/>
            <a:pathLst>
              <a:path w="7635249" h="2901396">
                <a:moveTo>
                  <a:pt x="4581149" y="0"/>
                </a:moveTo>
                <a:lnTo>
                  <a:pt x="7635249" y="0"/>
                </a:lnTo>
                <a:lnTo>
                  <a:pt x="7635249" y="1221642"/>
                </a:lnTo>
                <a:lnTo>
                  <a:pt x="6719020" y="1221642"/>
                </a:lnTo>
                <a:lnTo>
                  <a:pt x="6719020" y="2901396"/>
                </a:lnTo>
                <a:lnTo>
                  <a:pt x="6260904" y="2901396"/>
                </a:lnTo>
                <a:lnTo>
                  <a:pt x="5497380" y="2901396"/>
                </a:lnTo>
                <a:lnTo>
                  <a:pt x="2290574" y="2901396"/>
                </a:lnTo>
                <a:lnTo>
                  <a:pt x="2137870" y="2901396"/>
                </a:lnTo>
                <a:lnTo>
                  <a:pt x="1068933" y="2901396"/>
                </a:lnTo>
                <a:lnTo>
                  <a:pt x="1068933" y="1221641"/>
                </a:lnTo>
                <a:lnTo>
                  <a:pt x="0" y="1221641"/>
                </a:lnTo>
                <a:lnTo>
                  <a:pt x="0" y="1"/>
                </a:lnTo>
                <a:lnTo>
                  <a:pt x="3664920" y="1"/>
                </a:lnTo>
                <a:lnTo>
                  <a:pt x="3664920" y="1221641"/>
                </a:lnTo>
                <a:lnTo>
                  <a:pt x="2290574" y="1221641"/>
                </a:lnTo>
                <a:lnTo>
                  <a:pt x="2290574" y="1679755"/>
                </a:lnTo>
                <a:lnTo>
                  <a:pt x="5497380" y="1679755"/>
                </a:lnTo>
                <a:lnTo>
                  <a:pt x="5497380" y="1221642"/>
                </a:lnTo>
                <a:lnTo>
                  <a:pt x="4581149" y="1221642"/>
                </a:lnTo>
                <a:close/>
              </a:path>
            </a:pathLst>
          </a:custGeom>
          <a:pattFill prst="wdUpDiag">
            <a:fgClr>
              <a:srgbClr val="FFCCCC"/>
            </a:fgClr>
            <a:bgClr>
              <a:srgbClr val="FFFFFF"/>
            </a:bgClr>
          </a:patt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Идея за реализация</a:t>
            </a:r>
          </a:p>
          <a:p>
            <a:pPr lvl="1"/>
            <a:r>
              <a:rPr lang="bg-BG" dirty="0"/>
              <a:t>Около всяка стена има правоъгълна забранена зона</a:t>
            </a:r>
            <a:br>
              <a:rPr lang="bg-BG" dirty="0"/>
            </a:br>
            <a:r>
              <a:rPr lang="bg-BG" dirty="0"/>
              <a:t>(важи само за „приземните“ стени)</a:t>
            </a:r>
          </a:p>
          <a:p>
            <a:pPr lvl="1"/>
            <a:r>
              <a:rPr lang="bg-BG" dirty="0"/>
              <a:t>Не навлизаме в тази зона, а се плъзгаме покрай нея</a:t>
            </a:r>
          </a:p>
        </p:txBody>
      </p:sp>
      <p:sp>
        <p:nvSpPr>
          <p:cNvPr id="4" name="Rectangle 3"/>
          <p:cNvSpPr/>
          <p:nvPr/>
        </p:nvSpPr>
        <p:spPr>
          <a:xfrm>
            <a:off x="907081" y="3581705"/>
            <a:ext cx="7085045" cy="2290576"/>
          </a:xfrm>
          <a:custGeom>
            <a:avLst/>
            <a:gdLst/>
            <a:ahLst/>
            <a:cxnLst/>
            <a:rect l="l" t="t" r="r" b="b"/>
            <a:pathLst>
              <a:path w="7085045" h="2290576">
                <a:moveTo>
                  <a:pt x="5497380" y="0"/>
                </a:moveTo>
                <a:lnTo>
                  <a:pt x="6108200" y="0"/>
                </a:lnTo>
                <a:lnTo>
                  <a:pt x="6108200" y="1"/>
                </a:lnTo>
                <a:lnTo>
                  <a:pt x="7085045" y="1"/>
                </a:lnTo>
                <a:lnTo>
                  <a:pt x="7085045" y="610821"/>
                </a:lnTo>
                <a:lnTo>
                  <a:pt x="6108200" y="610821"/>
                </a:lnTo>
                <a:lnTo>
                  <a:pt x="6108200" y="2290575"/>
                </a:lnTo>
                <a:lnTo>
                  <a:pt x="5650082" y="2290575"/>
                </a:lnTo>
                <a:lnTo>
                  <a:pt x="5650082" y="2290576"/>
                </a:lnTo>
                <a:lnTo>
                  <a:pt x="1068933" y="2290576"/>
                </a:lnTo>
                <a:lnTo>
                  <a:pt x="1068933" y="2290575"/>
                </a:lnTo>
                <a:lnTo>
                  <a:pt x="1068933" y="1679755"/>
                </a:lnTo>
                <a:lnTo>
                  <a:pt x="1068933" y="610821"/>
                </a:lnTo>
                <a:lnTo>
                  <a:pt x="0" y="610821"/>
                </a:lnTo>
                <a:lnTo>
                  <a:pt x="0" y="1"/>
                </a:lnTo>
                <a:lnTo>
                  <a:pt x="1068933" y="1"/>
                </a:lnTo>
                <a:lnTo>
                  <a:pt x="1679754" y="1"/>
                </a:lnTo>
                <a:lnTo>
                  <a:pt x="3054099" y="1"/>
                </a:lnTo>
                <a:lnTo>
                  <a:pt x="3054099" y="610821"/>
                </a:lnTo>
                <a:lnTo>
                  <a:pt x="1679754" y="610821"/>
                </a:lnTo>
                <a:lnTo>
                  <a:pt x="1679754" y="1679755"/>
                </a:lnTo>
                <a:lnTo>
                  <a:pt x="5497380" y="1679755"/>
                </a:lnTo>
                <a:lnTo>
                  <a:pt x="5497380" y="610821"/>
                </a:lnTo>
                <a:lnTo>
                  <a:pt x="4581149" y="610821"/>
                </a:lnTo>
                <a:lnTo>
                  <a:pt x="4581149" y="1"/>
                </a:lnTo>
                <a:lnTo>
                  <a:pt x="5497380" y="1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TextBox 15"/>
          <p:cNvSpPr txBox="1"/>
          <p:nvPr/>
        </p:nvSpPr>
        <p:spPr>
          <a:xfrm>
            <a:off x="3401417" y="5835814"/>
            <a:ext cx="2355132" cy="40011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none" rtlCol="0">
            <a:spAutoFit/>
          </a:bodyPr>
          <a:lstStyle/>
          <a:p>
            <a:r>
              <a:rPr lang="bg-BG" sz="2000" dirty="0">
                <a:solidFill>
                  <a:srgbClr val="FF0000"/>
                </a:solidFill>
                <a:effectLst>
                  <a:outerShdw blurRad="63500" algn="ctr" rotWithShape="0">
                    <a:srgbClr val="FF0000">
                      <a:alpha val="40000"/>
                    </a:srgbClr>
                  </a:outerShdw>
                </a:effectLst>
              </a:rPr>
              <a:t>Забранена зона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5900" y="5372600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rPr>
              <a:t>Стена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488230" y="2665475"/>
            <a:ext cx="763525" cy="1068935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593758" y="2672427"/>
            <a:ext cx="433794" cy="603868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006086" y="3269343"/>
            <a:ext cx="458115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655770" y="2672427"/>
            <a:ext cx="0" cy="1068935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731979" y="2669104"/>
            <a:ext cx="0" cy="6108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3961180" y="4192525"/>
            <a:ext cx="916230" cy="61082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4113885" y="4192525"/>
            <a:ext cx="916230" cy="6108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 flipV="1">
            <a:off x="6508705" y="4468903"/>
            <a:ext cx="1121024" cy="568313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7320690" y="4479790"/>
            <a:ext cx="0" cy="343477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320690" y="4803345"/>
            <a:ext cx="305410" cy="152705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497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Във функцията </a:t>
            </a:r>
            <a:r>
              <a:rPr lang="en-US" b="1" dirty="0"/>
              <a:t>Wall</a:t>
            </a:r>
            <a:r>
              <a:rPr lang="bg-BG" dirty="0"/>
              <a:t>, създаваща стена, изчисляваме габаритите на забранената зона</a:t>
            </a:r>
          </a:p>
          <a:p>
            <a:pPr lvl="1"/>
            <a:r>
              <a:rPr lang="bg-BG" dirty="0"/>
              <a:t>Тя е от (</a:t>
            </a:r>
            <a:r>
              <a:rPr lang="en-US" b="1" dirty="0"/>
              <a:t>x1</a:t>
            </a:r>
            <a:r>
              <a:rPr lang="en-US" dirty="0"/>
              <a:t>,</a:t>
            </a:r>
            <a:r>
              <a:rPr lang="en-US" b="1" dirty="0"/>
              <a:t>y1</a:t>
            </a:r>
            <a:r>
              <a:rPr lang="en-US" dirty="0"/>
              <a:t>)</a:t>
            </a:r>
            <a:r>
              <a:rPr lang="bg-BG" dirty="0"/>
              <a:t> до (</a:t>
            </a:r>
            <a:r>
              <a:rPr lang="en-US" b="1" dirty="0"/>
              <a:t>x2</a:t>
            </a:r>
            <a:r>
              <a:rPr lang="en-US" dirty="0"/>
              <a:t>,</a:t>
            </a:r>
            <a:r>
              <a:rPr lang="en-US" b="1" dirty="0"/>
              <a:t>y2</a:t>
            </a:r>
            <a:r>
              <a:rPr lang="en-US" dirty="0"/>
              <a:t>)</a:t>
            </a:r>
            <a:r>
              <a:rPr lang="bg-BG" dirty="0"/>
              <a:t> и е на </a:t>
            </a:r>
            <a:r>
              <a:rPr lang="en-US" b="1" dirty="0"/>
              <a:t>zone</a:t>
            </a:r>
            <a:r>
              <a:rPr lang="bg-BG" dirty="0"/>
              <a:t> единици от стената</a:t>
            </a:r>
            <a:endParaRPr lang="en-US" dirty="0"/>
          </a:p>
          <a:p>
            <a:pPr lvl="1"/>
            <a:r>
              <a:rPr lang="bg-BG" dirty="0"/>
              <a:t>Изчислената зона </a:t>
            </a:r>
            <a:r>
              <a:rPr lang="bg-BG"/>
              <a:t>записваме в свойствата </a:t>
            </a:r>
            <a:r>
              <a:rPr lang="bg-BG" dirty="0"/>
              <a:t>на стената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818180"/>
            <a:ext cx="8534400" cy="3735020"/>
          </a:xfrm>
          <a:prstGeom prst="snip2DiagRect">
            <a:avLst>
              <a:gd name="adj1" fmla="val 0"/>
              <a:gd name="adj2" fmla="val 69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x,y,dx,dy,narrow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zone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0.3;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w = new Cuboid(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(!narrow)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w.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w.center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[0]-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w.size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[0]/2-zone;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w.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w.center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[0]+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w.size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[0]/2+zone;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w.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w.center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[1]-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w.size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[1]/2-zone;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w.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w.center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[1]+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w.size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[1]/2+zone;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 w;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2700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 на проверка за колизия</a:t>
            </a:r>
          </a:p>
          <a:p>
            <a:pPr lvl="1"/>
            <a:r>
              <a:rPr lang="bg-BG" dirty="0"/>
              <a:t>Новата </a:t>
            </a:r>
            <a:r>
              <a:rPr lang="en-US" dirty="0"/>
              <a:t>X</a:t>
            </a:r>
            <a:r>
              <a:rPr lang="bg-BG" dirty="0"/>
              <a:t> кандидат-координата я запомняме в </a:t>
            </a:r>
            <a:r>
              <a:rPr lang="en-US" b="1" dirty="0" err="1"/>
              <a:t>newX</a:t>
            </a:r>
            <a:endParaRPr lang="bg-BG" b="1" dirty="0"/>
          </a:p>
          <a:p>
            <a:pPr lvl="1"/>
            <a:r>
              <a:rPr lang="bg-BG" dirty="0"/>
              <a:t>Проверяваме за колизия по </a:t>
            </a:r>
            <a:r>
              <a:rPr lang="en-US" dirty="0"/>
              <a:t>X – </a:t>
            </a:r>
            <a:r>
              <a:rPr lang="bg-BG" dirty="0"/>
              <a:t>т.е. дали </a:t>
            </a:r>
            <a:r>
              <a:rPr lang="en-US" b="1" dirty="0" err="1"/>
              <a:t>newX</a:t>
            </a:r>
            <a:r>
              <a:rPr lang="bg-BG" dirty="0"/>
              <a:t> е между </a:t>
            </a:r>
            <a:r>
              <a:rPr lang="en-US" b="1" dirty="0"/>
              <a:t>x1</a:t>
            </a:r>
            <a:r>
              <a:rPr lang="bg-BG" dirty="0"/>
              <a:t> и </a:t>
            </a:r>
            <a:r>
              <a:rPr lang="en-US" b="1" dirty="0"/>
              <a:t>x2</a:t>
            </a:r>
            <a:r>
              <a:rPr lang="bg-BG" dirty="0"/>
              <a:t> на някоя стена, докато оригиналната позиция по </a:t>
            </a:r>
            <a:r>
              <a:rPr lang="en-US" dirty="0"/>
              <a:t>Y </a:t>
            </a:r>
            <a:r>
              <a:rPr lang="bg-BG" dirty="0"/>
              <a:t>е между </a:t>
            </a:r>
            <a:r>
              <a:rPr lang="en-US" b="1" dirty="0"/>
              <a:t>y1</a:t>
            </a:r>
            <a:r>
              <a:rPr lang="bg-BG" dirty="0"/>
              <a:t> и </a:t>
            </a:r>
            <a:r>
              <a:rPr lang="en-US" b="1" dirty="0"/>
              <a:t>y2</a:t>
            </a:r>
            <a:r>
              <a:rPr lang="bg-BG" dirty="0"/>
              <a:t> за тази стена</a:t>
            </a:r>
            <a:endParaRPr lang="en-US" dirty="0"/>
          </a:p>
          <a:p>
            <a:pPr lvl="1"/>
            <a:r>
              <a:rPr lang="bg-BG" dirty="0"/>
              <a:t>При първия такъв случай имаме колизия по </a:t>
            </a:r>
            <a:r>
              <a:rPr lang="en-US" dirty="0"/>
              <a:t>X</a:t>
            </a:r>
            <a:r>
              <a:rPr lang="bg-BG" dirty="0"/>
              <a:t> и връщаме в </a:t>
            </a:r>
            <a:r>
              <a:rPr lang="en-US" b="1" dirty="0" err="1"/>
              <a:t>newX</a:t>
            </a:r>
            <a:r>
              <a:rPr lang="bg-BG" dirty="0"/>
              <a:t> нейната стара стойност</a:t>
            </a:r>
          </a:p>
          <a:p>
            <a:pPr lvl="1"/>
            <a:r>
              <a:rPr lang="bg-BG" dirty="0"/>
              <a:t>Аналогично се прави за колизия по </a:t>
            </a:r>
            <a:r>
              <a:rPr lang="en-US" dirty="0"/>
              <a:t>Y</a:t>
            </a:r>
            <a:endParaRPr lang="bg-BG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887115"/>
            <a:ext cx="8534400" cy="2666084"/>
          </a:xfrm>
          <a:prstGeom prst="snip2DiagRect">
            <a:avLst>
              <a:gd name="adj1" fmla="val 0"/>
              <a:gd name="adj2" fmla="val 896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wall.length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(wall[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x2&gt;=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newX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&amp;&amp;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newX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&gt;=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&amp;&amp;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wall[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y2&gt;=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&amp;&amp;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[1]&gt;=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newX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break;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newX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35518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749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8291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Диаманти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Някаква цел на играта</a:t>
            </a:r>
          </a:p>
          <a:p>
            <a:pPr lvl="1"/>
            <a:r>
              <a:rPr lang="bg-BG" dirty="0"/>
              <a:t>Събиране на диаманти</a:t>
            </a:r>
          </a:p>
          <a:p>
            <a:pPr lvl="1"/>
            <a:r>
              <a:rPr lang="bg-BG" dirty="0"/>
              <a:t>Във всяка стая ще има по един</a:t>
            </a:r>
          </a:p>
        </p:txBody>
      </p:sp>
      <p:pic>
        <p:nvPicPr>
          <p:cNvPr id="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4" t="28772" r="7933" b="7351"/>
          <a:stretch/>
        </p:blipFill>
        <p:spPr bwMode="auto">
          <a:xfrm>
            <a:off x="2128720" y="2970885"/>
            <a:ext cx="4854805" cy="3266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iamond 4"/>
          <p:cNvSpPr/>
          <p:nvPr/>
        </p:nvSpPr>
        <p:spPr>
          <a:xfrm>
            <a:off x="2434129" y="3338343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Diamond 5"/>
          <p:cNvSpPr/>
          <p:nvPr/>
        </p:nvSpPr>
        <p:spPr>
          <a:xfrm>
            <a:off x="3083973" y="3347481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Diamond 6"/>
          <p:cNvSpPr/>
          <p:nvPr/>
        </p:nvSpPr>
        <p:spPr>
          <a:xfrm>
            <a:off x="2923822" y="3985271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Diamond 7"/>
          <p:cNvSpPr/>
          <p:nvPr/>
        </p:nvSpPr>
        <p:spPr>
          <a:xfrm>
            <a:off x="2379311" y="3988159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Diamond 8"/>
          <p:cNvSpPr/>
          <p:nvPr/>
        </p:nvSpPr>
        <p:spPr>
          <a:xfrm>
            <a:off x="3259648" y="3989599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Diamond 9"/>
          <p:cNvSpPr/>
          <p:nvPr/>
        </p:nvSpPr>
        <p:spPr>
          <a:xfrm>
            <a:off x="3712597" y="3698247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Diamond 10"/>
          <p:cNvSpPr/>
          <p:nvPr/>
        </p:nvSpPr>
        <p:spPr>
          <a:xfrm>
            <a:off x="3702265" y="3226967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Diamond 11"/>
          <p:cNvSpPr/>
          <p:nvPr/>
        </p:nvSpPr>
        <p:spPr>
          <a:xfrm>
            <a:off x="4199430" y="3633366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Diamond 12"/>
          <p:cNvSpPr/>
          <p:nvPr/>
        </p:nvSpPr>
        <p:spPr>
          <a:xfrm>
            <a:off x="4204596" y="3155702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Diamond 13"/>
          <p:cNvSpPr/>
          <p:nvPr/>
        </p:nvSpPr>
        <p:spPr>
          <a:xfrm>
            <a:off x="3492732" y="4284956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Diamond 14"/>
          <p:cNvSpPr/>
          <p:nvPr/>
        </p:nvSpPr>
        <p:spPr>
          <a:xfrm>
            <a:off x="4763145" y="3270245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Diamond 15"/>
          <p:cNvSpPr/>
          <p:nvPr/>
        </p:nvSpPr>
        <p:spPr>
          <a:xfrm>
            <a:off x="4002508" y="4257721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8" name="Diamond 17"/>
          <p:cNvSpPr/>
          <p:nvPr/>
        </p:nvSpPr>
        <p:spPr>
          <a:xfrm>
            <a:off x="3065615" y="4559763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Diamond 18"/>
          <p:cNvSpPr/>
          <p:nvPr/>
        </p:nvSpPr>
        <p:spPr>
          <a:xfrm>
            <a:off x="3699987" y="4946706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0" name="Diamond 19"/>
          <p:cNvSpPr/>
          <p:nvPr/>
        </p:nvSpPr>
        <p:spPr>
          <a:xfrm>
            <a:off x="4686263" y="3895832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Diamond 20"/>
          <p:cNvSpPr/>
          <p:nvPr/>
        </p:nvSpPr>
        <p:spPr>
          <a:xfrm>
            <a:off x="2442955" y="4557485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Diamond 21"/>
          <p:cNvSpPr/>
          <p:nvPr/>
        </p:nvSpPr>
        <p:spPr>
          <a:xfrm>
            <a:off x="2272161" y="5220132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Diamond 22"/>
          <p:cNvSpPr/>
          <p:nvPr/>
        </p:nvSpPr>
        <p:spPr>
          <a:xfrm>
            <a:off x="2760786" y="5230464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4" name="Diamond 23"/>
          <p:cNvSpPr/>
          <p:nvPr/>
        </p:nvSpPr>
        <p:spPr>
          <a:xfrm>
            <a:off x="3218320" y="5204633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Diamond 24"/>
          <p:cNvSpPr/>
          <p:nvPr/>
        </p:nvSpPr>
        <p:spPr>
          <a:xfrm>
            <a:off x="3221446" y="5696023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6" name="Diamond 25"/>
          <p:cNvSpPr/>
          <p:nvPr/>
        </p:nvSpPr>
        <p:spPr>
          <a:xfrm>
            <a:off x="2739540" y="5719575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Diamond 26"/>
          <p:cNvSpPr/>
          <p:nvPr/>
        </p:nvSpPr>
        <p:spPr>
          <a:xfrm>
            <a:off x="2271091" y="5690366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8" name="Diamond 27"/>
          <p:cNvSpPr/>
          <p:nvPr/>
        </p:nvSpPr>
        <p:spPr>
          <a:xfrm>
            <a:off x="2370317" y="5988822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Diamond 28"/>
          <p:cNvSpPr/>
          <p:nvPr/>
        </p:nvSpPr>
        <p:spPr>
          <a:xfrm>
            <a:off x="2972625" y="5988823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Diamond 29"/>
          <p:cNvSpPr/>
          <p:nvPr/>
        </p:nvSpPr>
        <p:spPr>
          <a:xfrm>
            <a:off x="3691931" y="5927968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Diamond 30"/>
          <p:cNvSpPr/>
          <p:nvPr/>
        </p:nvSpPr>
        <p:spPr>
          <a:xfrm>
            <a:off x="3691638" y="5486491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2" name="Diamond 31"/>
          <p:cNvSpPr/>
          <p:nvPr/>
        </p:nvSpPr>
        <p:spPr>
          <a:xfrm>
            <a:off x="4194265" y="4956050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3" name="Diamond 32"/>
          <p:cNvSpPr/>
          <p:nvPr/>
        </p:nvSpPr>
        <p:spPr>
          <a:xfrm>
            <a:off x="4209763" y="5398666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4" name="Diamond 33"/>
          <p:cNvSpPr/>
          <p:nvPr/>
        </p:nvSpPr>
        <p:spPr>
          <a:xfrm>
            <a:off x="4212637" y="5854543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5" name="Diamond 34"/>
          <p:cNvSpPr/>
          <p:nvPr/>
        </p:nvSpPr>
        <p:spPr>
          <a:xfrm>
            <a:off x="4566455" y="5802233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6" name="Diamond 35"/>
          <p:cNvSpPr/>
          <p:nvPr/>
        </p:nvSpPr>
        <p:spPr>
          <a:xfrm>
            <a:off x="4979592" y="5810530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7" name="Diamond 36"/>
          <p:cNvSpPr/>
          <p:nvPr/>
        </p:nvSpPr>
        <p:spPr>
          <a:xfrm>
            <a:off x="4933545" y="5192097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8" name="Diamond 37"/>
          <p:cNvSpPr/>
          <p:nvPr/>
        </p:nvSpPr>
        <p:spPr>
          <a:xfrm>
            <a:off x="4521477" y="5216104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9" name="Diamond 38"/>
          <p:cNvSpPr/>
          <p:nvPr/>
        </p:nvSpPr>
        <p:spPr>
          <a:xfrm>
            <a:off x="4675703" y="4552047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0" name="Diamond 39"/>
          <p:cNvSpPr/>
          <p:nvPr/>
        </p:nvSpPr>
        <p:spPr>
          <a:xfrm>
            <a:off x="5351023" y="4615604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1" name="Diamond 40"/>
          <p:cNvSpPr/>
          <p:nvPr/>
        </p:nvSpPr>
        <p:spPr>
          <a:xfrm>
            <a:off x="5640935" y="5124076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2" name="Diamond 41"/>
          <p:cNvSpPr/>
          <p:nvPr/>
        </p:nvSpPr>
        <p:spPr>
          <a:xfrm>
            <a:off x="5677097" y="5730524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3" name="Diamond 42"/>
          <p:cNvSpPr/>
          <p:nvPr/>
        </p:nvSpPr>
        <p:spPr>
          <a:xfrm>
            <a:off x="6515836" y="5721343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4" name="Diamond 43"/>
          <p:cNvSpPr/>
          <p:nvPr/>
        </p:nvSpPr>
        <p:spPr>
          <a:xfrm>
            <a:off x="6490004" y="5175737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5" name="Diamond 44"/>
          <p:cNvSpPr/>
          <p:nvPr/>
        </p:nvSpPr>
        <p:spPr>
          <a:xfrm>
            <a:off x="6612851" y="4574567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6" name="Diamond 45"/>
          <p:cNvSpPr/>
          <p:nvPr/>
        </p:nvSpPr>
        <p:spPr>
          <a:xfrm>
            <a:off x="6083552" y="4571325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7" name="Diamond 46"/>
          <p:cNvSpPr/>
          <p:nvPr/>
        </p:nvSpPr>
        <p:spPr>
          <a:xfrm>
            <a:off x="5842802" y="3806735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8" name="Diamond 47"/>
          <p:cNvSpPr/>
          <p:nvPr/>
        </p:nvSpPr>
        <p:spPr>
          <a:xfrm>
            <a:off x="6231090" y="3791237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9" name="Diamond 48"/>
          <p:cNvSpPr/>
          <p:nvPr/>
        </p:nvSpPr>
        <p:spPr>
          <a:xfrm>
            <a:off x="6649015" y="3786070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0" name="Diamond 49"/>
          <p:cNvSpPr/>
          <p:nvPr/>
        </p:nvSpPr>
        <p:spPr>
          <a:xfrm>
            <a:off x="6491561" y="3211666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1" name="Diamond 50"/>
          <p:cNvSpPr/>
          <p:nvPr/>
        </p:nvSpPr>
        <p:spPr>
          <a:xfrm>
            <a:off x="5941179" y="3212126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2" name="Diamond 51"/>
          <p:cNvSpPr/>
          <p:nvPr/>
        </p:nvSpPr>
        <p:spPr>
          <a:xfrm>
            <a:off x="5534725" y="3273382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3" name="Diamond 52"/>
          <p:cNvSpPr/>
          <p:nvPr/>
        </p:nvSpPr>
        <p:spPr>
          <a:xfrm>
            <a:off x="5233341" y="3272524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4" name="Diamond 53"/>
          <p:cNvSpPr/>
          <p:nvPr/>
        </p:nvSpPr>
        <p:spPr>
          <a:xfrm>
            <a:off x="5344718" y="3954575"/>
            <a:ext cx="152705" cy="152705"/>
          </a:xfrm>
          <a:prstGeom prst="diamond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527829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В дъното на рекурсията при генерирането на стаите</a:t>
            </a:r>
          </a:p>
          <a:p>
            <a:pPr lvl="1"/>
            <a:r>
              <a:rPr lang="bg-BG" dirty="0"/>
              <a:t>Слагаме диамант в средата на всяка стая</a:t>
            </a:r>
          </a:p>
          <a:p>
            <a:pPr lvl="1"/>
            <a:r>
              <a:rPr lang="bg-BG" dirty="0"/>
              <a:t>Формата на диаманта е геодезична сфера в нейния най-груб вид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512770"/>
            <a:ext cx="8534400" cy="4040430"/>
          </a:xfrm>
          <a:prstGeom prst="snip2DiagRect">
            <a:avLst>
              <a:gd name="adj1" fmla="val 0"/>
              <a:gd name="adj2" fmla="val 69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GEODESIC_SIDES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labyrinth(x1,x2,y1,y2)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(m&lt;=10)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diamonds.push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custom(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GeodesicSphere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[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x1/2+x2/2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y1/2+y2/2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,-0.2], 1/4 ),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rot:[0,0,0],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color:[random(0.5,1.5),random(0.5,1.5),random(0.5,1.5)]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}) ); 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return;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16334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749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98444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Събиране на диаманти</a:t>
            </a:r>
          </a:p>
          <a:p>
            <a:pPr lvl="1"/>
            <a:r>
              <a:rPr lang="bg-BG" dirty="0"/>
              <a:t>На всяка стъпка проверяваме дали има диамант, който е близо до положението</a:t>
            </a:r>
          </a:p>
          <a:p>
            <a:pPr lvl="1"/>
            <a:r>
              <a:rPr lang="bg-BG" dirty="0"/>
              <a:t>Ако има, махаме го от масива със </a:t>
            </a:r>
            <a:r>
              <a:rPr lang="en-US" b="1" dirty="0"/>
              <a:t>splice</a:t>
            </a:r>
          </a:p>
          <a:p>
            <a:pPr lvl="1"/>
            <a:r>
              <a:rPr lang="bg-BG" dirty="0"/>
              <a:t>Показваме в заглавието оставащия брой диаманти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581706"/>
            <a:ext cx="8534400" cy="2971494"/>
          </a:xfrm>
          <a:prstGeom prst="snip2DiagRect">
            <a:avLst>
              <a:gd name="adj1" fmla="val 0"/>
              <a:gd name="adj2" fmla="val 69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diamonds.length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[0]-diamonds[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].center[0])&lt;1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&amp;&amp;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[1]-diamonds[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].center[1])&lt;1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diamonds.splice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(i,1);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document.getElementsByTagName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('h2')[0].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innerHTML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	    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Събиране на диаманти - остават '+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diamonds.length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break;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4378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 action="ppaction://hlinkfile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512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749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61713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Декориране и оформяне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08912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Декориране и оформяне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Идеи</a:t>
            </a:r>
          </a:p>
          <a:p>
            <a:pPr lvl="1"/>
            <a:r>
              <a:rPr lang="bg-BG" dirty="0"/>
              <a:t>Текстура на стените и пода</a:t>
            </a:r>
          </a:p>
          <a:p>
            <a:pPr lvl="1"/>
            <a:r>
              <a:rPr lang="bg-BG" dirty="0"/>
              <a:t>Рамки на вратите</a:t>
            </a:r>
          </a:p>
          <a:p>
            <a:pPr lvl="1"/>
            <a:r>
              <a:rPr lang="bg-BG" dirty="0"/>
              <a:t>Светлинна експлозия</a:t>
            </a:r>
            <a:endParaRPr lang="en-US" dirty="0"/>
          </a:p>
          <a:p>
            <a:pPr lvl="1"/>
            <a:r>
              <a:rPr lang="bg-BG" dirty="0"/>
              <a:t>Колекция от диаманти</a:t>
            </a:r>
            <a:endParaRPr lang="en-US" dirty="0"/>
          </a:p>
          <a:p>
            <a:pPr lvl="1"/>
            <a:r>
              <a:rPr lang="bg-BG" dirty="0"/>
              <a:t>Скачане, отстъпване, дишане</a:t>
            </a:r>
          </a:p>
        </p:txBody>
      </p:sp>
    </p:spTree>
    <p:extLst>
      <p:ext uri="{BB962C8B-B14F-4D97-AF65-F5344CB8AC3E}">
        <p14:creationId xmlns:p14="http://schemas.microsoft.com/office/powerpoint/2010/main" val="23073477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Текстури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Добавяне на текстура</a:t>
            </a:r>
          </a:p>
          <a:p>
            <a:pPr lvl="1"/>
            <a:r>
              <a:rPr lang="bg-BG" dirty="0"/>
              <a:t>Стените да са с текстура (хоризонтални ленти)</a:t>
            </a:r>
          </a:p>
          <a:p>
            <a:pPr lvl="1"/>
            <a:r>
              <a:rPr lang="bg-BG" dirty="0"/>
              <a:t>Подът да е с текстура (мраморна мозайка)</a:t>
            </a:r>
          </a:p>
        </p:txBody>
      </p:sp>
      <p:pic>
        <p:nvPicPr>
          <p:cNvPr id="1026" name="Picture 2" descr="D:\Pavel\Courses\MATERIALS\Course.WebGL 2015-16\Lectures\WebGL-23 Game Labyrinth\Example 9 - Textured walls\Marble_05_UV_H_CM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625" y="3429000"/>
            <a:ext cx="1832460" cy="183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Pavel\Courses\MATERIALS\Course.WebGL 2015-16\Lectures\WebGL-23 Game Labyrinth\Example 9 - Textured walls\Concrete_14_UV_H_CM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425" y="3429000"/>
            <a:ext cx="1832460" cy="183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823310" y="6320135"/>
            <a:ext cx="72444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Indented Concrete 2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 и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Sandstone Stone, 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предоставени любезно от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maxTextures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Автор: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Max Boughen</a:t>
            </a:r>
            <a:r>
              <a:rPr lang="bg-BG" sz="1200" dirty="0">
                <a:solidFill>
                  <a:schemeClr val="bg1">
                    <a:lumMod val="65000"/>
                  </a:schemeClr>
                </a:solidFill>
              </a:rPr>
              <a:t>, Всички права запазени</a:t>
            </a:r>
            <a:r>
              <a:rPr lang="en-GB" sz="1200" dirty="0">
                <a:solidFill>
                  <a:schemeClr val="bg1">
                    <a:lumMod val="65000"/>
                  </a:schemeClr>
                </a:solidFill>
              </a:rPr>
              <a:t> www.maxtextures.com</a:t>
            </a:r>
            <a:endParaRPr lang="bg-BG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627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Текстури</a:t>
            </a:r>
          </a:p>
          <a:p>
            <a:pPr lvl="1"/>
            <a:r>
              <a:rPr lang="bg-BG" dirty="0"/>
              <a:t>Една текстура за всички стени и втора за пода</a:t>
            </a:r>
          </a:p>
          <a:p>
            <a:pPr lvl="1"/>
            <a:r>
              <a:rPr lang="bg-BG" dirty="0"/>
              <a:t>Добавяме променлива </a:t>
            </a:r>
            <a:r>
              <a:rPr lang="en-US" b="1" dirty="0" err="1"/>
              <a:t>uUseTexture</a:t>
            </a:r>
            <a:r>
              <a:rPr lang="bg-BG" dirty="0"/>
              <a:t> в </a:t>
            </a:r>
            <a:r>
              <a:rPr lang="bg-BG" dirty="0" err="1"/>
              <a:t>шейдъра</a:t>
            </a:r>
            <a:r>
              <a:rPr lang="bg-BG" dirty="0"/>
              <a:t> за фрагменти, ако нейната стойност е </a:t>
            </a:r>
            <a:r>
              <a:rPr lang="en-US" b="1" dirty="0"/>
              <a:t>true</a:t>
            </a:r>
            <a:r>
              <a:rPr lang="en-US" dirty="0"/>
              <a:t>,</a:t>
            </a:r>
            <a:r>
              <a:rPr lang="bg-BG" dirty="0"/>
              <a:t> се ползва цвят от текстура, ако е </a:t>
            </a:r>
            <a:r>
              <a:rPr lang="en-US" b="1" dirty="0"/>
              <a:t>false</a:t>
            </a:r>
            <a:r>
              <a:rPr lang="en-US" dirty="0"/>
              <a:t> –</a:t>
            </a:r>
            <a:r>
              <a:rPr lang="bg-BG" dirty="0"/>
              <a:t> ползва се само цветът на обекта</a:t>
            </a:r>
          </a:p>
          <a:p>
            <a:pPr lvl="1"/>
            <a:r>
              <a:rPr lang="bg-BG" dirty="0"/>
              <a:t>За рисуване на диамантите изключваме текстурите и деактивираме подаването на </a:t>
            </a:r>
            <a:r>
              <a:rPr lang="bg-BG" dirty="0" err="1"/>
              <a:t>текстурни</a:t>
            </a:r>
            <a:r>
              <a:rPr lang="bg-BG" dirty="0"/>
              <a:t> координати през атрибутната променлива </a:t>
            </a:r>
            <a:r>
              <a:rPr lang="en-US" b="1" dirty="0" err="1"/>
              <a:t>aST</a:t>
            </a:r>
            <a:endParaRPr lang="bg-BG" b="1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3429000"/>
            <a:ext cx="8534400" cy="3124200"/>
          </a:xfrm>
          <a:prstGeom prst="snip2DiagRect">
            <a:avLst>
              <a:gd name="adj1" fmla="val 0"/>
              <a:gd name="adj2" fmla="val 695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gl.uniform1i(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uSampler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0);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gl.activeTexture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(gl.TEXTURE0);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texWall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loadTexture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('Concrete_14_UV_H_CM_1.jpg');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texFloor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loadTexture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('Marble_05_UV_H_CM_1.jpg');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gl.uniform1i(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uUseTexture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,true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wall.length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... 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others.length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 ... 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gl.uniform1i(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uUseTexture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,false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disableVertexAttribArray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aST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diamonds.length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 ... }</a:t>
            </a:r>
          </a:p>
        </p:txBody>
      </p:sp>
    </p:spTree>
    <p:extLst>
      <p:ext uri="{BB962C8B-B14F-4D97-AF65-F5344CB8AC3E}">
        <p14:creationId xmlns:p14="http://schemas.microsoft.com/office/powerpoint/2010/main" val="3983297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749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47623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Рамка на вратите</a:t>
            </a:r>
          </a:p>
          <a:p>
            <a:pPr lvl="1"/>
            <a:r>
              <a:rPr lang="bg-BG" dirty="0"/>
              <a:t>Около вратите (страничките плоскости на стените) се вижда дефект в текстурата</a:t>
            </a:r>
          </a:p>
          <a:p>
            <a:pPr lvl="1"/>
            <a:r>
              <a:rPr lang="bg-BG" dirty="0"/>
              <a:t>Причината е, че засега една и съща </a:t>
            </a:r>
            <a:r>
              <a:rPr lang="bg-BG" dirty="0" err="1"/>
              <a:t>текстурна</a:t>
            </a:r>
            <a:r>
              <a:rPr lang="bg-BG" dirty="0"/>
              <a:t> матрица се ползва за всички стени на паралелепипед</a:t>
            </a:r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  <a:p>
            <a:pPr lvl="1"/>
            <a:r>
              <a:rPr lang="bg-BG" dirty="0"/>
              <a:t>Вариант №1 – добавяме възможност за различни матрици</a:t>
            </a:r>
          </a:p>
          <a:p>
            <a:pPr lvl="1"/>
            <a:r>
              <a:rPr lang="bg-BG" dirty="0"/>
              <a:t>Вариант №2 – дефинираме нов обект, около който текстурата се увива плавно</a:t>
            </a:r>
          </a:p>
          <a:p>
            <a:pPr lvl="1"/>
            <a:r>
              <a:rPr lang="bg-BG" dirty="0"/>
              <a:t>Вариант №3 – скриваме дефекта, като сложим рамка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0" t="25460" r="11087" b="5433"/>
          <a:stretch/>
        </p:blipFill>
        <p:spPr bwMode="auto">
          <a:xfrm>
            <a:off x="907080" y="2360065"/>
            <a:ext cx="3462299" cy="25057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75" t="77581" r="56772" b="5143"/>
          <a:stretch/>
        </p:blipFill>
        <p:spPr bwMode="auto">
          <a:xfrm>
            <a:off x="4774622" y="2360065"/>
            <a:ext cx="3462298" cy="25057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606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Функция </a:t>
            </a:r>
            <a:r>
              <a:rPr lang="en-US" b="1" dirty="0"/>
              <a:t>Door</a:t>
            </a:r>
            <a:r>
              <a:rPr lang="en-US" dirty="0"/>
              <a:t>,</a:t>
            </a:r>
            <a:r>
              <a:rPr lang="bg-BG" dirty="0"/>
              <a:t> създаваща две странични плоскости и една плоскост отгоре</a:t>
            </a:r>
          </a:p>
          <a:p>
            <a:pPr lvl="1"/>
            <a:r>
              <a:rPr lang="bg-BG" dirty="0"/>
              <a:t>Параметрите </a:t>
            </a:r>
            <a:r>
              <a:rPr lang="en-US" b="1" dirty="0"/>
              <a:t>x</a:t>
            </a:r>
            <a:r>
              <a:rPr lang="bg-BG" dirty="0"/>
              <a:t> и </a:t>
            </a:r>
            <a:r>
              <a:rPr lang="en-US" b="1" dirty="0"/>
              <a:t>y</a:t>
            </a:r>
            <a:r>
              <a:rPr lang="bg-BG" dirty="0"/>
              <a:t> са координати на едната рамка, а другата се намира на </a:t>
            </a:r>
            <a:r>
              <a:rPr lang="en-US" b="1" dirty="0" err="1"/>
              <a:t>x+dx</a:t>
            </a:r>
            <a:r>
              <a:rPr lang="bg-BG" dirty="0"/>
              <a:t> и </a:t>
            </a:r>
            <a:r>
              <a:rPr lang="en-US" b="1" dirty="0" err="1"/>
              <a:t>y+dy</a:t>
            </a:r>
            <a:r>
              <a:rPr lang="en-US" dirty="0"/>
              <a:t> (</a:t>
            </a:r>
            <a:r>
              <a:rPr lang="bg-BG" dirty="0"/>
              <a:t>като едно от </a:t>
            </a:r>
            <a:r>
              <a:rPr lang="en-US" b="1" dirty="0"/>
              <a:t>dx</a:t>
            </a:r>
            <a:r>
              <a:rPr lang="bg-BG" dirty="0"/>
              <a:t> и </a:t>
            </a:r>
            <a:r>
              <a:rPr lang="en-US" b="1" dirty="0" err="1"/>
              <a:t>dy</a:t>
            </a:r>
            <a:r>
              <a:rPr lang="bg-BG" dirty="0"/>
              <a:t> е 0, а другото е 2, така се определя ориентацията на вратата)</a:t>
            </a:r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2665475"/>
            <a:ext cx="8534400" cy="3887725"/>
          </a:xfrm>
          <a:prstGeom prst="snip2DiagRect">
            <a:avLst>
              <a:gd name="adj1" fmla="val 0"/>
              <a:gd name="adj2" fmla="val 4876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 =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texIdentity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texScale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(m,[1,6]);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{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color: [1.2,1,0.9],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texture: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texFloor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texMatrix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m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0.04+0.16*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0.04+0.16*dx;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others.push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(custom(new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],[sx,sy,2]),style));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others.push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(custom(new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],[sx,sy,2]),style));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style.rot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[0,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45*dx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45*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others.push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(custom(new 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Cuboid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],[sx,sy,1.73]),style));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19222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749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36138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Светлинна експлозия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Идея</a:t>
            </a:r>
          </a:p>
          <a:p>
            <a:pPr lvl="1"/>
            <a:r>
              <a:rPr lang="bg-BG" dirty="0"/>
              <a:t>При вземане на диамант да става експлозия</a:t>
            </a:r>
          </a:p>
          <a:p>
            <a:pPr lvl="1"/>
            <a:r>
              <a:rPr lang="bg-BG" dirty="0"/>
              <a:t>Цялото графично поле побелява изцяло, дори и</a:t>
            </a:r>
            <a:br>
              <a:rPr lang="bg-BG" dirty="0"/>
            </a:br>
            <a:r>
              <a:rPr lang="bg-BG" dirty="0"/>
              <a:t>най-тъмните зони, подобно на временна слепота</a:t>
            </a:r>
          </a:p>
          <a:p>
            <a:pPr lvl="1"/>
            <a:r>
              <a:rPr lang="bg-BG" dirty="0"/>
              <a:t>Постепенно цветовете се възвръщат</a:t>
            </a:r>
          </a:p>
          <a:p>
            <a:pPr lvl="1"/>
            <a:endParaRPr lang="bg-BG" dirty="0"/>
          </a:p>
          <a:p>
            <a:r>
              <a:rPr lang="bg-BG" dirty="0"/>
              <a:t>Промяна в </a:t>
            </a:r>
            <a:r>
              <a:rPr lang="bg-BG" dirty="0" err="1"/>
              <a:t>шейдъра</a:t>
            </a:r>
            <a:r>
              <a:rPr lang="bg-BG" dirty="0"/>
              <a:t> за фрагменти</a:t>
            </a:r>
          </a:p>
          <a:p>
            <a:pPr lvl="1"/>
            <a:r>
              <a:rPr lang="bg-BG" dirty="0"/>
              <a:t>Нова глобална променлива </a:t>
            </a:r>
            <a:r>
              <a:rPr lang="en-US" b="1" dirty="0" err="1"/>
              <a:t>uExplosion</a:t>
            </a:r>
            <a:r>
              <a:rPr lang="bg-BG" dirty="0"/>
              <a:t> между 0 и 1; ако е 1, всичко става бяло, а при 0 е оригиналният цвят 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956050"/>
            <a:ext cx="8534400" cy="1597150"/>
          </a:xfrm>
          <a:prstGeom prst="snip2DiagRect">
            <a:avLst>
              <a:gd name="adj1" fmla="val 0"/>
              <a:gd name="adj2" fmla="val 1666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uniform float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uExplosion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main( 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...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gl_FragColor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vec4(k*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*texCol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+vec3(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uExplosion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,1.0);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93117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Реализация на експлозията</a:t>
            </a:r>
          </a:p>
          <a:p>
            <a:pPr lvl="1"/>
            <a:r>
              <a:rPr lang="bg-BG" dirty="0"/>
              <a:t>Променливата </a:t>
            </a:r>
            <a:r>
              <a:rPr lang="en-US" b="1" dirty="0" err="1"/>
              <a:t>explo</a:t>
            </a:r>
            <a:r>
              <a:rPr lang="bg-BG" dirty="0"/>
              <a:t> е текущата степен на експлозия</a:t>
            </a:r>
          </a:p>
          <a:p>
            <a:pPr lvl="1"/>
            <a:r>
              <a:rPr lang="bg-BG" dirty="0"/>
              <a:t>Нейната стойност се ползва за променливата </a:t>
            </a:r>
            <a:r>
              <a:rPr lang="en-US" b="1" dirty="0" err="1"/>
              <a:t>uExplosion</a:t>
            </a:r>
            <a:r>
              <a:rPr lang="en-US" dirty="0"/>
              <a:t> </a:t>
            </a:r>
            <a:endParaRPr lang="bg-BG" dirty="0"/>
          </a:p>
          <a:p>
            <a:pPr lvl="1"/>
            <a:r>
              <a:rPr lang="bg-BG" dirty="0"/>
              <a:t>Понеже в </a:t>
            </a:r>
            <a:r>
              <a:rPr lang="bg-BG" dirty="0" err="1"/>
              <a:t>шейдъра</a:t>
            </a:r>
            <a:r>
              <a:rPr lang="bg-BG" dirty="0"/>
              <a:t> за фрагменти не се обработват пиксели от фона, стойността на </a:t>
            </a:r>
            <a:r>
              <a:rPr lang="en-US" b="1" dirty="0" err="1"/>
              <a:t>explo</a:t>
            </a:r>
            <a:r>
              <a:rPr lang="bg-BG" dirty="0"/>
              <a:t> се използва и за задаване на фоновия цвят в </a:t>
            </a:r>
            <a:r>
              <a:rPr lang="en-US" b="1" dirty="0" err="1"/>
              <a:t>clearColor</a:t>
            </a:r>
            <a:endParaRPr lang="bg-BG" b="1" dirty="0"/>
          </a:p>
          <a:p>
            <a:pPr lvl="1"/>
            <a:r>
              <a:rPr lang="bg-BG" dirty="0"/>
              <a:t>При вземане на диамант </a:t>
            </a:r>
            <a:r>
              <a:rPr lang="en-US" b="1" dirty="0" err="1"/>
              <a:t>explo</a:t>
            </a:r>
            <a:r>
              <a:rPr lang="bg-BG" dirty="0"/>
              <a:t> става 1</a:t>
            </a:r>
          </a:p>
          <a:p>
            <a:pPr lvl="1"/>
            <a:r>
              <a:rPr lang="bg-BG" dirty="0"/>
              <a:t>Иначе на всеки цикъл от анимацията </a:t>
            </a:r>
            <a:r>
              <a:rPr lang="en-US" b="1" dirty="0" err="1"/>
              <a:t>explo</a:t>
            </a:r>
            <a:r>
              <a:rPr lang="bg-BG" b="1" dirty="0"/>
              <a:t> </a:t>
            </a:r>
            <a:r>
              <a:rPr lang="bg-BG" dirty="0"/>
              <a:t>се намалява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3429000"/>
            <a:ext cx="8534400" cy="3124200"/>
          </a:xfrm>
          <a:prstGeom prst="snip2DiagRect">
            <a:avLst>
              <a:gd name="adj1" fmla="val 0"/>
              <a:gd name="adj2" fmla="val 7624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diamonds.length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Math.abs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[0]-diamonds[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].center[0])&lt;1 &amp;&amp;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 )</a:t>
            </a:r>
            <a:endParaRPr lang="en-US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	</a:t>
            </a:r>
            <a:r>
              <a:rPr lang="bg-BG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explo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bg-BG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break;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uniform1f(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uExplosion,explo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clearColor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(explo,explo,explo,1);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explo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*= (1-dTime)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097535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5122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374900"/>
            <a:ext cx="610552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40531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Колекция от диаманти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Нова функционалност</a:t>
            </a:r>
          </a:p>
          <a:p>
            <a:pPr lvl="1"/>
            <a:r>
              <a:rPr lang="bg-BG" dirty="0"/>
              <a:t>Събраните диаманти да се показват отдолу на екрана</a:t>
            </a:r>
          </a:p>
          <a:p>
            <a:pPr lvl="1"/>
            <a:r>
              <a:rPr lang="bg-BG" dirty="0"/>
              <a:t>И графичното поле да заема целия прозорец</a:t>
            </a:r>
          </a:p>
          <a:p>
            <a:pPr lvl="1"/>
            <a:endParaRPr lang="bg-BG" dirty="0"/>
          </a:p>
          <a:p>
            <a:r>
              <a:rPr lang="bg-BG" dirty="0"/>
              <a:t>Реализация</a:t>
            </a:r>
          </a:p>
          <a:p>
            <a:pPr lvl="1"/>
            <a:r>
              <a:rPr lang="bg-BG" dirty="0"/>
              <a:t>Всеки диамант има ново свойство – </a:t>
            </a:r>
            <a:r>
              <a:rPr lang="en-US" b="1" dirty="0"/>
              <a:t>collected</a:t>
            </a:r>
          </a:p>
          <a:p>
            <a:pPr lvl="1"/>
            <a:r>
              <a:rPr lang="bg-BG" dirty="0"/>
              <a:t>За взетите диаманти</a:t>
            </a:r>
            <a:r>
              <a:rPr lang="en-US" dirty="0"/>
              <a:t> </a:t>
            </a:r>
            <a:r>
              <a:rPr lang="en-US" b="1" dirty="0"/>
              <a:t>collected</a:t>
            </a:r>
            <a:r>
              <a:rPr lang="bg-BG" dirty="0"/>
              <a:t> е </a:t>
            </a:r>
            <a:r>
              <a:rPr lang="en-US" b="1" dirty="0"/>
              <a:t>true</a:t>
            </a:r>
            <a:r>
              <a:rPr lang="bg-BG" dirty="0"/>
              <a:t> и те не се изтриват от масива с диаманти </a:t>
            </a:r>
            <a:r>
              <a:rPr lang="en-US" b="1" dirty="0"/>
              <a:t>diamonds</a:t>
            </a:r>
          </a:p>
          <a:p>
            <a:pPr lvl="1"/>
            <a:r>
              <a:rPr lang="bg-BG" dirty="0"/>
              <a:t>Нормалното рисуване на диамант в лабиринта се отнася само за тези, които не са събрани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5414165"/>
            <a:ext cx="8534400" cy="1139034"/>
          </a:xfrm>
          <a:prstGeom prst="snip2DiagRect">
            <a:avLst>
              <a:gd name="adj1" fmla="val 0"/>
              <a:gd name="adj2" fmla="val 26833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diamonds.length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!diamonds[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].collected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diamonds[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].draw();</a:t>
            </a:r>
          </a:p>
        </p:txBody>
      </p:sp>
    </p:spTree>
    <p:extLst>
      <p:ext uri="{BB962C8B-B14F-4D97-AF65-F5344CB8AC3E}">
        <p14:creationId xmlns:p14="http://schemas.microsoft.com/office/powerpoint/2010/main" val="32401902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bg-BG" dirty="0"/>
              <a:t>За събраните диаманти наслагваме нов кадър, като изчистваме буфера за дълбочина, запазвайки цветовете</a:t>
            </a:r>
          </a:p>
          <a:p>
            <a:pPr lvl="1"/>
            <a:r>
              <a:rPr lang="bg-BG" dirty="0"/>
              <a:t>Имаме нова проекция, нова гледна точка</a:t>
            </a:r>
          </a:p>
          <a:p>
            <a:pPr lvl="1"/>
            <a:r>
              <a:rPr lang="bg-BG" dirty="0"/>
              <a:t>Диамантите ги разполагаме в редица в долния край на екрана</a:t>
            </a:r>
            <a:r>
              <a:rPr lang="en-US" dirty="0"/>
              <a:t> </a:t>
            </a:r>
            <a:r>
              <a:rPr lang="bg-BG" dirty="0"/>
              <a:t>от </a:t>
            </a:r>
            <a:r>
              <a:rPr lang="en-US" b="1" dirty="0"/>
              <a:t>–</a:t>
            </a:r>
            <a:r>
              <a:rPr lang="en-US" b="1" dirty="0" err="1"/>
              <a:t>dX</a:t>
            </a:r>
            <a:r>
              <a:rPr lang="bg-BG" dirty="0"/>
              <a:t> до </a:t>
            </a:r>
            <a:r>
              <a:rPr lang="en-US" b="1" dirty="0"/>
              <a:t>+</a:t>
            </a:r>
            <a:r>
              <a:rPr lang="en-US" b="1" dirty="0" err="1"/>
              <a:t>dX</a:t>
            </a:r>
            <a:r>
              <a:rPr lang="bg-BG" dirty="0"/>
              <a:t> по оста </a:t>
            </a:r>
            <a:r>
              <a:rPr lang="en-US" dirty="0"/>
              <a:t>X</a:t>
            </a:r>
          </a:p>
          <a:p>
            <a:pPr lvl="1"/>
            <a:r>
              <a:rPr lang="bg-BG" dirty="0"/>
              <a:t>Ако редът се напълни, преминаваме към по-горен ред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2665474"/>
            <a:ext cx="8534400" cy="3887725"/>
          </a:xfrm>
          <a:prstGeom prst="snip2DiagRect">
            <a:avLst>
              <a:gd name="adj1" fmla="val 0"/>
              <a:gd name="adj2" fmla="val 7624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ortho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(gl.canvas.width,gl.canvas.height,-1000,1000);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clear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DEPTH_BUFFER_BIT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lookAt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([0,0,1000],[0,0,0],[0,1,0]);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Math.round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gl.canvas.width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/2/50)*50-50;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x=-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=-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Math.round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gl.canvas.height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/2/50)*50+50;</a:t>
            </a:r>
            <a:endParaRPr lang="bg-BG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diamonds.length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if (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diamonds[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].collected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diamonds[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center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,0];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diamonds[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].draw();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x += 50;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if (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x&gt;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{x=-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dX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y+=50;}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9946107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60" y="527605"/>
            <a:ext cx="8595174" cy="519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18843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Скачане, отстъпване, дишане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Добавка на дребни движения</a:t>
            </a:r>
          </a:p>
          <a:p>
            <a:pPr lvl="1"/>
            <a:r>
              <a:rPr lang="bg-BG" dirty="0"/>
              <a:t>Скачане, без прескачане, активира се с интервал</a:t>
            </a:r>
          </a:p>
          <a:p>
            <a:pPr lvl="1"/>
            <a:r>
              <a:rPr lang="bg-BG" dirty="0"/>
              <a:t>Запомня се времето на скока, самият скок е фрагмент от синусоида от 0 до 180</a:t>
            </a:r>
            <a:r>
              <a:rPr lang="bg-BG" dirty="0">
                <a:sym typeface="Symbol"/>
              </a:rPr>
              <a:t>, височина 6 единици, 2-секунден </a:t>
            </a:r>
            <a:endParaRPr lang="bg-BG" dirty="0"/>
          </a:p>
          <a:p>
            <a:pPr lvl="1"/>
            <a:r>
              <a:rPr lang="bg-BG" dirty="0"/>
              <a:t>По време на скачането се отдалечава затъмняването с </a:t>
            </a:r>
            <a:r>
              <a:rPr lang="en-US" b="1" dirty="0" err="1"/>
              <a:t>uFog</a:t>
            </a:r>
            <a:r>
              <a:rPr lang="en-US" dirty="0"/>
              <a:t>,</a:t>
            </a:r>
            <a:r>
              <a:rPr lang="bg-BG" dirty="0"/>
              <a:t> за да се вижда по-далеч</a:t>
            </a:r>
          </a:p>
          <a:p>
            <a:pPr lvl="1"/>
            <a:r>
              <a:rPr lang="bg-BG" dirty="0"/>
              <a:t>Добавено е и </a:t>
            </a:r>
            <a:r>
              <a:rPr lang="bg-BG" dirty="0" err="1"/>
              <a:t>микродвижение</a:t>
            </a:r>
            <a:r>
              <a:rPr lang="bg-BG" dirty="0"/>
              <a:t> с амплитуда 0.01, което създава илюзията за дишане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4345230"/>
            <a:ext cx="8534400" cy="2207969"/>
          </a:xfrm>
          <a:prstGeom prst="snip2DiagRect">
            <a:avLst>
              <a:gd name="adj1" fmla="val 0"/>
              <a:gd name="adj2" fmla="val 7624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jumpZ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gl.uniform1f(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uFog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,15.0);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time-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jumpTime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&lt;=2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jumpZ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sin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Math.PI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*(time-</a:t>
            </a:r>
            <a:r>
              <a:rPr lang="en-GB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jumpTime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)/2);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gl.uniform1f(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uFog,15.0+3*</a:t>
            </a: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jumpZ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GB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jumpZ</a:t>
            </a:r>
            <a:r>
              <a:rPr lang="en-GB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0.01*sin(3*time)</a:t>
            </a:r>
            <a:r>
              <a:rPr lang="en-GB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7687053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Отстъпване</a:t>
            </a:r>
          </a:p>
          <a:p>
            <a:pPr lvl="1"/>
            <a:r>
              <a:rPr lang="bg-BG" dirty="0"/>
              <a:t>Със стрелка надолу </a:t>
            </a:r>
            <a:r>
              <a:rPr lang="en-US" dirty="0"/>
              <a:t>[ </a:t>
            </a:r>
            <a:r>
              <a:rPr lang="en-US" dirty="0">
                <a:sym typeface="Symbol"/>
              </a:rPr>
              <a:t></a:t>
            </a:r>
            <a:r>
              <a:rPr lang="en-US" dirty="0"/>
              <a:t> ]</a:t>
            </a:r>
            <a:r>
              <a:rPr lang="bg-BG" dirty="0"/>
              <a:t> се отдръпваме назад, може да минаваме през врати, но не и през стени</a:t>
            </a:r>
          </a:p>
          <a:p>
            <a:pPr lvl="1"/>
            <a:r>
              <a:rPr lang="bg-BG" dirty="0"/>
              <a:t>Реализирано като движение напред, но с отрицателно разстояние в </a:t>
            </a:r>
            <a:r>
              <a:rPr lang="en-US" b="1" dirty="0" err="1"/>
              <a:t>dPos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bg-BG" dirty="0"/>
              <a:t>Бързо и бавно въртене</a:t>
            </a:r>
          </a:p>
          <a:p>
            <a:pPr lvl="1"/>
            <a:r>
              <a:rPr lang="bg-BG" dirty="0"/>
              <a:t>При движение, въртенето е добре да е по-бавно, понеже се симулира движение по дъга</a:t>
            </a:r>
          </a:p>
          <a:p>
            <a:pPr lvl="1"/>
            <a:r>
              <a:rPr lang="bg-BG" dirty="0"/>
              <a:t>При стоене, въртенето е добре да е по-бързо, понеже се симулира оглеждане</a:t>
            </a:r>
          </a:p>
          <a:p>
            <a:pPr lvl="1"/>
            <a:r>
              <a:rPr lang="bg-BG" dirty="0"/>
              <a:t>Това е установено експериментално</a:t>
            </a:r>
            <a:endParaRPr lang="en-US" dirty="0"/>
          </a:p>
          <a:p>
            <a:pPr lvl="1"/>
            <a:endParaRPr lang="bg-BG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304800" y="5872280"/>
            <a:ext cx="8534400" cy="680919"/>
          </a:xfrm>
          <a:prstGeom prst="snip2DiagRect">
            <a:avLst>
              <a:gd name="adj1" fmla="val 0"/>
              <a:gd name="adj2" fmla="val 3922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kLeft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dDir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+((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kForward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kBackward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)?0.8:1.6)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kRight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dDir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-((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kForward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kBackward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)?0.8:1.6)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4" name="Snip Diagonal Corner Rectangle 3"/>
          <p:cNvSpPr/>
          <p:nvPr/>
        </p:nvSpPr>
        <p:spPr>
          <a:xfrm>
            <a:off x="304800" y="2360065"/>
            <a:ext cx="8534400" cy="680919"/>
          </a:xfrm>
          <a:prstGeom prst="snip2DiagRect">
            <a:avLst>
              <a:gd name="adj1" fmla="val 0"/>
              <a:gd name="adj2" fmla="val 39221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kForward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dPos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4;</a:t>
            </a:r>
          </a:p>
          <a:p>
            <a:pPr marL="120650">
              <a:lnSpc>
                <a:spcPts val="1900"/>
              </a:lnSpc>
              <a:tabLst>
                <a:tab pos="457200" algn="l"/>
                <a:tab pos="806450" algn="l"/>
                <a:tab pos="1206500" algn="l"/>
              </a:tabLst>
            </a:pP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</a:t>
            </a:r>
            <a:r>
              <a:rPr lang="en-US" sz="165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kBackward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65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dPos</a:t>
            </a:r>
            <a:r>
              <a:rPr lang="en-US" sz="165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-4</a:t>
            </a:r>
            <a:r>
              <a:rPr lang="en-US" sz="165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GB" sz="165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6256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2"/>
          </p:cNvPr>
          <p:cNvSpPr/>
          <p:nvPr/>
        </p:nvSpPr>
        <p:spPr>
          <a:xfrm>
            <a:off x="3048000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4876801" y="61722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14" y="680310"/>
            <a:ext cx="8595173" cy="519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68563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Речник</a:t>
            </a:r>
          </a:p>
        </p:txBody>
      </p:sp>
    </p:spTree>
    <p:extLst>
      <p:ext uri="{BB962C8B-B14F-4D97-AF65-F5344CB8AC3E}">
        <p14:creationId xmlns:p14="http://schemas.microsoft.com/office/powerpoint/2010/main" val="5810776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Речник на новите неща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Събития</a:t>
            </a:r>
          </a:p>
          <a:p>
            <a:endParaRPr lang="bg-B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JavaScript</a:t>
            </a:r>
            <a:endParaRPr lang="bg-BG" dirty="0"/>
          </a:p>
          <a:p>
            <a:pPr lvl="1"/>
            <a:endParaRPr lang="bg-BG" dirty="0"/>
          </a:p>
          <a:p>
            <a:endParaRPr lang="bg-BG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bg-B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921488"/>
              </p:ext>
            </p:extLst>
          </p:nvPr>
        </p:nvGraphicFramePr>
        <p:xfrm>
          <a:off x="609600" y="4622800"/>
          <a:ext cx="8077200" cy="57912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splice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Метод на масивите, премахва или вмъква елементи в масива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084484"/>
              </p:ext>
            </p:extLst>
          </p:nvPr>
        </p:nvGraphicFramePr>
        <p:xfrm>
          <a:off x="609600" y="2032000"/>
          <a:ext cx="8077200" cy="111252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keydown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Натискане на клавиш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keyup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Пускане на клавиш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event.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keyCode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noProof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Код на клавиш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1903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/>
              <a:t>Въпроси и коментари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049308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55112</TotalTime>
  <Words>3828</Words>
  <Application>Microsoft Office PowerPoint</Application>
  <PresentationFormat>On-screen Show (4:3)</PresentationFormat>
  <Paragraphs>555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1" baseType="lpstr">
      <vt:lpstr>Arial</vt:lpstr>
      <vt:lpstr>Arial Black</vt:lpstr>
      <vt:lpstr>Calibri</vt:lpstr>
      <vt:lpstr>Century Gothic</vt:lpstr>
      <vt:lpstr>Consolas</vt:lpstr>
      <vt:lpstr>Symbol</vt:lpstr>
      <vt:lpstr>Times New Roman</vt:lpstr>
      <vt:lpstr>Wingdings 2</vt:lpstr>
      <vt:lpstr>Austin</vt:lpstr>
      <vt:lpstr>Игра Лабиринт</vt:lpstr>
      <vt:lpstr>В тази лекция</vt:lpstr>
      <vt:lpstr>PowerPoint Presentation</vt:lpstr>
      <vt:lpstr>Основна цел</vt:lpstr>
      <vt:lpstr>Повече за играта</vt:lpstr>
      <vt:lpstr>Идея за реализация</vt:lpstr>
      <vt:lpstr>PowerPoint Presentation</vt:lpstr>
      <vt:lpstr>Разграничаване</vt:lpstr>
      <vt:lpstr>Алгоритъм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Добавяне на стаи</vt:lpstr>
      <vt:lpstr>PowerPoint Presentation</vt:lpstr>
      <vt:lpstr>PowerPoint Presentation</vt:lpstr>
      <vt:lpstr>PowerPoint Presentation</vt:lpstr>
      <vt:lpstr>Врати</vt:lpstr>
      <vt:lpstr>PowerPoint Presentation</vt:lpstr>
      <vt:lpstr>PowerPoint Presentation</vt:lpstr>
      <vt:lpstr>PowerPoint Presentation</vt:lpstr>
      <vt:lpstr>Навигация</vt:lpstr>
      <vt:lpstr>Навигация с клавиатура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Избягване на стени</vt:lpstr>
      <vt:lpstr>PowerPoint Presentation</vt:lpstr>
      <vt:lpstr>PowerPoint Presentation</vt:lpstr>
      <vt:lpstr>PowerPoint Presentation</vt:lpstr>
      <vt:lpstr>PowerPoint Presentation</vt:lpstr>
      <vt:lpstr>Диаманти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Декориране и оформяне</vt:lpstr>
      <vt:lpstr>Текстури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Светлинна експлозия</vt:lpstr>
      <vt:lpstr>PowerPoint Presentation</vt:lpstr>
      <vt:lpstr>PowerPoint Presentation</vt:lpstr>
      <vt:lpstr>Колекция от диаманти</vt:lpstr>
      <vt:lpstr>PowerPoint Presentation</vt:lpstr>
      <vt:lpstr>PowerPoint Presentation</vt:lpstr>
      <vt:lpstr>Скачане, отстъпване, дишане</vt:lpstr>
      <vt:lpstr>PowerPoint Presentation</vt:lpstr>
      <vt:lpstr>PowerPoint Presentation</vt:lpstr>
      <vt:lpstr>PowerPoint Presentation</vt:lpstr>
      <vt:lpstr>Речник на новите неща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WebGL-23. Game Labyrinth</dc:title>
  <dc:creator>Pavel Boytchev</dc:creator>
  <cp:lastModifiedBy>Pavel Boytchev</cp:lastModifiedBy>
  <cp:revision>1965</cp:revision>
  <dcterms:created xsi:type="dcterms:W3CDTF">2013-12-13T09:03:57Z</dcterms:created>
  <dcterms:modified xsi:type="dcterms:W3CDTF">2021-11-03T08:43:57Z</dcterms:modified>
</cp:coreProperties>
</file>