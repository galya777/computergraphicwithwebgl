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5"/>
  </p:notesMasterIdLst>
  <p:sldIdLst>
    <p:sldId id="256" r:id="rId2"/>
    <p:sldId id="297" r:id="rId3"/>
    <p:sldId id="1236" r:id="rId4"/>
    <p:sldId id="1230" r:id="rId5"/>
    <p:sldId id="1231" r:id="rId6"/>
    <p:sldId id="1347" r:id="rId7"/>
    <p:sldId id="1380" r:id="rId8"/>
    <p:sldId id="1348" r:id="rId9"/>
    <p:sldId id="1349" r:id="rId10"/>
    <p:sldId id="1350" r:id="rId11"/>
    <p:sldId id="1351" r:id="rId12"/>
    <p:sldId id="1352" r:id="rId13"/>
    <p:sldId id="1353" r:id="rId14"/>
    <p:sldId id="1354" r:id="rId15"/>
    <p:sldId id="1355" r:id="rId16"/>
    <p:sldId id="1356" r:id="rId17"/>
    <p:sldId id="1358" r:id="rId18"/>
    <p:sldId id="1359" r:id="rId19"/>
    <p:sldId id="1360" r:id="rId20"/>
    <p:sldId id="1361" r:id="rId21"/>
    <p:sldId id="1362" r:id="rId22"/>
    <p:sldId id="1363" r:id="rId23"/>
    <p:sldId id="1364" r:id="rId24"/>
    <p:sldId id="1365" r:id="rId25"/>
    <p:sldId id="1366" r:id="rId26"/>
    <p:sldId id="1367" r:id="rId27"/>
    <p:sldId id="1368" r:id="rId28"/>
    <p:sldId id="1369" r:id="rId29"/>
    <p:sldId id="1370" r:id="rId30"/>
    <p:sldId id="1371" r:id="rId31"/>
    <p:sldId id="1372" r:id="rId32"/>
    <p:sldId id="1373" r:id="rId33"/>
    <p:sldId id="1374" r:id="rId34"/>
    <p:sldId id="1375" r:id="rId35"/>
    <p:sldId id="1382" r:id="rId36"/>
    <p:sldId id="1383" r:id="rId37"/>
    <p:sldId id="1381" r:id="rId38"/>
    <p:sldId id="1386" r:id="rId39"/>
    <p:sldId id="1387" r:id="rId40"/>
    <p:sldId id="1385" r:id="rId41"/>
    <p:sldId id="1388" r:id="rId42"/>
    <p:sldId id="1389" r:id="rId43"/>
    <p:sldId id="1390" r:id="rId44"/>
    <p:sldId id="1391" r:id="rId45"/>
    <p:sldId id="1392" r:id="rId46"/>
    <p:sldId id="1393" r:id="rId47"/>
    <p:sldId id="1394" r:id="rId48"/>
    <p:sldId id="1395" r:id="rId49"/>
    <p:sldId id="1396" r:id="rId50"/>
    <p:sldId id="1397" r:id="rId51"/>
    <p:sldId id="1398" r:id="rId52"/>
    <p:sldId id="1399" r:id="rId53"/>
    <p:sldId id="1400" r:id="rId54"/>
    <p:sldId id="1401" r:id="rId55"/>
    <p:sldId id="1402" r:id="rId56"/>
    <p:sldId id="1459" r:id="rId57"/>
    <p:sldId id="1460" r:id="rId58"/>
    <p:sldId id="1461" r:id="rId59"/>
    <p:sldId id="1076" r:id="rId60"/>
    <p:sldId id="1235" r:id="rId61"/>
    <p:sldId id="1458" r:id="rId62"/>
    <p:sldId id="289" r:id="rId63"/>
    <p:sldId id="29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0000"/>
    <a:srgbClr val="6F9500"/>
    <a:srgbClr val="FFCCCC"/>
    <a:srgbClr val="D2FEBA"/>
    <a:srgbClr val="4A6300"/>
    <a:srgbClr val="94C600"/>
    <a:srgbClr val="FFFFFF"/>
    <a:srgbClr val="99FF99"/>
    <a:srgbClr val="AAEA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4" autoAdjust="0"/>
    <p:restoredTop sz="99825" autoAdjust="0"/>
  </p:normalViewPr>
  <p:slideViewPr>
    <p:cSldViewPr snapToObjects="1">
      <p:cViewPr varScale="1">
        <p:scale>
          <a:sx n="84" d="100"/>
          <a:sy n="84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kern="12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marL="971550" lvl="2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 marL="971550" indent="-285750"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56307" y="4478669"/>
            <a:ext cx="626552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проф. П. Бойчев ● КИТ ● ФМИ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Playground" TargetMode="External"/><Relationship Id="rId2" Type="http://schemas.openxmlformats.org/officeDocument/2006/relationships/hyperlink" Target="Example%201%20-%20Playground/Example%2024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Brick" TargetMode="External"/><Relationship Id="rId2" Type="http://schemas.openxmlformats.org/officeDocument/2006/relationships/hyperlink" Target="Example%202%20-%20Brick/Example%2024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Brick%20wall" TargetMode="External"/><Relationship Id="rId2" Type="http://schemas.openxmlformats.org/officeDocument/2006/relationships/hyperlink" Target="Example%203%20-%20Brick%20wall/Example%2024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Wall%20shape" TargetMode="External"/><Relationship Id="rId7" Type="http://schemas.openxmlformats.org/officeDocument/2006/relationships/image" Target="../media/image8.png"/><Relationship Id="rId2" Type="http://schemas.openxmlformats.org/officeDocument/2006/relationships/hyperlink" Target="Example%204%20-%20Wall%20shape/Example%202404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Platform%20and%20ball" TargetMode="External"/><Relationship Id="rId2" Type="http://schemas.openxmlformats.org/officeDocument/2006/relationships/hyperlink" Target="Example%205%20-%20Platform%20and%20ball/Example%2024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Mouse%20control" TargetMode="External"/><Relationship Id="rId2" Type="http://schemas.openxmlformats.org/officeDocument/2006/relationships/hyperlink" Target="Example%206%20-%20Mouse%20control/Example%2024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Ball%20motion" TargetMode="External"/><Relationship Id="rId2" Type="http://schemas.openxmlformats.org/officeDocument/2006/relationships/hyperlink" Target="Example%207%20-%20Ball%20motion/Example%2024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Example%208%20-%20Pushing%20and%20hitting" TargetMode="External"/><Relationship Id="rId2" Type="http://schemas.openxmlformats.org/officeDocument/2006/relationships/hyperlink" Target="Example%208%20-%20Pushing%20and%20hitting/Example%202408-b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Example%209%20-%20Hitting%20bricks" TargetMode="External"/><Relationship Id="rId2" Type="http://schemas.openxmlformats.org/officeDocument/2006/relationships/hyperlink" Target="Example%209%20-%20Hitting%20bricks/Example%2024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Example%2010%20-%20Background%20music/Example%202410.html" TargetMode="Externa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Example%2010%20-%20Background%20music/Example%202410.html" TargetMode="External"/><Relationship Id="rId2" Type="http://schemas.openxmlformats.org/officeDocument/2006/relationships/hyperlink" Target="Example%2011%20-%20Balance/Example%20241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Игра „Пробив“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24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 тази лекция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Игра „Пробив“</a:t>
            </a:r>
          </a:p>
          <a:p>
            <a:pPr lvl="1"/>
            <a:r>
              <a:rPr lang="bg-BG" dirty="0"/>
              <a:t>Малко история</a:t>
            </a:r>
          </a:p>
          <a:p>
            <a:pPr lvl="1"/>
            <a:r>
              <a:rPr lang="bg-BG" dirty="0"/>
              <a:t>Игрално поле</a:t>
            </a:r>
          </a:p>
          <a:p>
            <a:pPr lvl="1"/>
            <a:r>
              <a:rPr lang="bg-BG" dirty="0"/>
              <a:t>Движение на елементите</a:t>
            </a:r>
          </a:p>
          <a:p>
            <a:pPr lvl="1"/>
            <a:r>
              <a:rPr lang="bg-BG" dirty="0"/>
              <a:t>Колизии</a:t>
            </a:r>
          </a:p>
          <a:p>
            <a:pPr lvl="1"/>
            <a:r>
              <a:rPr lang="bg-BG" dirty="0"/>
              <a:t>Звукови ефекти</a:t>
            </a:r>
          </a:p>
          <a:p>
            <a:pPr lvl="1"/>
            <a:endParaRPr lang="bg-BG" dirty="0"/>
          </a:p>
          <a:p>
            <a:r>
              <a:rPr lang="bg-BG" dirty="0"/>
              <a:t>Сега накъде?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Малко история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503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1976015" y="3887115"/>
            <a:ext cx="5191970" cy="274869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Игра „Пробив“ (</a:t>
            </a:r>
            <a:r>
              <a:rPr lang="en-US" b="0" dirty="0"/>
              <a:t>Breakout</a:t>
            </a:r>
            <a:r>
              <a:rPr lang="bg-BG"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</a:p>
          <a:p>
            <a:pPr lvl="1"/>
            <a:r>
              <a:rPr lang="bg-BG" dirty="0"/>
              <a:t>Няколко реда от цветни тухли</a:t>
            </a:r>
          </a:p>
          <a:p>
            <a:pPr lvl="1"/>
            <a:r>
              <a:rPr lang="bg-BG" dirty="0"/>
              <a:t>Платформа, която се управлява от играча</a:t>
            </a:r>
          </a:p>
          <a:p>
            <a:pPr lvl="1"/>
            <a:r>
              <a:rPr lang="bg-BG" dirty="0"/>
              <a:t>Топче, което се отблъсква (от платформа, стени и тухли)</a:t>
            </a:r>
          </a:p>
          <a:p>
            <a:pPr lvl="1"/>
            <a:r>
              <a:rPr lang="bg-BG" dirty="0"/>
              <a:t>При удар на топчето в тухла тя бива премахната</a:t>
            </a:r>
          </a:p>
          <a:p>
            <a:pPr lvl="1"/>
            <a:r>
              <a:rPr lang="bg-BG" dirty="0"/>
              <a:t>Целта е да се премахнат всички тухли</a:t>
            </a:r>
          </a:p>
          <a:p>
            <a:pPr lvl="1"/>
            <a:endParaRPr lang="bg-BG" dirty="0"/>
          </a:p>
        </p:txBody>
      </p:sp>
      <p:grpSp>
        <p:nvGrpSpPr>
          <p:cNvPr id="5" name="Group 4"/>
          <p:cNvGrpSpPr/>
          <p:nvPr/>
        </p:nvGrpSpPr>
        <p:grpSpPr>
          <a:xfrm>
            <a:off x="2132918" y="4007921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4" name="Rectangle 3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32918" y="4197547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15" name="Rectangle 14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132918" y="4576799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24" name="Rectangle 23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132918" y="4766425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33" name="Rectangle 32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132918" y="4387173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42" name="Rectangle 41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132918" y="4956050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51" name="Rectangle 50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59" name="Rectangle 58"/>
          <p:cNvSpPr/>
          <p:nvPr/>
        </p:nvSpPr>
        <p:spPr>
          <a:xfrm>
            <a:off x="4147291" y="6330395"/>
            <a:ext cx="1188234" cy="15270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0" name="Rectangle 59"/>
          <p:cNvSpPr/>
          <p:nvPr/>
        </p:nvSpPr>
        <p:spPr>
          <a:xfrm>
            <a:off x="3808475" y="5727969"/>
            <a:ext cx="152705" cy="1527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1027" name="Group 1026"/>
          <p:cNvGrpSpPr/>
          <p:nvPr/>
        </p:nvGrpSpPr>
        <p:grpSpPr>
          <a:xfrm>
            <a:off x="3961180" y="5727969"/>
            <a:ext cx="1061700" cy="602426"/>
            <a:chOff x="5949382" y="5576425"/>
            <a:chExt cx="1061700" cy="602426"/>
          </a:xfrm>
        </p:grpSpPr>
        <p:cxnSp>
          <p:nvCxnSpPr>
            <p:cNvPr id="61" name="Straight Arrow Connector 60"/>
            <p:cNvCxnSpPr/>
            <p:nvPr/>
          </p:nvCxnSpPr>
          <p:spPr>
            <a:xfrm flipH="1" flipV="1">
              <a:off x="5949382" y="5719574"/>
              <a:ext cx="459276" cy="45927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6408658" y="5877638"/>
              <a:ext cx="301212" cy="3012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V="1">
              <a:off x="6709870" y="5576425"/>
              <a:ext cx="301212" cy="30121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507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История</a:t>
            </a:r>
            <a:endParaRPr lang="en-US" dirty="0"/>
          </a:p>
          <a:p>
            <a:pPr lvl="1"/>
            <a:r>
              <a:rPr lang="bg-BG" dirty="0"/>
              <a:t>Играта е вдъхновена от играта </a:t>
            </a:r>
            <a:r>
              <a:rPr lang="bg-BG" dirty="0" err="1"/>
              <a:t>Понг</a:t>
            </a:r>
            <a:r>
              <a:rPr lang="bg-BG" dirty="0"/>
              <a:t> (2</a:t>
            </a:r>
            <a:r>
              <a:rPr lang="en-US" dirty="0"/>
              <a:t>D </a:t>
            </a:r>
            <a:r>
              <a:rPr lang="bg-BG" dirty="0"/>
              <a:t>тенис)</a:t>
            </a:r>
          </a:p>
          <a:p>
            <a:pPr lvl="1"/>
            <a:r>
              <a:rPr lang="bg-BG" dirty="0"/>
              <a:t>Играта вдъхновява много други игри (напр. </a:t>
            </a:r>
            <a:r>
              <a:rPr lang="bg-BG" dirty="0" err="1"/>
              <a:t>Арканоид</a:t>
            </a:r>
            <a:r>
              <a:rPr lang="bg-BG" dirty="0"/>
              <a:t>)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Проектиране</a:t>
            </a:r>
          </a:p>
          <a:p>
            <a:pPr lvl="1"/>
            <a:r>
              <a:rPr lang="bg-BG" dirty="0"/>
              <a:t>Работата по създаване на „Пробив</a:t>
            </a:r>
            <a:r>
              <a:rPr lang="en-US" dirty="0"/>
              <a:t>“</a:t>
            </a:r>
            <a:r>
              <a:rPr lang="bg-BG" dirty="0"/>
              <a:t> започва през 1975</a:t>
            </a:r>
          </a:p>
          <a:p>
            <a:pPr lvl="1"/>
            <a:r>
              <a:rPr lang="bg-BG" dirty="0"/>
              <a:t>Реализация чрез логически схеми, без микропроцесори</a:t>
            </a:r>
          </a:p>
          <a:p>
            <a:pPr lvl="1"/>
            <a:r>
              <a:rPr lang="bg-BG" dirty="0"/>
              <a:t>Първа реализация под шапката на </a:t>
            </a:r>
            <a:r>
              <a:rPr lang="bg-BG" dirty="0" err="1"/>
              <a:t>Атари</a:t>
            </a:r>
            <a:endParaRPr lang="bg-BG" dirty="0"/>
          </a:p>
          <a:p>
            <a:pPr lvl="1"/>
            <a:r>
              <a:rPr lang="bg-BG" dirty="0"/>
              <a:t>В проектирането на играта участва </a:t>
            </a:r>
            <a:r>
              <a:rPr lang="bg-BG" dirty="0" err="1"/>
              <a:t>Стив</a:t>
            </a:r>
            <a:r>
              <a:rPr lang="bg-BG" dirty="0"/>
              <a:t> </a:t>
            </a:r>
            <a:r>
              <a:rPr lang="bg-BG" dirty="0" err="1"/>
              <a:t>Возняк</a:t>
            </a:r>
            <a:endParaRPr lang="bg-BG" dirty="0"/>
          </a:p>
          <a:p>
            <a:pPr lvl="1"/>
            <a:r>
              <a:rPr lang="bg-BG" dirty="0"/>
              <a:t>Първият прототип е възложен на </a:t>
            </a:r>
            <a:r>
              <a:rPr lang="bg-BG" dirty="0" err="1"/>
              <a:t>Стив</a:t>
            </a:r>
            <a:r>
              <a:rPr lang="bg-BG" dirty="0"/>
              <a:t> </a:t>
            </a:r>
            <a:r>
              <a:rPr lang="bg-BG" dirty="0" err="1"/>
              <a:t>Джобс</a:t>
            </a:r>
            <a:r>
              <a:rPr lang="bg-BG" dirty="0"/>
              <a:t> срещу $750</a:t>
            </a:r>
            <a:endParaRPr lang="en-US" dirty="0"/>
          </a:p>
          <a:p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2743737" y="1709607"/>
            <a:ext cx="3664921" cy="202480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3" name="Rectangle 52"/>
          <p:cNvSpPr/>
          <p:nvPr/>
        </p:nvSpPr>
        <p:spPr>
          <a:xfrm rot="5400000">
            <a:off x="5385517" y="2130474"/>
            <a:ext cx="609752" cy="15270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4" name="Rectangle 53"/>
          <p:cNvSpPr/>
          <p:nvPr/>
        </p:nvSpPr>
        <p:spPr>
          <a:xfrm>
            <a:off x="5081794" y="2700873"/>
            <a:ext cx="152705" cy="1527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55" name="Group 54"/>
          <p:cNvGrpSpPr/>
          <p:nvPr/>
        </p:nvGrpSpPr>
        <p:grpSpPr>
          <a:xfrm rot="16200000">
            <a:off x="4968190" y="2076825"/>
            <a:ext cx="796276" cy="451820"/>
            <a:chOff x="5949382" y="5576425"/>
            <a:chExt cx="1061700" cy="602426"/>
          </a:xfrm>
        </p:grpSpPr>
        <p:cxnSp>
          <p:nvCxnSpPr>
            <p:cNvPr id="56" name="Straight Arrow Connector 55"/>
            <p:cNvCxnSpPr/>
            <p:nvPr/>
          </p:nvCxnSpPr>
          <p:spPr>
            <a:xfrm flipH="1" flipV="1">
              <a:off x="5949382" y="5719574"/>
              <a:ext cx="459276" cy="45927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6408658" y="5877638"/>
              <a:ext cx="301212" cy="3012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V="1">
              <a:off x="6709870" y="5576425"/>
              <a:ext cx="301212" cy="30121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/>
          <p:cNvSpPr/>
          <p:nvPr/>
        </p:nvSpPr>
        <p:spPr>
          <a:xfrm rot="5400000">
            <a:off x="2969132" y="3047771"/>
            <a:ext cx="609752" cy="15270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299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Условия</a:t>
            </a:r>
          </a:p>
          <a:p>
            <a:pPr lvl="1"/>
            <a:r>
              <a:rPr lang="bg-BG" dirty="0"/>
              <a:t>Игрите по онова време са ползвали 150-200 схеми</a:t>
            </a:r>
          </a:p>
          <a:p>
            <a:pPr lvl="1"/>
            <a:r>
              <a:rPr lang="bg-BG" dirty="0"/>
              <a:t>За всяка логическа схема под 50 броя имало бонус</a:t>
            </a:r>
          </a:p>
          <a:p>
            <a:pPr lvl="1"/>
            <a:r>
              <a:rPr lang="bg-BG" dirty="0" err="1"/>
              <a:t>Джобс</a:t>
            </a:r>
            <a:r>
              <a:rPr lang="bg-BG" dirty="0"/>
              <a:t> обещава прототипа да е готов за 4 дена</a:t>
            </a:r>
          </a:p>
          <a:p>
            <a:pPr lvl="1"/>
            <a:r>
              <a:rPr lang="bg-BG" dirty="0"/>
              <a:t>Уговаря </a:t>
            </a:r>
            <a:r>
              <a:rPr lang="bg-BG" dirty="0" err="1"/>
              <a:t>Возняк</a:t>
            </a:r>
            <a:r>
              <a:rPr lang="bg-BG" dirty="0"/>
              <a:t> да го направи, като си разделят парите</a:t>
            </a:r>
          </a:p>
          <a:p>
            <a:pPr lvl="1"/>
            <a:endParaRPr lang="bg-BG" dirty="0"/>
          </a:p>
          <a:p>
            <a:r>
              <a:rPr lang="bg-BG" dirty="0"/>
              <a:t>Резултат</a:t>
            </a:r>
          </a:p>
          <a:p>
            <a:pPr lvl="1"/>
            <a:r>
              <a:rPr lang="bg-BG" dirty="0"/>
              <a:t>След 4 безсънни нощи </a:t>
            </a:r>
            <a:r>
              <a:rPr lang="bg-BG" dirty="0" err="1"/>
              <a:t>Возняк</a:t>
            </a:r>
            <a:r>
              <a:rPr lang="bg-BG" dirty="0"/>
              <a:t> прави играта с 42 схеми</a:t>
            </a:r>
          </a:p>
          <a:p>
            <a:pPr lvl="1"/>
            <a:r>
              <a:rPr lang="bg-BG" dirty="0" err="1"/>
              <a:t>Джобс</a:t>
            </a:r>
            <a:r>
              <a:rPr lang="bg-BG" dirty="0"/>
              <a:t> получава $5000, но дава на </a:t>
            </a:r>
            <a:r>
              <a:rPr lang="bg-BG" dirty="0" err="1"/>
              <a:t>Возняк</a:t>
            </a:r>
            <a:r>
              <a:rPr lang="bg-BG" dirty="0"/>
              <a:t> само $350</a:t>
            </a:r>
          </a:p>
          <a:p>
            <a:pPr lvl="1"/>
            <a:r>
              <a:rPr lang="bg-BG" dirty="0"/>
              <a:t>Играта не влиза в масово производство, понеже била толкова хитро написана, че никой не можел да разбере коя схема какво прави и как да се промени</a:t>
            </a:r>
          </a:p>
        </p:txBody>
      </p:sp>
    </p:spTree>
    <p:extLst>
      <p:ext uri="{BB962C8B-B14F-4D97-AF65-F5344CB8AC3E}">
        <p14:creationId xmlns:p14="http://schemas.microsoft.com/office/powerpoint/2010/main" val="280588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Защо тази игра?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Пълна противоположност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514152"/>
              </p:ext>
            </p:extLst>
          </p:nvPr>
        </p:nvGraphicFramePr>
        <p:xfrm>
          <a:off x="609601" y="2106032"/>
          <a:ext cx="7627319" cy="39632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29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8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8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447">
                <a:tc>
                  <a:txBody>
                    <a:bodyPr/>
                    <a:lstStyle/>
                    <a:p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„Лабиринт“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„Пробив“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bg-BG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Размерност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3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сцена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2D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сцена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bg-BG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Игрално</a:t>
                      </a:r>
                      <a:r>
                        <a:rPr lang="bg-BG" b="1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поле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Променлив 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Фиксиран размер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bg-BG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Управление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Клавиатура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Мишка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en-US" b="1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CSS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Невидимо използване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Явно използване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bg-BG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Музика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Без звук и музика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Фонова музика и звукови ефекти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bg-BG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Стил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По-съвременен стил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По-архаичен стил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r>
                        <a:rPr lang="bg-BG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Гледна точка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От 1-во лице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От 3-то лице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305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Игрално поле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5988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Игрално поле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Елементи</a:t>
            </a:r>
          </a:p>
          <a:p>
            <a:pPr lvl="1"/>
            <a:r>
              <a:rPr lang="bg-BG" dirty="0"/>
              <a:t>Игрална площадка</a:t>
            </a:r>
          </a:p>
          <a:p>
            <a:pPr lvl="1"/>
            <a:r>
              <a:rPr lang="bg-BG" dirty="0"/>
              <a:t>Група от подредени тухли</a:t>
            </a:r>
          </a:p>
          <a:p>
            <a:pPr lvl="1"/>
            <a:r>
              <a:rPr lang="bg-BG" dirty="0"/>
              <a:t>Платформа на играча</a:t>
            </a:r>
          </a:p>
          <a:p>
            <a:pPr lvl="1"/>
            <a:r>
              <a:rPr lang="bg-BG" dirty="0"/>
              <a:t>Топче</a:t>
            </a:r>
          </a:p>
          <a:p>
            <a:pPr lvl="1"/>
            <a:endParaRPr lang="bg-BG" dirty="0"/>
          </a:p>
          <a:p>
            <a:r>
              <a:rPr lang="bg-BG" dirty="0"/>
              <a:t>Проектиране на елементите</a:t>
            </a:r>
          </a:p>
          <a:p>
            <a:pPr lvl="1"/>
            <a:r>
              <a:rPr lang="bg-BG" dirty="0"/>
              <a:t>Обръщаме внимание само на външния вид</a:t>
            </a:r>
          </a:p>
          <a:p>
            <a:pPr lvl="1"/>
            <a:r>
              <a:rPr lang="bg-BG" dirty="0"/>
              <a:t>Няма да влагаме движение или интерактивност</a:t>
            </a:r>
          </a:p>
          <a:p>
            <a:pPr lvl="1"/>
            <a:r>
              <a:rPr lang="bg-BG" dirty="0"/>
              <a:t>Ще предвидим някои минимални оптимизации</a:t>
            </a:r>
          </a:p>
        </p:txBody>
      </p:sp>
    </p:spTree>
    <p:extLst>
      <p:ext uri="{BB962C8B-B14F-4D97-AF65-F5344CB8AC3E}">
        <p14:creationId xmlns:p14="http://schemas.microsoft.com/office/powerpoint/2010/main" val="2151943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Игрална площадка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Игрална площадка</a:t>
            </a:r>
          </a:p>
          <a:p>
            <a:pPr lvl="1"/>
            <a:r>
              <a:rPr lang="bg-BG" dirty="0"/>
              <a:t>Това е зоната, в която ще се играе – квадрат със сянка</a:t>
            </a:r>
          </a:p>
          <a:p>
            <a:pPr lvl="1"/>
            <a:r>
              <a:rPr lang="bg-BG" dirty="0"/>
              <a:t>Реализация чрез каскадни стилове и</a:t>
            </a:r>
            <a:r>
              <a:rPr lang="en-US" dirty="0"/>
              <a:t> WebGL</a:t>
            </a:r>
          </a:p>
          <a:p>
            <a:pPr lvl="1"/>
            <a:r>
              <a:rPr lang="bg-BG" dirty="0"/>
              <a:t>Центриран хоризонтално и вертикално в прозореца</a:t>
            </a:r>
          </a:p>
          <a:p>
            <a:pPr lvl="1"/>
            <a:r>
              <a:rPr lang="bg-BG" dirty="0"/>
              <a:t>Външен размер 50</a:t>
            </a:r>
            <a:r>
              <a:rPr lang="en-US" dirty="0"/>
              <a:t>0x</a:t>
            </a:r>
            <a:r>
              <a:rPr lang="bg-BG" dirty="0"/>
              <a:t>50</a:t>
            </a:r>
            <a:r>
              <a:rPr lang="en-US" dirty="0"/>
              <a:t>0</a:t>
            </a:r>
            <a:r>
              <a:rPr lang="bg-BG" dirty="0"/>
              <a:t> пиксела</a:t>
            </a:r>
          </a:p>
          <a:p>
            <a:pPr lvl="1"/>
            <a:r>
              <a:rPr lang="bg-BG" dirty="0"/>
              <a:t>Елементът </a:t>
            </a:r>
            <a:r>
              <a:rPr lang="en-US" dirty="0"/>
              <a:t>canvas</a:t>
            </a:r>
            <a:r>
              <a:rPr lang="bg-BG" dirty="0"/>
              <a:t> е 480</a:t>
            </a:r>
            <a:r>
              <a:rPr lang="en-US" dirty="0"/>
              <a:t>x480</a:t>
            </a:r>
            <a:r>
              <a:rPr lang="bg-BG" dirty="0"/>
              <a:t> пиксела, оставя малко пространство за вътрешна декоративна 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7655" y="4497936"/>
            <a:ext cx="2748690" cy="1832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 4"/>
          <p:cNvSpPr/>
          <p:nvPr/>
        </p:nvSpPr>
        <p:spPr>
          <a:xfrm>
            <a:off x="3961180" y="4803345"/>
            <a:ext cx="1221640" cy="12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482600" sx="102000" sy="102000" algn="ctr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4067190" y="4909937"/>
            <a:ext cx="1009619" cy="101516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786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С каскадни стилове са дефинирани размерите на игралната площадка и нейните положение, цвят и сянка</a:t>
            </a:r>
          </a:p>
          <a:p>
            <a:pPr lvl="1"/>
            <a:r>
              <a:rPr lang="bg-BG" dirty="0"/>
              <a:t>Външната сянка е с голям</a:t>
            </a:r>
            <a:r>
              <a:rPr lang="en-US" dirty="0"/>
              <a:t>o</a:t>
            </a:r>
            <a:r>
              <a:rPr lang="bg-BG" dirty="0"/>
              <a:t> заглаждане (10</a:t>
            </a:r>
            <a:r>
              <a:rPr lang="en-US" dirty="0" err="1"/>
              <a:t>em</a:t>
            </a:r>
            <a:r>
              <a:rPr lang="en-US" dirty="0"/>
              <a:t>),</a:t>
            </a:r>
            <a:r>
              <a:rPr lang="bg-BG" dirty="0"/>
              <a:t> а вътрешната е с малко заглаждане (12</a:t>
            </a:r>
            <a:r>
              <a:rPr lang="en-US" dirty="0" err="1"/>
              <a:t>px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665475"/>
            <a:ext cx="8534400" cy="3887725"/>
          </a:xfrm>
          <a:prstGeom prst="snip2DiagRect">
            <a:avLst>
              <a:gd name="adj1" fmla="val 0"/>
              <a:gd name="adj2" fmla="val 626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   { background-color: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MediumSeaGreen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border: solid 1px Black;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position: absolute;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top: 50%;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left: 50%;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width:480px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height:480px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margin: -250px 0 0 -250px;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display: block;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box-shadow: 0 0 10em Black, 0 0 12px 1px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MediumSeaGreen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inset;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padding: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10px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background-color: #d9ffd9;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23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54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/>
          <p:cNvCxnSpPr/>
          <p:nvPr/>
        </p:nvCxnSpPr>
        <p:spPr>
          <a:xfrm flipH="1" flipV="1">
            <a:off x="2212848" y="3401569"/>
            <a:ext cx="526692" cy="331016"/>
          </a:xfrm>
          <a:prstGeom prst="straightConnector1">
            <a:avLst/>
          </a:prstGeom>
          <a:ln w="76200">
            <a:solidFill>
              <a:srgbClr val="FF9999"/>
            </a:solidFill>
            <a:headEnd type="none" w="med" len="med"/>
            <a:tailEnd type="triangle" w="med" len="med"/>
          </a:ln>
          <a:effectLst>
            <a:softEdge rad="3175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6404460" y="3403397"/>
            <a:ext cx="526692" cy="331016"/>
          </a:xfrm>
          <a:prstGeom prst="straightConnector1">
            <a:avLst/>
          </a:prstGeom>
          <a:ln w="76200">
            <a:solidFill>
              <a:srgbClr val="FF9999"/>
            </a:solidFill>
            <a:headEnd type="none" w="med" len="med"/>
            <a:tailEnd type="triangle" w="med" len="med"/>
          </a:ln>
          <a:effectLst>
            <a:softEdge rad="3175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Тухли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Дизайн</a:t>
            </a:r>
          </a:p>
          <a:p>
            <a:pPr lvl="1"/>
            <a:r>
              <a:rPr lang="bg-BG" dirty="0"/>
              <a:t>Практически ще са плоски</a:t>
            </a:r>
          </a:p>
          <a:p>
            <a:pPr lvl="1"/>
            <a:r>
              <a:rPr lang="bg-BG" dirty="0"/>
              <a:t>Ще имат фалшив 3</a:t>
            </a:r>
            <a:r>
              <a:rPr lang="en-US" dirty="0"/>
              <a:t>D</a:t>
            </a:r>
            <a:r>
              <a:rPr lang="bg-BG" dirty="0"/>
              <a:t> вид</a:t>
            </a:r>
          </a:p>
          <a:p>
            <a:pPr lvl="1"/>
            <a:r>
              <a:rPr lang="bg-BG" dirty="0"/>
              <a:t>Илюзия чрез нормални вектори</a:t>
            </a:r>
          </a:p>
          <a:p>
            <a:pPr lvl="1"/>
            <a:endParaRPr lang="bg-BG" dirty="0"/>
          </a:p>
          <a:p>
            <a:pPr marL="365760" lvl="1" indent="0">
              <a:buNone/>
            </a:pPr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2739540" y="3734411"/>
            <a:ext cx="3664920" cy="18324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8" name="Straight Connector 7"/>
          <p:cNvCxnSpPr/>
          <p:nvPr/>
        </p:nvCxnSpPr>
        <p:spPr>
          <a:xfrm flipH="1" flipV="1">
            <a:off x="2739540" y="3734411"/>
            <a:ext cx="1832460" cy="916230"/>
          </a:xfrm>
          <a:prstGeom prst="line">
            <a:avLst/>
          </a:prstGeom>
          <a:solidFill>
            <a:schemeClr val="bg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739540" y="4650641"/>
            <a:ext cx="1832460" cy="916230"/>
          </a:xfrm>
          <a:prstGeom prst="line">
            <a:avLst/>
          </a:prstGeom>
          <a:solidFill>
            <a:schemeClr val="bg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4572000" y="4650641"/>
            <a:ext cx="1832460" cy="916230"/>
          </a:xfrm>
          <a:prstGeom prst="line">
            <a:avLst/>
          </a:prstGeom>
          <a:solidFill>
            <a:schemeClr val="bg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72000" y="3734412"/>
            <a:ext cx="1832460" cy="916229"/>
          </a:xfrm>
          <a:prstGeom prst="line">
            <a:avLst/>
          </a:prstGeom>
          <a:solidFill>
            <a:schemeClr val="bg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2739540" y="5566871"/>
            <a:ext cx="0" cy="604110"/>
          </a:xfrm>
          <a:prstGeom prst="straightConnector1">
            <a:avLst/>
          </a:prstGeom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400800" y="5566871"/>
            <a:ext cx="0" cy="604110"/>
          </a:xfrm>
          <a:prstGeom prst="straightConnector1">
            <a:avLst/>
          </a:prstGeom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404460" y="3276296"/>
            <a:ext cx="458115" cy="458116"/>
          </a:xfrm>
          <a:prstGeom prst="straightConnector1">
            <a:avLst/>
          </a:prstGeom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2281425" y="3276295"/>
            <a:ext cx="458115" cy="458116"/>
          </a:xfrm>
          <a:prstGeom prst="straightConnector1">
            <a:avLst/>
          </a:prstGeom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4567428" y="4192526"/>
            <a:ext cx="4572" cy="458115"/>
          </a:xfrm>
          <a:prstGeom prst="straightConnector1">
            <a:avLst/>
          </a:prstGeom>
          <a:ln w="76200">
            <a:solidFill>
              <a:srgbClr val="FF9999"/>
            </a:solidFill>
            <a:headEnd type="none" w="med" len="med"/>
            <a:tailEnd type="triangle" w="med" len="med"/>
          </a:ln>
          <a:effectLst>
            <a:softEdge rad="3175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562856" y="4650641"/>
            <a:ext cx="9144" cy="0"/>
          </a:xfrm>
          <a:prstGeom prst="straightConnector1">
            <a:avLst/>
          </a:prstGeom>
          <a:ln w="3810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7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на тухла</a:t>
            </a:r>
          </a:p>
          <a:p>
            <a:pPr lvl="1"/>
            <a:r>
              <a:rPr lang="bg-BG" dirty="0"/>
              <a:t>В глобална променлива </a:t>
            </a:r>
            <a:r>
              <a:rPr lang="en-US" b="1" dirty="0" err="1"/>
              <a:t>brickBuffer</a:t>
            </a:r>
            <a:r>
              <a:rPr lang="bg-BG" dirty="0"/>
              <a:t> се пази </a:t>
            </a:r>
            <a:r>
              <a:rPr lang="en-US" dirty="0"/>
              <a:t>WebGL</a:t>
            </a:r>
            <a:r>
              <a:rPr lang="bg-BG" dirty="0"/>
              <a:t> буфер с данните на единична тухла – върхове и </a:t>
            </a:r>
            <a:r>
              <a:rPr lang="bg-BG" dirty="0" err="1"/>
              <a:t>нормали</a:t>
            </a:r>
            <a:endParaRPr lang="bg-BG" dirty="0"/>
          </a:p>
          <a:p>
            <a:pPr lvl="1"/>
            <a:r>
              <a:rPr lang="bg-BG" dirty="0"/>
              <a:t>Конструктор на класа </a:t>
            </a:r>
            <a:r>
              <a:rPr lang="en-US" b="1" dirty="0"/>
              <a:t>Brick</a:t>
            </a:r>
            <a:r>
              <a:rPr lang="bg-BG" b="1" dirty="0"/>
              <a:t> </a:t>
            </a:r>
            <a:r>
              <a:rPr lang="bg-BG" dirty="0"/>
              <a:t>с параметри център и цвят</a:t>
            </a:r>
          </a:p>
          <a:p>
            <a:pPr lvl="1"/>
            <a:r>
              <a:rPr lang="bg-BG" dirty="0"/>
              <a:t>Размерът е фиксиран в масива </a:t>
            </a:r>
            <a:r>
              <a:rPr lang="en-US" b="1" dirty="0"/>
              <a:t>data</a:t>
            </a:r>
            <a:endParaRPr lang="bg-BG" b="1" dirty="0"/>
          </a:p>
          <a:p>
            <a:pPr lvl="1"/>
            <a:r>
              <a:rPr lang="bg-BG" dirty="0"/>
              <a:t>Променливата </a:t>
            </a:r>
            <a:r>
              <a:rPr lang="en-US" b="1" dirty="0" err="1"/>
              <a:t>brickBuffer</a:t>
            </a:r>
            <a:r>
              <a:rPr lang="bg-BG" dirty="0"/>
              <a:t> се инициализира еднократно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818180"/>
            <a:ext cx="8534400" cy="3735020"/>
          </a:xfrm>
          <a:prstGeom prst="snip2DiagRect">
            <a:avLst>
              <a:gd name="adj1" fmla="val 0"/>
              <a:gd name="adj2" fmla="val 660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[center[0],center[1],1];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color;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 0,0,  0, 0,1,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-24,-9,0,  </a:t>
            </a:r>
            <a:r>
              <a:rPr lang="bg-BG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,-1,0, 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gl.createBuffer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gl.ARRAY_BUFFER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gl.bufferData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gl.ARRAY_BUFFER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new Float32Array(data), ...);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064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Рисуване на тухла</a:t>
            </a:r>
          </a:p>
          <a:p>
            <a:pPr lvl="1"/>
            <a:r>
              <a:rPr lang="bg-BG" dirty="0"/>
              <a:t>Методът </a:t>
            </a:r>
            <a:r>
              <a:rPr lang="en-US" b="1" dirty="0"/>
              <a:t>draw</a:t>
            </a:r>
            <a:r>
              <a:rPr lang="bg-BG" dirty="0"/>
              <a:t> използва центъра и цвета на тухлата</a:t>
            </a:r>
          </a:p>
          <a:p>
            <a:pPr lvl="1"/>
            <a:r>
              <a:rPr lang="bg-BG" dirty="0"/>
              <a:t>Не се обработва мащаб, </a:t>
            </a:r>
            <a:r>
              <a:rPr lang="bg-BG" dirty="0" err="1"/>
              <a:t>завъртяност</a:t>
            </a:r>
            <a:r>
              <a:rPr lang="bg-BG" dirty="0"/>
              <a:t>, текстура</a:t>
            </a:r>
          </a:p>
          <a:p>
            <a:pPr lvl="1"/>
            <a:r>
              <a:rPr lang="bg-BG" dirty="0"/>
              <a:t>Рисуването е на две стъпки</a:t>
            </a:r>
          </a:p>
          <a:p>
            <a:pPr lvl="2"/>
            <a:r>
              <a:rPr lang="bg-BG" dirty="0"/>
              <a:t>Рисуване на вътрешността като ветрило от триъгълници</a:t>
            </a:r>
          </a:p>
          <a:p>
            <a:pPr lvl="2"/>
            <a:r>
              <a:rPr lang="bg-BG" dirty="0"/>
              <a:t>Рисуване на контура (с вероятност да е със заглаждане)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818180"/>
            <a:ext cx="8534400" cy="3735020"/>
          </a:xfrm>
          <a:prstGeom prst="snip2DiagRect">
            <a:avLst>
              <a:gd name="adj1" fmla="val 0"/>
              <a:gd name="adj2" fmla="val 660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Brick.prototype.draw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function()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pushMatrix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gl.vertexAttrib3fv(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aColor,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translate(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useMatrix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gl.ARRAY_BUFFER,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gl.enableVertexAttribArray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aXYZ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gl.vertexAttribPointer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(aXYZ,3,gl.FLOAT,false,6*FLOATS,0*FLOATS);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gl.enableVertexAttribArray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aNormal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gl.vertexAttribPointer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(aNormal,3,gl.FLOAT,false,6*FLOATS,3*FLOATS);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gl.drawArrays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(gl.TRIANGLE_FAN,0,6);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gl.drawArrays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(gl.LINE_LOOP,1,4);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popMatrix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5673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88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13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Стена от тухли</a:t>
            </a:r>
          </a:p>
          <a:p>
            <a:pPr lvl="1"/>
            <a:r>
              <a:rPr lang="bg-BG" dirty="0"/>
              <a:t>Тухлите се помнят в масив</a:t>
            </a:r>
            <a:r>
              <a:rPr lang="en-US" dirty="0"/>
              <a:t>a </a:t>
            </a:r>
            <a:r>
              <a:rPr lang="en-US" b="1" dirty="0"/>
              <a:t>bricks</a:t>
            </a:r>
            <a:r>
              <a:rPr lang="bg-BG" b="1" dirty="0"/>
              <a:t> </a:t>
            </a:r>
            <a:r>
              <a:rPr lang="bg-BG" dirty="0"/>
              <a:t>и се създават в горната половина на игралното поле с функцията </a:t>
            </a:r>
            <a:r>
              <a:rPr lang="en-US" b="1" dirty="0" err="1"/>
              <a:t>buildWall</a:t>
            </a:r>
            <a:endParaRPr lang="en-US" b="1" dirty="0"/>
          </a:p>
          <a:p>
            <a:pPr lvl="1"/>
            <a:r>
              <a:rPr lang="bg-BG" dirty="0"/>
              <a:t>За оптимизация някои функции от </a:t>
            </a:r>
            <a:r>
              <a:rPr lang="en-US" dirty="0"/>
              <a:t>draw</a:t>
            </a:r>
            <a:r>
              <a:rPr lang="bg-BG" dirty="0"/>
              <a:t> са изнесени в </a:t>
            </a:r>
            <a:r>
              <a:rPr lang="en-US" b="1" dirty="0" err="1"/>
              <a:t>willDrawBricks</a:t>
            </a:r>
            <a:r>
              <a:rPr lang="bg-BG" dirty="0"/>
              <a:t> и ще се изпълняват еднократно за кадър</a:t>
            </a:r>
          </a:p>
          <a:p>
            <a:pPr lvl="1"/>
            <a:r>
              <a:rPr lang="bg-BG" dirty="0"/>
              <a:t>За секунда ще се спестяват над 16 хиляди извиквания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818179"/>
            <a:ext cx="8534400" cy="3735021"/>
          </a:xfrm>
          <a:prstGeom prst="snip2DiagRect">
            <a:avLst>
              <a:gd name="adj1" fmla="val 0"/>
              <a:gd name="adj2" fmla="val 660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x=-200; x&lt;=200; x+=50)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y=0; y&lt;=220; y+=20)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bricks.push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(new Brick([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[random(0,1),random(0,1),...]));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willDrawBricks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gl.ARRAY_BUFFER,brickBuffer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gl.enableVertexAttribArray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aXYZ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gl.vertexAttribPointer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(aXYZ,3,gl.FLOAT,false,6*FLOATS,0*FLOATS);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gl.enableVertexAttribArray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aNormal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gl.vertexAttribPointer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(aNormal,3,gl.FLOAT,false,6*FLOATS,3*FLOATS);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6511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88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466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Форма на стената</a:t>
            </a:r>
          </a:p>
          <a:p>
            <a:pPr lvl="1"/>
            <a:r>
              <a:rPr lang="bg-BG" dirty="0"/>
              <a:t>За разнообразие стената няма да е все правоъгълна</a:t>
            </a:r>
          </a:p>
          <a:p>
            <a:pPr lvl="1"/>
            <a:r>
              <a:rPr lang="bg-BG" dirty="0"/>
              <a:t>Със „случайни“ криви изрязваме горния и долния профил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6015" y="1901949"/>
            <a:ext cx="5191970" cy="473385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5" name="Group 4"/>
          <p:cNvGrpSpPr/>
          <p:nvPr/>
        </p:nvGrpSpPr>
        <p:grpSpPr>
          <a:xfrm>
            <a:off x="2142167" y="3963078"/>
            <a:ext cx="4830060" cy="152705"/>
            <a:chOff x="2080617" y="4313331"/>
            <a:chExt cx="4830060" cy="152705"/>
          </a:xfrm>
          <a:solidFill>
            <a:srgbClr val="FFCCCC"/>
          </a:solidFill>
        </p:grpSpPr>
        <p:sp>
          <p:nvSpPr>
            <p:cNvPr id="6" name="Rectangle 5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42167" y="4175125"/>
            <a:ext cx="4830060" cy="152705"/>
            <a:chOff x="2080617" y="4313331"/>
            <a:chExt cx="4830060" cy="152705"/>
          </a:xfrm>
          <a:solidFill>
            <a:srgbClr val="FFCCCC"/>
          </a:solidFill>
        </p:grpSpPr>
        <p:sp>
          <p:nvSpPr>
            <p:cNvPr id="15" name="Rectangle 14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2142167" y="3326937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61" name="Rectangle 60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142167" y="3538984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70" name="Rectangle 69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2142167" y="3751031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79" name="Rectangle 78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142167" y="2690796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88" name="Rectangle 87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2142167" y="2902843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97" name="Rectangle 96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142167" y="3114890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106" name="Rectangle 105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2142167" y="2054655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115" name="Rectangle 114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142167" y="2266702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124" name="Rectangle 123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FF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142167" y="2478749"/>
            <a:ext cx="4830060" cy="152705"/>
            <a:chOff x="2080617" y="4313331"/>
            <a:chExt cx="4830060" cy="152705"/>
          </a:xfrm>
          <a:solidFill>
            <a:srgbClr val="D2FEBA"/>
          </a:solidFill>
        </p:grpSpPr>
        <p:sp>
          <p:nvSpPr>
            <p:cNvPr id="133" name="Rectangle 132"/>
            <p:cNvSpPr/>
            <p:nvPr/>
          </p:nvSpPr>
          <p:spPr>
            <a:xfrm>
              <a:off x="20806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26914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3022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91307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52389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513471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574553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356357" y="4313331"/>
              <a:ext cx="554320" cy="152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141" name="Freeform 140"/>
          <p:cNvSpPr/>
          <p:nvPr/>
        </p:nvSpPr>
        <p:spPr>
          <a:xfrm>
            <a:off x="1059785" y="1903775"/>
            <a:ext cx="6995931" cy="914405"/>
          </a:xfrm>
          <a:custGeom>
            <a:avLst/>
            <a:gdLst>
              <a:gd name="connsiteX0" fmla="*/ 0 w 5499847"/>
              <a:gd name="connsiteY0" fmla="*/ 914400 h 927847"/>
              <a:gd name="connsiteX1" fmla="*/ 941294 w 5499847"/>
              <a:gd name="connsiteY1" fmla="*/ 0 h 927847"/>
              <a:gd name="connsiteX2" fmla="*/ 1842247 w 5499847"/>
              <a:gd name="connsiteY2" fmla="*/ 914400 h 927847"/>
              <a:gd name="connsiteX3" fmla="*/ 2756647 w 5499847"/>
              <a:gd name="connsiteY3" fmla="*/ 13447 h 927847"/>
              <a:gd name="connsiteX4" fmla="*/ 3684494 w 5499847"/>
              <a:gd name="connsiteY4" fmla="*/ 927847 h 927847"/>
              <a:gd name="connsiteX5" fmla="*/ 4585447 w 5499847"/>
              <a:gd name="connsiteY5" fmla="*/ 13447 h 927847"/>
              <a:gd name="connsiteX6" fmla="*/ 5499847 w 5499847"/>
              <a:gd name="connsiteY6" fmla="*/ 914400 h 927847"/>
              <a:gd name="connsiteX7" fmla="*/ 5499847 w 5499847"/>
              <a:gd name="connsiteY7" fmla="*/ 914400 h 927847"/>
              <a:gd name="connsiteX0" fmla="*/ 0 w 4558553"/>
              <a:gd name="connsiteY0" fmla="*/ 0 h 927847"/>
              <a:gd name="connsiteX1" fmla="*/ 900953 w 4558553"/>
              <a:gd name="connsiteY1" fmla="*/ 914400 h 927847"/>
              <a:gd name="connsiteX2" fmla="*/ 1815353 w 4558553"/>
              <a:gd name="connsiteY2" fmla="*/ 13447 h 927847"/>
              <a:gd name="connsiteX3" fmla="*/ 2743200 w 4558553"/>
              <a:gd name="connsiteY3" fmla="*/ 927847 h 927847"/>
              <a:gd name="connsiteX4" fmla="*/ 3644153 w 4558553"/>
              <a:gd name="connsiteY4" fmla="*/ 13447 h 927847"/>
              <a:gd name="connsiteX5" fmla="*/ 4558553 w 4558553"/>
              <a:gd name="connsiteY5" fmla="*/ 914400 h 927847"/>
              <a:gd name="connsiteX6" fmla="*/ 4558553 w 4558553"/>
              <a:gd name="connsiteY6" fmla="*/ 914400 h 927847"/>
              <a:gd name="connsiteX0" fmla="*/ 0 w 3657600"/>
              <a:gd name="connsiteY0" fmla="*/ 900958 h 914405"/>
              <a:gd name="connsiteX1" fmla="*/ 914400 w 3657600"/>
              <a:gd name="connsiteY1" fmla="*/ 5 h 914405"/>
              <a:gd name="connsiteX2" fmla="*/ 1842247 w 3657600"/>
              <a:gd name="connsiteY2" fmla="*/ 914405 h 914405"/>
              <a:gd name="connsiteX3" fmla="*/ 2743200 w 3657600"/>
              <a:gd name="connsiteY3" fmla="*/ 5 h 914405"/>
              <a:gd name="connsiteX4" fmla="*/ 3657600 w 3657600"/>
              <a:gd name="connsiteY4" fmla="*/ 900958 h 914405"/>
              <a:gd name="connsiteX5" fmla="*/ 3657600 w 3657600"/>
              <a:gd name="connsiteY5" fmla="*/ 900958 h 914405"/>
              <a:gd name="connsiteX0" fmla="*/ 0 w 3657600"/>
              <a:gd name="connsiteY0" fmla="*/ 900958 h 978284"/>
              <a:gd name="connsiteX1" fmla="*/ 914400 w 3657600"/>
              <a:gd name="connsiteY1" fmla="*/ 5 h 978284"/>
              <a:gd name="connsiteX2" fmla="*/ 1842247 w 3657600"/>
              <a:gd name="connsiteY2" fmla="*/ 914405 h 978284"/>
              <a:gd name="connsiteX3" fmla="*/ 3657600 w 3657600"/>
              <a:gd name="connsiteY3" fmla="*/ 900958 h 978284"/>
              <a:gd name="connsiteX4" fmla="*/ 3657600 w 3657600"/>
              <a:gd name="connsiteY4" fmla="*/ 900958 h 978284"/>
              <a:gd name="connsiteX0" fmla="*/ 0 w 3657600"/>
              <a:gd name="connsiteY0" fmla="*/ 900958 h 978284"/>
              <a:gd name="connsiteX1" fmla="*/ 914400 w 3657600"/>
              <a:gd name="connsiteY1" fmla="*/ 5 h 978284"/>
              <a:gd name="connsiteX2" fmla="*/ 1842247 w 3657600"/>
              <a:gd name="connsiteY2" fmla="*/ 914405 h 978284"/>
              <a:gd name="connsiteX3" fmla="*/ 3657600 w 3657600"/>
              <a:gd name="connsiteY3" fmla="*/ 900958 h 978284"/>
              <a:gd name="connsiteX0" fmla="*/ 0 w 1842247"/>
              <a:gd name="connsiteY0" fmla="*/ 900958 h 914405"/>
              <a:gd name="connsiteX1" fmla="*/ 914400 w 1842247"/>
              <a:gd name="connsiteY1" fmla="*/ 5 h 914405"/>
              <a:gd name="connsiteX2" fmla="*/ 1842247 w 1842247"/>
              <a:gd name="connsiteY2" fmla="*/ 914405 h 91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2247" h="914405">
                <a:moveTo>
                  <a:pt x="0" y="900958"/>
                </a:moveTo>
                <a:cubicBezTo>
                  <a:pt x="302559" y="903199"/>
                  <a:pt x="607359" y="-2236"/>
                  <a:pt x="914400" y="5"/>
                </a:cubicBezTo>
                <a:cubicBezTo>
                  <a:pt x="1221441" y="2246"/>
                  <a:pt x="1385047" y="764246"/>
                  <a:pt x="1842247" y="914405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2" name="Freeform 141"/>
          <p:cNvSpPr/>
          <p:nvPr/>
        </p:nvSpPr>
        <p:spPr>
          <a:xfrm flipV="1">
            <a:off x="1240200" y="3358164"/>
            <a:ext cx="6654815" cy="652654"/>
          </a:xfrm>
          <a:custGeom>
            <a:avLst/>
            <a:gdLst>
              <a:gd name="connsiteX0" fmla="*/ 0 w 5499847"/>
              <a:gd name="connsiteY0" fmla="*/ 914400 h 927847"/>
              <a:gd name="connsiteX1" fmla="*/ 941294 w 5499847"/>
              <a:gd name="connsiteY1" fmla="*/ 0 h 927847"/>
              <a:gd name="connsiteX2" fmla="*/ 1842247 w 5499847"/>
              <a:gd name="connsiteY2" fmla="*/ 914400 h 927847"/>
              <a:gd name="connsiteX3" fmla="*/ 2756647 w 5499847"/>
              <a:gd name="connsiteY3" fmla="*/ 13447 h 927847"/>
              <a:gd name="connsiteX4" fmla="*/ 3684494 w 5499847"/>
              <a:gd name="connsiteY4" fmla="*/ 927847 h 927847"/>
              <a:gd name="connsiteX5" fmla="*/ 4585447 w 5499847"/>
              <a:gd name="connsiteY5" fmla="*/ 13447 h 927847"/>
              <a:gd name="connsiteX6" fmla="*/ 5499847 w 5499847"/>
              <a:gd name="connsiteY6" fmla="*/ 914400 h 927847"/>
              <a:gd name="connsiteX7" fmla="*/ 5499847 w 5499847"/>
              <a:gd name="connsiteY7" fmla="*/ 914400 h 927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9847" h="927847">
                <a:moveTo>
                  <a:pt x="0" y="914400"/>
                </a:moveTo>
                <a:cubicBezTo>
                  <a:pt x="317126" y="457200"/>
                  <a:pt x="634253" y="0"/>
                  <a:pt x="941294" y="0"/>
                </a:cubicBezTo>
                <a:cubicBezTo>
                  <a:pt x="1248335" y="0"/>
                  <a:pt x="1539688" y="912159"/>
                  <a:pt x="1842247" y="914400"/>
                </a:cubicBezTo>
                <a:cubicBezTo>
                  <a:pt x="2144806" y="916641"/>
                  <a:pt x="2449606" y="11206"/>
                  <a:pt x="2756647" y="13447"/>
                </a:cubicBezTo>
                <a:cubicBezTo>
                  <a:pt x="3063688" y="15688"/>
                  <a:pt x="3379694" y="927847"/>
                  <a:pt x="3684494" y="927847"/>
                </a:cubicBezTo>
                <a:cubicBezTo>
                  <a:pt x="3989294" y="927847"/>
                  <a:pt x="4282888" y="15688"/>
                  <a:pt x="4585447" y="13447"/>
                </a:cubicBezTo>
                <a:cubicBezTo>
                  <a:pt x="4888006" y="11206"/>
                  <a:pt x="5499847" y="914400"/>
                  <a:pt x="5499847" y="914400"/>
                </a:cubicBezTo>
                <a:lnTo>
                  <a:pt x="5499847" y="914400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13868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Профилите ще са </a:t>
            </a:r>
            <a:r>
              <a:rPr lang="bg-BG" dirty="0" err="1"/>
              <a:t>косинусоиди</a:t>
            </a:r>
            <a:r>
              <a:rPr lang="bg-BG" dirty="0"/>
              <a:t>, заради </a:t>
            </a:r>
            <a:r>
              <a:rPr lang="bg-BG" dirty="0" err="1"/>
              <a:t>четността</a:t>
            </a:r>
            <a:r>
              <a:rPr lang="bg-BG" dirty="0"/>
              <a:t> на </a:t>
            </a:r>
            <a:r>
              <a:rPr lang="en-US" dirty="0"/>
              <a:t>cos</a:t>
            </a:r>
          </a:p>
          <a:p>
            <a:pPr lvl="1"/>
            <a:r>
              <a:rPr lang="bg-BG" dirty="0"/>
              <a:t>Амплитудите се генерират в </a:t>
            </a:r>
            <a:r>
              <a:rPr lang="en-US" b="1" dirty="0"/>
              <a:t>dAmp1</a:t>
            </a:r>
            <a:r>
              <a:rPr lang="bg-BG" dirty="0"/>
              <a:t> и </a:t>
            </a:r>
            <a:r>
              <a:rPr lang="en-US" b="1" dirty="0"/>
              <a:t>dAmp2</a:t>
            </a:r>
            <a:r>
              <a:rPr lang="bg-BG" dirty="0"/>
              <a:t>, като има превес към избор на по-малки амплитуди</a:t>
            </a:r>
          </a:p>
          <a:p>
            <a:pPr lvl="1"/>
            <a:r>
              <a:rPr lang="bg-BG" dirty="0"/>
              <a:t>Честотите се генерират в </a:t>
            </a:r>
            <a:r>
              <a:rPr lang="en-US" b="1" dirty="0"/>
              <a:t>dSca1</a:t>
            </a:r>
            <a:r>
              <a:rPr lang="bg-BG" dirty="0"/>
              <a:t> и </a:t>
            </a:r>
            <a:r>
              <a:rPr lang="en-US" b="1" dirty="0"/>
              <a:t>dSca2</a:t>
            </a:r>
          </a:p>
          <a:p>
            <a:pPr lvl="1"/>
            <a:r>
              <a:rPr lang="bg-BG" dirty="0"/>
              <a:t>При генерирането на тухла се проверява дали по </a:t>
            </a:r>
            <a:r>
              <a:rPr lang="en-US" dirty="0"/>
              <a:t>Y </a:t>
            </a:r>
            <a:r>
              <a:rPr lang="bg-BG" dirty="0"/>
              <a:t>се намира между </a:t>
            </a:r>
            <a:r>
              <a:rPr lang="en-US" b="1" dirty="0"/>
              <a:t>y1</a:t>
            </a:r>
            <a:r>
              <a:rPr lang="bg-BG" dirty="0"/>
              <a:t> и </a:t>
            </a:r>
            <a:r>
              <a:rPr lang="en-US" b="1" dirty="0"/>
              <a:t>y2</a:t>
            </a:r>
            <a:r>
              <a:rPr lang="bg-BG" dirty="0"/>
              <a:t> и само тогава се рисува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276295"/>
            <a:ext cx="8534400" cy="3276905"/>
          </a:xfrm>
          <a:prstGeom prst="snip2DiagRect">
            <a:avLst>
              <a:gd name="adj1" fmla="val 0"/>
              <a:gd name="adj2" fmla="val 824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dAmp1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random(0,random(0,200));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dAmp2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random(0,random(0,200));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dSca1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random(10,200);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dSca2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random(10,200);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x=-200; x&lt;=200; x+=50)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y=0; y&lt;=220; y+=20)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20+dAmp1*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(x/dSca1);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220-dAmp2*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(x/dSca2);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y1&lt;=y &amp;&amp; y&lt;=y2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bricks.push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(new Brick([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[...]));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939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18" y="3165397"/>
            <a:ext cx="4114800" cy="279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258" y="3165397"/>
            <a:ext cx="4114800" cy="279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258" y="222195"/>
            <a:ext cx="4114800" cy="279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18" y="222195"/>
            <a:ext cx="4114800" cy="279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762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Платформа и топче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Платформа</a:t>
            </a:r>
          </a:p>
          <a:p>
            <a:pPr lvl="1"/>
            <a:r>
              <a:rPr lang="bg-BG" dirty="0"/>
              <a:t>Избираме опростена конструкция</a:t>
            </a:r>
          </a:p>
          <a:p>
            <a:pPr lvl="1"/>
            <a:r>
              <a:rPr lang="bg-BG" dirty="0"/>
              <a:t>Две визуално вложени сфери, които са всъщност една над друга</a:t>
            </a:r>
          </a:p>
          <a:p>
            <a:pPr lvl="1"/>
            <a:endParaRPr lang="bg-BG" dirty="0"/>
          </a:p>
          <a:p>
            <a:r>
              <a:rPr lang="bg-BG" dirty="0"/>
              <a:t>Топче</a:t>
            </a:r>
          </a:p>
          <a:p>
            <a:pPr lvl="1"/>
            <a:r>
              <a:rPr lang="bg-BG" dirty="0"/>
              <a:t>С форма на малко зъбно колело</a:t>
            </a:r>
          </a:p>
          <a:p>
            <a:pPr lvl="1"/>
            <a:r>
              <a:rPr lang="bg-BG" dirty="0"/>
              <a:t>Създаваме го от три равностранни триъгълника</a:t>
            </a:r>
          </a:p>
        </p:txBody>
      </p:sp>
      <p:sp>
        <p:nvSpPr>
          <p:cNvPr id="5" name="Isosceles Triangle 4"/>
          <p:cNvSpPr/>
          <p:nvPr/>
        </p:nvSpPr>
        <p:spPr>
          <a:xfrm rot="4800000">
            <a:off x="5414725" y="5124955"/>
            <a:ext cx="1239965" cy="1068935"/>
          </a:xfrm>
          <a:prstGeom prst="triangle">
            <a:avLst/>
          </a:prstGeom>
          <a:solidFill>
            <a:srgbClr val="D2FEBA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Isosceles Triangle 5"/>
          <p:cNvSpPr/>
          <p:nvPr/>
        </p:nvSpPr>
        <p:spPr>
          <a:xfrm rot="2400000">
            <a:off x="5370321" y="5028440"/>
            <a:ext cx="1239965" cy="1068935"/>
          </a:xfrm>
          <a:prstGeom prst="triangl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Isosceles Triangle 3"/>
          <p:cNvSpPr/>
          <p:nvPr/>
        </p:nvSpPr>
        <p:spPr>
          <a:xfrm>
            <a:off x="5270365" y="4956050"/>
            <a:ext cx="1239965" cy="1068935"/>
          </a:xfrm>
          <a:prstGeom prst="triangl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Isosceles Triangle 6"/>
          <p:cNvSpPr/>
          <p:nvPr/>
        </p:nvSpPr>
        <p:spPr>
          <a:xfrm>
            <a:off x="5158225" y="4942603"/>
            <a:ext cx="1389236" cy="1414801"/>
          </a:xfrm>
          <a:custGeom>
            <a:avLst/>
            <a:gdLst/>
            <a:ahLst/>
            <a:cxnLst/>
            <a:rect l="l" t="t" r="r" b="b"/>
            <a:pathLst>
              <a:path w="1389236" h="1414801">
                <a:moveTo>
                  <a:pt x="718528" y="0"/>
                </a:moveTo>
                <a:lnTo>
                  <a:pt x="890092" y="295800"/>
                </a:lnTo>
                <a:lnTo>
                  <a:pt x="1162033" y="197432"/>
                </a:lnTo>
                <a:lnTo>
                  <a:pt x="1107983" y="507563"/>
                </a:lnTo>
                <a:lnTo>
                  <a:pt x="1389236" y="610564"/>
                </a:lnTo>
                <a:lnTo>
                  <a:pt x="1176572" y="789731"/>
                </a:lnTo>
                <a:lnTo>
                  <a:pt x="1338510" y="1068935"/>
                </a:lnTo>
                <a:lnTo>
                  <a:pt x="1010147" y="1068935"/>
                </a:lnTo>
                <a:lnTo>
                  <a:pt x="949869" y="1414801"/>
                </a:lnTo>
                <a:lnTo>
                  <a:pt x="691734" y="1198200"/>
                </a:lnTo>
                <a:lnTo>
                  <a:pt x="444199" y="1406745"/>
                </a:lnTo>
                <a:lnTo>
                  <a:pt x="384634" y="1068935"/>
                </a:lnTo>
                <a:lnTo>
                  <a:pt x="98545" y="1068935"/>
                </a:lnTo>
                <a:lnTo>
                  <a:pt x="242301" y="821081"/>
                </a:lnTo>
                <a:lnTo>
                  <a:pt x="0" y="617766"/>
                </a:lnTo>
                <a:lnTo>
                  <a:pt x="286789" y="514028"/>
                </a:lnTo>
                <a:lnTo>
                  <a:pt x="228881" y="185618"/>
                </a:lnTo>
                <a:lnTo>
                  <a:pt x="543947" y="301002"/>
                </a:lnTo>
                <a:close/>
              </a:path>
            </a:pathLst>
          </a:custGeom>
          <a:solidFill>
            <a:srgbClr val="94C600">
              <a:alpha val="30196"/>
            </a:srgb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Oval 9"/>
          <p:cNvSpPr/>
          <p:nvPr/>
        </p:nvSpPr>
        <p:spPr>
          <a:xfrm>
            <a:off x="2562240" y="4956050"/>
            <a:ext cx="1374345" cy="1374345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Oval 10"/>
          <p:cNvSpPr/>
          <p:nvPr/>
        </p:nvSpPr>
        <p:spPr>
          <a:xfrm>
            <a:off x="2733129" y="5126939"/>
            <a:ext cx="1032566" cy="103256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7341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981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 на елементите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5021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Движение на платформата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Идеи</a:t>
            </a:r>
          </a:p>
          <a:p>
            <a:pPr lvl="1"/>
            <a:r>
              <a:rPr lang="bg-BG" dirty="0"/>
              <a:t>Движението да е само с движение на мишката, без да се ползват бутоните</a:t>
            </a:r>
          </a:p>
          <a:p>
            <a:pPr lvl="1"/>
            <a:r>
              <a:rPr lang="bg-BG" dirty="0"/>
              <a:t>Да не може платформата да излезе извън игралното поле</a:t>
            </a:r>
          </a:p>
          <a:p>
            <a:pPr lvl="1"/>
            <a:endParaRPr lang="bg-BG" dirty="0"/>
          </a:p>
          <a:p>
            <a:r>
              <a:rPr lang="bg-BG" dirty="0"/>
              <a:t>Граници</a:t>
            </a:r>
          </a:p>
          <a:p>
            <a:pPr lvl="1"/>
            <a:r>
              <a:rPr lang="bg-BG" dirty="0"/>
              <a:t>Изчисляваме границите по </a:t>
            </a:r>
            <a:r>
              <a:rPr lang="en-US" dirty="0"/>
              <a:t>X</a:t>
            </a:r>
            <a:r>
              <a:rPr lang="bg-BG" dirty="0"/>
              <a:t> (</a:t>
            </a:r>
            <a:r>
              <a:rPr lang="en-US" b="1" dirty="0" err="1"/>
              <a:t>minX</a:t>
            </a:r>
            <a:r>
              <a:rPr lang="bg-BG" dirty="0"/>
              <a:t> и </a:t>
            </a:r>
            <a:r>
              <a:rPr lang="en-US" b="1" dirty="0" err="1"/>
              <a:t>maxX</a:t>
            </a:r>
            <a:r>
              <a:rPr lang="en-US" dirty="0"/>
              <a:t>) </a:t>
            </a:r>
            <a:r>
              <a:rPr lang="bg-BG" dirty="0"/>
              <a:t>и по </a:t>
            </a:r>
            <a:r>
              <a:rPr lang="en-US" dirty="0"/>
              <a:t>Y</a:t>
            </a:r>
            <a:r>
              <a:rPr lang="bg-BG" dirty="0"/>
              <a:t> (</a:t>
            </a:r>
            <a:r>
              <a:rPr lang="en-US" b="1" dirty="0" err="1"/>
              <a:t>minY</a:t>
            </a:r>
            <a:r>
              <a:rPr lang="bg-BG" dirty="0"/>
              <a:t> и </a:t>
            </a:r>
            <a:r>
              <a:rPr lang="en-US" b="1" dirty="0" err="1"/>
              <a:t>maxY</a:t>
            </a:r>
            <a:r>
              <a:rPr lang="en-US" dirty="0"/>
              <a:t>) </a:t>
            </a:r>
            <a:r>
              <a:rPr lang="bg-BG" dirty="0"/>
              <a:t>на центъра на платформата</a:t>
            </a:r>
            <a:endParaRPr lang="en-US" dirty="0"/>
          </a:p>
          <a:p>
            <a:pPr lvl="1"/>
            <a:r>
              <a:rPr lang="bg-BG" dirty="0"/>
              <a:t>Поради центрираното положение, границите са симетрични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5261460"/>
            <a:ext cx="8534400" cy="1291740"/>
          </a:xfrm>
          <a:prstGeom prst="snip2DiagRect">
            <a:avLst>
              <a:gd name="adj1" fmla="val 0"/>
              <a:gd name="adj2" fmla="val 1969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gl.canvas.offsetWidth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/2-platform[0].size[0]-12;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gl.canvas.offsetHeight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/2-platform[0].size[0]-12;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1798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 на платформата</a:t>
            </a:r>
          </a:p>
          <a:p>
            <a:pPr lvl="1"/>
            <a:r>
              <a:rPr lang="bg-BG" dirty="0"/>
              <a:t>Улавяме събитието </a:t>
            </a:r>
            <a:r>
              <a:rPr lang="en-US" b="1" dirty="0" err="1"/>
              <a:t>mousemove</a:t>
            </a:r>
            <a:endParaRPr lang="bg-BG" b="1" dirty="0"/>
          </a:p>
          <a:p>
            <a:pPr lvl="1"/>
            <a:r>
              <a:rPr lang="bg-BG" dirty="0"/>
              <a:t>От координатите на мишката намираме координатите на центъра на платформата</a:t>
            </a:r>
          </a:p>
          <a:p>
            <a:pPr lvl="1"/>
            <a:r>
              <a:rPr lang="bg-BG" dirty="0"/>
              <a:t>Ограничаваме центъра да е в позволените граници</a:t>
            </a:r>
          </a:p>
          <a:p>
            <a:pPr lvl="1"/>
            <a:endParaRPr lang="bg-BG" dirty="0"/>
          </a:p>
          <a:p>
            <a:r>
              <a:rPr lang="bg-BG" dirty="0"/>
              <a:t>Въпрос</a:t>
            </a:r>
          </a:p>
          <a:p>
            <a:pPr lvl="1"/>
            <a:r>
              <a:rPr lang="bg-BG" dirty="0"/>
              <a:t>Как може в </a:t>
            </a:r>
            <a:r>
              <a:rPr lang="en-US" b="1" dirty="0" err="1"/>
              <a:t>onMouseMove</a:t>
            </a:r>
            <a:r>
              <a:rPr lang="bg-BG" dirty="0"/>
              <a:t> да не актуализираме координатите на </a:t>
            </a:r>
            <a:r>
              <a:rPr lang="en-US" b="1" dirty="0"/>
              <a:t>platform[1]</a:t>
            </a:r>
            <a:r>
              <a:rPr lang="en-US" dirty="0"/>
              <a:t> </a:t>
            </a:r>
            <a:r>
              <a:rPr lang="bg-BG" dirty="0"/>
              <a:t>и все пак те да са си наред?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039820"/>
            <a:ext cx="8534400" cy="2513379"/>
          </a:xfrm>
          <a:prstGeom prst="snip2DiagRect">
            <a:avLst>
              <a:gd name="adj1" fmla="val 0"/>
              <a:gd name="adj2" fmla="val 1082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onMouseMove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event.clientX-window.innerWidth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platform[0].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-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event.clientY+window.innerHeight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&gt;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&lt;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&gt;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&lt;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9381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076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Движение на топчето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</a:t>
            </a:r>
          </a:p>
          <a:p>
            <a:pPr lvl="1"/>
            <a:r>
              <a:rPr lang="bg-BG" dirty="0"/>
              <a:t>Движението се определя от вектор на скоростта </a:t>
            </a:r>
            <a:r>
              <a:rPr lang="en-US" b="1" dirty="0"/>
              <a:t>speed</a:t>
            </a:r>
            <a:endParaRPr lang="bg-BG" b="1" dirty="0"/>
          </a:p>
          <a:p>
            <a:pPr lvl="1"/>
            <a:r>
              <a:rPr lang="bg-BG" dirty="0"/>
              <a:t>Стъпката зависи от скоростта и изминалото време</a:t>
            </a:r>
            <a:r>
              <a:rPr lang="en-US" dirty="0"/>
              <a:t> </a:t>
            </a:r>
            <a:r>
              <a:rPr lang="en-US" b="1" dirty="0" err="1"/>
              <a:t>dTime</a:t>
            </a:r>
            <a:endParaRPr lang="en-US" b="1" dirty="0"/>
          </a:p>
          <a:p>
            <a:pPr lvl="1"/>
            <a:endParaRPr lang="en-US" b="1" dirty="0"/>
          </a:p>
          <a:p>
            <a:r>
              <a:rPr lang="bg-BG" dirty="0"/>
              <a:t>Удари</a:t>
            </a:r>
            <a:endParaRPr lang="en-US" dirty="0"/>
          </a:p>
          <a:p>
            <a:pPr lvl="1"/>
            <a:r>
              <a:rPr lang="bg-BG" dirty="0"/>
              <a:t>Топчето ще се отблъсква от четирите стени</a:t>
            </a:r>
            <a:endParaRPr lang="bg-BG" b="1" dirty="0"/>
          </a:p>
          <a:p>
            <a:pPr lvl="1"/>
            <a:r>
              <a:rPr lang="bg-BG" dirty="0"/>
              <a:t>Засега няма да разглеждаме сблъсък с тухлите или с платформата</a:t>
            </a:r>
          </a:p>
        </p:txBody>
      </p:sp>
    </p:spTree>
    <p:extLst>
      <p:ext uri="{BB962C8B-B14F-4D97-AF65-F5344CB8AC3E}">
        <p14:creationId xmlns:p14="http://schemas.microsoft.com/office/powerpoint/2010/main" val="2583557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  <a:endParaRPr lang="en-US" dirty="0"/>
          </a:p>
          <a:p>
            <a:pPr lvl="1"/>
            <a:r>
              <a:rPr lang="bg-BG" dirty="0"/>
              <a:t>Аналогично на платформата, въвеждаме ограничения заради стените – </a:t>
            </a:r>
            <a:r>
              <a:rPr lang="en-US" b="1" dirty="0" err="1"/>
              <a:t>minBX</a:t>
            </a:r>
            <a:r>
              <a:rPr lang="en-US" dirty="0"/>
              <a:t>, </a:t>
            </a:r>
            <a:r>
              <a:rPr lang="en-US" b="1" dirty="0" err="1"/>
              <a:t>maxBX</a:t>
            </a:r>
            <a:r>
              <a:rPr lang="en-US" dirty="0"/>
              <a:t>, </a:t>
            </a:r>
            <a:r>
              <a:rPr lang="en-US" b="1" dirty="0" err="1"/>
              <a:t>minBY</a:t>
            </a:r>
            <a:r>
              <a:rPr lang="bg-BG" dirty="0"/>
              <a:t> и </a:t>
            </a:r>
            <a:r>
              <a:rPr lang="en-US" b="1" dirty="0" err="1"/>
              <a:t>maxBY</a:t>
            </a:r>
            <a:endParaRPr lang="en-US" b="1" dirty="0"/>
          </a:p>
          <a:p>
            <a:pPr lvl="1"/>
            <a:r>
              <a:rPr lang="bg-BG" dirty="0"/>
              <a:t>Но за разлика от платформата, при задминаване на граница се сменя </a:t>
            </a:r>
            <a:r>
              <a:rPr lang="en-US" dirty="0"/>
              <a:t>X</a:t>
            </a:r>
            <a:r>
              <a:rPr lang="bg-BG" dirty="0"/>
              <a:t> или </a:t>
            </a:r>
            <a:r>
              <a:rPr lang="en-US" dirty="0"/>
              <a:t>Y</a:t>
            </a:r>
            <a:r>
              <a:rPr lang="bg-BG" dirty="0"/>
              <a:t> </a:t>
            </a:r>
            <a:r>
              <a:rPr lang="bg-BG" dirty="0" err="1"/>
              <a:t>компонентата</a:t>
            </a:r>
            <a:r>
              <a:rPr lang="bg-BG" dirty="0"/>
              <a:t> на скоростта</a:t>
            </a:r>
          </a:p>
          <a:p>
            <a:pPr lvl="1"/>
            <a:r>
              <a:rPr lang="bg-BG" dirty="0"/>
              <a:t>Допълнително движение е непрекъснатото въртене на шиповете на топчето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67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moveBall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ball[0].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speed[1]*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maxBX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[0]=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axBX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speed[0]*=-1;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minBX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[0]=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minBX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speed[0]*=-1;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maxBY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[1]=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maxBY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speed[1]*=-1;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minBY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[1]=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minBY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speed[1]*=-1;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&lt;3;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ball[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].rot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[40*i+300*time];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8043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717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4010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Колизии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80891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Колизии в „Пробив“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Съприкосновение на тела</a:t>
            </a:r>
          </a:p>
          <a:p>
            <a:pPr lvl="1"/>
            <a:r>
              <a:rPr lang="bg-BG" dirty="0"/>
              <a:t>Топче и платформа</a:t>
            </a:r>
          </a:p>
          <a:p>
            <a:pPr lvl="1"/>
            <a:r>
              <a:rPr lang="bg-BG" dirty="0"/>
              <a:t>Топче и тухла</a:t>
            </a:r>
          </a:p>
          <a:p>
            <a:pPr lvl="1"/>
            <a:r>
              <a:rPr lang="bg-BG" dirty="0"/>
              <a:t>Топче и стена (вече е направено)</a:t>
            </a:r>
          </a:p>
          <a:p>
            <a:pPr lvl="1"/>
            <a:endParaRPr lang="bg-BG" dirty="0"/>
          </a:p>
          <a:p>
            <a:r>
              <a:rPr lang="bg-BG" dirty="0"/>
              <a:t>Улеснение</a:t>
            </a:r>
          </a:p>
          <a:p>
            <a:pPr lvl="1"/>
            <a:r>
              <a:rPr lang="bg-BG" dirty="0"/>
              <a:t>Тухлите са правоъгълни</a:t>
            </a:r>
          </a:p>
          <a:p>
            <a:pPr lvl="1"/>
            <a:r>
              <a:rPr lang="bg-BG" dirty="0"/>
              <a:t>Стените им са успоредни на стените на полето</a:t>
            </a:r>
          </a:p>
          <a:p>
            <a:pPr lvl="1"/>
            <a:r>
              <a:rPr lang="bg-BG" dirty="0"/>
              <a:t>Удрянето и отблъскването на топчето ще е пак само със смяна на знак на координата на скоростта </a:t>
            </a:r>
          </a:p>
        </p:txBody>
      </p:sp>
    </p:spTree>
    <p:extLst>
      <p:ext uri="{BB962C8B-B14F-4D97-AF65-F5344CB8AC3E}">
        <p14:creationId xmlns:p14="http://schemas.microsoft.com/office/powerpoint/2010/main" val="3721999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Обаче</a:t>
            </a:r>
          </a:p>
          <a:p>
            <a:pPr lvl="1"/>
            <a:r>
              <a:rPr lang="bg-BG" dirty="0"/>
              <a:t>По традиция платформата е правоъгълна, добре ориентирана и се движи само хоризонтално</a:t>
            </a:r>
          </a:p>
          <a:p>
            <a:pPr lvl="1"/>
            <a:r>
              <a:rPr lang="bg-BG" dirty="0"/>
              <a:t>В нашата реализация ще е кръгла и ще се движи свободно</a:t>
            </a:r>
          </a:p>
          <a:p>
            <a:pPr lvl="1"/>
            <a:endParaRPr lang="bg-BG" dirty="0"/>
          </a:p>
          <a:p>
            <a:r>
              <a:rPr lang="bg-BG" dirty="0"/>
              <a:t>Математически проблеми с топчето</a:t>
            </a:r>
          </a:p>
          <a:p>
            <a:pPr lvl="1"/>
            <a:r>
              <a:rPr lang="bg-BG" dirty="0"/>
              <a:t>Каква е новата му посока след удар в платформата?</a:t>
            </a:r>
          </a:p>
          <a:p>
            <a:pPr lvl="1"/>
            <a:r>
              <a:rPr lang="bg-BG" dirty="0"/>
              <a:t>Какво да става, когато платформата се блъска в него?</a:t>
            </a:r>
          </a:p>
          <a:p>
            <a:pPr lvl="1"/>
            <a:r>
              <a:rPr lang="bg-BG" dirty="0"/>
              <a:t>Как да реализираме побутване или пък отбиване?</a:t>
            </a:r>
          </a:p>
          <a:p>
            <a:pPr lvl="1"/>
            <a:endParaRPr lang="bg-BG" dirty="0"/>
          </a:p>
          <a:p>
            <a:r>
              <a:rPr lang="bg-BG" dirty="0"/>
              <a:t>Идея за решение</a:t>
            </a:r>
          </a:p>
          <a:p>
            <a:pPr lvl="1"/>
            <a:r>
              <a:rPr lang="bg-BG" dirty="0"/>
              <a:t>Физическа симулация ще изисква по-сложни сметки, свързани със сили, импулс, инерция, въртящ момент и т.н.</a:t>
            </a:r>
          </a:p>
          <a:p>
            <a:pPr lvl="1"/>
            <a:r>
              <a:rPr lang="bg-BG" dirty="0"/>
              <a:t>Ще направим опростен модел с два случая</a:t>
            </a:r>
          </a:p>
        </p:txBody>
      </p:sp>
    </p:spTree>
    <p:extLst>
      <p:ext uri="{BB962C8B-B14F-4D97-AF65-F5344CB8AC3E}">
        <p14:creationId xmlns:p14="http://schemas.microsoft.com/office/powerpoint/2010/main" val="1006290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907080" y="2879410"/>
            <a:ext cx="1228328" cy="1228328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Намиране на сблъсък</a:t>
            </a:r>
          </a:p>
          <a:p>
            <a:pPr lvl="1"/>
            <a:r>
              <a:rPr lang="bg-BG" dirty="0"/>
              <a:t>Можем да пресметнем разстоянието между центровете на платформата и топчето</a:t>
            </a:r>
          </a:p>
          <a:p>
            <a:pPr lvl="1"/>
            <a:r>
              <a:rPr lang="bg-BG" dirty="0"/>
              <a:t>От него намираме разстоянието между повърхностите им</a:t>
            </a:r>
          </a:p>
          <a:p>
            <a:pPr lvl="1"/>
            <a:r>
              <a:rPr lang="bg-BG" dirty="0"/>
              <a:t>Ако е отрицателно, то има колизия</a:t>
            </a:r>
          </a:p>
        </p:txBody>
      </p:sp>
      <p:sp>
        <p:nvSpPr>
          <p:cNvPr id="7" name="Oval 6"/>
          <p:cNvSpPr/>
          <p:nvPr/>
        </p:nvSpPr>
        <p:spPr>
          <a:xfrm>
            <a:off x="2355332" y="3834799"/>
            <a:ext cx="2037481" cy="2037481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1521244" y="3493574"/>
            <a:ext cx="1852829" cy="1396712"/>
          </a:xfrm>
          <a:prstGeom prst="straightConnector1">
            <a:avLst/>
          </a:prstGeom>
          <a:ln w="28575">
            <a:solidFill>
              <a:srgbClr val="6F9500"/>
            </a:solidFill>
            <a:prstDash val="sys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528597" y="3293519"/>
            <a:ext cx="568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r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892586" y="4172376"/>
                <a:ext cx="4092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bg-BG" sz="2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586" y="4172376"/>
                <a:ext cx="409215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 flipV="1">
            <a:off x="1398536" y="3619254"/>
            <a:ext cx="1852829" cy="1396712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2704640" y="4783075"/>
            <a:ext cx="451518" cy="340366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663099" y="4883792"/>
                <a:ext cx="3802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bg-BG" sz="2000" b="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е</m:t>
                          </m:r>
                        </m:e>
                      </m:acc>
                    </m:oMath>
                  </m:oMathPara>
                </a14:m>
                <a:endParaRPr lang="bg-BG" sz="2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099" y="4883792"/>
                <a:ext cx="380232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798769" y="4294188"/>
            <a:ext cx="568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R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76015" y="3639710"/>
            <a:ext cx="1115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d&gt;0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Oval 38"/>
          <p:cNvSpPr/>
          <p:nvPr/>
        </p:nvSpPr>
        <p:spPr>
          <a:xfrm>
            <a:off x="4724705" y="3267718"/>
            <a:ext cx="1228328" cy="1228328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Oval 39"/>
          <p:cNvSpPr/>
          <p:nvPr/>
        </p:nvSpPr>
        <p:spPr>
          <a:xfrm>
            <a:off x="5642437" y="3834799"/>
            <a:ext cx="2037481" cy="2037481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41" name="Straight Arrow Connector 40"/>
          <p:cNvCxnSpPr/>
          <p:nvPr/>
        </p:nvCxnSpPr>
        <p:spPr>
          <a:xfrm flipH="1" flipV="1">
            <a:off x="5338869" y="3881882"/>
            <a:ext cx="1322310" cy="1008404"/>
          </a:xfrm>
          <a:prstGeom prst="straightConnector1">
            <a:avLst/>
          </a:prstGeom>
          <a:ln w="28575">
            <a:solidFill>
              <a:srgbClr val="6F9500"/>
            </a:solidFill>
            <a:prstDash val="sys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46222" y="3681827"/>
            <a:ext cx="568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r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379917" y="4372431"/>
                <a:ext cx="4092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bg-BG" sz="2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917" y="4372431"/>
                <a:ext cx="409215" cy="4001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/>
          <p:nvPr/>
        </p:nvCxnSpPr>
        <p:spPr>
          <a:xfrm flipH="1" flipV="1">
            <a:off x="5200899" y="4001678"/>
            <a:ext cx="1337572" cy="1014288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5991745" y="4783075"/>
            <a:ext cx="451518" cy="340366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950204" y="4883792"/>
                <a:ext cx="3802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bg-BG" sz="2000" b="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е</m:t>
                          </m:r>
                        </m:e>
                      </m:acc>
                    </m:oMath>
                  </m:oMathPara>
                </a14:m>
                <a:endParaRPr lang="bg-BG" sz="2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204" y="4883792"/>
                <a:ext cx="380232" cy="4001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085874" y="4294188"/>
            <a:ext cx="568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R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77823" y="3501173"/>
            <a:ext cx="90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d=0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14223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В </a:t>
            </a:r>
            <a:r>
              <a:rPr lang="en-US" b="1" dirty="0" err="1"/>
              <a:t>rR</a:t>
            </a:r>
            <a:r>
              <a:rPr lang="bg-BG" dirty="0"/>
              <a:t> е минималното разстояние между центровете на платформата и топчето, при което няма колизия</a:t>
            </a:r>
          </a:p>
          <a:p>
            <a:pPr lvl="1"/>
            <a:r>
              <a:rPr lang="bg-BG" dirty="0"/>
              <a:t>Векторът между центровете е </a:t>
            </a:r>
            <a:r>
              <a:rPr lang="en-US" b="1" dirty="0"/>
              <a:t>u</a:t>
            </a:r>
            <a:endParaRPr lang="bg-BG" b="1" dirty="0"/>
          </a:p>
          <a:p>
            <a:pPr lvl="1"/>
            <a:r>
              <a:rPr lang="bg-BG" dirty="0"/>
              <a:t>Текущото разстояние между повърхностите </a:t>
            </a:r>
            <a:r>
              <a:rPr lang="en-US" dirty="0"/>
              <a:t>e </a:t>
            </a:r>
            <a:r>
              <a:rPr lang="en-US" b="1" dirty="0"/>
              <a:t>d</a:t>
            </a:r>
          </a:p>
          <a:p>
            <a:pPr lvl="1"/>
            <a:r>
              <a:rPr lang="bg-BG" dirty="0"/>
              <a:t>Ако </a:t>
            </a:r>
            <a:r>
              <a:rPr lang="en-US" b="1" dirty="0"/>
              <a:t>d&lt;0</a:t>
            </a:r>
            <a:r>
              <a:rPr lang="en-US" dirty="0"/>
              <a:t>,</a:t>
            </a:r>
            <a:r>
              <a:rPr lang="bg-BG" dirty="0"/>
              <a:t> има колизия и пренасяме топчето на безопасно разстояние</a:t>
            </a:r>
            <a:r>
              <a:rPr lang="en-US" dirty="0"/>
              <a:t> </a:t>
            </a:r>
            <a:r>
              <a:rPr lang="en-US" b="1" dirty="0" err="1"/>
              <a:t>rR</a:t>
            </a:r>
            <a:r>
              <a:rPr lang="en-US" dirty="0"/>
              <a:t>,</a:t>
            </a:r>
            <a:r>
              <a:rPr lang="bg-BG" dirty="0"/>
              <a:t> при което има само допиране</a:t>
            </a:r>
            <a:endParaRPr lang="bg-BG" b="1" dirty="0"/>
          </a:p>
        </p:txBody>
      </p:sp>
      <p:sp>
        <p:nvSpPr>
          <p:cNvPr id="23" name="Snip Diagonal Corner Rectangle 22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67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size+platform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[0].size[0];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vectorPoints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Math.sqrt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(u[0]*u[0]+u[1]*u[1])-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&lt; 0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unitVector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9364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Удар от платформата и триене</a:t>
            </a:r>
          </a:p>
          <a:p>
            <a:pPr lvl="1"/>
            <a:r>
              <a:rPr lang="bg-BG" dirty="0"/>
              <a:t>При колизия скоростта на платформата </a:t>
            </a:r>
            <a:r>
              <a:rPr lang="en-US" b="1" dirty="0" err="1"/>
              <a:t>platformSpeed</a:t>
            </a:r>
            <a:r>
              <a:rPr lang="bg-BG" dirty="0"/>
              <a:t> се добавя векторно към скоростта на топчето </a:t>
            </a:r>
            <a:r>
              <a:rPr lang="en-US" b="1" dirty="0"/>
              <a:t>speed</a:t>
            </a:r>
            <a:endParaRPr lang="bg-BG" b="1" dirty="0"/>
          </a:p>
          <a:p>
            <a:pPr lvl="1"/>
            <a:r>
              <a:rPr lang="bg-BG" dirty="0"/>
              <a:t>Добавената скорост мащабираме с (</a:t>
            </a:r>
            <a:r>
              <a:rPr lang="bg-BG" b="1" dirty="0"/>
              <a:t>-</a:t>
            </a:r>
            <a:r>
              <a:rPr lang="en-US" b="1" dirty="0"/>
              <a:t>d</a:t>
            </a:r>
            <a:r>
              <a:rPr lang="en-US" dirty="0"/>
              <a:t>)</a:t>
            </a:r>
            <a:r>
              <a:rPr lang="bg-BG" dirty="0"/>
              <a:t> – т.е. по-голяма колизия влияе повече върху скоростта и посоката на движение на топчето</a:t>
            </a:r>
          </a:p>
          <a:p>
            <a:pPr lvl="1"/>
            <a:r>
              <a:rPr lang="bg-BG" dirty="0"/>
              <a:t>Симулираме триене чрез загуба на скоростта независимо от наличието на колизия</a:t>
            </a:r>
          </a:p>
        </p:txBody>
      </p:sp>
      <p:sp>
        <p:nvSpPr>
          <p:cNvPr id="23" name="Snip Diagonal Corner Rectangle 22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67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&lt; 0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unitVector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ball[0].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platform[0].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*e[1];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*= 1-dTime/15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*= 1-dTime/15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84661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Побутване или отблъскване?</a:t>
            </a:r>
          </a:p>
          <a:p>
            <a:pPr lvl="1"/>
            <a:r>
              <a:rPr lang="bg-BG" dirty="0"/>
              <a:t>Как да разберем дали побутваме или отблъскваме?</a:t>
            </a:r>
          </a:p>
          <a:p>
            <a:pPr lvl="1"/>
            <a:r>
              <a:rPr lang="bg-BG" dirty="0"/>
              <a:t>Следим посоките на движенията</a:t>
            </a:r>
          </a:p>
          <a:p>
            <a:pPr lvl="1"/>
            <a:r>
              <a:rPr lang="bg-BG" dirty="0"/>
              <a:t>Побутване при &lt;90</a:t>
            </a:r>
            <a:r>
              <a:rPr lang="bg-BG" dirty="0">
                <a:sym typeface="Symbol"/>
              </a:rPr>
              <a:t>, отблъскване при &gt;90</a:t>
            </a:r>
          </a:p>
        </p:txBody>
      </p:sp>
      <p:sp>
        <p:nvSpPr>
          <p:cNvPr id="19" name="Oval 18"/>
          <p:cNvSpPr/>
          <p:nvPr/>
        </p:nvSpPr>
        <p:spPr>
          <a:xfrm>
            <a:off x="2248669" y="2811492"/>
            <a:ext cx="1228328" cy="1228328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Oval 19"/>
          <p:cNvSpPr/>
          <p:nvPr/>
        </p:nvSpPr>
        <p:spPr>
          <a:xfrm>
            <a:off x="915690" y="4472537"/>
            <a:ext cx="2037481" cy="2037481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2848978" y="2300350"/>
            <a:ext cx="481557" cy="112530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877410" y="2327820"/>
            <a:ext cx="1228328" cy="1228328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6" name="Oval 35"/>
          <p:cNvSpPr/>
          <p:nvPr/>
        </p:nvSpPr>
        <p:spPr>
          <a:xfrm>
            <a:off x="5827099" y="4478319"/>
            <a:ext cx="2037481" cy="2037481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5477719" y="2941984"/>
            <a:ext cx="1188077" cy="40618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365195" y="5166760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95" y="5166760"/>
                <a:ext cx="428643" cy="461665"/>
              </a:xfrm>
              <a:prstGeom prst="rect">
                <a:avLst/>
              </a:prstGeom>
              <a:blipFill rotWithShape="1">
                <a:blip r:embed="rId2"/>
                <a:stretch>
                  <a:fillRect t="-24000" r="-41429" b="-2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258078" y="5152774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078" y="5152774"/>
                <a:ext cx="428643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23684" r="-41429" b="-13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2434130" y="4246555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130" y="4246555"/>
                <a:ext cx="40267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7576" t="-24000" r="-36364" b="-2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ie 8"/>
          <p:cNvSpPr/>
          <p:nvPr/>
        </p:nvSpPr>
        <p:spPr>
          <a:xfrm>
            <a:off x="1404075" y="4948937"/>
            <a:ext cx="1047177" cy="1047177"/>
          </a:xfrm>
          <a:prstGeom prst="pie">
            <a:avLst>
              <a:gd name="adj1" fmla="val 14193135"/>
              <a:gd name="adj2" fmla="val 17679467"/>
            </a:avLst>
          </a:prstGeom>
          <a:gradFill flip="none" rotWithShape="1">
            <a:gsLst>
              <a:gs pos="0">
                <a:schemeClr val="bg1">
                  <a:lumMod val="73000"/>
                </a:schemeClr>
              </a:gs>
              <a:gs pos="9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61259" y="4516170"/>
            <a:ext cx="90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</a:t>
            </a:r>
            <a:r>
              <a:rPr lang="bg-BG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&lt;90</a:t>
            </a:r>
            <a:r>
              <a:rPr lang="bg-BG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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1398494" y="4733365"/>
            <a:ext cx="535936" cy="757912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1937736" y="4367411"/>
            <a:ext cx="481557" cy="1125306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e 44"/>
          <p:cNvSpPr/>
          <p:nvPr/>
        </p:nvSpPr>
        <p:spPr>
          <a:xfrm>
            <a:off x="6319690" y="4973020"/>
            <a:ext cx="1047177" cy="1047177"/>
          </a:xfrm>
          <a:prstGeom prst="pie">
            <a:avLst>
              <a:gd name="adj1" fmla="val 14193135"/>
              <a:gd name="adj2" fmla="val 1116075"/>
            </a:avLst>
          </a:prstGeom>
          <a:gradFill flip="none" rotWithShape="1">
            <a:gsLst>
              <a:gs pos="0">
                <a:schemeClr val="bg1">
                  <a:lumMod val="73000"/>
                </a:schemeClr>
              </a:gs>
              <a:gs pos="63000">
                <a:schemeClr val="accent1">
                  <a:tint val="23500"/>
                  <a:satMod val="160000"/>
                  <a:alpha val="0"/>
                </a:schemeClr>
              </a:gs>
            </a:gsLst>
            <a:lin ang="81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 flipV="1">
            <a:off x="6347012" y="4800600"/>
            <a:ext cx="498827" cy="696459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961" y="4613251"/>
            <a:ext cx="90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 </a:t>
            </a:r>
            <a:r>
              <a:rPr lang="bg-BG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&gt;90</a:t>
            </a:r>
            <a:r>
              <a:rPr lang="bg-BG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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6844956" y="5496434"/>
            <a:ext cx="1188077" cy="406181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4256" y="3670488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Побутване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90427" y="3662701"/>
            <a:ext cx="17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Отблъскване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409605" y="2351576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05" y="2351576"/>
                <a:ext cx="402674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7576" t="-24000" r="-36364" b="-2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382177" y="2672768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177" y="2672768"/>
                <a:ext cx="402674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9091" t="-23684" r="-34848" b="-13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887529" y="5383606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529" y="5383606"/>
                <a:ext cx="402674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9091" t="-23684" r="-34848" b="-13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495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Модел на побутването</a:t>
                </a:r>
              </a:p>
              <a:p>
                <a:pPr lvl="1"/>
                <a:r>
                  <a:rPr lang="bg-BG" dirty="0"/>
                  <a:t>Посоката на побутване е</a:t>
                </a:r>
                <a:r>
                  <a:rPr lang="en-US" dirty="0"/>
                  <a:t> </a:t>
                </a:r>
                <a:r>
                  <a:rPr lang="bg-BG" dirty="0"/>
                  <a:t>успоредна 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endParaRPr lang="en-US" b="1" dirty="0"/>
              </a:p>
              <a:p>
                <a:pPr lvl="1"/>
                <a:r>
                  <a:rPr lang="bg-BG" dirty="0"/>
                  <a:t>Силата на побутване я</a:t>
                </a:r>
                <a:r>
                  <a:rPr lang="en-US" dirty="0"/>
                  <a:t> </a:t>
                </a:r>
                <a:r>
                  <a:rPr lang="bg-BG" dirty="0"/>
                  <a:t>избираме да е </a:t>
                </a:r>
                <a:r>
                  <a:rPr lang="en-US" b="1" dirty="0"/>
                  <a:t>2.rR</a:t>
                </a:r>
              </a:p>
              <a:p>
                <a:pPr lvl="1"/>
                <a:r>
                  <a:rPr lang="bg-BG" dirty="0"/>
                  <a:t>Крайната скорост 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+2.</m:t>
                    </m:r>
                    <m:r>
                      <a:rPr lang="en-US" b="0" i="1" smtClean="0">
                        <a:latin typeface="Cambria Math"/>
                      </a:rPr>
                      <m:t>𝑟𝑅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br>
                  <a:rPr lang="en-US" dirty="0"/>
                </a:br>
                <a:endParaRPr lang="bg-BG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42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4825094" y="3683957"/>
            <a:ext cx="2037481" cy="2037481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22196" y="4751801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96" y="4751801"/>
                <a:ext cx="428643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22368" r="-42857" b="-13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28720" y="4314786"/>
                <a:ext cx="11683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63500" algn="ctr" rotWithShape="0">
                              <a:schemeClr val="accent1">
                                <a:lumMod val="75000"/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63500" algn="ctr" rotWithShape="0">
                              <a:schemeClr val="accent1">
                                <a:lumMod val="75000"/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.</m:t>
                      </m:r>
                      <m:r>
                        <a:rPr lang="en-US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63500" algn="ctr" rotWithShape="0">
                              <a:schemeClr val="accent1">
                                <a:lumMod val="75000"/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𝑟𝑅</m:t>
                      </m:r>
                      <m:r>
                        <a:rPr lang="en-US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63500" algn="ctr" rotWithShape="0">
                              <a:schemeClr val="accent1">
                                <a:lumMod val="75000"/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720" y="4314786"/>
                <a:ext cx="1168333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23684" r="-34375" b="-394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 rot="18900000">
            <a:off x="3609441" y="3825783"/>
            <a:ext cx="1228328" cy="1228328"/>
          </a:xfrm>
          <a:prstGeom prst="ellipse">
            <a:avLst/>
          </a:pr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5" name="Straight Arrow Connector 4"/>
          <p:cNvCxnSpPr/>
          <p:nvPr/>
        </p:nvCxnSpPr>
        <p:spPr>
          <a:xfrm rot="18900000" flipV="1">
            <a:off x="1935453" y="3027206"/>
            <a:ext cx="481557" cy="1125306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8900000" flipH="1" flipV="1">
            <a:off x="5216186" y="4328057"/>
            <a:ext cx="459983" cy="636889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8900000" flipH="1" flipV="1">
            <a:off x="2765569" y="3558150"/>
            <a:ext cx="1078117" cy="1492752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8900000" flipH="1" flipV="1">
            <a:off x="2307743" y="2427361"/>
            <a:ext cx="1078117" cy="1492752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8900000" flipV="1">
            <a:off x="3745998" y="3319547"/>
            <a:ext cx="481557" cy="1125306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8900000" flipH="1" flipV="1">
            <a:off x="2777425" y="2431015"/>
            <a:ext cx="606923" cy="261237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837947" y="3310637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947" y="3310637"/>
                <a:ext cx="428643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429" t="-23684" r="-40000" b="-13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469723" y="2712072"/>
                <a:ext cx="5062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723" y="2712072"/>
                <a:ext cx="506292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006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Модел на отблъскването</a:t>
                </a:r>
              </a:p>
              <a:p>
                <a:pPr lvl="1"/>
                <a:r>
                  <a:rPr lang="bg-BG" dirty="0"/>
                  <a:t>Правата </a:t>
                </a:r>
                <a:r>
                  <a:rPr lang="en-US" b="1" dirty="0"/>
                  <a:t>T</a:t>
                </a:r>
                <a:r>
                  <a:rPr lang="bg-BG" dirty="0"/>
                  <a:t> е тангенциална в точката на допир, </a:t>
                </a:r>
                <a:r>
                  <a:rPr lang="en-US" b="1" dirty="0"/>
                  <a:t>N</a:t>
                </a:r>
                <a:r>
                  <a:rPr lang="bg-BG" dirty="0"/>
                  <a:t> е </a:t>
                </a:r>
                <a:r>
                  <a:rPr lang="bg-BG" dirty="0" err="1"/>
                  <a:t>нормала</a:t>
                </a:r>
                <a:endParaRPr lang="en-US" dirty="0"/>
              </a:p>
              <a:p>
                <a:pPr lvl="1"/>
                <a:r>
                  <a:rPr lang="bg-BG" dirty="0"/>
                  <a:t>Посоката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bg-BG" dirty="0"/>
                  <a:t>се разлага на нормална и тангенциална компонента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:r>
                  <a:rPr lang="bg-BG" dirty="0"/>
                  <a:t>т.е.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dirty="0"/>
                  <a:t> </a:t>
                </a:r>
              </a:p>
              <a:p>
                <a:pPr lvl="1"/>
                <a:r>
                  <a:rPr lang="bg-BG" dirty="0" err="1"/>
                  <a:t>Нормалата</a:t>
                </a:r>
                <a:r>
                  <a:rPr lang="bg-BG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dirty="0"/>
                  <a:t> е проекцията на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bg-BG" dirty="0"/>
                  <a:t>върху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:r>
                  <a:rPr lang="bg-BG" dirty="0"/>
                  <a:t>т.е.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</m:acc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endParaRPr lang="bg-BG" dirty="0"/>
              </a:p>
              <a:p>
                <a:pPr lvl="1"/>
                <a:r>
                  <a:rPr lang="bg-BG" dirty="0"/>
                  <a:t>Поради удара</a:t>
                </a:r>
                <a:r>
                  <a:rPr lang="en-US" dirty="0"/>
                  <a:t> </a:t>
                </a:r>
                <a:r>
                  <a:rPr lang="bg-BG" dirty="0" err="1"/>
                  <a:t>компонентата</a:t>
                </a:r>
                <a:r>
                  <a:rPr lang="bg-BG" dirty="0"/>
                  <a:t> по </a:t>
                </a:r>
                <a:r>
                  <a:rPr lang="bg-BG" dirty="0" err="1"/>
                  <a:t>нормалата</a:t>
                </a:r>
                <a:r>
                  <a:rPr lang="bg-BG" dirty="0"/>
                  <a:t> се обръща и резултатната скорост 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r>
                      <a:rPr lang="en-US" i="1" smtClean="0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</m:acc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endParaRPr lang="bg-BG" dirty="0"/>
              </a:p>
              <a:p>
                <a:pPr lvl="1"/>
                <a:r>
                  <a:rPr lang="bg-BG" dirty="0"/>
                  <a:t>Знакът на скаларното произведение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r>
                  <a:rPr lang="bg-BG" dirty="0"/>
                  <a:t> разграничава побутване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  <m:r>
                      <a:rPr lang="en-US" i="1" smtClean="0">
                        <a:latin typeface="Cambria Math"/>
                        <a:sym typeface="Symbol"/>
                      </a:rPr>
                      <m:t>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:r>
                  <a:rPr lang="bg-BG" dirty="0"/>
                  <a:t>т.е.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r>
                  <a:rPr lang="bg-BG" dirty="0"/>
                  <a:t> са еднопосочни</a:t>
                </a:r>
                <a:r>
                  <a:rPr lang="en-US" dirty="0"/>
                  <a:t>) </a:t>
                </a:r>
                <a:r>
                  <a:rPr lang="bg-BG" dirty="0"/>
                  <a:t>от отблъскване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  <m:r>
                      <a:rPr lang="en-US" b="0" i="1" smtClean="0">
                        <a:latin typeface="Cambria Math"/>
                        <a:sym typeface="Symbol"/>
                      </a:rPr>
                      <m:t></m:t>
                    </m:r>
                    <m:r>
                      <a:rPr lang="en-US" i="1">
                        <a:latin typeface="Cambria Math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:r>
                  <a:rPr lang="bg-BG" dirty="0"/>
                  <a:t>т.е.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acc>
                  </m:oMath>
                </a14:m>
                <a:r>
                  <a:rPr lang="bg-BG" dirty="0"/>
                  <a:t> са противоположни</a:t>
                </a:r>
                <a:r>
                  <a:rPr lang="en-US" dirty="0"/>
                  <a:t>)</a:t>
                </a:r>
                <a:br>
                  <a:rPr lang="en-US" dirty="0"/>
                </a:br>
                <a:endParaRPr lang="bg-BG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426" r="-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4336104" y="4674801"/>
            <a:ext cx="3202668" cy="2108921"/>
          </a:xfrm>
          <a:custGeom>
            <a:avLst/>
            <a:gdLst/>
            <a:ahLst/>
            <a:cxnLst/>
            <a:rect l="l" t="t" r="r" b="b"/>
            <a:pathLst>
              <a:path w="3202668" h="2108921">
                <a:moveTo>
                  <a:pt x="1601334" y="0"/>
                </a:moveTo>
                <a:cubicBezTo>
                  <a:pt x="2485726" y="0"/>
                  <a:pt x="3202668" y="716942"/>
                  <a:pt x="3202668" y="1601334"/>
                </a:cubicBezTo>
                <a:cubicBezTo>
                  <a:pt x="3202668" y="1778812"/>
                  <a:pt x="3173796" y="1949545"/>
                  <a:pt x="3120195" y="2108921"/>
                </a:cubicBezTo>
                <a:lnTo>
                  <a:pt x="82474" y="2108921"/>
                </a:lnTo>
                <a:cubicBezTo>
                  <a:pt x="28873" y="1949545"/>
                  <a:pt x="0" y="1778812"/>
                  <a:pt x="0" y="1601334"/>
                </a:cubicBezTo>
                <a:cubicBezTo>
                  <a:pt x="0" y="716942"/>
                  <a:pt x="716942" y="0"/>
                  <a:pt x="1601334" y="0"/>
                </a:cubicBezTo>
                <a:close/>
              </a:path>
            </a:pathLst>
          </a:cu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Oval 2"/>
          <p:cNvSpPr/>
          <p:nvPr/>
        </p:nvSpPr>
        <p:spPr>
          <a:xfrm rot="18900000">
            <a:off x="2425248" y="4897732"/>
            <a:ext cx="1930780" cy="1930780"/>
          </a:xfrm>
          <a:custGeom>
            <a:avLst/>
            <a:gdLst/>
            <a:ahLst/>
            <a:cxnLst/>
            <a:rect l="l" t="t" r="r" b="b"/>
            <a:pathLst>
              <a:path w="1930780" h="1930780">
                <a:moveTo>
                  <a:pt x="1648024" y="282757"/>
                </a:moveTo>
                <a:cubicBezTo>
                  <a:pt x="1822725" y="457458"/>
                  <a:pt x="1930780" y="698805"/>
                  <a:pt x="1930780" y="965390"/>
                </a:cubicBezTo>
                <a:cubicBezTo>
                  <a:pt x="1930780" y="1498560"/>
                  <a:pt x="1498560" y="1930780"/>
                  <a:pt x="965390" y="1930780"/>
                </a:cubicBezTo>
                <a:cubicBezTo>
                  <a:pt x="806278" y="1930781"/>
                  <a:pt x="656155" y="1892287"/>
                  <a:pt x="524193" y="1823399"/>
                </a:cubicBezTo>
                <a:lnTo>
                  <a:pt x="107382" y="1406588"/>
                </a:lnTo>
                <a:cubicBezTo>
                  <a:pt x="38493" y="1274625"/>
                  <a:pt x="0" y="1124503"/>
                  <a:pt x="0" y="965390"/>
                </a:cubicBezTo>
                <a:cubicBezTo>
                  <a:pt x="0" y="432220"/>
                  <a:pt x="432220" y="0"/>
                  <a:pt x="965390" y="0"/>
                </a:cubicBezTo>
                <a:cubicBezTo>
                  <a:pt x="1231975" y="0"/>
                  <a:pt x="1473323" y="108055"/>
                  <a:pt x="1648024" y="282757"/>
                </a:cubicBezTo>
                <a:close/>
              </a:path>
            </a:pathLst>
          </a:custGeom>
          <a:gradFill flip="none" rotWithShape="1">
            <a:gsLst>
              <a:gs pos="52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763525" y="5470494"/>
            <a:ext cx="7015280" cy="1109831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368235" y="4666904"/>
            <a:ext cx="1042207" cy="1204617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2751351" y="4420730"/>
            <a:ext cx="616884" cy="144678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227441" y="4328907"/>
            <a:ext cx="399979" cy="2454815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197953" y="4674801"/>
            <a:ext cx="214943" cy="1332715"/>
          </a:xfrm>
          <a:prstGeom prst="straightConnector1">
            <a:avLst/>
          </a:prstGeom>
          <a:ln w="3175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2751352" y="4420732"/>
            <a:ext cx="1659090" cy="246171"/>
          </a:xfrm>
          <a:prstGeom prst="straightConnector1">
            <a:avLst/>
          </a:prstGeom>
          <a:ln w="3175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3361765" y="4546499"/>
            <a:ext cx="213228" cy="133465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prstDash val="solid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10800000">
            <a:off x="2532538" y="5753445"/>
            <a:ext cx="829226" cy="126358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361763" y="5881157"/>
            <a:ext cx="829226" cy="12635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prstDash val="solid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2536408" y="4420730"/>
            <a:ext cx="214943" cy="1332715"/>
          </a:xfrm>
          <a:prstGeom prst="straightConnector1">
            <a:avLst/>
          </a:prstGeom>
          <a:ln w="3175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4937818" y="6127392"/>
            <a:ext cx="984131" cy="158725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15561" y="6206754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61" y="6206754"/>
                <a:ext cx="428643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23684" r="-41429" b="-13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103016" y="4228078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016" y="4228078"/>
                <a:ext cx="428643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24000" r="-41429" b="-2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420275" y="4014728"/>
                <a:ext cx="5062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275" y="4014728"/>
                <a:ext cx="506292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509966" y="5897564"/>
                <a:ext cx="4512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966" y="5897564"/>
                <a:ext cx="451214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423375" y="4059843"/>
                <a:ext cx="398955" cy="482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>
                                <a:outerShdw blurRad="63500" algn="ctr" rotWithShape="0">
                                  <a:schemeClr val="accent1">
                                    <a:lumMod val="75000"/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375" y="4059843"/>
                <a:ext cx="398955" cy="4821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517212" y="5779992"/>
                <a:ext cx="680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effectLst>
                            <a:outerShdw blurRad="63500" algn="ctr" rotWithShape="0">
                              <a:srgbClr val="FF0000">
                                <a:alpha val="40000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effectLst>
                                <a:outerShdw blurRad="63500" algn="ctr" rotWithShape="0">
                                  <a:srgbClr val="FF0000">
                                    <a:alpha val="40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bg-BG" sz="4000" dirty="0">
                  <a:solidFill>
                    <a:srgbClr val="FF0000"/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212" y="5779992"/>
                <a:ext cx="680443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575365" y="4328907"/>
                <a:ext cx="459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63500" algn="ctr" rotWithShape="0">
                              <a:schemeClr val="accent1">
                                <a:lumMod val="75000"/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365" y="4328907"/>
                <a:ext cx="459100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1333" b="-394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795821" y="5213828"/>
                <a:ext cx="5031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63500" algn="ctr" rotWithShape="0">
                              <a:schemeClr val="accent1">
                                <a:lumMod val="75000"/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𝑁</m:t>
                      </m:r>
                    </m:oMath>
                  </m:oMathPara>
                </a14:m>
                <a:endParaRPr lang="bg-BG" sz="24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63500" algn="ctr" rotWithShape="0">
                      <a:srgbClr val="FF0000">
                        <a:alpha val="40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821" y="5213828"/>
                <a:ext cx="503150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1220" b="-394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932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Скаларното произведение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bg-BG" dirty="0"/>
              <a:t>на </a:t>
            </a:r>
            <a:r>
              <a:rPr lang="en-US" b="1" dirty="0"/>
              <a:t>e</a:t>
            </a:r>
            <a:r>
              <a:rPr lang="bg-BG" dirty="0"/>
              <a:t> и </a:t>
            </a:r>
            <a:r>
              <a:rPr lang="en-US" b="1" dirty="0"/>
              <a:t>speed</a:t>
            </a:r>
            <a:r>
              <a:rPr lang="bg-BG" dirty="0"/>
              <a:t> е косинусът между двата вектора</a:t>
            </a:r>
          </a:p>
          <a:p>
            <a:pPr lvl="1"/>
            <a:r>
              <a:rPr lang="bg-BG" dirty="0"/>
              <a:t>Ако </a:t>
            </a:r>
            <a:r>
              <a:rPr lang="en-US" b="1" dirty="0"/>
              <a:t>n&gt;0</a:t>
            </a:r>
            <a:r>
              <a:rPr lang="en-US" dirty="0"/>
              <a:t>,</a:t>
            </a:r>
            <a:r>
              <a:rPr lang="bg-BG" dirty="0"/>
              <a:t> има побутване; иначе има отблъскване</a:t>
            </a:r>
            <a:r>
              <a:rPr lang="en-US" dirty="0"/>
              <a:t> (</a:t>
            </a:r>
            <a:r>
              <a:rPr lang="en-US" b="1" dirty="0"/>
              <a:t>n</a:t>
            </a:r>
            <a:r>
              <a:rPr lang="bg-BG" dirty="0"/>
              <a:t> е също дължина на </a:t>
            </a:r>
            <a:r>
              <a:rPr lang="bg-BG" dirty="0" err="1"/>
              <a:t>компонентата</a:t>
            </a:r>
            <a:r>
              <a:rPr lang="bg-BG" dirty="0"/>
              <a:t> на </a:t>
            </a:r>
            <a:r>
              <a:rPr lang="en-US" b="1" dirty="0"/>
              <a:t>speed</a:t>
            </a:r>
            <a:r>
              <a:rPr lang="bg-BG" dirty="0"/>
              <a:t> по </a:t>
            </a:r>
            <a:r>
              <a:rPr lang="bg-BG" dirty="0" err="1"/>
              <a:t>нормалата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23" name="Snip Diagonal Corner Rectangle 22"/>
          <p:cNvSpPr/>
          <p:nvPr/>
        </p:nvSpPr>
        <p:spPr>
          <a:xfrm>
            <a:off x="304800" y="2512770"/>
            <a:ext cx="8534400" cy="4040430"/>
          </a:xfrm>
          <a:prstGeom prst="snip2DiagRect">
            <a:avLst>
              <a:gd name="adj1" fmla="val 0"/>
              <a:gd name="adj2" fmla="val 867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 d &lt; 0 )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e[0]*speed[0]+e[1]*speed[1];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if(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&gt; 0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// 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побутване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speed[1]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// 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отблъскване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-2*n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speed[1] +=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-2*n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 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1772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Малко визуална оптимизация</a:t>
            </a:r>
          </a:p>
        </p:txBody>
      </p:sp>
      <p:sp>
        <p:nvSpPr>
          <p:cNvPr id="23" name="Snip Diagonal Corner Rectangle 22"/>
          <p:cNvSpPr/>
          <p:nvPr/>
        </p:nvSpPr>
        <p:spPr>
          <a:xfrm>
            <a:off x="304800" y="1526440"/>
            <a:ext cx="4267200" cy="3429610"/>
          </a:xfrm>
          <a:prstGeom prst="snip2DiagRect">
            <a:avLst>
              <a:gd name="adj1" fmla="val 0"/>
              <a:gd name="adj2" fmla="val 733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n&gt;0 )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 += 2*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speed[1] += 2*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*e[1];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 += -2*n*e[0];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speed[1] += -2*n*e[1];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 += -d*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platformSpeed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speed[1] += -d*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platformSpeed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</a:t>
            </a:r>
            <a:r>
              <a:rPr lang="en-GB" sz="17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350360" y="5108755"/>
            <a:ext cx="5344675" cy="1444445"/>
          </a:xfrm>
          <a:prstGeom prst="snip2DiagRect">
            <a:avLst>
              <a:gd name="adj1" fmla="val 0"/>
              <a:gd name="adj2" fmla="val 2222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if( n&gt;0 )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-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speed[0] +=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-2*n*e[0]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platformSpeed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speed[1] +=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-2*n*e[1]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platformSpeed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</a:p>
        </p:txBody>
      </p:sp>
      <p:sp>
        <p:nvSpPr>
          <p:cNvPr id="5" name="Bent Arrow 4"/>
          <p:cNvSpPr/>
          <p:nvPr/>
        </p:nvSpPr>
        <p:spPr>
          <a:xfrm rot="5400000">
            <a:off x="4620946" y="3772063"/>
            <a:ext cx="1452068" cy="1549960"/>
          </a:xfrm>
          <a:prstGeom prst="ben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111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8412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Топче и тухла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Удар на топчето в тухла</a:t>
            </a:r>
          </a:p>
          <a:p>
            <a:pPr lvl="1"/>
            <a:r>
              <a:rPr lang="bg-BG" dirty="0"/>
              <a:t>При удар топчето се отблъсква, а тухлата изчезва</a:t>
            </a:r>
          </a:p>
          <a:p>
            <a:pPr lvl="1"/>
            <a:r>
              <a:rPr lang="bg-BG" dirty="0"/>
              <a:t>За всяка тухла проверяваме дали центърът на топчето е спрямо центъра на тухлата в диапазона </a:t>
            </a:r>
            <a:r>
              <a:rPr lang="bg-BG" dirty="0">
                <a:sym typeface="Symbol"/>
              </a:rPr>
              <a:t>25 по </a:t>
            </a:r>
            <a:r>
              <a:rPr lang="en-US" dirty="0">
                <a:sym typeface="Symbol"/>
              </a:rPr>
              <a:t>X</a:t>
            </a:r>
            <a:r>
              <a:rPr lang="bg-BG" dirty="0">
                <a:sym typeface="Symbol"/>
              </a:rPr>
              <a:t> и</a:t>
            </a:r>
            <a:r>
              <a:rPr lang="bg-BG" dirty="0"/>
              <a:t> </a:t>
            </a:r>
            <a:r>
              <a:rPr lang="bg-BG" dirty="0">
                <a:sym typeface="Symbol"/>
              </a:rPr>
              <a:t></a:t>
            </a:r>
            <a:r>
              <a:rPr lang="en-US" dirty="0">
                <a:sym typeface="Symbol"/>
              </a:rPr>
              <a:t>10</a:t>
            </a:r>
            <a:r>
              <a:rPr lang="bg-BG" dirty="0">
                <a:sym typeface="Symbol"/>
              </a:rPr>
              <a:t> по </a:t>
            </a:r>
            <a:r>
              <a:rPr lang="en-US" dirty="0">
                <a:sym typeface="Symbol"/>
              </a:rPr>
              <a:t>Y</a:t>
            </a:r>
          </a:p>
          <a:p>
            <a:pPr lvl="1"/>
            <a:r>
              <a:rPr lang="bg-BG" dirty="0">
                <a:sym typeface="Symbol"/>
              </a:rPr>
              <a:t>Ако е извън, то преминаваме към следващата тухла </a:t>
            </a:r>
            <a:endParaRPr lang="en-US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67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bricks.length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ball[0].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y&lt;bricks[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[1]-10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continue;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y&gt;bricks[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[1]+10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continue;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ball[0].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(x&lt;bricks[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[0]-25) continue;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(x&gt;bricks[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[0]+25) continue;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1838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Удар на топчето в тухла №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bg-BG" dirty="0"/>
              <a:t>Намираме най-близкото разстояние </a:t>
            </a:r>
            <a:r>
              <a:rPr lang="en-US" b="1" dirty="0" err="1"/>
              <a:t>dX</a:t>
            </a:r>
            <a:r>
              <a:rPr lang="en-US" dirty="0"/>
              <a:t> </a:t>
            </a:r>
            <a:r>
              <a:rPr lang="bg-BG" dirty="0"/>
              <a:t>до хоризонтална и </a:t>
            </a:r>
            <a:r>
              <a:rPr lang="en-US" b="1" dirty="0" err="1"/>
              <a:t>dY</a:t>
            </a:r>
            <a:r>
              <a:rPr lang="bg-BG" dirty="0"/>
              <a:t> до вертикална стена на тухлата</a:t>
            </a:r>
          </a:p>
          <a:p>
            <a:pPr lvl="1"/>
            <a:r>
              <a:rPr lang="bg-BG" dirty="0"/>
              <a:t>Ако </a:t>
            </a:r>
            <a:r>
              <a:rPr lang="en-US" b="1" dirty="0" err="1"/>
              <a:t>dX</a:t>
            </a:r>
            <a:r>
              <a:rPr lang="en-US" b="1" dirty="0"/>
              <a:t>&lt;</a:t>
            </a:r>
            <a:r>
              <a:rPr lang="en-US" b="1" dirty="0" err="1"/>
              <a:t>dY</a:t>
            </a:r>
            <a:r>
              <a:rPr lang="en-US" dirty="0"/>
              <a:t>,</a:t>
            </a:r>
            <a:r>
              <a:rPr lang="bg-BG" dirty="0"/>
              <a:t> имаме удар във вертикална стена и обръщаме посоката на хоризонталната компонента на скоростта</a:t>
            </a:r>
          </a:p>
          <a:p>
            <a:pPr lvl="1"/>
            <a:r>
              <a:rPr lang="bg-BG" dirty="0"/>
              <a:t>Аналогично за удар в хоризонтална стена</a:t>
            </a:r>
          </a:p>
          <a:p>
            <a:pPr lvl="1"/>
            <a:r>
              <a:rPr lang="bg-BG" dirty="0"/>
              <a:t>Накрая премахваме тухлата от масива и прекратяваме проверката за останалите тухли</a:t>
            </a:r>
            <a:endParaRPr lang="en-US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428999"/>
            <a:ext cx="8534400" cy="3124199"/>
          </a:xfrm>
          <a:prstGeom prst="snip2DiagRect">
            <a:avLst>
              <a:gd name="adj1" fmla="val 0"/>
              <a:gd name="adj2" fmla="val 723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Math.min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Math.abs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(bricks[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[0]-25-x),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Math.abs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(bricks[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[0]+25-x)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Math.min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Math.abs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(bricks[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[1]-10-y),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Math.abs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(bricks[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[1]+10-y)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speed[0]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*= -1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speed[1]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*= -1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bricks.splice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(i,1)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22776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3432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Звукови ефекти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24541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Звукови ефекти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Видове</a:t>
            </a:r>
          </a:p>
          <a:p>
            <a:pPr lvl="1"/>
            <a:r>
              <a:rPr lang="bg-BG" dirty="0"/>
              <a:t>Фонова музика – постоянна музика, относително дълга</a:t>
            </a:r>
          </a:p>
          <a:p>
            <a:pPr lvl="1"/>
            <a:r>
              <a:rPr lang="bg-BG" dirty="0"/>
              <a:t>Звукови ефекти – кратки звукове, често са свързани с определени ситуации в играта</a:t>
            </a:r>
          </a:p>
          <a:p>
            <a:pPr lvl="1"/>
            <a:endParaRPr lang="bg-BG" dirty="0"/>
          </a:p>
          <a:p>
            <a:r>
              <a:rPr lang="bg-BG" dirty="0"/>
              <a:t>Какво ще сложим</a:t>
            </a:r>
          </a:p>
          <a:p>
            <a:pPr lvl="1"/>
            <a:r>
              <a:rPr lang="bg-BG" dirty="0"/>
              <a:t>Фонова музика</a:t>
            </a:r>
          </a:p>
          <a:p>
            <a:pPr lvl="1"/>
            <a:r>
              <a:rPr lang="bg-BG" dirty="0"/>
              <a:t>Звукови ефекти за: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dirty="0"/>
              <a:t>Удар на топчето в стена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dirty="0"/>
              <a:t>Удар на топчето в тухла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dirty="0"/>
              <a:t>Удар на топчето в платформата</a:t>
            </a:r>
          </a:p>
          <a:p>
            <a:pPr lvl="1"/>
            <a:r>
              <a:rPr lang="bg-BG" dirty="0"/>
              <a:t>Звуковите ефекти ще се наслагват върху музикалния фон, а също и върху себе си</a:t>
            </a:r>
          </a:p>
          <a:p>
            <a:pPr marL="925830" lvl="1" indent="-285750">
              <a:buFont typeface="Arial" panose="020B0604020202020204" pitchFamily="34" charset="0"/>
              <a:buChar char="•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620973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Фонова музика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Таг &lt;</a:t>
            </a:r>
            <a:r>
              <a:rPr lang="en-US" dirty="0"/>
              <a:t>audio&gt;</a:t>
            </a:r>
          </a:p>
          <a:p>
            <a:pPr lvl="1"/>
            <a:r>
              <a:rPr lang="bg-BG" dirty="0"/>
              <a:t>За</a:t>
            </a:r>
            <a:r>
              <a:rPr lang="en-US" dirty="0"/>
              <a:t> </a:t>
            </a:r>
            <a:r>
              <a:rPr lang="bg-BG" dirty="0"/>
              <a:t>фонова музика ще ползваме </a:t>
            </a:r>
            <a:r>
              <a:rPr lang="en-US" dirty="0"/>
              <a:t>HTML5</a:t>
            </a:r>
            <a:r>
              <a:rPr lang="bg-BG" dirty="0"/>
              <a:t> таг </a:t>
            </a:r>
            <a:r>
              <a:rPr lang="en-US" dirty="0"/>
              <a:t>&lt;</a:t>
            </a:r>
            <a:r>
              <a:rPr lang="en-US" b="1" dirty="0"/>
              <a:t>audio</a:t>
            </a:r>
            <a:r>
              <a:rPr lang="en-US" dirty="0"/>
              <a:t>&gt;</a:t>
            </a:r>
          </a:p>
          <a:p>
            <a:pPr lvl="1"/>
            <a:r>
              <a:rPr lang="bg-BG" dirty="0"/>
              <a:t>Атрибутът </a:t>
            </a:r>
            <a:r>
              <a:rPr lang="en-US" b="1" dirty="0"/>
              <a:t>controls</a:t>
            </a:r>
            <a:r>
              <a:rPr lang="bg-BG" dirty="0"/>
              <a:t> указва да се виждат бутоните</a:t>
            </a:r>
          </a:p>
          <a:p>
            <a:pPr lvl="1"/>
            <a:r>
              <a:rPr lang="bg-BG" dirty="0"/>
              <a:t>Тагът </a:t>
            </a:r>
            <a:r>
              <a:rPr lang="en-US" dirty="0"/>
              <a:t>&lt;</a:t>
            </a:r>
            <a:r>
              <a:rPr lang="en-US" b="1" dirty="0"/>
              <a:t>source</a:t>
            </a:r>
            <a:r>
              <a:rPr lang="en-US" dirty="0"/>
              <a:t>&gt;</a:t>
            </a:r>
            <a:r>
              <a:rPr lang="bg-BG" dirty="0"/>
              <a:t> описва къде е файла и какъв тип е (може да има няколко тага за различни формати на същия файл)</a:t>
            </a:r>
            <a:endParaRPr lang="en-US" dirty="0"/>
          </a:p>
          <a:p>
            <a:pPr lvl="1"/>
            <a:r>
              <a:rPr lang="bg-BG" dirty="0"/>
              <a:t>За да започне музиката, в </a:t>
            </a:r>
            <a:r>
              <a:rPr lang="en-US" b="1" dirty="0" err="1"/>
              <a:t>init</a:t>
            </a:r>
            <a:r>
              <a:rPr lang="bg-BG" b="1" dirty="0"/>
              <a:t> </a:t>
            </a:r>
            <a:r>
              <a:rPr lang="bg-BG" dirty="0"/>
              <a:t>се извиква методът </a:t>
            </a:r>
            <a:r>
              <a:rPr lang="en-US" b="1" dirty="0"/>
              <a:t>play</a:t>
            </a:r>
            <a:r>
              <a:rPr lang="bg-BG" dirty="0"/>
              <a:t> на аудио елемента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5414164"/>
            <a:ext cx="8534400" cy="1139033"/>
          </a:xfrm>
          <a:prstGeom prst="snip2DiagRect">
            <a:avLst>
              <a:gd name="adj1" fmla="val 0"/>
              <a:gd name="adj2" fmla="val 2258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audio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id="music"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controls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="Arktype_-_Hot_Pursuit.mp3" type="audio/mpeg"&gt;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Искаме музика, но няма!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audio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4192526"/>
            <a:ext cx="8534400" cy="1171512"/>
          </a:xfrm>
          <a:prstGeom prst="snip2DiagRect">
            <a:avLst>
              <a:gd name="adj1" fmla="val 0"/>
              <a:gd name="adj2" fmla="val 2703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('music').play();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272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Звукови ефекти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Основен проблем</a:t>
            </a:r>
            <a:endParaRPr lang="en-US" dirty="0"/>
          </a:p>
          <a:p>
            <a:pPr lvl="1"/>
            <a:r>
              <a:rPr lang="bg-BG" dirty="0"/>
              <a:t>Тагът </a:t>
            </a:r>
            <a:r>
              <a:rPr lang="en-US" dirty="0"/>
              <a:t>&lt;</a:t>
            </a:r>
            <a:r>
              <a:rPr lang="en-US" b="1" dirty="0"/>
              <a:t>audio</a:t>
            </a:r>
            <a:r>
              <a:rPr lang="en-US" dirty="0"/>
              <a:t>&gt;</a:t>
            </a:r>
            <a:r>
              <a:rPr lang="bg-BG" dirty="0"/>
              <a:t> е по-удобен за дълга непрекъсната музика</a:t>
            </a:r>
          </a:p>
          <a:p>
            <a:pPr lvl="1"/>
            <a:r>
              <a:rPr lang="bg-BG" dirty="0"/>
              <a:t>Не може да се просвирва преди да е свършило предходното просвирване</a:t>
            </a:r>
          </a:p>
          <a:p>
            <a:pPr lvl="1"/>
            <a:endParaRPr lang="bg-BG" dirty="0"/>
          </a:p>
          <a:p>
            <a:r>
              <a:rPr lang="bg-BG" dirty="0"/>
              <a:t>Идея за звуковите ефекти</a:t>
            </a:r>
          </a:p>
          <a:p>
            <a:pPr lvl="1"/>
            <a:r>
              <a:rPr lang="bg-BG" dirty="0"/>
              <a:t>Няколко инстанции на един и същ звуков ефект</a:t>
            </a:r>
          </a:p>
          <a:p>
            <a:pPr lvl="1"/>
            <a:r>
              <a:rPr lang="bg-BG" dirty="0"/>
              <a:t>При пускането те се редуват</a:t>
            </a:r>
          </a:p>
          <a:p>
            <a:pPr lvl="1"/>
            <a:r>
              <a:rPr lang="bg-BG" dirty="0"/>
              <a:t>Създаване и контролиране директно от </a:t>
            </a:r>
            <a:r>
              <a:rPr lang="en-US" dirty="0" err="1"/>
              <a:t>JS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624962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Удряне на тухла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bg-BG" dirty="0"/>
              <a:t>Генерираме звуков обект с класа </a:t>
            </a:r>
            <a:r>
              <a:rPr lang="en-US" b="1" dirty="0"/>
              <a:t>Audio</a:t>
            </a:r>
          </a:p>
          <a:p>
            <a:pPr lvl="1"/>
            <a:r>
              <a:rPr lang="bg-BG" dirty="0"/>
              <a:t>В масива </a:t>
            </a:r>
            <a:r>
              <a:rPr lang="en-US" b="1" dirty="0" err="1"/>
              <a:t>hitBrick</a:t>
            </a:r>
            <a:r>
              <a:rPr lang="bg-BG" dirty="0"/>
              <a:t> създаваме 6 инстанции на този звук</a:t>
            </a:r>
            <a:endParaRPr lang="en-US" dirty="0"/>
          </a:p>
          <a:p>
            <a:pPr lvl="1"/>
            <a:r>
              <a:rPr lang="bg-BG" dirty="0"/>
              <a:t>За просвирване увеличаваме брояча </a:t>
            </a:r>
            <a:r>
              <a:rPr lang="en-US" b="1" dirty="0" err="1"/>
              <a:t>hB</a:t>
            </a:r>
            <a:r>
              <a:rPr lang="bg-BG" dirty="0"/>
              <a:t> и ползваме метода </a:t>
            </a:r>
            <a:r>
              <a:rPr lang="en-US" b="1" dirty="0"/>
              <a:t>play</a:t>
            </a:r>
            <a:r>
              <a:rPr lang="bg-BG" dirty="0"/>
              <a:t> на поредната инстанция</a:t>
            </a:r>
          </a:p>
          <a:p>
            <a:pPr lvl="1"/>
            <a:r>
              <a:rPr lang="bg-BG" dirty="0"/>
              <a:t>Аналогично се процедира и с другите звукови ефекти</a:t>
            </a:r>
            <a:endParaRPr lang="en-US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970885"/>
            <a:ext cx="8534400" cy="3582313"/>
          </a:xfrm>
          <a:prstGeom prst="snip2DiagRect">
            <a:avLst>
              <a:gd name="adj1" fmla="val 0"/>
              <a:gd name="adj2" fmla="val 798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hitBrick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[];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&lt;6;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hitBrick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Audio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('204136__craxic__glass14.wav');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moveBall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hitBrick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[hB%6].play();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384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2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5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74900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39209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Други ефекти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136707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Натежаване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</a:t>
            </a:r>
          </a:p>
          <a:p>
            <a:pPr lvl="1"/>
            <a:r>
              <a:rPr lang="bg-BG" dirty="0"/>
              <a:t>При движение на платформата и на топчето игралното поле се накланя като че ли те натежават</a:t>
            </a:r>
          </a:p>
          <a:p>
            <a:pPr lvl="1"/>
            <a:r>
              <a:rPr lang="bg-BG" dirty="0"/>
              <a:t>Накланянето е плавно, дори и при резки движения на платформата</a:t>
            </a:r>
          </a:p>
          <a:p>
            <a:pPr lvl="1"/>
            <a:r>
              <a:rPr lang="bg-BG" dirty="0"/>
              <a:t>При удар на топчето в стените на игралното поле то потрепва</a:t>
            </a:r>
          </a:p>
          <a:p>
            <a:pPr lvl="1"/>
            <a:endParaRPr lang="bg-BG" dirty="0"/>
          </a:p>
          <a:p>
            <a:r>
              <a:rPr lang="bg-BG" dirty="0"/>
              <a:t>Идея за реализация</a:t>
            </a:r>
          </a:p>
          <a:p>
            <a:pPr lvl="1"/>
            <a:r>
              <a:rPr lang="bg-BG" dirty="0"/>
              <a:t>Ще ползваме новото свойство </a:t>
            </a:r>
            <a:r>
              <a:rPr lang="en-US" b="1" dirty="0"/>
              <a:t>transform</a:t>
            </a:r>
            <a:r>
              <a:rPr lang="bg-BG" dirty="0"/>
              <a:t> в </a:t>
            </a:r>
            <a:r>
              <a:rPr lang="en-US" dirty="0" err="1"/>
              <a:t>CSS</a:t>
            </a:r>
            <a:endParaRPr lang="bg-BG" dirty="0"/>
          </a:p>
          <a:p>
            <a:pPr lvl="1"/>
            <a:r>
              <a:rPr lang="bg-BG" dirty="0"/>
              <a:t>Поддържа се в по-новите браузъри</a:t>
            </a:r>
          </a:p>
          <a:p>
            <a:pPr lvl="1"/>
            <a:endParaRPr lang="bg-BG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32464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bg-BG" dirty="0"/>
              <a:t>Желаният наклон според топчето и платформата е </a:t>
            </a:r>
            <a:r>
              <a:rPr lang="en-US" b="1" dirty="0"/>
              <a:t>tilt</a:t>
            </a:r>
          </a:p>
          <a:p>
            <a:pPr lvl="1"/>
            <a:r>
              <a:rPr lang="bg-BG" dirty="0"/>
              <a:t>Реалният наклон е </a:t>
            </a:r>
            <a:r>
              <a:rPr lang="en-US" b="1" dirty="0" err="1"/>
              <a:t>tiltAngle</a:t>
            </a:r>
            <a:r>
              <a:rPr lang="en-US" b="1" dirty="0"/>
              <a:t> </a:t>
            </a:r>
            <a:r>
              <a:rPr lang="bg-BG" dirty="0"/>
              <a:t>и на всеки кадър се доближава до желания наклон</a:t>
            </a:r>
            <a:r>
              <a:rPr lang="en-US" dirty="0"/>
              <a:t> </a:t>
            </a:r>
            <a:r>
              <a:rPr lang="bg-BG" dirty="0"/>
              <a:t>с по</a:t>
            </a:r>
            <a:r>
              <a:rPr lang="en-US" dirty="0"/>
              <a:t> 5%</a:t>
            </a:r>
            <a:endParaRPr lang="bg-BG" dirty="0"/>
          </a:p>
          <a:p>
            <a:pPr lvl="1"/>
            <a:r>
              <a:rPr lang="bg-BG" dirty="0"/>
              <a:t>При удар </a:t>
            </a:r>
            <a:r>
              <a:rPr lang="en-US" b="1" dirty="0"/>
              <a:t>shake</a:t>
            </a:r>
            <a:r>
              <a:rPr lang="en-US" dirty="0"/>
              <a:t> </a:t>
            </a:r>
            <a:r>
              <a:rPr lang="bg-BG" dirty="0"/>
              <a:t>(амплитудата на трептене) се прави &gt;0</a:t>
            </a:r>
          </a:p>
          <a:p>
            <a:pPr lvl="1"/>
            <a:r>
              <a:rPr lang="bg-BG" dirty="0"/>
              <a:t>Общият наклон е сумата на наклона от тежест и наклона от трептене</a:t>
            </a:r>
          </a:p>
          <a:p>
            <a:pPr lvl="1"/>
            <a:r>
              <a:rPr lang="bg-BG" dirty="0"/>
              <a:t>Стойността на свойството </a:t>
            </a:r>
            <a:r>
              <a:rPr lang="en-US" dirty="0"/>
              <a:t>transform</a:t>
            </a:r>
            <a:r>
              <a:rPr lang="bg-BG" dirty="0"/>
              <a:t> е от вида </a:t>
            </a:r>
            <a:r>
              <a:rPr lang="en-US" b="1" dirty="0"/>
              <a:t>rotate(10deg)</a:t>
            </a:r>
            <a:r>
              <a:rPr lang="en-US" dirty="0"/>
              <a:t>,</a:t>
            </a:r>
            <a:r>
              <a:rPr lang="bg-BG" dirty="0"/>
              <a:t> като вместо 10 е поставен реалният градус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497935"/>
            <a:ext cx="8534400" cy="2055263"/>
          </a:xfrm>
          <a:prstGeom prst="snip2DiagRect">
            <a:avLst>
              <a:gd name="adj1" fmla="val 0"/>
              <a:gd name="adj2" fmla="val 1434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tilt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(platform[0].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[0]+ball[0].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[0]/3)/60;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tiltAngle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tiltAngle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0.95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0.05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*tilt;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angle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tiltAngle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shake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(20*time);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shake *=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0.98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gl.canvas.style.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transform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'rotate('+angle+'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deg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)'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338613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5" y="338138"/>
            <a:ext cx="8229600" cy="55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937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Сега накъде?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523964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Сега накъде?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 курса досега</a:t>
            </a:r>
          </a:p>
          <a:p>
            <a:pPr lvl="1"/>
            <a:r>
              <a:rPr lang="bg-BG" dirty="0"/>
              <a:t>Представени са само около 60% от </a:t>
            </a:r>
            <a:r>
              <a:rPr lang="en-US" dirty="0"/>
              <a:t>WebGL</a:t>
            </a:r>
          </a:p>
          <a:p>
            <a:pPr lvl="1"/>
            <a:r>
              <a:rPr lang="bg-BG" dirty="0"/>
              <a:t>Демонстрирани са някои от техниките с </a:t>
            </a:r>
            <a:r>
              <a:rPr lang="en-US" dirty="0"/>
              <a:t>WebGL</a:t>
            </a:r>
            <a:endParaRPr lang="bg-BG" dirty="0"/>
          </a:p>
          <a:p>
            <a:pPr lvl="1"/>
            <a:r>
              <a:rPr lang="bg-BG" dirty="0"/>
              <a:t>В червен оттенък е частта от </a:t>
            </a:r>
            <a:r>
              <a:rPr lang="en-US" dirty="0"/>
              <a:t>WebGL,</a:t>
            </a:r>
            <a:r>
              <a:rPr lang="bg-BG" dirty="0"/>
              <a:t> която не беше включена в курса</a:t>
            </a:r>
            <a:endParaRPr lang="en-US" dirty="0"/>
          </a:p>
          <a:p>
            <a:pPr lvl="1"/>
            <a:endParaRPr lang="bg-BG" dirty="0"/>
          </a:p>
        </p:txBody>
      </p:sp>
      <p:pic>
        <p:nvPicPr>
          <p:cNvPr id="5125" name="Picture 5" descr="D:\Pavel\Courses\MATERIALS\Course.WebGL 2015-16\Resourses\Untitled-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0" y="3429000"/>
            <a:ext cx="8661288" cy="290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4387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има още в </a:t>
            </a:r>
            <a:r>
              <a:rPr lang="en-US" dirty="0"/>
              <a:t>WebGL?</a:t>
            </a:r>
          </a:p>
          <a:p>
            <a:pPr lvl="1"/>
            <a:r>
              <a:rPr lang="bg-BG" dirty="0"/>
              <a:t>Алфа канали и цветови компоненти за прозрачност</a:t>
            </a:r>
          </a:p>
          <a:p>
            <a:pPr lvl="1"/>
            <a:r>
              <a:rPr lang="bg-BG" dirty="0"/>
              <a:t>Буфери за изрязване и филтриране на ниво пиксел</a:t>
            </a:r>
          </a:p>
          <a:p>
            <a:pPr lvl="1"/>
            <a:r>
              <a:rPr lang="bg-BG" dirty="0"/>
              <a:t>Функции за манипулиране на данните в буферите</a:t>
            </a:r>
          </a:p>
          <a:p>
            <a:pPr lvl="1"/>
            <a:r>
              <a:rPr lang="bg-BG" dirty="0"/>
              <a:t>Информация за достъпната функционалност</a:t>
            </a:r>
          </a:p>
          <a:p>
            <a:pPr lvl="1"/>
            <a:r>
              <a:rPr lang="bg-BG" dirty="0"/>
              <a:t>Потребителски буфери за вътрешно генериране на кадри</a:t>
            </a:r>
          </a:p>
          <a:p>
            <a:pPr lvl="1"/>
            <a:r>
              <a:rPr lang="bg-BG" dirty="0"/>
              <a:t>Работа с нива на </a:t>
            </a:r>
            <a:r>
              <a:rPr lang="bg-BG" dirty="0" err="1"/>
              <a:t>текстурни</a:t>
            </a:r>
            <a:r>
              <a:rPr lang="bg-BG" dirty="0"/>
              <a:t> детайли</a:t>
            </a:r>
          </a:p>
          <a:p>
            <a:pPr lvl="1"/>
            <a:endParaRPr lang="bg-BG" dirty="0"/>
          </a:p>
          <a:p>
            <a:r>
              <a:rPr lang="bg-BG" dirty="0"/>
              <a:t>Някои от неспоменатите техники</a:t>
            </a:r>
          </a:p>
          <a:p>
            <a:pPr lvl="1"/>
            <a:r>
              <a:rPr lang="bg-BG" dirty="0"/>
              <a:t>Светлинни ефекти и сенки</a:t>
            </a:r>
          </a:p>
          <a:p>
            <a:pPr lvl="1"/>
            <a:r>
              <a:rPr lang="bg-BG" dirty="0"/>
              <a:t>Процедурно генериране на текстури</a:t>
            </a:r>
          </a:p>
          <a:p>
            <a:pPr lvl="1"/>
            <a:r>
              <a:rPr lang="bg-BG" dirty="0"/>
              <a:t>Визуални ефекти (перфорирани стени, комикс-ефект)</a:t>
            </a:r>
          </a:p>
          <a:p>
            <a:pPr lvl="1"/>
            <a:r>
              <a:rPr lang="bg-BG" dirty="0"/>
              <a:t>Системи от много частици</a:t>
            </a:r>
          </a:p>
          <a:p>
            <a:pPr lvl="1"/>
            <a:r>
              <a:rPr lang="bg-BG" dirty="0" err="1"/>
              <a:t>Спрайтове</a:t>
            </a:r>
            <a:r>
              <a:rPr lang="bg-BG" dirty="0"/>
              <a:t> на ниво </a:t>
            </a:r>
            <a:r>
              <a:rPr lang="bg-BG" dirty="0" err="1"/>
              <a:t>шейдъри</a:t>
            </a:r>
            <a:endParaRPr lang="bg-BG" dirty="0"/>
          </a:p>
          <a:p>
            <a:pPr lvl="1"/>
            <a:r>
              <a:rPr lang="bg-BG" dirty="0" err="1"/>
              <a:t>Анаглифно</a:t>
            </a:r>
            <a:r>
              <a:rPr lang="bg-BG" dirty="0"/>
              <a:t> </a:t>
            </a:r>
            <a:r>
              <a:rPr lang="bg-BG" dirty="0" err="1"/>
              <a:t>стерео</a:t>
            </a:r>
            <a:endParaRPr lang="bg-BG" dirty="0"/>
          </a:p>
          <a:p>
            <a:pPr lvl="1"/>
            <a:r>
              <a:rPr lang="bg-BG" dirty="0"/>
              <a:t>Зареждане на </a:t>
            </a:r>
            <a:r>
              <a:rPr lang="en-US" dirty="0"/>
              <a:t>3D</a:t>
            </a:r>
            <a:r>
              <a:rPr lang="bg-BG" dirty="0"/>
              <a:t> модели от файлове</a:t>
            </a:r>
          </a:p>
        </p:txBody>
      </p:sp>
    </p:spTree>
    <p:extLst>
      <p:ext uri="{BB962C8B-B14F-4D97-AF65-F5344CB8AC3E}">
        <p14:creationId xmlns:p14="http://schemas.microsoft.com/office/powerpoint/2010/main" val="17131080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581077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CSS</a:t>
            </a:r>
            <a:endParaRPr lang="bg-BG" dirty="0"/>
          </a:p>
          <a:p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HTML</a:t>
            </a:r>
            <a:endParaRPr lang="bg-BG" dirty="0"/>
          </a:p>
          <a:p>
            <a:pPr lvl="1"/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761030"/>
              </p:ext>
            </p:extLst>
          </p:nvPr>
        </p:nvGraphicFramePr>
        <p:xfrm>
          <a:off x="609600" y="4801315"/>
          <a:ext cx="8077200" cy="15290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12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Елемент за включване на аудио файл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controls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Атрибут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&lt;audio&gt;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за показване на контролния аудио панел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Елемент, вложен в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&lt;audio&gt;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 указващ адреса и типа на аудио файл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37830"/>
              </p:ext>
            </p:extLst>
          </p:nvPr>
        </p:nvGraphicFramePr>
        <p:xfrm>
          <a:off x="609600" y="2032000"/>
          <a:ext cx="8077200" cy="18999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12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box-shadow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Стил със сянка на елемент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inset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Свойство на </a:t>
                      </a:r>
                      <a:r>
                        <a:rPr lang="en-US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box-shadow,</a:t>
                      </a:r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указващо че сянката ще е вътре в елемента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transform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Свойство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за геометрична трансформация на елемент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rotate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CSS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функция за задаване на ъгъл на завъртане на геометрична трансформация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903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DOM</a:t>
            </a:r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118898"/>
              </p:ext>
            </p:extLst>
          </p:nvPr>
        </p:nvGraphicFramePr>
        <p:xfrm>
          <a:off x="609600" y="985720"/>
          <a:ext cx="8077200" cy="94996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12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Клас за аудио елемент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play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Метод за аудио елемент, активира просвирването на аудио файл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771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Въпроси и коментари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57845</TotalTime>
  <Words>3972</Words>
  <Application>Microsoft Office PowerPoint</Application>
  <PresentationFormat>On-screen Show (4:3)</PresentationFormat>
  <Paragraphs>588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Arial</vt:lpstr>
      <vt:lpstr>Arial Black</vt:lpstr>
      <vt:lpstr>Calibri</vt:lpstr>
      <vt:lpstr>Cambria Math</vt:lpstr>
      <vt:lpstr>Century Gothic</vt:lpstr>
      <vt:lpstr>Consolas</vt:lpstr>
      <vt:lpstr>Symbol</vt:lpstr>
      <vt:lpstr>Times New Roman</vt:lpstr>
      <vt:lpstr>Wingdings 2</vt:lpstr>
      <vt:lpstr>Austin</vt:lpstr>
      <vt:lpstr>Игра „Пробив“</vt:lpstr>
      <vt:lpstr>В тази лекция</vt:lpstr>
      <vt:lpstr>PowerPoint Presentation</vt:lpstr>
      <vt:lpstr>Игра „Пробив“ (Breakout)</vt:lpstr>
      <vt:lpstr>PowerPoint Presentation</vt:lpstr>
      <vt:lpstr>PowerPoint Presentation</vt:lpstr>
      <vt:lpstr>Защо тази игра?</vt:lpstr>
      <vt:lpstr>PowerPoint Presentation</vt:lpstr>
      <vt:lpstr>Игрално поле</vt:lpstr>
      <vt:lpstr>Игрална площадка</vt:lpstr>
      <vt:lpstr>PowerPoint Presentation</vt:lpstr>
      <vt:lpstr>PowerPoint Presentation</vt:lpstr>
      <vt:lpstr>Тухли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Платформа и топче</vt:lpstr>
      <vt:lpstr>PowerPoint Presentation</vt:lpstr>
      <vt:lpstr>PowerPoint Presentation</vt:lpstr>
      <vt:lpstr>Движение на платформата</vt:lpstr>
      <vt:lpstr>PowerPoint Presentation</vt:lpstr>
      <vt:lpstr>PowerPoint Presentation</vt:lpstr>
      <vt:lpstr>Движение на топчето</vt:lpstr>
      <vt:lpstr>PowerPoint Presentation</vt:lpstr>
      <vt:lpstr>PowerPoint Presentation</vt:lpstr>
      <vt:lpstr>PowerPoint Presentation</vt:lpstr>
      <vt:lpstr>Колизии в „Пробив“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Топче и тухла</vt:lpstr>
      <vt:lpstr>PowerPoint Presentation</vt:lpstr>
      <vt:lpstr>PowerPoint Presentation</vt:lpstr>
      <vt:lpstr>PowerPoint Presentation</vt:lpstr>
      <vt:lpstr>Звукови ефекти</vt:lpstr>
      <vt:lpstr>Фонова музика</vt:lpstr>
      <vt:lpstr>Звукови ефекти</vt:lpstr>
      <vt:lpstr>PowerPoint Presentation</vt:lpstr>
      <vt:lpstr>PowerPoint Presentation</vt:lpstr>
      <vt:lpstr>PowerPoint Presentation</vt:lpstr>
      <vt:lpstr>Натежаване</vt:lpstr>
      <vt:lpstr>PowerPoint Presentation</vt:lpstr>
      <vt:lpstr>PowerPoint Presentation</vt:lpstr>
      <vt:lpstr>PowerPoint Presentation</vt:lpstr>
      <vt:lpstr>Сега накъде?</vt:lpstr>
      <vt:lpstr>PowerPoint Presentation</vt:lpstr>
      <vt:lpstr>PowerPoint Presentation</vt:lpstr>
      <vt:lpstr>Речник на новите неща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WebGL-24. Game Breakout</dc:title>
  <dc:creator>Pavel Boytchev</dc:creator>
  <cp:lastModifiedBy>Pavel Boytchev</cp:lastModifiedBy>
  <cp:revision>2052</cp:revision>
  <dcterms:created xsi:type="dcterms:W3CDTF">2013-12-13T09:03:57Z</dcterms:created>
  <dcterms:modified xsi:type="dcterms:W3CDTF">2021-11-03T09:16:20Z</dcterms:modified>
</cp:coreProperties>
</file>