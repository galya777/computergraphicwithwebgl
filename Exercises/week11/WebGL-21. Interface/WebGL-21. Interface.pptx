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65"/>
  </p:notesMasterIdLst>
  <p:sldIdLst>
    <p:sldId id="256" r:id="rId2"/>
    <p:sldId id="297" r:id="rId3"/>
    <p:sldId id="1177" r:id="rId4"/>
    <p:sldId id="1178" r:id="rId5"/>
    <p:sldId id="1179" r:id="rId6"/>
    <p:sldId id="1180" r:id="rId7"/>
    <p:sldId id="1181" r:id="rId8"/>
    <p:sldId id="1182" r:id="rId9"/>
    <p:sldId id="1120" r:id="rId10"/>
    <p:sldId id="1121" r:id="rId11"/>
    <p:sldId id="1183" r:id="rId12"/>
    <p:sldId id="1184" r:id="rId13"/>
    <p:sldId id="1185" r:id="rId14"/>
    <p:sldId id="1186" r:id="rId15"/>
    <p:sldId id="1187" r:id="rId16"/>
    <p:sldId id="1190" r:id="rId17"/>
    <p:sldId id="1191" r:id="rId18"/>
    <p:sldId id="681" r:id="rId19"/>
    <p:sldId id="894" r:id="rId20"/>
    <p:sldId id="1175" r:id="rId21"/>
    <p:sldId id="1176" r:id="rId22"/>
    <p:sldId id="1192" r:id="rId23"/>
    <p:sldId id="1193" r:id="rId24"/>
    <p:sldId id="1194" r:id="rId25"/>
    <p:sldId id="1195" r:id="rId26"/>
    <p:sldId id="1196" r:id="rId27"/>
    <p:sldId id="1197" r:id="rId28"/>
    <p:sldId id="1198" r:id="rId29"/>
    <p:sldId id="1199" r:id="rId30"/>
    <p:sldId id="1200" r:id="rId31"/>
    <p:sldId id="1201" r:id="rId32"/>
    <p:sldId id="1203" r:id="rId33"/>
    <p:sldId id="1204" r:id="rId34"/>
    <p:sldId id="1205" r:id="rId35"/>
    <p:sldId id="1206" r:id="rId36"/>
    <p:sldId id="1207" r:id="rId37"/>
    <p:sldId id="1208" r:id="rId38"/>
    <p:sldId id="1209" r:id="rId39"/>
    <p:sldId id="1210" r:id="rId40"/>
    <p:sldId id="1212" r:id="rId41"/>
    <p:sldId id="1213" r:id="rId42"/>
    <p:sldId id="1215" r:id="rId43"/>
    <p:sldId id="1216" r:id="rId44"/>
    <p:sldId id="1217" r:id="rId45"/>
    <p:sldId id="1218" r:id="rId46"/>
    <p:sldId id="1219" r:id="rId47"/>
    <p:sldId id="1221" r:id="rId48"/>
    <p:sldId id="1222" r:id="rId49"/>
    <p:sldId id="1223" r:id="rId50"/>
    <p:sldId id="1220" r:id="rId51"/>
    <p:sldId id="1224" r:id="rId52"/>
    <p:sldId id="1227" r:id="rId53"/>
    <p:sldId id="1229" r:id="rId54"/>
    <p:sldId id="1228" r:id="rId55"/>
    <p:sldId id="1076" r:id="rId56"/>
    <p:sldId id="1188" r:id="rId57"/>
    <p:sldId id="1077" r:id="rId58"/>
    <p:sldId id="1189" r:id="rId59"/>
    <p:sldId id="1202" r:id="rId60"/>
    <p:sldId id="1225" r:id="rId61"/>
    <p:sldId id="1214" r:id="rId62"/>
    <p:sldId id="289" r:id="rId63"/>
    <p:sldId id="290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4C600"/>
    <a:srgbClr val="FF0000"/>
    <a:srgbClr val="AAEA25"/>
    <a:srgbClr val="6F9500"/>
    <a:srgbClr val="000000"/>
    <a:srgbClr val="00CCFF"/>
    <a:srgbClr val="0099FF"/>
    <a:srgbClr val="C7DC8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4" autoAdjust="0"/>
    <p:restoredTop sz="99825" autoAdjust="0"/>
  </p:normalViewPr>
  <p:slideViewPr>
    <p:cSldViewPr>
      <p:cViewPr varScale="1">
        <p:scale>
          <a:sx n="84" d="100"/>
          <a:sy n="84" d="100"/>
        </p:scale>
        <p:origin x="128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09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74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30.10.2021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1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>
              <a:buClr>
                <a:schemeClr val="accent1">
                  <a:lumMod val="75000"/>
                </a:schemeClr>
              </a:buClr>
              <a:defRPr lang="en-US" sz="20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bg-BG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>
              <a:buClrTx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bg2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rgbClr val="006600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rgbClr val="0066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193057" y="4478669"/>
            <a:ext cx="622877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проф. П. Бойчев ● КИТ ● ФМИ ● СУ ●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2021</a:t>
            </a:r>
            <a:endParaRPr lang="bg-BG" sz="20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alpha val="67000"/>
                  </a:scheme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7332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rgbClr val="0033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rgbClr val="339933"/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rgbClr val="006600"/>
          </a:solidFill>
          <a:effectLst>
            <a:outerShdw blurRad="63500" algn="ctr" rotWithShape="0">
              <a:srgbClr val="339933">
                <a:alpha val="40000"/>
              </a:srgb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Example%201%20-%20Mauris%20sagittis" TargetMode="External"/><Relationship Id="rId2" Type="http://schemas.openxmlformats.org/officeDocument/2006/relationships/hyperlink" Target="Example%201%20-%20Mauris%20sagittis/Example%20210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Example%202%20-%20Nam%20porttitor" TargetMode="External"/><Relationship Id="rId2" Type="http://schemas.openxmlformats.org/officeDocument/2006/relationships/hyperlink" Target="Example%202%20-%20Nam%20porttitor/Example%20210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Example%203%20-%20Aliquam%20dictum" TargetMode="External"/><Relationship Id="rId2" Type="http://schemas.openxmlformats.org/officeDocument/2006/relationships/hyperlink" Target="Example%203%20-%20Aliquam%20dictum/Example%2021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Example%204%20-%20Cras%20scelerisque" TargetMode="External"/><Relationship Id="rId2" Type="http://schemas.openxmlformats.org/officeDocument/2006/relationships/hyperlink" Target="Example%204%20-%20Cras%20scelerisque/Example%202104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Example%205%20-%20Vivamus%20in%20ligula" TargetMode="External"/><Relationship Id="rId2" Type="http://schemas.openxmlformats.org/officeDocument/2006/relationships/hyperlink" Target="Example%205%20-%20Vivamus%20in%20ligula/Example%202105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Example%206%20-%20Etiam%20non%20massa" TargetMode="External"/><Relationship Id="rId2" Type="http://schemas.openxmlformats.org/officeDocument/2006/relationships/hyperlink" Target="Example%206%20-%20Etiam%20non%20massa/Example%202106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Example%207%20-%20Quis%20elementum" TargetMode="External"/><Relationship Id="rId2" Type="http://schemas.openxmlformats.org/officeDocument/2006/relationships/hyperlink" Target="Example%207%20-%20Quis%20elementum/Example%202107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Example%208%20-%20Auctor%20rhoncus" TargetMode="External"/><Relationship Id="rId2" Type="http://schemas.openxmlformats.org/officeDocument/2006/relationships/hyperlink" Target="Example%208%20-%20Auctor%20rhoncus/Example%202108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Example%209%20-%20Lacinia%20purus" TargetMode="External"/><Relationship Id="rId2" Type="http://schemas.openxmlformats.org/officeDocument/2006/relationships/hyperlink" Target="Example%209%20-%20Lacinia%20purus/Example%202109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Example%2010%20-%20Fusce%20accumsan" TargetMode="External"/><Relationship Id="rId7" Type="http://schemas.openxmlformats.org/officeDocument/2006/relationships/image" Target="../media/image30.png"/><Relationship Id="rId2" Type="http://schemas.openxmlformats.org/officeDocument/2006/relationships/hyperlink" Target="Example%2010%20-%20Fusce%20accumsan/Example%202110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Example%2011%20-%20Dictum%20pharetra" TargetMode="External"/><Relationship Id="rId2" Type="http://schemas.openxmlformats.org/officeDocument/2006/relationships/hyperlink" Target="Example%2011%20-%20Dictum%20pharetra/Example%20211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Example%2012%20-%20Ornare%20consectetur" TargetMode="External"/><Relationship Id="rId2" Type="http://schemas.openxmlformats.org/officeDocument/2006/relationships/hyperlink" Target="Example%2012%20-%20Ornare%20consectetur/Example%20211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/>
              <a:t>Интерфейс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Тема №</a:t>
            </a:r>
            <a:r>
              <a:rPr lang="en-US" dirty="0"/>
              <a:t>21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В тази лекция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Интерфейс</a:t>
            </a:r>
          </a:p>
          <a:p>
            <a:pPr lvl="1"/>
            <a:r>
              <a:rPr lang="en-US" dirty="0"/>
              <a:t>DOM</a:t>
            </a:r>
          </a:p>
          <a:p>
            <a:pPr lvl="1"/>
            <a:r>
              <a:rPr lang="bg-BG" dirty="0"/>
              <a:t>Събития</a:t>
            </a:r>
          </a:p>
          <a:p>
            <a:pPr lvl="1"/>
            <a:r>
              <a:rPr lang="en-US" dirty="0"/>
              <a:t>WebGL</a:t>
            </a:r>
            <a:r>
              <a:rPr lang="bg-BG" dirty="0"/>
              <a:t> и </a:t>
            </a:r>
            <a:r>
              <a:rPr lang="en-US" dirty="0"/>
              <a:t>HTML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DOM</a:t>
            </a:r>
            <a:endParaRPr lang="bg-BG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02311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BOM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Какво е </a:t>
            </a:r>
            <a:r>
              <a:rPr lang="en-US" dirty="0"/>
              <a:t>BOM</a:t>
            </a:r>
          </a:p>
          <a:p>
            <a:pPr lvl="1"/>
            <a:r>
              <a:rPr lang="bg-BG" dirty="0"/>
              <a:t>Съкращение на </a:t>
            </a:r>
            <a:r>
              <a:rPr lang="en-US" dirty="0"/>
              <a:t>Browser Object Model</a:t>
            </a:r>
          </a:p>
          <a:p>
            <a:pPr lvl="1"/>
            <a:r>
              <a:rPr lang="bg-BG" dirty="0"/>
              <a:t>Програмен интерфейс към браузър</a:t>
            </a:r>
          </a:p>
          <a:p>
            <a:pPr lvl="1"/>
            <a:endParaRPr lang="bg-BG" dirty="0"/>
          </a:p>
          <a:p>
            <a:r>
              <a:rPr lang="bg-BG" dirty="0"/>
              <a:t>Позволява достъп чрез </a:t>
            </a:r>
            <a:r>
              <a:rPr lang="en-US" dirty="0" err="1"/>
              <a:t>JS</a:t>
            </a:r>
            <a:r>
              <a:rPr lang="en-US" dirty="0"/>
              <a:t> </a:t>
            </a:r>
            <a:r>
              <a:rPr lang="bg-BG" dirty="0"/>
              <a:t>до</a:t>
            </a:r>
          </a:p>
          <a:p>
            <a:pPr lvl="1"/>
            <a:r>
              <a:rPr lang="bg-BG" dirty="0"/>
              <a:t>Съдържание на показваната страница</a:t>
            </a:r>
          </a:p>
          <a:p>
            <a:pPr lvl="1"/>
            <a:r>
              <a:rPr lang="bg-BG" dirty="0"/>
              <a:t>Параметри на прозореца на браузъра</a:t>
            </a:r>
          </a:p>
          <a:p>
            <a:pPr lvl="1"/>
            <a:r>
              <a:rPr lang="bg-BG" dirty="0"/>
              <a:t>История на навигация, </a:t>
            </a:r>
            <a:r>
              <a:rPr lang="bg-BG" dirty="0" err="1"/>
              <a:t>бисквитки</a:t>
            </a:r>
            <a:r>
              <a:rPr lang="bg-BG" dirty="0"/>
              <a:t> и т.н.</a:t>
            </a:r>
            <a:endParaRPr lang="en-US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02591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Структура на </a:t>
            </a:r>
            <a:r>
              <a:rPr lang="en-US" dirty="0"/>
              <a:t>BOM</a:t>
            </a:r>
            <a:endParaRPr lang="bg-BG" dirty="0"/>
          </a:p>
          <a:p>
            <a:pPr lvl="1"/>
            <a:r>
              <a:rPr lang="bg-BG" dirty="0"/>
              <a:t>Главен обект </a:t>
            </a:r>
            <a:r>
              <a:rPr lang="en-US" b="1" dirty="0"/>
              <a:t>window</a:t>
            </a:r>
          </a:p>
          <a:p>
            <a:pPr lvl="1"/>
            <a:r>
              <a:rPr lang="bg-BG" dirty="0"/>
              <a:t>Съдържание на страницата в обект </a:t>
            </a:r>
            <a:r>
              <a:rPr lang="en-US" b="1" dirty="0"/>
              <a:t>document</a:t>
            </a:r>
            <a:endParaRPr lang="bg-BG" b="1" dirty="0"/>
          </a:p>
          <a:p>
            <a:pPr lvl="1"/>
            <a:r>
              <a:rPr lang="bg-BG" dirty="0"/>
              <a:t>Свойства на прозореца в обект </a:t>
            </a:r>
            <a:r>
              <a:rPr lang="en-US" b="1" dirty="0"/>
              <a:t>screen</a:t>
            </a:r>
          </a:p>
          <a:p>
            <a:pPr lvl="1"/>
            <a:r>
              <a:rPr lang="bg-BG" dirty="0"/>
              <a:t>Текущ адрес и история в обекти </a:t>
            </a:r>
            <a:r>
              <a:rPr lang="en-US" b="1" dirty="0"/>
              <a:t>location</a:t>
            </a:r>
            <a:r>
              <a:rPr lang="bg-BG" dirty="0"/>
              <a:t> и </a:t>
            </a:r>
            <a:r>
              <a:rPr lang="en-US" b="1" dirty="0"/>
              <a:t>history</a:t>
            </a:r>
          </a:p>
          <a:p>
            <a:pPr lvl="1"/>
            <a:r>
              <a:rPr lang="bg-BG" dirty="0"/>
              <a:t>Настройки на браузъра в обект </a:t>
            </a:r>
            <a:r>
              <a:rPr lang="en-US" b="1" dirty="0"/>
              <a:t>navigator</a:t>
            </a:r>
            <a:endParaRPr lang="bg-BG" b="1" dirty="0"/>
          </a:p>
          <a:p>
            <a:pPr lvl="1"/>
            <a:endParaRPr lang="bg-BG" dirty="0"/>
          </a:p>
          <a:p>
            <a:endParaRPr lang="bg-BG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457200" y="3303262"/>
            <a:ext cx="8229600" cy="2106938"/>
          </a:xfrm>
          <a:prstGeom prst="snip2DiagRect">
            <a:avLst>
              <a:gd name="adj1" fmla="val 0"/>
              <a:gd name="adj2" fmla="val 10131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ctr"/>
            <a:r>
              <a:rPr lang="bg-BG" sz="2000" b="1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Браузър / </a:t>
            </a:r>
            <a:r>
              <a:rPr lang="en-US" sz="2000" b="1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BOM</a:t>
            </a:r>
            <a:endParaRPr lang="bg-BG" sz="2000" b="1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Snip Diagonal Corner Rectangle 4"/>
          <p:cNvSpPr/>
          <p:nvPr/>
        </p:nvSpPr>
        <p:spPr>
          <a:xfrm>
            <a:off x="609600" y="3886200"/>
            <a:ext cx="7924800" cy="1371600"/>
          </a:xfrm>
          <a:prstGeom prst="snip2Diag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window</a:t>
            </a:r>
            <a:endParaRPr lang="bg-BG" sz="2000" b="1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Snip Diagonal Corner Rectangle 5"/>
          <p:cNvSpPr/>
          <p:nvPr/>
        </p:nvSpPr>
        <p:spPr>
          <a:xfrm>
            <a:off x="2314956" y="4495800"/>
            <a:ext cx="1408176" cy="549602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screen</a:t>
            </a:r>
            <a:endParaRPr lang="bg-BG" b="1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Snip Diagonal Corner Rectangle 6"/>
          <p:cNvSpPr/>
          <p:nvPr/>
        </p:nvSpPr>
        <p:spPr>
          <a:xfrm>
            <a:off x="3867912" y="4495800"/>
            <a:ext cx="1408176" cy="549602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location</a:t>
            </a:r>
            <a:endParaRPr lang="bg-BG" b="1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8" name="Snip Diagonal Corner Rectangle 7"/>
          <p:cNvSpPr/>
          <p:nvPr/>
        </p:nvSpPr>
        <p:spPr>
          <a:xfrm>
            <a:off x="5420868" y="4495800"/>
            <a:ext cx="1408176" cy="549602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history</a:t>
            </a:r>
            <a:endParaRPr lang="bg-BG" b="1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9" name="Snip Diagonal Corner Rectangle 8"/>
          <p:cNvSpPr/>
          <p:nvPr/>
        </p:nvSpPr>
        <p:spPr>
          <a:xfrm>
            <a:off x="6973824" y="4495800"/>
            <a:ext cx="1408176" cy="549602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navigator</a:t>
            </a:r>
            <a:endParaRPr lang="bg-BG" b="1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0" name="Snip Diagonal Corner Rectangle 9"/>
          <p:cNvSpPr/>
          <p:nvPr/>
        </p:nvSpPr>
        <p:spPr>
          <a:xfrm>
            <a:off x="762000" y="4495800"/>
            <a:ext cx="1408176" cy="549602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document</a:t>
            </a:r>
            <a:endParaRPr lang="bg-BG" b="1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1025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е </a:t>
            </a:r>
            <a:r>
              <a:rPr lang="en-US" dirty="0"/>
              <a:t>DOM</a:t>
            </a:r>
          </a:p>
          <a:p>
            <a:pPr lvl="1"/>
            <a:r>
              <a:rPr lang="bg-BG" dirty="0"/>
              <a:t>Съкращение на </a:t>
            </a:r>
            <a:r>
              <a:rPr lang="en-US" dirty="0"/>
              <a:t>Document Object Model</a:t>
            </a:r>
          </a:p>
          <a:p>
            <a:pPr lvl="1"/>
            <a:r>
              <a:rPr lang="bg-BG" dirty="0"/>
              <a:t>Модел за представяне на </a:t>
            </a:r>
            <a:r>
              <a:rPr lang="en-US" dirty="0"/>
              <a:t>HTML</a:t>
            </a:r>
            <a:r>
              <a:rPr lang="bg-BG" dirty="0"/>
              <a:t> документи чрез обекти</a:t>
            </a:r>
          </a:p>
          <a:p>
            <a:pPr lvl="1"/>
            <a:r>
              <a:rPr lang="bg-BG" dirty="0"/>
              <a:t>Браузърите предоставят програмен интерфейс към </a:t>
            </a:r>
            <a:r>
              <a:rPr lang="en-US" dirty="0"/>
              <a:t>DOM</a:t>
            </a:r>
            <a:r>
              <a:rPr lang="bg-BG" dirty="0"/>
              <a:t> през обекта </a:t>
            </a:r>
            <a:r>
              <a:rPr lang="en-US" b="1" dirty="0" err="1"/>
              <a:t>window.document</a:t>
            </a:r>
            <a:r>
              <a:rPr lang="bg-BG" dirty="0"/>
              <a:t> на своя </a:t>
            </a:r>
            <a:r>
              <a:rPr lang="en-US" dirty="0"/>
              <a:t>BOM</a:t>
            </a:r>
            <a:endParaRPr lang="bg-BG" dirty="0"/>
          </a:p>
          <a:p>
            <a:pPr lvl="1"/>
            <a:endParaRPr lang="en-US" dirty="0"/>
          </a:p>
          <a:p>
            <a:r>
              <a:rPr lang="bg-BG" dirty="0"/>
              <a:t>Възможности (чрез </a:t>
            </a:r>
            <a:r>
              <a:rPr lang="en-US" dirty="0" err="1"/>
              <a:t>JS</a:t>
            </a:r>
            <a:r>
              <a:rPr lang="bg-BG" dirty="0"/>
              <a:t> код)</a:t>
            </a:r>
          </a:p>
          <a:p>
            <a:pPr lvl="1"/>
            <a:r>
              <a:rPr lang="bg-BG" dirty="0"/>
              <a:t>Достъп и промяна на </a:t>
            </a:r>
            <a:r>
              <a:rPr lang="en-US" dirty="0"/>
              <a:t>HTML</a:t>
            </a:r>
            <a:r>
              <a:rPr lang="bg-BG" dirty="0"/>
              <a:t> елементи</a:t>
            </a:r>
          </a:p>
          <a:p>
            <a:pPr lvl="1"/>
            <a:r>
              <a:rPr lang="bg-BG" dirty="0"/>
              <a:t>Достъп и промяна на </a:t>
            </a:r>
            <a:r>
              <a:rPr lang="en-US" dirty="0" err="1"/>
              <a:t>CSS</a:t>
            </a:r>
            <a:r>
              <a:rPr lang="bg-BG" dirty="0"/>
              <a:t> стилове</a:t>
            </a:r>
          </a:p>
          <a:p>
            <a:pPr lvl="1"/>
            <a:r>
              <a:rPr lang="bg-BG" dirty="0"/>
              <a:t>Достъп и промяна на събития, породени от работата на браузъра или действията на потребителя</a:t>
            </a:r>
          </a:p>
        </p:txBody>
      </p:sp>
    </p:spTree>
    <p:extLst>
      <p:ext uri="{BB962C8B-B14F-4D97-AF65-F5344CB8AC3E}">
        <p14:creationId xmlns:p14="http://schemas.microsoft.com/office/powerpoint/2010/main" val="3052321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DOM</a:t>
            </a:r>
            <a:r>
              <a:rPr lang="bg-BG" dirty="0"/>
              <a:t> през очите на </a:t>
            </a:r>
            <a:r>
              <a:rPr lang="en-US" dirty="0" err="1"/>
              <a:t>JS</a:t>
            </a:r>
            <a:endParaRPr lang="bg-BG" dirty="0"/>
          </a:p>
          <a:p>
            <a:pPr lvl="1"/>
            <a:r>
              <a:rPr lang="bg-BG" dirty="0"/>
              <a:t>Йерархия на обекти и свойства в дървовидна структура</a:t>
            </a:r>
          </a:p>
          <a:p>
            <a:pPr lvl="1"/>
            <a:r>
              <a:rPr lang="bg-BG" dirty="0"/>
              <a:t>Коренът е „закачен“ към </a:t>
            </a:r>
            <a:r>
              <a:rPr lang="en-US" b="1" dirty="0" err="1"/>
              <a:t>window.document</a:t>
            </a:r>
            <a:endParaRPr lang="bg-BG" b="1" dirty="0"/>
          </a:p>
          <a:p>
            <a:pPr lvl="1"/>
            <a:r>
              <a:rPr lang="bg-BG" dirty="0"/>
              <a:t>Пълен достъп до всеки възел в дървото с възможност за промяна, добавяне и изтриване</a:t>
            </a:r>
          </a:p>
          <a:p>
            <a:pPr lvl="1"/>
            <a:endParaRPr lang="bg-BG" dirty="0"/>
          </a:p>
          <a:p>
            <a:r>
              <a:rPr lang="bg-BG" dirty="0"/>
              <a:t>Връзка с </a:t>
            </a:r>
            <a:r>
              <a:rPr lang="en-US" dirty="0"/>
              <a:t>HTML</a:t>
            </a:r>
            <a:r>
              <a:rPr lang="bg-BG" dirty="0"/>
              <a:t> и </a:t>
            </a:r>
            <a:r>
              <a:rPr lang="en-US" dirty="0"/>
              <a:t>DOM</a:t>
            </a:r>
            <a:endParaRPr lang="bg-BG" dirty="0"/>
          </a:p>
          <a:p>
            <a:pPr lvl="1"/>
            <a:r>
              <a:rPr lang="bg-BG" dirty="0"/>
              <a:t>Всеки елемент от </a:t>
            </a:r>
            <a:r>
              <a:rPr lang="en-US" dirty="0"/>
              <a:t>HTML</a:t>
            </a:r>
            <a:r>
              <a:rPr lang="bg-BG" dirty="0"/>
              <a:t> се представя</a:t>
            </a:r>
            <a:r>
              <a:rPr lang="en-US" dirty="0"/>
              <a:t> </a:t>
            </a:r>
            <a:r>
              <a:rPr lang="bg-BG" dirty="0"/>
              <a:t>като възел от </a:t>
            </a:r>
            <a:r>
              <a:rPr lang="en-US" dirty="0"/>
              <a:t>DOM</a:t>
            </a:r>
          </a:p>
          <a:p>
            <a:pPr lvl="1"/>
            <a:endParaRPr lang="bg-BG" dirty="0"/>
          </a:p>
          <a:p>
            <a:endParaRPr lang="bg-BG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65806" y="3733800"/>
            <a:ext cx="4206194" cy="2788891"/>
          </a:xfrm>
          <a:prstGeom prst="snip2DiagRect">
            <a:avLst>
              <a:gd name="adj1" fmla="val 0"/>
              <a:gd name="adj2" fmla="val 642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&lt;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html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	&lt;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head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		&lt;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title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  <a:r>
              <a:rPr lang="bg-BG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Пример&lt;/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title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	&lt;/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head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	&lt;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body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		&lt;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h1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  <a:r>
              <a:rPr lang="en-GB" sz="12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Eleifend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GB" sz="12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porttitor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&lt;/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h1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		&lt;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p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  <a:r>
              <a:rPr lang="en-GB" sz="12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Duis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GB" sz="12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auctor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&lt;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a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GB" sz="12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href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="#1"&gt;</a:t>
            </a:r>
            <a:r>
              <a:rPr lang="en-GB" sz="12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Fringilla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&lt;/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a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&gt;&lt;/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p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		&lt;</a:t>
            </a:r>
            <a:r>
              <a:rPr lang="en-GB" sz="1200" b="1" dirty="0" err="1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ul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			&lt;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li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  <a:r>
              <a:rPr lang="en-GB" sz="12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Nulla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&lt;/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li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			&lt;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li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  <a:r>
              <a:rPr lang="en-GB" sz="12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Dapibus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&lt;/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li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			&lt;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li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&gt;Ligula&lt;/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li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		&lt;/</a:t>
            </a:r>
            <a:r>
              <a:rPr lang="en-GB" sz="1200" b="1" dirty="0" err="1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ul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	&lt;/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body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</a:p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&lt;/</a:t>
            </a:r>
            <a:r>
              <a:rPr lang="en-GB" sz="1200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html</a:t>
            </a:r>
            <a:r>
              <a:rPr lang="en-GB" sz="12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&gt;</a:t>
            </a:r>
            <a:endParaRPr lang="bg-BG" sz="12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4661647" y="4934243"/>
            <a:ext cx="304800" cy="30195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Snip Diagonal Corner Rectangle 28"/>
          <p:cNvSpPr/>
          <p:nvPr/>
        </p:nvSpPr>
        <p:spPr>
          <a:xfrm>
            <a:off x="5029200" y="3733800"/>
            <a:ext cx="3733800" cy="2788891"/>
          </a:xfrm>
          <a:prstGeom prst="snip2DiagRect">
            <a:avLst>
              <a:gd name="adj1" fmla="val 0"/>
              <a:gd name="adj2" fmla="val 642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bg-BG" sz="12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0" name="Snip Diagonal Corner Rectangle 29"/>
          <p:cNvSpPr/>
          <p:nvPr/>
        </p:nvSpPr>
        <p:spPr>
          <a:xfrm>
            <a:off x="6523800" y="4648200"/>
            <a:ext cx="979428" cy="381000"/>
          </a:xfrm>
          <a:prstGeom prst="snip2DiagRect">
            <a:avLst>
              <a:gd name="adj1" fmla="val 0"/>
              <a:gd name="adj2" fmla="val 10785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body</a:t>
            </a:r>
            <a:endParaRPr lang="bg-BG" sz="2000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2" name="Snip Diagonal Corner Rectangle 31"/>
          <p:cNvSpPr/>
          <p:nvPr/>
        </p:nvSpPr>
        <p:spPr>
          <a:xfrm>
            <a:off x="8229600" y="6009132"/>
            <a:ext cx="381000" cy="381000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li</a:t>
            </a:r>
            <a:endParaRPr lang="bg-BG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3" name="Snip Diagonal Corner Rectangle 32"/>
          <p:cNvSpPr/>
          <p:nvPr/>
        </p:nvSpPr>
        <p:spPr>
          <a:xfrm>
            <a:off x="7768392" y="6009132"/>
            <a:ext cx="381000" cy="381000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li</a:t>
            </a:r>
            <a:endParaRPr lang="bg-BG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4" name="Snip Diagonal Corner Rectangle 33"/>
          <p:cNvSpPr/>
          <p:nvPr/>
        </p:nvSpPr>
        <p:spPr>
          <a:xfrm>
            <a:off x="7307603" y="6009132"/>
            <a:ext cx="381000" cy="381000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li</a:t>
            </a:r>
            <a:endParaRPr lang="bg-BG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5" name="Snip Diagonal Corner Rectangle 34"/>
          <p:cNvSpPr/>
          <p:nvPr/>
        </p:nvSpPr>
        <p:spPr>
          <a:xfrm>
            <a:off x="6812666" y="6009132"/>
            <a:ext cx="381000" cy="381000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a</a:t>
            </a:r>
            <a:endParaRPr lang="bg-BG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6" name="Snip Diagonal Corner Rectangle 35"/>
          <p:cNvSpPr/>
          <p:nvPr/>
        </p:nvSpPr>
        <p:spPr>
          <a:xfrm>
            <a:off x="7688603" y="5334000"/>
            <a:ext cx="540997" cy="381000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ul</a:t>
            </a:r>
            <a:endParaRPr lang="bg-BG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7" name="Snip Diagonal Corner Rectangle 36"/>
          <p:cNvSpPr/>
          <p:nvPr/>
        </p:nvSpPr>
        <p:spPr>
          <a:xfrm>
            <a:off x="6750677" y="5327892"/>
            <a:ext cx="523951" cy="381000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p</a:t>
            </a:r>
            <a:endParaRPr lang="bg-BG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8" name="Snip Diagonal Corner Rectangle 37"/>
          <p:cNvSpPr/>
          <p:nvPr/>
        </p:nvSpPr>
        <p:spPr>
          <a:xfrm>
            <a:off x="6055428" y="5334000"/>
            <a:ext cx="533400" cy="381000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h1</a:t>
            </a:r>
            <a:endParaRPr lang="bg-BG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9" name="Snip Diagonal Corner Rectangle 38"/>
          <p:cNvSpPr/>
          <p:nvPr/>
        </p:nvSpPr>
        <p:spPr>
          <a:xfrm>
            <a:off x="5235042" y="5312394"/>
            <a:ext cx="685800" cy="381000"/>
          </a:xfrm>
          <a:prstGeom prst="snip2Diag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title</a:t>
            </a:r>
            <a:endParaRPr lang="bg-BG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0" name="Snip Diagonal Corner Rectangle 39"/>
          <p:cNvSpPr/>
          <p:nvPr/>
        </p:nvSpPr>
        <p:spPr>
          <a:xfrm>
            <a:off x="5131895" y="4648199"/>
            <a:ext cx="887905" cy="381000"/>
          </a:xfrm>
          <a:prstGeom prst="snip2DiagRect">
            <a:avLst>
              <a:gd name="adj1" fmla="val 0"/>
              <a:gd name="adj2" fmla="val 10785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head</a:t>
            </a:r>
            <a:endParaRPr lang="bg-BG" sz="2000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1" name="Snip Diagonal Corner Rectangle 40"/>
          <p:cNvSpPr/>
          <p:nvPr/>
        </p:nvSpPr>
        <p:spPr>
          <a:xfrm>
            <a:off x="5715000" y="3886201"/>
            <a:ext cx="1185108" cy="381000"/>
          </a:xfrm>
          <a:prstGeom prst="snip2DiagRect">
            <a:avLst>
              <a:gd name="adj1" fmla="val 0"/>
              <a:gd name="adj2" fmla="val 10785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html</a:t>
            </a:r>
            <a:endParaRPr lang="bg-BG" sz="2000" b="1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43" name="Elbow Connector 42"/>
          <p:cNvCxnSpPr>
            <a:endCxn id="32" idx="3"/>
          </p:cNvCxnSpPr>
          <p:nvPr/>
        </p:nvCxnSpPr>
        <p:spPr>
          <a:xfrm>
            <a:off x="7959103" y="5823966"/>
            <a:ext cx="460997" cy="185166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36" idx="1"/>
            <a:endCxn id="33" idx="3"/>
          </p:cNvCxnSpPr>
          <p:nvPr/>
        </p:nvCxnSpPr>
        <p:spPr>
          <a:xfrm rot="5400000">
            <a:off x="7811931" y="5861961"/>
            <a:ext cx="294132" cy="21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endCxn id="34" idx="3"/>
          </p:cNvCxnSpPr>
          <p:nvPr/>
        </p:nvCxnSpPr>
        <p:spPr>
          <a:xfrm rot="10800000" flipV="1">
            <a:off x="7498103" y="5823968"/>
            <a:ext cx="461000" cy="185164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37" idx="1"/>
            <a:endCxn id="35" idx="3"/>
          </p:cNvCxnSpPr>
          <p:nvPr/>
        </p:nvCxnSpPr>
        <p:spPr>
          <a:xfrm flipH="1">
            <a:off x="7003166" y="5708892"/>
            <a:ext cx="9487" cy="30024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49"/>
          <p:cNvCxnSpPr>
            <a:stCxn id="40" idx="1"/>
            <a:endCxn id="39" idx="3"/>
          </p:cNvCxnSpPr>
          <p:nvPr/>
        </p:nvCxnSpPr>
        <p:spPr>
          <a:xfrm>
            <a:off x="5575848" y="5029199"/>
            <a:ext cx="2094" cy="28319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endCxn id="36" idx="3"/>
          </p:cNvCxnSpPr>
          <p:nvPr/>
        </p:nvCxnSpPr>
        <p:spPr>
          <a:xfrm>
            <a:off x="7007909" y="5148834"/>
            <a:ext cx="951193" cy="185166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/>
          <p:cNvCxnSpPr>
            <a:stCxn id="30" idx="1"/>
            <a:endCxn id="37" idx="3"/>
          </p:cNvCxnSpPr>
          <p:nvPr/>
        </p:nvCxnSpPr>
        <p:spPr>
          <a:xfrm rot="5400000">
            <a:off x="6863738" y="5178116"/>
            <a:ext cx="298692" cy="86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>
            <a:endCxn id="38" idx="3"/>
          </p:cNvCxnSpPr>
          <p:nvPr/>
        </p:nvCxnSpPr>
        <p:spPr>
          <a:xfrm rot="10800000" flipV="1">
            <a:off x="6322129" y="5148836"/>
            <a:ext cx="685781" cy="185164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/>
          <p:cNvCxnSpPr>
            <a:stCxn id="41" idx="1"/>
            <a:endCxn id="40" idx="3"/>
          </p:cNvCxnSpPr>
          <p:nvPr/>
        </p:nvCxnSpPr>
        <p:spPr>
          <a:xfrm rot="5400000">
            <a:off x="5751202" y="4091847"/>
            <a:ext cx="380998" cy="73170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41" idx="1"/>
            <a:endCxn id="30" idx="3"/>
          </p:cNvCxnSpPr>
          <p:nvPr/>
        </p:nvCxnSpPr>
        <p:spPr>
          <a:xfrm rot="16200000" flipH="1">
            <a:off x="6470035" y="4104720"/>
            <a:ext cx="380999" cy="70596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762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Работа с </a:t>
            </a:r>
            <a:r>
              <a:rPr lang="en-US"/>
              <a:t>DOM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Общ алгоритъм</a:t>
            </a:r>
          </a:p>
          <a:p>
            <a:pPr lvl="1"/>
            <a:r>
              <a:rPr lang="bg-BG" dirty="0"/>
              <a:t>Намираме желания елемент или желаните елементи</a:t>
            </a:r>
          </a:p>
          <a:p>
            <a:pPr lvl="1"/>
            <a:r>
              <a:rPr lang="bg-BG" dirty="0"/>
              <a:t>Получаваме </a:t>
            </a:r>
            <a:r>
              <a:rPr lang="en-US" dirty="0" err="1"/>
              <a:t>JS</a:t>
            </a:r>
            <a:r>
              <a:rPr lang="bg-BG" dirty="0"/>
              <a:t> обекти </a:t>
            </a:r>
            <a:r>
              <a:rPr lang="en-US" dirty="0"/>
              <a:t> </a:t>
            </a:r>
            <a:r>
              <a:rPr lang="bg-BG" dirty="0"/>
              <a:t>със свойства атрибутите на елемент</a:t>
            </a:r>
          </a:p>
          <a:p>
            <a:pPr lvl="1"/>
            <a:r>
              <a:rPr lang="bg-BG" dirty="0"/>
              <a:t>Променяме техните свойства</a:t>
            </a:r>
            <a:endParaRPr lang="en-US" dirty="0"/>
          </a:p>
          <a:p>
            <a:pPr lvl="1"/>
            <a:endParaRPr lang="en-US" dirty="0"/>
          </a:p>
          <a:p>
            <a:r>
              <a:rPr lang="bg-BG" dirty="0"/>
              <a:t>Намиране на елемент</a:t>
            </a:r>
          </a:p>
          <a:p>
            <a:pPr lvl="1"/>
            <a:r>
              <a:rPr lang="ru-RU" dirty="0"/>
              <a:t>По атрибут </a:t>
            </a:r>
            <a:r>
              <a:rPr lang="ru-RU" b="1" dirty="0" err="1"/>
              <a:t>id</a:t>
            </a:r>
            <a:r>
              <a:rPr lang="ru-RU" dirty="0"/>
              <a:t> с </a:t>
            </a:r>
            <a:r>
              <a:rPr lang="ru-RU" b="1" dirty="0" err="1"/>
              <a:t>getElementById</a:t>
            </a:r>
            <a:endParaRPr lang="ru-RU" b="1" dirty="0"/>
          </a:p>
          <a:p>
            <a:pPr lvl="1"/>
            <a:endParaRPr lang="ru-RU" dirty="0"/>
          </a:p>
          <a:p>
            <a:r>
              <a:rPr lang="bg-BG" dirty="0"/>
              <a:t>Намиране на група от елементи</a:t>
            </a:r>
          </a:p>
          <a:p>
            <a:pPr lvl="1"/>
            <a:r>
              <a:rPr lang="ru-RU" dirty="0"/>
              <a:t>По атрибут </a:t>
            </a:r>
            <a:r>
              <a:rPr lang="en-GB" b="1" dirty="0"/>
              <a:t>class</a:t>
            </a:r>
            <a:r>
              <a:rPr lang="en-GB" dirty="0"/>
              <a:t> </a:t>
            </a:r>
            <a:r>
              <a:rPr lang="ru-RU" dirty="0"/>
              <a:t>с </a:t>
            </a:r>
            <a:r>
              <a:rPr lang="en-GB" b="1" dirty="0" err="1"/>
              <a:t>getElementsByClassName</a:t>
            </a:r>
            <a:endParaRPr lang="en-GB" b="1" dirty="0"/>
          </a:p>
          <a:p>
            <a:pPr lvl="1"/>
            <a:r>
              <a:rPr lang="ru-RU" dirty="0"/>
              <a:t>По тип на </a:t>
            </a:r>
            <a:r>
              <a:rPr lang="ru-RU" b="1" dirty="0" err="1"/>
              <a:t>елемента</a:t>
            </a:r>
            <a:r>
              <a:rPr lang="ru-RU" dirty="0"/>
              <a:t> с </a:t>
            </a:r>
            <a:r>
              <a:rPr lang="en-GB" b="1" dirty="0" err="1"/>
              <a:t>getElementsByTagName</a:t>
            </a:r>
            <a:endParaRPr lang="en-GB" b="1" dirty="0"/>
          </a:p>
          <a:p>
            <a:pPr lvl="1"/>
            <a:endParaRPr lang="ru-RU" dirty="0"/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52501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Пример</a:t>
            </a:r>
          </a:p>
          <a:p>
            <a:pPr lvl="1"/>
            <a:r>
              <a:rPr lang="bg-BG" dirty="0"/>
              <a:t>Дали съответната функция връща елемент или масив от елементи се разбира от името – </a:t>
            </a:r>
            <a:r>
              <a:rPr lang="en-US" b="1" dirty="0"/>
              <a:t>Element</a:t>
            </a:r>
            <a:r>
              <a:rPr lang="bg-BG" dirty="0"/>
              <a:t> или </a:t>
            </a:r>
            <a:r>
              <a:rPr lang="en-US" b="1" dirty="0"/>
              <a:t>Elements</a:t>
            </a:r>
          </a:p>
          <a:p>
            <a:pPr lvl="1"/>
            <a:r>
              <a:rPr lang="bg-BG" dirty="0"/>
              <a:t>Атрибутите на </a:t>
            </a:r>
            <a:r>
              <a:rPr lang="en-US" dirty="0"/>
              <a:t>HTML</a:t>
            </a:r>
            <a:r>
              <a:rPr lang="bg-BG" dirty="0"/>
              <a:t> елементите са достъпни като свойства в съответните </a:t>
            </a:r>
            <a:r>
              <a:rPr lang="en-US" dirty="0"/>
              <a:t>DOM</a:t>
            </a:r>
            <a:r>
              <a:rPr lang="bg-BG" dirty="0"/>
              <a:t> обекти</a:t>
            </a:r>
          </a:p>
          <a:p>
            <a:pPr lvl="1"/>
            <a:r>
              <a:rPr lang="bg-BG" dirty="0"/>
              <a:t>В </a:t>
            </a:r>
            <a:r>
              <a:rPr lang="en-US" b="1" dirty="0"/>
              <a:t>style</a:t>
            </a:r>
            <a:r>
              <a:rPr lang="bg-BG" dirty="0"/>
              <a:t> и подобектите му са свойствата за </a:t>
            </a:r>
            <a:r>
              <a:rPr lang="en-US" dirty="0" err="1"/>
              <a:t>CSS</a:t>
            </a:r>
            <a:r>
              <a:rPr lang="en-US" dirty="0"/>
              <a:t> (Cascading Style Sheets) </a:t>
            </a:r>
            <a:r>
              <a:rPr lang="bg-BG" dirty="0"/>
              <a:t>стила на елемента, дефинирани в </a:t>
            </a:r>
            <a:r>
              <a:rPr lang="en-US" dirty="0"/>
              <a:t>HTML </a:t>
            </a:r>
            <a:r>
              <a:rPr lang="bg-BG" dirty="0"/>
              <a:t>атрибута </a:t>
            </a:r>
            <a:r>
              <a:rPr lang="en-US" b="1" dirty="0"/>
              <a:t>style</a:t>
            </a:r>
            <a:r>
              <a:rPr lang="en-US" dirty="0"/>
              <a:t>, </a:t>
            </a:r>
            <a:r>
              <a:rPr lang="bg-BG" dirty="0"/>
              <a:t>в </a:t>
            </a:r>
            <a:r>
              <a:rPr lang="en-US" dirty="0"/>
              <a:t>HTML</a:t>
            </a:r>
            <a:r>
              <a:rPr lang="bg-BG" dirty="0"/>
              <a:t> тага &lt;</a:t>
            </a:r>
            <a:r>
              <a:rPr lang="en-US" b="1" dirty="0"/>
              <a:t>style</a:t>
            </a:r>
            <a:r>
              <a:rPr lang="bg-BG" dirty="0"/>
              <a:t>&gt; или във външен </a:t>
            </a:r>
            <a:r>
              <a:rPr lang="en-US" dirty="0" err="1"/>
              <a:t>CSS</a:t>
            </a:r>
            <a:r>
              <a:rPr lang="bg-BG" dirty="0"/>
              <a:t> файл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810000"/>
            <a:ext cx="8534400" cy="2743200"/>
          </a:xfrm>
          <a:prstGeom prst="snip2DiagRect">
            <a:avLst>
              <a:gd name="adj1" fmla="val 0"/>
              <a:gd name="adj2" fmla="val 11098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 =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('one')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'red';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document.getElementsByTagName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('p')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elems.length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.fontStyle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'italic';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document.getElementsByClassName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('yell')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elems.length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.backgroundColor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'yellow';</a:t>
            </a:r>
          </a:p>
        </p:txBody>
      </p:sp>
    </p:spTree>
    <p:extLst>
      <p:ext uri="{BB962C8B-B14F-4D97-AF65-F5344CB8AC3E}">
        <p14:creationId xmlns:p14="http://schemas.microsoft.com/office/powerpoint/2010/main" val="3652491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8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7200"/>
            <a:ext cx="6048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7252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 на елемент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 err="1"/>
              <a:t>HTML</a:t>
            </a:r>
            <a:r>
              <a:rPr lang="bg-BG" dirty="0"/>
              <a:t> съдържание</a:t>
            </a:r>
          </a:p>
          <a:p>
            <a:pPr lvl="1"/>
            <a:r>
              <a:rPr lang="bg-BG" dirty="0"/>
              <a:t>Пълно съдържание на елемент като </a:t>
            </a:r>
            <a:r>
              <a:rPr lang="bg-BG" dirty="0" err="1"/>
              <a:t>HTML</a:t>
            </a:r>
            <a:r>
              <a:rPr lang="bg-BG" dirty="0"/>
              <a:t> текст с </a:t>
            </a:r>
            <a:r>
              <a:rPr lang="bg-BG" b="1" dirty="0" err="1"/>
              <a:t>innerHTML</a:t>
            </a:r>
            <a:endParaRPr lang="bg-BG" b="1" dirty="0"/>
          </a:p>
          <a:p>
            <a:pPr lvl="1"/>
            <a:r>
              <a:rPr lang="bg-BG" dirty="0"/>
              <a:t>Ако има вътрешни елементи, те са под формата на тагове</a:t>
            </a:r>
          </a:p>
          <a:p>
            <a:pPr lvl="1"/>
            <a:r>
              <a:rPr lang="bg-BG" dirty="0"/>
              <a:t>Пример с извличане на съдържание от едни елементи и записването му в други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581400"/>
            <a:ext cx="8534400" cy="2971800"/>
          </a:xfrm>
          <a:prstGeom prst="snip2DiagRect">
            <a:avLst>
              <a:gd name="adj1" fmla="val 0"/>
              <a:gd name="adj2" fmla="val 11098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document.getElementsByTagName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('b');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('result');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q = '';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b.length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{q += '|';}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q += '&lt;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'+b[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innerHTML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+' &lt;/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&gt;';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b[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'red';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innerHTML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q;</a:t>
            </a:r>
          </a:p>
        </p:txBody>
      </p:sp>
    </p:spTree>
    <p:extLst>
      <p:ext uri="{BB962C8B-B14F-4D97-AF65-F5344CB8AC3E}">
        <p14:creationId xmlns:p14="http://schemas.microsoft.com/office/powerpoint/2010/main" val="1440727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7200"/>
            <a:ext cx="6048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6619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Функционалност</a:t>
            </a:r>
          </a:p>
          <a:p>
            <a:pPr lvl="1"/>
            <a:r>
              <a:rPr lang="bg-BG" dirty="0"/>
              <a:t>Въвеждане на две числа</a:t>
            </a:r>
          </a:p>
          <a:p>
            <a:pPr lvl="1"/>
            <a:r>
              <a:rPr lang="bg-BG" dirty="0"/>
              <a:t>Пресмятане на сумата им</a:t>
            </a:r>
          </a:p>
          <a:p>
            <a:pPr lvl="1"/>
            <a:endParaRPr lang="bg-BG" dirty="0"/>
          </a:p>
          <a:p>
            <a:r>
              <a:rPr lang="bg-BG" dirty="0"/>
              <a:t>Елементи</a:t>
            </a:r>
          </a:p>
          <a:p>
            <a:pPr lvl="1"/>
            <a:r>
              <a:rPr lang="bg-BG" dirty="0"/>
              <a:t>Полета за въвеждане с елементи </a:t>
            </a:r>
            <a:r>
              <a:rPr lang="en-US" b="1" dirty="0"/>
              <a:t>input</a:t>
            </a:r>
            <a:r>
              <a:rPr lang="bg-BG" b="1" dirty="0"/>
              <a:t> </a:t>
            </a:r>
            <a:r>
              <a:rPr lang="bg-BG" dirty="0"/>
              <a:t>от тип </a:t>
            </a:r>
            <a:r>
              <a:rPr lang="en-US" b="1" dirty="0"/>
              <a:t>text</a:t>
            </a:r>
            <a:r>
              <a:rPr lang="en-US" dirty="0"/>
              <a:t>,</a:t>
            </a:r>
            <a:r>
              <a:rPr lang="bg-BG" dirty="0"/>
              <a:t> без начална стойност </a:t>
            </a:r>
            <a:r>
              <a:rPr lang="en-US" b="1" dirty="0"/>
              <a:t>value</a:t>
            </a:r>
            <a:r>
              <a:rPr lang="bg-BG" dirty="0"/>
              <a:t> и ширина </a:t>
            </a:r>
            <a:r>
              <a:rPr lang="en-US" b="1" dirty="0"/>
              <a:t>size</a:t>
            </a:r>
            <a:endParaRPr lang="bg-BG" b="1" dirty="0"/>
          </a:p>
          <a:p>
            <a:pPr lvl="1"/>
            <a:r>
              <a:rPr lang="bg-BG" dirty="0"/>
              <a:t>Текстово поле с елемент </a:t>
            </a:r>
            <a:r>
              <a:rPr lang="en-US" b="1" dirty="0"/>
              <a:t>span</a:t>
            </a:r>
            <a:r>
              <a:rPr lang="bg-BG" dirty="0"/>
              <a:t>, в което ще е резултата</a:t>
            </a:r>
          </a:p>
          <a:p>
            <a:pPr lvl="1"/>
            <a:r>
              <a:rPr lang="bg-BG" dirty="0"/>
              <a:t>Активиране на пресмятането с бутон </a:t>
            </a:r>
            <a:r>
              <a:rPr lang="en-US" dirty="0"/>
              <a:t>button</a:t>
            </a:r>
            <a:endParaRPr lang="bg-BG" dirty="0"/>
          </a:p>
          <a:p>
            <a:pPr lvl="1"/>
            <a:r>
              <a:rPr lang="bg-BG" dirty="0"/>
              <a:t>Атрибути </a:t>
            </a:r>
            <a:r>
              <a:rPr lang="en-US" b="1" dirty="0"/>
              <a:t>id</a:t>
            </a:r>
            <a:r>
              <a:rPr lang="bg-BG" dirty="0"/>
              <a:t> имат само тези елементи, до които се налага достъп от </a:t>
            </a:r>
            <a:r>
              <a:rPr lang="en-US" dirty="0" err="1"/>
              <a:t>JS</a:t>
            </a:r>
            <a:endParaRPr lang="bg-BG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800600"/>
            <a:ext cx="8534400" cy="1752600"/>
          </a:xfrm>
          <a:prstGeom prst="snip2DiagRect">
            <a:avLst>
              <a:gd name="adj1" fmla="val 0"/>
              <a:gd name="adj2" fmla="val 1570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type="text"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id="num1"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value=""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size="2"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type="text" id="num2" value="" size="2"&gt;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id="res"&gt;&lt;/span&gt;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()"&gt;?&lt;/button&gt;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3783956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Пресмятане</a:t>
            </a:r>
          </a:p>
          <a:p>
            <a:pPr lvl="1"/>
            <a:r>
              <a:rPr lang="bg-BG" dirty="0"/>
              <a:t>В атрибут </a:t>
            </a:r>
            <a:r>
              <a:rPr lang="en-US" b="1" dirty="0" err="1"/>
              <a:t>onclick</a:t>
            </a:r>
            <a:r>
              <a:rPr lang="bg-BG" dirty="0"/>
              <a:t> на бутона слагаме извикване на функцията </a:t>
            </a:r>
            <a:r>
              <a:rPr lang="en-US" b="1" dirty="0" err="1"/>
              <a:t>calc</a:t>
            </a:r>
            <a:r>
              <a:rPr lang="en-US" dirty="0"/>
              <a:t>,</a:t>
            </a:r>
            <a:r>
              <a:rPr lang="bg-BG" dirty="0"/>
              <a:t> която изчислява сумата и я записва в елемента</a:t>
            </a:r>
            <a:r>
              <a:rPr lang="en-US" dirty="0"/>
              <a:t> </a:t>
            </a:r>
            <a:r>
              <a:rPr lang="en-US" b="1" dirty="0"/>
              <a:t>res</a:t>
            </a:r>
            <a:endParaRPr lang="bg-BG" b="1" dirty="0"/>
          </a:p>
          <a:p>
            <a:pPr lvl="1"/>
            <a:r>
              <a:rPr lang="bg-BG" dirty="0"/>
              <a:t>Извличането на числата като текст е от атрибута </a:t>
            </a:r>
            <a:r>
              <a:rPr lang="en-US" b="1" dirty="0"/>
              <a:t>value</a:t>
            </a:r>
          </a:p>
          <a:p>
            <a:pPr lvl="1"/>
            <a:r>
              <a:rPr lang="bg-BG" dirty="0"/>
              <a:t>Преобразуването до число е с </a:t>
            </a:r>
            <a:r>
              <a:rPr lang="en-US" b="1" dirty="0"/>
              <a:t>Number</a:t>
            </a:r>
            <a:r>
              <a:rPr lang="en-US" dirty="0"/>
              <a:t>,</a:t>
            </a:r>
            <a:r>
              <a:rPr lang="bg-BG" dirty="0"/>
              <a:t> </a:t>
            </a:r>
            <a:r>
              <a:rPr lang="en-US" b="1" dirty="0" err="1"/>
              <a:t>parseInt</a:t>
            </a:r>
            <a:r>
              <a:rPr lang="bg-BG" dirty="0"/>
              <a:t> или </a:t>
            </a:r>
            <a:r>
              <a:rPr lang="en-US" b="1" dirty="0" err="1"/>
              <a:t>parseFloat</a:t>
            </a:r>
            <a:endParaRPr lang="bg-BG" b="1" dirty="0"/>
          </a:p>
          <a:p>
            <a:pPr lvl="1"/>
            <a:endParaRPr lang="bg-BG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657600"/>
            <a:ext cx="8534400" cy="2057400"/>
          </a:xfrm>
          <a:prstGeom prst="snip2DiagRect">
            <a:avLst>
              <a:gd name="adj1" fmla="val 0"/>
              <a:gd name="adj2" fmla="val 10408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n1 =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('num1').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n2 =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('num2').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('res').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innerHTML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n1+n2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5867400"/>
            <a:ext cx="8534400" cy="685800"/>
          </a:xfrm>
          <a:prstGeom prst="snip2DiagRect">
            <a:avLst>
              <a:gd name="adj1" fmla="val 0"/>
              <a:gd name="adj2" fmla="val 3197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()"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&gt;?&lt;/button&gt;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27850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7200"/>
            <a:ext cx="6048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2941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Съдържание на списък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Комплект от два тага</a:t>
            </a:r>
            <a:endParaRPr lang="en-US" dirty="0"/>
          </a:p>
          <a:p>
            <a:pPr lvl="1"/>
            <a:r>
              <a:rPr lang="bg-BG" dirty="0"/>
              <a:t>Целият списък е </a:t>
            </a:r>
            <a:r>
              <a:rPr lang="en-US" b="1" dirty="0"/>
              <a:t>select</a:t>
            </a:r>
            <a:r>
              <a:rPr lang="bg-BG" dirty="0"/>
              <a:t>, а в него са няколко </a:t>
            </a:r>
            <a:r>
              <a:rPr lang="en-US" b="1" dirty="0"/>
              <a:t>option</a:t>
            </a:r>
            <a:r>
              <a:rPr lang="bg-BG" dirty="0"/>
              <a:t> елемента</a:t>
            </a:r>
          </a:p>
          <a:p>
            <a:pPr lvl="1"/>
            <a:r>
              <a:rPr lang="bg-BG" dirty="0"/>
              <a:t>Показваната </a:t>
            </a:r>
            <a:r>
              <a:rPr lang="en-US" dirty="0"/>
              <a:t>(</a:t>
            </a:r>
            <a:r>
              <a:rPr lang="en-US" b="1" dirty="0" err="1"/>
              <a:t>innerHTML</a:t>
            </a:r>
            <a:r>
              <a:rPr lang="en-US" dirty="0"/>
              <a:t>) </a:t>
            </a:r>
            <a:r>
              <a:rPr lang="bg-BG" dirty="0"/>
              <a:t>и реалната </a:t>
            </a:r>
            <a:r>
              <a:rPr lang="en-US" dirty="0"/>
              <a:t>(</a:t>
            </a:r>
            <a:r>
              <a:rPr lang="en-US" b="1" dirty="0"/>
              <a:t>value</a:t>
            </a:r>
            <a:r>
              <a:rPr lang="en-US" dirty="0"/>
              <a:t>) </a:t>
            </a:r>
            <a:r>
              <a:rPr lang="bg-BG" dirty="0"/>
              <a:t>стойности на </a:t>
            </a:r>
            <a:r>
              <a:rPr lang="en-US" b="1" dirty="0"/>
              <a:t>option</a:t>
            </a:r>
            <a:r>
              <a:rPr lang="bg-BG" dirty="0"/>
              <a:t> елемент могат да са различни</a:t>
            </a:r>
          </a:p>
          <a:p>
            <a:pPr lvl="1"/>
            <a:r>
              <a:rPr lang="bg-BG" dirty="0"/>
              <a:t>Изборът на елемент от списъка активира </a:t>
            </a:r>
            <a:r>
              <a:rPr lang="en-US" b="1" dirty="0" err="1"/>
              <a:t>onchange</a:t>
            </a:r>
            <a:endParaRPr lang="en-US" b="1" dirty="0"/>
          </a:p>
          <a:p>
            <a:pPr lvl="1"/>
            <a:r>
              <a:rPr lang="bg-BG" dirty="0"/>
              <a:t>Достъпът до избраната стойност е през </a:t>
            </a:r>
            <a:r>
              <a:rPr lang="en-US" b="1" dirty="0"/>
              <a:t>value</a:t>
            </a:r>
            <a:r>
              <a:rPr lang="en-US" dirty="0"/>
              <a:t> </a:t>
            </a:r>
            <a:r>
              <a:rPr lang="bg-BG" dirty="0"/>
              <a:t>на </a:t>
            </a:r>
            <a:r>
              <a:rPr lang="en-US" b="1" dirty="0"/>
              <a:t>select</a:t>
            </a:r>
            <a:endParaRPr lang="bg-BG" b="1" dirty="0"/>
          </a:p>
          <a:p>
            <a:endParaRPr lang="bg-BG" dirty="0"/>
          </a:p>
        </p:txBody>
      </p:sp>
      <p:sp>
        <p:nvSpPr>
          <p:cNvPr id="6" name="Snip Diagonal Corner Rectangle 5"/>
          <p:cNvSpPr/>
          <p:nvPr/>
        </p:nvSpPr>
        <p:spPr>
          <a:xfrm>
            <a:off x="304800" y="5143500"/>
            <a:ext cx="8534400" cy="1409700"/>
          </a:xfrm>
          <a:prstGeom prst="snip2DiagRect">
            <a:avLst>
              <a:gd name="adj1" fmla="val 0"/>
              <a:gd name="adj2" fmla="val 1756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id="list"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onchange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newSelection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()"&gt;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value="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Morbi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ipsum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primis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Morbi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&lt;/option&gt;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&lt;option value="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orci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luctus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&lt;/option&gt;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&lt;/select&gt;</a:t>
            </a:r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3733800"/>
            <a:ext cx="8534400" cy="1295400"/>
          </a:xfrm>
          <a:prstGeom prst="snip2DiagRect">
            <a:avLst>
              <a:gd name="adj1" fmla="val 0"/>
              <a:gd name="adj2" fmla="val 1989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newSelection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('list').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innerHTML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v;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4784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7200"/>
            <a:ext cx="6048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635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Събития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8955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Събития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Какво е това?</a:t>
            </a:r>
          </a:p>
          <a:p>
            <a:pPr lvl="1"/>
            <a:r>
              <a:rPr lang="bg-BG" dirty="0"/>
              <a:t>Нещо, което се случва в непредвиден момент</a:t>
            </a:r>
          </a:p>
          <a:p>
            <a:pPr lvl="1"/>
            <a:r>
              <a:rPr lang="bg-BG" dirty="0"/>
              <a:t>Интересуваме се само от някои събития</a:t>
            </a:r>
          </a:p>
          <a:p>
            <a:pPr lvl="1"/>
            <a:endParaRPr lang="bg-BG" dirty="0"/>
          </a:p>
          <a:p>
            <a:r>
              <a:rPr lang="bg-BG" dirty="0"/>
              <a:t>Цели</a:t>
            </a:r>
          </a:p>
          <a:p>
            <a:pPr lvl="1"/>
            <a:r>
              <a:rPr lang="bg-BG" dirty="0"/>
              <a:t>Постигане на интерактивност чрез подходящо реагиране при настъпване на събития</a:t>
            </a:r>
          </a:p>
          <a:p>
            <a:pPr lvl="1"/>
            <a:endParaRPr lang="bg-BG" dirty="0"/>
          </a:p>
          <a:p>
            <a:r>
              <a:rPr lang="bg-BG" dirty="0"/>
              <a:t>Чии са събитията</a:t>
            </a:r>
          </a:p>
          <a:p>
            <a:pPr lvl="1"/>
            <a:r>
              <a:rPr lang="bg-BG" dirty="0"/>
              <a:t>Обработват се с </a:t>
            </a:r>
            <a:r>
              <a:rPr lang="en-US" dirty="0" err="1"/>
              <a:t>JS</a:t>
            </a:r>
            <a:r>
              <a:rPr lang="en-US" dirty="0"/>
              <a:t>,</a:t>
            </a:r>
            <a:r>
              <a:rPr lang="bg-BG" dirty="0"/>
              <a:t> но не са елемент на </a:t>
            </a:r>
            <a:r>
              <a:rPr lang="en-US" dirty="0" err="1"/>
              <a:t>JS</a:t>
            </a:r>
            <a:endParaRPr lang="en-US" dirty="0"/>
          </a:p>
          <a:p>
            <a:pPr lvl="1"/>
            <a:r>
              <a:rPr lang="bg-BG" dirty="0"/>
              <a:t>Ще обработваме </a:t>
            </a:r>
            <a:r>
              <a:rPr lang="en-US" dirty="0"/>
              <a:t>HTML/DOM</a:t>
            </a:r>
            <a:r>
              <a:rPr lang="bg-BG" dirty="0"/>
              <a:t> събития</a:t>
            </a:r>
          </a:p>
          <a:p>
            <a:pPr lvl="1"/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74111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събития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Събития на мишката</a:t>
            </a:r>
          </a:p>
          <a:p>
            <a:pPr lvl="1"/>
            <a:r>
              <a:rPr lang="bg-BG" dirty="0"/>
              <a:t>Кликване върху елемент</a:t>
            </a:r>
          </a:p>
          <a:p>
            <a:pPr lvl="1"/>
            <a:r>
              <a:rPr lang="bg-BG" dirty="0"/>
              <a:t>Преместване на курсора на мишката</a:t>
            </a:r>
          </a:p>
          <a:p>
            <a:pPr lvl="1"/>
            <a:r>
              <a:rPr lang="bg-BG" dirty="0"/>
              <a:t>Пускане на бутон на мишката</a:t>
            </a:r>
          </a:p>
          <a:p>
            <a:pPr lvl="1"/>
            <a:r>
              <a:rPr lang="bg-BG" dirty="0"/>
              <a:t>И т.н.</a:t>
            </a:r>
          </a:p>
          <a:p>
            <a:pPr lvl="1"/>
            <a:endParaRPr lang="bg-BG" dirty="0"/>
          </a:p>
          <a:p>
            <a:r>
              <a:rPr lang="bg-BG" dirty="0"/>
              <a:t>Събития на клавиатурата</a:t>
            </a:r>
          </a:p>
          <a:p>
            <a:pPr lvl="1"/>
            <a:r>
              <a:rPr lang="bg-BG" dirty="0"/>
              <a:t>Натискане на клавиш</a:t>
            </a:r>
          </a:p>
          <a:p>
            <a:pPr lvl="1"/>
            <a:r>
              <a:rPr lang="bg-BG" dirty="0"/>
              <a:t>Пускане на клавиш</a:t>
            </a:r>
          </a:p>
          <a:p>
            <a:pPr lvl="1"/>
            <a:r>
              <a:rPr lang="bg-BG" dirty="0"/>
              <a:t>И т.н.</a:t>
            </a:r>
          </a:p>
        </p:txBody>
      </p:sp>
    </p:spTree>
    <p:extLst>
      <p:ext uri="{BB962C8B-B14F-4D97-AF65-F5344CB8AC3E}">
        <p14:creationId xmlns:p14="http://schemas.microsoft.com/office/powerpoint/2010/main" val="108922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Събития на формуляри (форми)</a:t>
            </a:r>
          </a:p>
          <a:p>
            <a:pPr lvl="1"/>
            <a:r>
              <a:rPr lang="bg-BG" dirty="0"/>
              <a:t>Промяна на поле</a:t>
            </a:r>
          </a:p>
          <a:p>
            <a:pPr lvl="1"/>
            <a:r>
              <a:rPr lang="bg-BG" dirty="0"/>
              <a:t>Излизане от поле</a:t>
            </a:r>
          </a:p>
          <a:p>
            <a:pPr lvl="1"/>
            <a:r>
              <a:rPr lang="bg-BG" dirty="0"/>
              <a:t>Изпращане на данни</a:t>
            </a:r>
          </a:p>
          <a:p>
            <a:pPr lvl="1"/>
            <a:r>
              <a:rPr lang="bg-BG" dirty="0"/>
              <a:t>И т.н.</a:t>
            </a:r>
          </a:p>
          <a:p>
            <a:pPr lvl="1"/>
            <a:endParaRPr lang="bg-BG" dirty="0"/>
          </a:p>
          <a:p>
            <a:r>
              <a:rPr lang="bg-BG" dirty="0"/>
              <a:t>Други събития</a:t>
            </a:r>
          </a:p>
          <a:p>
            <a:pPr lvl="1"/>
            <a:r>
              <a:rPr lang="bg-BG" dirty="0"/>
              <a:t>Зареждане на страница</a:t>
            </a:r>
          </a:p>
          <a:p>
            <a:pPr lvl="1"/>
            <a:r>
              <a:rPr lang="bg-BG" dirty="0"/>
              <a:t>Промяна на размера на страница</a:t>
            </a:r>
          </a:p>
          <a:p>
            <a:pPr lvl="1"/>
            <a:r>
              <a:rPr lang="bg-BG" dirty="0"/>
              <a:t>Превъртане </a:t>
            </a:r>
            <a:r>
              <a:rPr lang="en-US" dirty="0"/>
              <a:t>(</a:t>
            </a:r>
            <a:r>
              <a:rPr lang="bg-BG" dirty="0" err="1"/>
              <a:t>скролиране</a:t>
            </a:r>
            <a:r>
              <a:rPr lang="bg-BG" dirty="0"/>
              <a:t>) на страница</a:t>
            </a:r>
          </a:p>
          <a:p>
            <a:pPr lvl="1"/>
            <a:r>
              <a:rPr lang="bg-BG" dirty="0"/>
              <a:t>Минаване на определено време</a:t>
            </a:r>
          </a:p>
          <a:p>
            <a:pPr lvl="1"/>
            <a:r>
              <a:rPr lang="bg-BG" dirty="0"/>
              <a:t>И т.н.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50745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Свойства на събитията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Свойства</a:t>
            </a:r>
          </a:p>
          <a:p>
            <a:pPr lvl="1"/>
            <a:r>
              <a:rPr lang="bg-BG" dirty="0"/>
              <a:t>Където се е случило </a:t>
            </a:r>
            <a:r>
              <a:rPr lang="en-US" dirty="0"/>
              <a:t>–</a:t>
            </a:r>
            <a:r>
              <a:rPr lang="bg-BG" dirty="0"/>
              <a:t> това е </a:t>
            </a:r>
            <a:r>
              <a:rPr lang="en-US" dirty="0"/>
              <a:t>DOM </a:t>
            </a:r>
            <a:r>
              <a:rPr lang="bg-BG" dirty="0"/>
              <a:t>или</a:t>
            </a:r>
            <a:r>
              <a:rPr lang="en-US" dirty="0"/>
              <a:t> BOM</a:t>
            </a:r>
            <a:r>
              <a:rPr lang="bg-BG" dirty="0"/>
              <a:t> елемент</a:t>
            </a:r>
            <a:endParaRPr lang="en-US" dirty="0"/>
          </a:p>
          <a:p>
            <a:pPr lvl="1"/>
            <a:r>
              <a:rPr lang="bg-BG" dirty="0"/>
              <a:t>Функция на </a:t>
            </a:r>
            <a:r>
              <a:rPr lang="en-US" dirty="0" err="1"/>
              <a:t>JS</a:t>
            </a:r>
            <a:r>
              <a:rPr lang="bg-BG" dirty="0"/>
              <a:t>, която трябва да го обработи</a:t>
            </a:r>
          </a:p>
          <a:p>
            <a:pPr lvl="1"/>
            <a:r>
              <a:rPr lang="bg-BG" dirty="0"/>
              <a:t>Допълнителни параметри към събитието</a:t>
            </a:r>
            <a:r>
              <a:rPr lang="en-US" dirty="0"/>
              <a:t>,</a:t>
            </a:r>
            <a:r>
              <a:rPr lang="bg-BG" dirty="0"/>
              <a:t> които зависят от типа на събитието</a:t>
            </a:r>
          </a:p>
          <a:p>
            <a:pPr lvl="1"/>
            <a:r>
              <a:rPr lang="bg-BG" dirty="0"/>
              <a:t>Повечето събития са характерни за много елементи и се ползват по един и същ начин</a:t>
            </a:r>
          </a:p>
          <a:p>
            <a:pPr lvl="1"/>
            <a:r>
              <a:rPr lang="bg-BG" dirty="0"/>
              <a:t>Някои елементи имат специфични събития, само за тях</a:t>
            </a:r>
          </a:p>
        </p:txBody>
      </p:sp>
    </p:spTree>
    <p:extLst>
      <p:ext uri="{BB962C8B-B14F-4D97-AF65-F5344CB8AC3E}">
        <p14:creationId xmlns:p14="http://schemas.microsoft.com/office/powerpoint/2010/main" val="1182005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Често използвани събития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Общи събития</a:t>
            </a:r>
          </a:p>
          <a:p>
            <a:pPr lvl="1"/>
            <a:r>
              <a:rPr lang="bg-BG" b="1" dirty="0" err="1"/>
              <a:t>onload</a:t>
            </a:r>
            <a:r>
              <a:rPr lang="bg-BG" dirty="0"/>
              <a:t> – при пълно зареждане на страницата </a:t>
            </a:r>
          </a:p>
          <a:p>
            <a:pPr lvl="1"/>
            <a:r>
              <a:rPr lang="bg-BG" b="1" dirty="0" err="1"/>
              <a:t>onresize</a:t>
            </a:r>
            <a:r>
              <a:rPr lang="bg-BG" dirty="0"/>
              <a:t> – при промяна на размера на страницата</a:t>
            </a:r>
          </a:p>
          <a:p>
            <a:endParaRPr lang="bg-BG" dirty="0"/>
          </a:p>
          <a:p>
            <a:r>
              <a:rPr lang="bg-BG" dirty="0"/>
              <a:t>Събития към </a:t>
            </a:r>
            <a:r>
              <a:rPr lang="bg-BG" dirty="0" err="1"/>
              <a:t>DOM</a:t>
            </a:r>
            <a:r>
              <a:rPr lang="bg-BG" dirty="0"/>
              <a:t> обекти (</a:t>
            </a:r>
            <a:r>
              <a:rPr lang="bg-BG" dirty="0" err="1"/>
              <a:t>HTML</a:t>
            </a:r>
            <a:r>
              <a:rPr lang="bg-BG" dirty="0"/>
              <a:t> елементи)</a:t>
            </a:r>
          </a:p>
          <a:p>
            <a:pPr lvl="1"/>
            <a:r>
              <a:rPr lang="bg-BG" b="1" dirty="0" err="1"/>
              <a:t>onclick</a:t>
            </a:r>
            <a:r>
              <a:rPr lang="bg-BG" dirty="0"/>
              <a:t> – при кликване върху елемент</a:t>
            </a:r>
          </a:p>
          <a:p>
            <a:pPr lvl="1"/>
            <a:r>
              <a:rPr lang="bg-BG" b="1" dirty="0" err="1"/>
              <a:t>onchange</a:t>
            </a:r>
            <a:r>
              <a:rPr lang="bg-BG" dirty="0"/>
              <a:t> – промяна на съдържанието на елемент</a:t>
            </a:r>
          </a:p>
          <a:p>
            <a:pPr lvl="1"/>
            <a:r>
              <a:rPr lang="bg-BG" b="1" dirty="0" err="1"/>
              <a:t>onmousemove</a:t>
            </a:r>
            <a:r>
              <a:rPr lang="bg-BG" dirty="0"/>
              <a:t> – при движение на мишката над елемент</a:t>
            </a:r>
          </a:p>
          <a:p>
            <a:pPr lvl="1"/>
            <a:r>
              <a:rPr lang="bg-BG" b="1" dirty="0" err="1"/>
              <a:t>onkeypress</a:t>
            </a:r>
            <a:r>
              <a:rPr lang="bg-BG" dirty="0"/>
              <a:t> – при натискане на клавиш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01070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Улавяне на събития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Чрез атрибут на </a:t>
            </a:r>
            <a:r>
              <a:rPr lang="en-US" dirty="0"/>
              <a:t>HTML</a:t>
            </a:r>
            <a:r>
              <a:rPr lang="bg-BG" dirty="0"/>
              <a:t> елемент</a:t>
            </a:r>
          </a:p>
          <a:p>
            <a:pPr lvl="1"/>
            <a:r>
              <a:rPr lang="bg-BG" dirty="0"/>
              <a:t>Името на атрибута е име на събитието</a:t>
            </a:r>
          </a:p>
          <a:p>
            <a:pPr lvl="1"/>
            <a:r>
              <a:rPr lang="bg-BG" dirty="0"/>
              <a:t>Стойността на атрибута е </a:t>
            </a:r>
            <a:r>
              <a:rPr lang="en-US" dirty="0" err="1"/>
              <a:t>JS</a:t>
            </a:r>
            <a:r>
              <a:rPr lang="bg-BG" dirty="0"/>
              <a:t> код за изпълнение</a:t>
            </a:r>
            <a:endParaRPr lang="en-US" dirty="0"/>
          </a:p>
          <a:p>
            <a:pPr lvl="1"/>
            <a:r>
              <a:rPr lang="bg-BG" dirty="0"/>
              <a:t>Пример – оцветяване на текста на параграфи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5486400"/>
            <a:ext cx="8534400" cy="1066800"/>
          </a:xfrm>
          <a:prstGeom prst="snip2DiagRect">
            <a:avLst>
              <a:gd name="adj1" fmla="val 0"/>
              <a:gd name="adj2" fmla="val 25125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="recolor(0)"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Rhoncus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&lt;/button&gt;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="recolor(1)"&gt;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Eleifend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&lt;/button&gt;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="recolor(2)"&gt;Dictum&lt;/button&gt;</a:t>
            </a:r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3276600"/>
            <a:ext cx="8534400" cy="2057400"/>
          </a:xfrm>
          <a:prstGeom prst="snip2DiagRect">
            <a:avLst>
              <a:gd name="adj1" fmla="val 0"/>
              <a:gd name="adj2" fmla="val 15974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recolor(n)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Math.round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(255*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Math.random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Math.round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(255*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Math.random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Math.round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(255*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Math.random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document.getElementsByTagName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('p')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[n]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		     '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rgb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('+r+','+g+','+b+')';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9192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7200"/>
            <a:ext cx="6048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0476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Чрез метод на </a:t>
            </a:r>
            <a:r>
              <a:rPr lang="en-US" dirty="0"/>
              <a:t>DOM</a:t>
            </a:r>
            <a:r>
              <a:rPr lang="bg-BG" dirty="0"/>
              <a:t> елемент</a:t>
            </a:r>
          </a:p>
          <a:p>
            <a:pPr lvl="1"/>
            <a:r>
              <a:rPr lang="bg-BG" dirty="0"/>
              <a:t>Задаване на стойност на метод на елемент</a:t>
            </a:r>
          </a:p>
          <a:p>
            <a:pPr lvl="1"/>
            <a:r>
              <a:rPr lang="bg-BG" dirty="0"/>
              <a:t>Чрез съществуваща или чрез анонимна функция</a:t>
            </a:r>
          </a:p>
          <a:p>
            <a:pPr lvl="1"/>
            <a:r>
              <a:rPr lang="bg-BG" dirty="0"/>
              <a:t>Името на метода е името на събитието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5867400"/>
            <a:ext cx="8534400" cy="685800"/>
          </a:xfrm>
          <a:prstGeom prst="snip2DiagRect">
            <a:avLst>
              <a:gd name="adj1" fmla="val 0"/>
              <a:gd name="adj2" fmla="val 4473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 id="but1"&gt;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Rhoncus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&lt;/button&gt;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 id="but2"&gt;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Eleifend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&lt;/button&gt;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2057400"/>
            <a:ext cx="8534400" cy="3657600"/>
          </a:xfrm>
          <a:prstGeom prst="snip2DiagRect">
            <a:avLst>
              <a:gd name="adj1" fmla="val 0"/>
              <a:gd name="adj2" fmla="val 862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recolorAll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main()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('but1');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recolorAll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('but2');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p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document.getElementsByTagName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('p');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p[1].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='blue';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};</a:t>
            </a:r>
            <a:endParaRPr lang="bg-BG" sz="165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9634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7200"/>
            <a:ext cx="6048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2177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Чрез „слушател на събития“</a:t>
            </a:r>
          </a:p>
          <a:p>
            <a:pPr lvl="1"/>
            <a:r>
              <a:rPr lang="bg-BG" dirty="0"/>
              <a:t>Синтаксис </a:t>
            </a:r>
            <a:r>
              <a:rPr lang="bg-BG" b="1" dirty="0" err="1"/>
              <a:t>addEventListener</a:t>
            </a:r>
            <a:r>
              <a:rPr lang="bg-BG" dirty="0"/>
              <a:t>(</a:t>
            </a:r>
            <a:r>
              <a:rPr lang="bg-BG" b="1" dirty="0" err="1"/>
              <a:t>event</a:t>
            </a:r>
            <a:r>
              <a:rPr lang="bg-BG" dirty="0"/>
              <a:t>,</a:t>
            </a:r>
            <a:r>
              <a:rPr lang="bg-BG" b="1" dirty="0" err="1"/>
              <a:t>function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Името на събитието е без представката </a:t>
            </a:r>
            <a:r>
              <a:rPr lang="bg-BG" b="1" dirty="0" err="1"/>
              <a:t>on</a:t>
            </a:r>
            <a:endParaRPr lang="bg-BG" b="1" dirty="0"/>
          </a:p>
          <a:p>
            <a:pPr lvl="1"/>
            <a:r>
              <a:rPr lang="bg-BG" dirty="0"/>
              <a:t>Функцията е или явна или анонимна</a:t>
            </a:r>
          </a:p>
          <a:p>
            <a:pPr lvl="1"/>
            <a:endParaRPr lang="bg-BG" dirty="0"/>
          </a:p>
          <a:p>
            <a:r>
              <a:rPr lang="bg-BG" dirty="0"/>
              <a:t>Предимства</a:t>
            </a:r>
          </a:p>
          <a:p>
            <a:pPr lvl="1"/>
            <a:r>
              <a:rPr lang="bg-BG" dirty="0"/>
              <a:t>Към </a:t>
            </a:r>
            <a:r>
              <a:rPr lang="en-US" dirty="0"/>
              <a:t>DOM </a:t>
            </a:r>
            <a:r>
              <a:rPr lang="bg-BG" dirty="0"/>
              <a:t>елемент могат да се закачат много слушатели за едно и също събитие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810000"/>
            <a:ext cx="8534400" cy="2743200"/>
          </a:xfrm>
          <a:prstGeom prst="snip2DiagRect">
            <a:avLst>
              <a:gd name="adj1" fmla="val 0"/>
              <a:gd name="adj2" fmla="val 1058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('but1');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addEventListener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click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recolorAll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('but2');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b.addEventListener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click',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document.getElementsByTagName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('p');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p[1].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='blue';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56849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7200"/>
            <a:ext cx="6048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5673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Пример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Въпроси и отговори</a:t>
            </a:r>
          </a:p>
          <a:p>
            <a:pPr lvl="1"/>
            <a:r>
              <a:rPr lang="bg-BG" dirty="0"/>
              <a:t>Списък от въпроси и техните отговори</a:t>
            </a:r>
          </a:p>
          <a:p>
            <a:pPr lvl="1"/>
            <a:r>
              <a:rPr lang="bg-BG" dirty="0"/>
              <a:t>Първоначално отговорите са скрити</a:t>
            </a:r>
          </a:p>
          <a:p>
            <a:pPr lvl="1"/>
            <a:r>
              <a:rPr lang="bg-BG" dirty="0"/>
              <a:t>При кликване върху въпрос се появява отговорът му</a:t>
            </a:r>
          </a:p>
          <a:p>
            <a:pPr lvl="1"/>
            <a:r>
              <a:rPr lang="bg-BG" dirty="0"/>
              <a:t>При повторно кликване отговорът се скрива</a:t>
            </a:r>
          </a:p>
          <a:p>
            <a:pPr lvl="1"/>
            <a:r>
              <a:rPr lang="bg-BG" dirty="0"/>
              <a:t>Броят въпроси и отговори не е твърдо фиксиран</a:t>
            </a:r>
          </a:p>
          <a:p>
            <a:endParaRPr lang="bg-BG" dirty="0"/>
          </a:p>
          <a:p>
            <a:r>
              <a:rPr lang="bg-BG" dirty="0"/>
              <a:t>В същото време</a:t>
            </a:r>
          </a:p>
          <a:p>
            <a:pPr lvl="1"/>
            <a:r>
              <a:rPr lang="en-US" dirty="0"/>
              <a:t>HTML</a:t>
            </a:r>
            <a:r>
              <a:rPr lang="bg-BG" dirty="0"/>
              <a:t> частта да е само с текстовете на въпросите и отговорите – без код, без </a:t>
            </a:r>
            <a:r>
              <a:rPr lang="en-US" b="1" dirty="0"/>
              <a:t>Id</a:t>
            </a:r>
            <a:r>
              <a:rPr lang="en-US" dirty="0"/>
              <a:t>-</a:t>
            </a:r>
            <a:r>
              <a:rPr lang="bg-BG" dirty="0"/>
              <a:t>та или други атрибути</a:t>
            </a:r>
          </a:p>
        </p:txBody>
      </p:sp>
    </p:spTree>
    <p:extLst>
      <p:ext uri="{BB962C8B-B14F-4D97-AF65-F5344CB8AC3E}">
        <p14:creationId xmlns:p14="http://schemas.microsoft.com/office/powerpoint/2010/main" val="1437650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  <a:r>
              <a:rPr lang="en-US" dirty="0"/>
              <a:t> </a:t>
            </a:r>
            <a:r>
              <a:rPr lang="bg-BG" dirty="0"/>
              <a:t>на въпросите и отговорите</a:t>
            </a:r>
          </a:p>
          <a:p>
            <a:pPr lvl="1"/>
            <a:r>
              <a:rPr lang="bg-BG" dirty="0"/>
              <a:t>Ще са в последователни двойки от </a:t>
            </a:r>
            <a:r>
              <a:rPr lang="en-US" b="1" dirty="0"/>
              <a:t>h3</a:t>
            </a:r>
            <a:r>
              <a:rPr lang="bg-BG" dirty="0"/>
              <a:t> и </a:t>
            </a:r>
            <a:r>
              <a:rPr lang="en-US" b="1" dirty="0"/>
              <a:t>p</a:t>
            </a:r>
            <a:r>
              <a:rPr lang="bg-BG" dirty="0"/>
              <a:t> елементи</a:t>
            </a:r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Оформяне на отговорите</a:t>
            </a:r>
          </a:p>
          <a:p>
            <a:pPr lvl="1"/>
            <a:r>
              <a:rPr lang="bg-BG" dirty="0"/>
              <a:t>Използваме стилове вградени в </a:t>
            </a:r>
            <a:r>
              <a:rPr lang="en-US" dirty="0"/>
              <a:t>HTML</a:t>
            </a:r>
            <a:r>
              <a:rPr lang="bg-BG" dirty="0"/>
              <a:t> елемент </a:t>
            </a:r>
            <a:r>
              <a:rPr lang="en-US" b="1" dirty="0"/>
              <a:t>style</a:t>
            </a:r>
          </a:p>
          <a:p>
            <a:pPr lvl="1"/>
            <a:r>
              <a:rPr lang="bg-BG" dirty="0"/>
              <a:t>Искаме параграфите да са с отстъп отляво</a:t>
            </a:r>
          </a:p>
          <a:p>
            <a:pPr lvl="1"/>
            <a:r>
              <a:rPr lang="bg-BG" dirty="0"/>
              <a:t>Около границата на всеки елемент с таг </a:t>
            </a:r>
            <a:r>
              <a:rPr lang="en-US" b="1" dirty="0"/>
              <a:t>p</a:t>
            </a:r>
            <a:r>
              <a:rPr lang="bg-BG" dirty="0"/>
              <a:t> да се остави празно място </a:t>
            </a:r>
            <a:r>
              <a:rPr lang="en-US" b="1" dirty="0"/>
              <a:t>margin</a:t>
            </a:r>
            <a:r>
              <a:rPr lang="bg-BG" dirty="0"/>
              <a:t>, като отляво е 0.75</a:t>
            </a:r>
            <a:r>
              <a:rPr lang="en-US" b="1" dirty="0" err="1"/>
              <a:t>em</a:t>
            </a:r>
            <a:endParaRPr lang="bg-BG" b="1" dirty="0"/>
          </a:p>
          <a:p>
            <a:pPr lvl="1"/>
            <a:r>
              <a:rPr lang="bg-BG" dirty="0"/>
              <a:t>Единицата за размер 1</a:t>
            </a:r>
            <a:r>
              <a:rPr lang="en-US" b="1" dirty="0" err="1"/>
              <a:t>em</a:t>
            </a:r>
            <a:r>
              <a:rPr lang="en-US" dirty="0"/>
              <a:t> = </a:t>
            </a:r>
            <a:r>
              <a:rPr lang="bg-BG" dirty="0"/>
              <a:t>ширината на </a:t>
            </a:r>
            <a:r>
              <a:rPr lang="en-US" dirty="0"/>
              <a:t>M</a:t>
            </a:r>
            <a:endParaRPr lang="bg-BG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5638800"/>
            <a:ext cx="8534400" cy="914400"/>
          </a:xfrm>
          <a:prstGeom prst="snip2DiagRect">
            <a:avLst>
              <a:gd name="adj1" fmla="val 0"/>
              <a:gd name="adj2" fmla="val 26758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margin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0.25em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auto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0.75em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2.5em;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1371600"/>
            <a:ext cx="8534400" cy="1447800"/>
          </a:xfrm>
          <a:prstGeom prst="snip2DiagRect">
            <a:avLst>
              <a:gd name="adj1" fmla="val 0"/>
              <a:gd name="adj2" fmla="val 1801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&lt;h3&gt;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Q1.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Fusce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purus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enim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&lt;/h3&gt;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Scelerisque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sit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amet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aliquet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vitae,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lacinia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quis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nunc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&lt;/p&gt;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&lt;h3&gt;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Q2.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Mauris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&lt;/h3&gt;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Rutrum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elementum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volutpat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 nisi. Nam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rutrum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orci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&lt;/p&gt;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449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Оформяне на</a:t>
            </a:r>
            <a:r>
              <a:rPr lang="en-US" dirty="0"/>
              <a:t> </a:t>
            </a:r>
            <a:r>
              <a:rPr lang="bg-BG" dirty="0"/>
              <a:t>въпросите</a:t>
            </a:r>
          </a:p>
          <a:p>
            <a:pPr lvl="1"/>
            <a:r>
              <a:rPr lang="bg-BG" dirty="0"/>
              <a:t>Оставяме малко разстояние отгоре и отдолу</a:t>
            </a:r>
          </a:p>
          <a:p>
            <a:pPr lvl="1"/>
            <a:r>
              <a:rPr lang="bg-BG" dirty="0"/>
              <a:t>Вместо </a:t>
            </a:r>
            <a:r>
              <a:rPr lang="en-US" dirty="0"/>
              <a:t>margin</a:t>
            </a:r>
            <a:r>
              <a:rPr lang="bg-BG" dirty="0"/>
              <a:t>, може да използваме по-специфичните свойства за отделните посоки – за отгоре с </a:t>
            </a:r>
            <a:r>
              <a:rPr lang="en-US" b="1" dirty="0"/>
              <a:t>margin-top</a:t>
            </a:r>
            <a:r>
              <a:rPr lang="bg-BG" dirty="0"/>
              <a:t> и за отдолу с </a:t>
            </a:r>
            <a:r>
              <a:rPr lang="en-US" b="1" dirty="0"/>
              <a:t>margin-bottom</a:t>
            </a:r>
            <a:endParaRPr lang="bg-BG" b="1" dirty="0"/>
          </a:p>
          <a:p>
            <a:pPr lvl="1"/>
            <a:r>
              <a:rPr lang="bg-BG" dirty="0"/>
              <a:t>Оставяме и вътрешен отстъп с </a:t>
            </a:r>
            <a:r>
              <a:rPr lang="en-US" b="1" dirty="0"/>
              <a:t>padding</a:t>
            </a:r>
            <a:r>
              <a:rPr lang="en-US" dirty="0"/>
              <a:t> </a:t>
            </a:r>
            <a:r>
              <a:rPr lang="bg-BG" dirty="0"/>
              <a:t>по 0.3</a:t>
            </a:r>
            <a:r>
              <a:rPr lang="en-US" dirty="0" err="1"/>
              <a:t>em</a:t>
            </a:r>
            <a:r>
              <a:rPr lang="bg-BG" dirty="0"/>
              <a:t> отвсякъде</a:t>
            </a:r>
          </a:p>
          <a:p>
            <a:pPr lvl="1"/>
            <a:r>
              <a:rPr lang="bg-BG" dirty="0"/>
              <a:t>Заглавието трябва да може да се кликва, т.е. е активен елемент – свойството </a:t>
            </a:r>
            <a:r>
              <a:rPr lang="en-US" b="1" dirty="0"/>
              <a:t>cursor</a:t>
            </a:r>
            <a:r>
              <a:rPr lang="en-US" dirty="0"/>
              <a:t> </a:t>
            </a:r>
            <a:r>
              <a:rPr lang="bg-BG" dirty="0"/>
              <a:t>определя каква картинка за курсора да се ползва, когато той е над обекта</a:t>
            </a:r>
          </a:p>
          <a:p>
            <a:pPr lvl="1"/>
            <a:r>
              <a:rPr lang="bg-BG" dirty="0"/>
              <a:t>Картинката </a:t>
            </a:r>
            <a:r>
              <a:rPr lang="en-US" b="1" dirty="0"/>
              <a:t>pointer</a:t>
            </a:r>
            <a:r>
              <a:rPr lang="en-US" dirty="0"/>
              <a:t> </a:t>
            </a:r>
            <a:r>
              <a:rPr lang="bg-BG" dirty="0"/>
              <a:t>е посочващ пръст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038600"/>
            <a:ext cx="8534400" cy="2514600"/>
          </a:xfrm>
          <a:prstGeom prst="snip2DiagRect">
            <a:avLst>
              <a:gd name="adj1" fmla="val 0"/>
              <a:gd name="adj2" fmla="val 11325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h3	{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color: #000080;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background-color: #F0F0FF;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font-size: 1.25em;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margin-top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0.1em;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margin-bottom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0.1em;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padding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0.3em;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cursor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pointer;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929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Още за отстъпите</a:t>
            </a:r>
          </a:p>
          <a:p>
            <a:pPr lvl="1"/>
            <a:r>
              <a:rPr lang="bg-BG" dirty="0"/>
              <a:t>Разлика между</a:t>
            </a:r>
            <a:r>
              <a:rPr lang="en-US" dirty="0"/>
              <a:t> </a:t>
            </a:r>
            <a:r>
              <a:rPr lang="en-US" b="1" dirty="0"/>
              <a:t>margin</a:t>
            </a:r>
            <a:r>
              <a:rPr lang="bg-BG" dirty="0"/>
              <a:t> и </a:t>
            </a:r>
            <a:r>
              <a:rPr lang="en-US" b="1" dirty="0"/>
              <a:t>padding</a:t>
            </a:r>
            <a:r>
              <a:rPr lang="bg-BG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741610" y="2210179"/>
            <a:ext cx="5486340" cy="362860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50000"/>
              </a:schemeClr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82880" rtlCol="0" anchor="t"/>
          <a:lstStyle/>
          <a:p>
            <a:pPr algn="r"/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margin  </a:t>
            </a:r>
            <a:endParaRPr lang="bg-BG" sz="2000" b="1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hevron 3"/>
          <p:cNvSpPr/>
          <p:nvPr/>
        </p:nvSpPr>
        <p:spPr>
          <a:xfrm>
            <a:off x="1198805" y="2667375"/>
            <a:ext cx="4571950" cy="2651730"/>
          </a:xfrm>
          <a:prstGeom prst="chevron">
            <a:avLst>
              <a:gd name="adj" fmla="val 0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 lang="bg-BG" sz="2000" b="1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Chevron 4"/>
          <p:cNvSpPr/>
          <p:nvPr/>
        </p:nvSpPr>
        <p:spPr>
          <a:xfrm>
            <a:off x="1290244" y="2758813"/>
            <a:ext cx="4389071" cy="2468853"/>
          </a:xfrm>
          <a:prstGeom prst="chevron">
            <a:avLst>
              <a:gd name="adj" fmla="val 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marL="120650" algn="r">
              <a:spcBef>
                <a:spcPct val="0"/>
              </a:spcBef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padding   </a:t>
            </a:r>
            <a:endParaRPr lang="bg-BG" sz="2000" b="1" dirty="0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hevron 5"/>
          <p:cNvSpPr/>
          <p:nvPr/>
        </p:nvSpPr>
        <p:spPr>
          <a:xfrm>
            <a:off x="1747439" y="3216008"/>
            <a:ext cx="3474682" cy="1554463"/>
          </a:xfrm>
          <a:prstGeom prst="chevron">
            <a:avLst>
              <a:gd name="adj" fmla="val 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endParaRPr lang="bg-BG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93705" y="1861518"/>
            <a:ext cx="2373419" cy="8413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Свободно прозрачно пространство около всеки обект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6090789" y="2454352"/>
            <a:ext cx="502918" cy="0"/>
          </a:xfrm>
          <a:prstGeom prst="straightConnector1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5770755" y="5278913"/>
            <a:ext cx="822950" cy="0"/>
          </a:xfrm>
          <a:prstGeom prst="straightConnector1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TextBox 9"/>
          <p:cNvSpPr txBox="1"/>
          <p:nvPr/>
        </p:nvSpPr>
        <p:spPr>
          <a:xfrm>
            <a:off x="6593706" y="5106781"/>
            <a:ext cx="2373419" cy="10654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bg-BG" dirty="0"/>
              <a:t>Рамка със свой цвят и размер</a:t>
            </a:r>
            <a:r>
              <a:rPr lang="en-US" dirty="0"/>
              <a:t>, </a:t>
            </a:r>
            <a:r>
              <a:rPr lang="bg-BG" dirty="0"/>
              <a:t>възприема се като външна граница на обекта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486400" y="2991931"/>
            <a:ext cx="1107308" cy="0"/>
          </a:xfrm>
          <a:prstGeom prst="straightConnector1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1"/>
          <p:cNvSpPr txBox="1"/>
          <p:nvPr/>
        </p:nvSpPr>
        <p:spPr>
          <a:xfrm>
            <a:off x="6593704" y="2809053"/>
            <a:ext cx="2373419" cy="10470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bg-BG" dirty="0"/>
              <a:t>Свободно пространство около съдържанието на обект, оцветено с фона на обекта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039243" y="4537353"/>
            <a:ext cx="1554463" cy="0"/>
          </a:xfrm>
          <a:prstGeom prst="straightConnector1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TextBox 13"/>
          <p:cNvSpPr txBox="1"/>
          <p:nvPr/>
        </p:nvSpPr>
        <p:spPr>
          <a:xfrm>
            <a:off x="6593704" y="4116413"/>
            <a:ext cx="2373419" cy="8369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bg-BG" dirty="0"/>
              <a:t>Съдържание на обект, оцветено с цвета на фона на обекта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983174" y="3227455"/>
            <a:ext cx="0" cy="1543016"/>
          </a:xfrm>
          <a:prstGeom prst="straightConnector1">
            <a:avLst/>
          </a:prstGeom>
          <a:solidFill>
            <a:schemeClr val="bg1"/>
          </a:solidFill>
          <a:ln w="3175">
            <a:solidFill>
              <a:schemeClr val="accent1">
                <a:lumMod val="5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747439" y="4038959"/>
            <a:ext cx="3474682" cy="0"/>
          </a:xfrm>
          <a:prstGeom prst="straightConnector1">
            <a:avLst/>
          </a:prstGeom>
          <a:solidFill>
            <a:schemeClr val="bg1"/>
          </a:solidFill>
          <a:ln w="3175">
            <a:solidFill>
              <a:schemeClr val="accent1">
                <a:lumMod val="5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Box 18"/>
          <p:cNvSpPr txBox="1"/>
          <p:nvPr/>
        </p:nvSpPr>
        <p:spPr>
          <a:xfrm>
            <a:off x="2574385" y="2213597"/>
            <a:ext cx="1459029" cy="4537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r"/>
            <a:r>
              <a:rPr lang="en-US" dirty="0"/>
              <a:t>margin-top</a:t>
            </a:r>
            <a:endParaRPr lang="bg-BG" dirty="0"/>
          </a:p>
        </p:txBody>
      </p:sp>
      <p:sp>
        <p:nvSpPr>
          <p:cNvPr id="20" name="TextBox 19"/>
          <p:cNvSpPr txBox="1"/>
          <p:nvPr/>
        </p:nvSpPr>
        <p:spPr>
          <a:xfrm>
            <a:off x="2574384" y="2758813"/>
            <a:ext cx="1459029" cy="4537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r"/>
            <a:r>
              <a:rPr lang="en-US" dirty="0"/>
              <a:t>padding-top</a:t>
            </a:r>
            <a:endParaRPr lang="bg-BG" dirty="0"/>
          </a:p>
        </p:txBody>
      </p:sp>
      <p:sp>
        <p:nvSpPr>
          <p:cNvPr id="21" name="TextBox 20"/>
          <p:cNvSpPr txBox="1"/>
          <p:nvPr/>
        </p:nvSpPr>
        <p:spPr>
          <a:xfrm>
            <a:off x="2574385" y="3229239"/>
            <a:ext cx="1459029" cy="4537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r"/>
            <a:r>
              <a:rPr lang="en-US" dirty="0"/>
              <a:t>height</a:t>
            </a:r>
            <a:endParaRPr lang="bg-BG" dirty="0"/>
          </a:p>
        </p:txBody>
      </p:sp>
      <p:sp>
        <p:nvSpPr>
          <p:cNvPr id="22" name="TextBox 21"/>
          <p:cNvSpPr txBox="1"/>
          <p:nvPr/>
        </p:nvSpPr>
        <p:spPr>
          <a:xfrm>
            <a:off x="1747439" y="3673203"/>
            <a:ext cx="822951" cy="4537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 algn="r"/>
            <a:r>
              <a:rPr lang="en-US" dirty="0"/>
              <a:t>width</a:t>
            </a:r>
            <a:endParaRPr lang="bg-BG" dirty="0"/>
          </a:p>
        </p:txBody>
      </p:sp>
      <p:sp>
        <p:nvSpPr>
          <p:cNvPr id="23" name="TextBox 22"/>
          <p:cNvSpPr txBox="1"/>
          <p:nvPr/>
        </p:nvSpPr>
        <p:spPr>
          <a:xfrm>
            <a:off x="387877" y="1756401"/>
            <a:ext cx="1459029" cy="4537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140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border-width</a:t>
            </a:r>
            <a:endParaRPr lang="bg-BG" dirty="0"/>
          </a:p>
        </p:txBody>
      </p:sp>
      <p:sp>
        <p:nvSpPr>
          <p:cNvPr id="24" name="Freeform 23"/>
          <p:cNvSpPr/>
          <p:nvPr/>
        </p:nvSpPr>
        <p:spPr>
          <a:xfrm>
            <a:off x="1629440" y="1940576"/>
            <a:ext cx="478706" cy="726170"/>
          </a:xfrm>
          <a:custGeom>
            <a:avLst/>
            <a:gdLst>
              <a:gd name="connsiteX0" fmla="*/ 0 w 281354"/>
              <a:gd name="connsiteY0" fmla="*/ 0 h 221064"/>
              <a:gd name="connsiteX1" fmla="*/ 281354 w 281354"/>
              <a:gd name="connsiteY1" fmla="*/ 221064 h 221064"/>
              <a:gd name="connsiteX0" fmla="*/ 0 w 281354"/>
              <a:gd name="connsiteY0" fmla="*/ 0 h 221064"/>
              <a:gd name="connsiteX1" fmla="*/ 281354 w 281354"/>
              <a:gd name="connsiteY1" fmla="*/ 221064 h 221064"/>
              <a:gd name="connsiteX0" fmla="*/ 0 w 522480"/>
              <a:gd name="connsiteY0" fmla="*/ 0 h 196012"/>
              <a:gd name="connsiteX1" fmla="*/ 522480 w 522480"/>
              <a:gd name="connsiteY1" fmla="*/ 196012 h 196012"/>
              <a:gd name="connsiteX0" fmla="*/ 0 w 522480"/>
              <a:gd name="connsiteY0" fmla="*/ 13421 h 209433"/>
              <a:gd name="connsiteX1" fmla="*/ 522480 w 522480"/>
              <a:gd name="connsiteY1" fmla="*/ 209433 h 209433"/>
              <a:gd name="connsiteX0" fmla="*/ 0 w 478706"/>
              <a:gd name="connsiteY0" fmla="*/ 1190 h 727360"/>
              <a:gd name="connsiteX1" fmla="*/ 478706 w 478706"/>
              <a:gd name="connsiteY1" fmla="*/ 727360 h 727360"/>
              <a:gd name="connsiteX0" fmla="*/ 0 w 478706"/>
              <a:gd name="connsiteY0" fmla="*/ 0 h 726170"/>
              <a:gd name="connsiteX1" fmla="*/ 478706 w 478706"/>
              <a:gd name="connsiteY1" fmla="*/ 726170 h 72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8706" h="726170">
                <a:moveTo>
                  <a:pt x="0" y="0"/>
                </a:moveTo>
                <a:cubicBezTo>
                  <a:pt x="578369" y="4396"/>
                  <a:pt x="416236" y="502170"/>
                  <a:pt x="478706" y="726170"/>
                </a:cubicBezTo>
              </a:path>
            </a:pathLst>
          </a:custGeom>
          <a:noFill/>
          <a:ln w="3175">
            <a:solidFill>
              <a:schemeClr val="accent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3983174" y="2210179"/>
            <a:ext cx="0" cy="457196"/>
          </a:xfrm>
          <a:prstGeom prst="straightConnector1">
            <a:avLst/>
          </a:prstGeom>
          <a:solidFill>
            <a:schemeClr val="bg1"/>
          </a:solidFill>
          <a:ln w="3175">
            <a:solidFill>
              <a:schemeClr val="accent1">
                <a:lumMod val="5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3983174" y="2770259"/>
            <a:ext cx="0" cy="457196"/>
          </a:xfrm>
          <a:prstGeom prst="straightConnector1">
            <a:avLst/>
          </a:prstGeom>
          <a:solidFill>
            <a:schemeClr val="bg1"/>
          </a:solidFill>
          <a:ln w="3175">
            <a:solidFill>
              <a:schemeClr val="accent1">
                <a:lumMod val="5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2353233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Ситуацията до момента</a:t>
            </a:r>
          </a:p>
          <a:p>
            <a:pPr lvl="1"/>
            <a:r>
              <a:rPr lang="bg-BG" dirty="0"/>
              <a:t>Изглед при всички отговори скрити или показани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19214" y="1550894"/>
            <a:ext cx="3024186" cy="4926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748213" y="1550894"/>
            <a:ext cx="3024187" cy="4926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6781800" y="1474694"/>
            <a:ext cx="1066800" cy="515470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0"/>
                </a:schemeClr>
              </a:gs>
              <a:gs pos="71000">
                <a:schemeClr val="bg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 5"/>
          <p:cNvSpPr/>
          <p:nvPr/>
        </p:nvSpPr>
        <p:spPr>
          <a:xfrm>
            <a:off x="3505200" y="1474694"/>
            <a:ext cx="1066800" cy="515470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0"/>
                </a:schemeClr>
              </a:gs>
              <a:gs pos="71000">
                <a:schemeClr val="bg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Rectangle 6"/>
          <p:cNvSpPr/>
          <p:nvPr/>
        </p:nvSpPr>
        <p:spPr>
          <a:xfrm rot="5400000">
            <a:off x="3994477" y="2699077"/>
            <a:ext cx="1066800" cy="6489045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0"/>
                </a:schemeClr>
              </a:gs>
              <a:gs pos="71000">
                <a:schemeClr val="bg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55411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Първоначално скриване</a:t>
            </a:r>
          </a:p>
          <a:p>
            <a:pPr lvl="1"/>
            <a:r>
              <a:rPr lang="bg-BG" dirty="0"/>
              <a:t>При зареждане на страницата се скриват всички отговори</a:t>
            </a:r>
          </a:p>
          <a:p>
            <a:pPr lvl="1"/>
            <a:r>
              <a:rPr lang="bg-BG" dirty="0"/>
              <a:t>В цикъл се обикалят всички елементи </a:t>
            </a:r>
            <a:r>
              <a:rPr lang="en-US" b="1" dirty="0"/>
              <a:t>p</a:t>
            </a:r>
            <a:r>
              <a:rPr lang="bg-BG" dirty="0"/>
              <a:t> и се сменя в стила им показването </a:t>
            </a:r>
            <a:r>
              <a:rPr lang="en-US" b="1" dirty="0"/>
              <a:t>display</a:t>
            </a:r>
            <a:r>
              <a:rPr lang="en-US" dirty="0"/>
              <a:t> </a:t>
            </a:r>
            <a:r>
              <a:rPr lang="bg-BG" dirty="0"/>
              <a:t>на елемента да е </a:t>
            </a:r>
            <a:r>
              <a:rPr lang="en-US" b="1" dirty="0"/>
              <a:t>none</a:t>
            </a:r>
            <a:r>
              <a:rPr lang="bg-BG" dirty="0"/>
              <a:t> – това прави елемента невидим и незаемащ видимо място</a:t>
            </a:r>
          </a:p>
          <a:p>
            <a:pPr lvl="1"/>
            <a:endParaRPr lang="bg-BG" dirty="0"/>
          </a:p>
          <a:p>
            <a:r>
              <a:rPr lang="bg-BG" dirty="0"/>
              <a:t>Алтернатива</a:t>
            </a:r>
          </a:p>
          <a:p>
            <a:pPr lvl="1"/>
            <a:r>
              <a:rPr lang="bg-BG" dirty="0"/>
              <a:t>Вместо с цикъл на </a:t>
            </a:r>
            <a:r>
              <a:rPr lang="en-US" dirty="0" err="1"/>
              <a:t>JS</a:t>
            </a:r>
            <a:r>
              <a:rPr lang="en-US" dirty="0"/>
              <a:t>,</a:t>
            </a:r>
            <a:r>
              <a:rPr lang="bg-BG" dirty="0"/>
              <a:t> това може да стане със стила</a:t>
            </a:r>
          </a:p>
          <a:p>
            <a:pPr lvl="1"/>
            <a:r>
              <a:rPr lang="bg-BG" dirty="0"/>
              <a:t>Използваме традицията стилово свойство </a:t>
            </a:r>
            <a:r>
              <a:rPr lang="en-US" b="1" dirty="0" err="1"/>
              <a:t>abc</a:t>
            </a:r>
            <a:r>
              <a:rPr lang="bg-BG" dirty="0"/>
              <a:t> и</a:t>
            </a:r>
            <a:r>
              <a:rPr lang="en-US" dirty="0"/>
              <a:t> </a:t>
            </a:r>
            <a:r>
              <a:rPr lang="en-US" b="1" dirty="0" err="1"/>
              <a:t>abc</a:t>
            </a:r>
            <a:r>
              <a:rPr lang="en-US" b="1" dirty="0"/>
              <a:t>-xyz</a:t>
            </a:r>
            <a:r>
              <a:rPr lang="bg-BG" dirty="0"/>
              <a:t> да съответстват в </a:t>
            </a:r>
            <a:r>
              <a:rPr lang="en-US" dirty="0"/>
              <a:t>DOM</a:t>
            </a:r>
            <a:r>
              <a:rPr lang="bg-BG" dirty="0"/>
              <a:t> на </a:t>
            </a:r>
            <a:r>
              <a:rPr lang="en-US" b="1" dirty="0" err="1"/>
              <a:t>style.abc</a:t>
            </a:r>
            <a:r>
              <a:rPr lang="bg-BG" dirty="0"/>
              <a:t> и </a:t>
            </a:r>
            <a:r>
              <a:rPr lang="en-US" b="1" dirty="0" err="1"/>
              <a:t>style.abcXyz</a:t>
            </a:r>
            <a:r>
              <a:rPr lang="en-US" dirty="0"/>
              <a:t>.</a:t>
            </a:r>
          </a:p>
          <a:p>
            <a:pPr lvl="1"/>
            <a:r>
              <a:rPr lang="bg-BG" dirty="0"/>
              <a:t>В случая </a:t>
            </a:r>
            <a:r>
              <a:rPr lang="en-US" b="1" dirty="0"/>
              <a:t>p {display: none;}</a:t>
            </a:r>
            <a:r>
              <a:rPr lang="bg-BG" dirty="0"/>
              <a:t> ще свърши същата работа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4648200"/>
            <a:ext cx="8534400" cy="1905000"/>
          </a:xfrm>
          <a:prstGeom prst="snip2DiagRect">
            <a:avLst>
              <a:gd name="adj1" fmla="val 0"/>
              <a:gd name="adj2" fmla="val 1471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document.getElementsByTagName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('p');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p.length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p[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style.display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'none'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317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Откриване и скриване на отговор</a:t>
            </a:r>
          </a:p>
          <a:p>
            <a:pPr lvl="1"/>
            <a:r>
              <a:rPr lang="bg-BG" dirty="0"/>
              <a:t>Добавяме слушател на събитие </a:t>
            </a:r>
            <a:r>
              <a:rPr lang="en-US" b="1" dirty="0" err="1"/>
              <a:t>onclick</a:t>
            </a:r>
            <a:endParaRPr lang="en-US" b="1" dirty="0"/>
          </a:p>
          <a:p>
            <a:pPr lvl="1"/>
            <a:r>
              <a:rPr lang="bg-BG" dirty="0"/>
              <a:t>Параметърът е </a:t>
            </a:r>
            <a:r>
              <a:rPr lang="en-US" dirty="0" err="1"/>
              <a:t>JS</a:t>
            </a:r>
            <a:r>
              <a:rPr lang="bg-BG" dirty="0"/>
              <a:t> обект, описващ събитието</a:t>
            </a:r>
          </a:p>
          <a:p>
            <a:pPr lvl="1"/>
            <a:r>
              <a:rPr lang="bg-BG" dirty="0"/>
              <a:t>Свойството </a:t>
            </a:r>
            <a:r>
              <a:rPr lang="en-US" dirty="0"/>
              <a:t>target </a:t>
            </a:r>
            <a:r>
              <a:rPr lang="bg-BG" dirty="0"/>
              <a:t>е </a:t>
            </a:r>
            <a:r>
              <a:rPr lang="en-US" dirty="0"/>
              <a:t>DOM</a:t>
            </a:r>
            <a:r>
              <a:rPr lang="bg-BG" dirty="0"/>
              <a:t> елементът-място на събитието</a:t>
            </a:r>
          </a:p>
          <a:p>
            <a:pPr lvl="1"/>
            <a:r>
              <a:rPr lang="bg-BG" dirty="0"/>
              <a:t>Свойството </a:t>
            </a:r>
            <a:r>
              <a:rPr lang="en-US" b="1" dirty="0" err="1"/>
              <a:t>nextElementSibling</a:t>
            </a:r>
            <a:r>
              <a:rPr lang="en-US" dirty="0"/>
              <a:t> </a:t>
            </a:r>
            <a:r>
              <a:rPr lang="bg-BG" dirty="0"/>
              <a:t>сочи към следващия елемент (т.е. на всеки </a:t>
            </a:r>
            <a:r>
              <a:rPr lang="en-US" b="1" dirty="0"/>
              <a:t>h3</a:t>
            </a:r>
            <a:r>
              <a:rPr lang="bg-BG" dirty="0"/>
              <a:t> с въпрос имаме следващ го </a:t>
            </a:r>
            <a:r>
              <a:rPr lang="en-US" b="1" dirty="0"/>
              <a:t>p</a:t>
            </a:r>
            <a:r>
              <a:rPr lang="bg-BG" dirty="0"/>
              <a:t> с отговор)</a:t>
            </a:r>
          </a:p>
          <a:p>
            <a:pPr lvl="1"/>
            <a:r>
              <a:rPr lang="bg-BG" dirty="0"/>
              <a:t>Ако стилът му е бил </a:t>
            </a:r>
            <a:r>
              <a:rPr lang="en-US" b="1" dirty="0"/>
              <a:t>none</a:t>
            </a:r>
            <a:r>
              <a:rPr lang="en-US" dirty="0"/>
              <a:t>,</a:t>
            </a:r>
            <a:r>
              <a:rPr lang="bg-BG" dirty="0"/>
              <a:t> го правим </a:t>
            </a:r>
            <a:r>
              <a:rPr lang="en-US" b="1" dirty="0"/>
              <a:t>block</a:t>
            </a:r>
            <a:r>
              <a:rPr lang="bg-BG" dirty="0"/>
              <a:t> и обратно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276600"/>
            <a:ext cx="8534400" cy="3276600"/>
          </a:xfrm>
          <a:prstGeom prst="snip2DiagRect">
            <a:avLst>
              <a:gd name="adj1" fmla="val 0"/>
              <a:gd name="adj2" fmla="val 897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document.getElementsByTagName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('h3');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p.length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h[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addEventListener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click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',function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  <a:tab pos="1492250" algn="l"/>
                <a:tab pos="172085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style =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event.target.nextElementSibling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.style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  <a:tab pos="1492250" algn="l"/>
                <a:tab pos="172085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style.display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=='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  <a:tab pos="1492250" algn="l"/>
                <a:tab pos="172085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style.display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  <a:tab pos="1492250" algn="l"/>
                <a:tab pos="172085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  <a:tab pos="1492250" algn="l"/>
                <a:tab pos="172085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style.display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821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512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7200"/>
            <a:ext cx="6048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56579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WebGL </a:t>
            </a:r>
            <a:r>
              <a:rPr lang="bg-BG" dirty="0"/>
              <a:t>и </a:t>
            </a:r>
            <a:r>
              <a:rPr lang="en-US" dirty="0"/>
              <a:t>HTML</a:t>
            </a:r>
            <a:endParaRPr lang="bg-BG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039599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WebGL</a:t>
            </a:r>
            <a:r>
              <a:rPr lang="bg-BG" dirty="0"/>
              <a:t> и </a:t>
            </a:r>
            <a:r>
              <a:rPr lang="en-US" dirty="0"/>
              <a:t>HTML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Типични задачи</a:t>
            </a:r>
          </a:p>
          <a:p>
            <a:pPr lvl="1"/>
            <a:r>
              <a:rPr lang="en-US" dirty="0"/>
              <a:t>WebGL</a:t>
            </a:r>
            <a:r>
              <a:rPr lang="bg-BG" dirty="0"/>
              <a:t> в центрирано поле</a:t>
            </a:r>
          </a:p>
          <a:p>
            <a:pPr lvl="1"/>
            <a:r>
              <a:rPr lang="en-US" dirty="0"/>
              <a:t>WebGL</a:t>
            </a:r>
            <a:r>
              <a:rPr lang="bg-BG" dirty="0"/>
              <a:t> върху цяла страница</a:t>
            </a:r>
          </a:p>
          <a:p>
            <a:pPr lvl="1"/>
            <a:r>
              <a:rPr lang="bg-BG" dirty="0"/>
              <a:t>Наслагване на </a:t>
            </a:r>
            <a:r>
              <a:rPr lang="en-US" dirty="0"/>
              <a:t>HTML</a:t>
            </a:r>
            <a:r>
              <a:rPr lang="bg-BG" dirty="0"/>
              <a:t> елементи и </a:t>
            </a:r>
            <a:r>
              <a:rPr lang="en-US" dirty="0"/>
              <a:t>WebGL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815444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Центрирано поле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Задача</a:t>
            </a:r>
          </a:p>
          <a:p>
            <a:pPr lvl="1"/>
            <a:r>
              <a:rPr lang="bg-BG" dirty="0"/>
              <a:t>Топки се движат случайно, без да минават една през друга</a:t>
            </a:r>
          </a:p>
          <a:p>
            <a:pPr lvl="1"/>
            <a:r>
              <a:rPr lang="bg-BG" dirty="0"/>
              <a:t>Графичното поле е с фиксирани размери</a:t>
            </a:r>
          </a:p>
          <a:p>
            <a:pPr lvl="1"/>
            <a:r>
              <a:rPr lang="bg-BG" dirty="0"/>
              <a:t>Центрирано е хоризонтално по средата на страницата</a:t>
            </a:r>
          </a:p>
          <a:p>
            <a:pPr lvl="1"/>
            <a:r>
              <a:rPr lang="bg-BG" dirty="0"/>
              <a:t>Има центрирано заглавие с бутони вляво и вдясно</a:t>
            </a:r>
          </a:p>
          <a:p>
            <a:pPr lvl="1"/>
            <a:r>
              <a:rPr lang="bg-BG" dirty="0"/>
              <a:t>С бутоните се увеличава и намалява броят на топките</a:t>
            </a:r>
          </a:p>
        </p:txBody>
      </p:sp>
    </p:spTree>
    <p:extLst>
      <p:ext uri="{BB962C8B-B14F-4D97-AF65-F5344CB8AC3E}">
        <p14:creationId xmlns:p14="http://schemas.microsoft.com/office/powerpoint/2010/main" val="27136526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Стилове</a:t>
            </a:r>
          </a:p>
          <a:p>
            <a:pPr lvl="1"/>
            <a:r>
              <a:rPr lang="bg-BG" dirty="0"/>
              <a:t>За центриране на всички елементи ползваме </a:t>
            </a:r>
            <a:r>
              <a:rPr lang="en-US" b="1" dirty="0"/>
              <a:t>text-align</a:t>
            </a:r>
          </a:p>
          <a:p>
            <a:pPr lvl="1"/>
            <a:r>
              <a:rPr lang="bg-BG" dirty="0"/>
              <a:t>Променяме шрифта, размера и дебелината на текста в бутоните с </a:t>
            </a:r>
            <a:r>
              <a:rPr lang="en-US" b="1" dirty="0"/>
              <a:t>font-size</a:t>
            </a:r>
            <a:r>
              <a:rPr lang="en-US" dirty="0"/>
              <a:t>, </a:t>
            </a:r>
            <a:r>
              <a:rPr lang="en-US" b="1" dirty="0"/>
              <a:t>font-family</a:t>
            </a:r>
            <a:r>
              <a:rPr lang="bg-BG" dirty="0"/>
              <a:t> и </a:t>
            </a:r>
            <a:r>
              <a:rPr lang="en-US" b="1" dirty="0"/>
              <a:t>font-weight</a:t>
            </a:r>
          </a:p>
          <a:p>
            <a:pPr lvl="1"/>
            <a:r>
              <a:rPr lang="bg-BG" dirty="0"/>
              <a:t>Около графичното поле слагаме плътна рамка </a:t>
            </a:r>
            <a:r>
              <a:rPr lang="en-US" b="1" dirty="0"/>
              <a:t>border</a:t>
            </a:r>
            <a:r>
              <a:rPr lang="en-US" dirty="0"/>
              <a:t> </a:t>
            </a:r>
            <a:r>
              <a:rPr lang="bg-BG" dirty="0"/>
              <a:t>с дебелина </a:t>
            </a:r>
            <a:r>
              <a:rPr lang="bg-BG" b="1" dirty="0"/>
              <a:t>0.5</a:t>
            </a:r>
            <a:r>
              <a:rPr lang="en-US" b="1" dirty="0" err="1"/>
              <a:t>em</a:t>
            </a:r>
            <a:r>
              <a:rPr lang="bg-BG" dirty="0"/>
              <a:t> и цвят </a:t>
            </a:r>
            <a:r>
              <a:rPr lang="en-US" b="1" dirty="0"/>
              <a:t>Peru</a:t>
            </a:r>
            <a:endParaRPr lang="bg-BG" b="1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819400"/>
            <a:ext cx="8534400" cy="3733800"/>
          </a:xfrm>
          <a:prstGeom prst="snip2DiagRect">
            <a:avLst>
              <a:gd name="adj1" fmla="val 0"/>
              <a:gd name="adj2" fmla="val 897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body 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background-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Moccasin;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text-align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 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font-size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1em;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font-family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Consolas;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font-weight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bold;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 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border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solid 0.5em Peru;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65382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Колизии</a:t>
            </a:r>
          </a:p>
          <a:p>
            <a:pPr lvl="1"/>
            <a:r>
              <a:rPr lang="bg-BG" dirty="0"/>
              <a:t>Функция </a:t>
            </a:r>
            <a:r>
              <a:rPr lang="en-US" b="1" dirty="0"/>
              <a:t>ok</a:t>
            </a:r>
            <a:r>
              <a:rPr lang="en-US" dirty="0"/>
              <a:t>,</a:t>
            </a:r>
            <a:r>
              <a:rPr lang="bg-BG" dirty="0"/>
              <a:t> проверява дали топка </a:t>
            </a:r>
            <a:r>
              <a:rPr lang="en-US" b="1" dirty="0" err="1"/>
              <a:t>i</a:t>
            </a:r>
            <a:r>
              <a:rPr lang="bg-BG" dirty="0"/>
              <a:t> може да е на (</a:t>
            </a:r>
            <a:r>
              <a:rPr lang="en-US" b="1" dirty="0" err="1"/>
              <a:t>x,y</a:t>
            </a:r>
            <a:r>
              <a:rPr lang="en-US" dirty="0"/>
              <a:t>)</a:t>
            </a:r>
          </a:p>
          <a:p>
            <a:pPr lvl="1"/>
            <a:r>
              <a:rPr lang="bg-BG" dirty="0"/>
              <a:t>Първо проверява</a:t>
            </a:r>
            <a:r>
              <a:rPr lang="en-US" dirty="0"/>
              <a:t> </a:t>
            </a:r>
            <a:r>
              <a:rPr lang="bg-BG" dirty="0"/>
              <a:t>(</a:t>
            </a:r>
            <a:r>
              <a:rPr lang="en-US" b="1" dirty="0" err="1"/>
              <a:t>x,y</a:t>
            </a:r>
            <a:r>
              <a:rPr lang="en-US" dirty="0"/>
              <a:t>)</a:t>
            </a:r>
            <a:r>
              <a:rPr lang="bg-BG" dirty="0"/>
              <a:t> да е в рамките на графичното поле </a:t>
            </a:r>
          </a:p>
          <a:p>
            <a:pPr lvl="1"/>
            <a:r>
              <a:rPr lang="bg-BG" dirty="0"/>
              <a:t>После проверява </a:t>
            </a:r>
            <a:r>
              <a:rPr lang="en-US" dirty="0"/>
              <a:t>(</a:t>
            </a:r>
            <a:r>
              <a:rPr lang="en-US" b="1" dirty="0" err="1"/>
              <a:t>x,y</a:t>
            </a:r>
            <a:r>
              <a:rPr lang="en-US" dirty="0"/>
              <a:t>)</a:t>
            </a:r>
            <a:r>
              <a:rPr lang="bg-BG" dirty="0"/>
              <a:t> да е достатъчно далеч от всички останали топки (радиусите им са 0.6)</a:t>
            </a:r>
          </a:p>
          <a:p>
            <a:pPr lvl="1"/>
            <a:r>
              <a:rPr lang="bg-BG" dirty="0"/>
              <a:t>При удар сменя посоката </a:t>
            </a:r>
            <a:r>
              <a:rPr lang="en-US" b="1" dirty="0"/>
              <a:t>alpha</a:t>
            </a:r>
            <a:r>
              <a:rPr lang="bg-BG" dirty="0"/>
              <a:t> и връща </a:t>
            </a:r>
            <a:r>
              <a:rPr lang="en-US" b="1" dirty="0"/>
              <a:t>false</a:t>
            </a:r>
            <a:endParaRPr lang="bg-BG" b="1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743200"/>
            <a:ext cx="8534400" cy="3810000"/>
          </a:xfrm>
          <a:prstGeom prst="snip2DiagRect">
            <a:avLst>
              <a:gd name="adj1" fmla="val 0"/>
              <a:gd name="adj2" fmla="val 897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ok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i,x,y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x&lt;-3.5 || x&gt;3.5 || y&lt;-5.4 || y&gt;5.4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	ball[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alpha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ball[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alpha+random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(PI-1,PI+1);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return false;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j=0; j&lt;m;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j++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if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!=j)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Math.pow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(ball[j].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[0]-x,2)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	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Math.pow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(ball[j].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[1]-y,2)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if (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dist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&lt;1.2*1.2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{	ball[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alpha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ball[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alpha+random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(PI-1,PI+1);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return false;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true;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67446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Бутони</a:t>
            </a:r>
          </a:p>
          <a:p>
            <a:pPr lvl="1"/>
            <a:r>
              <a:rPr lang="bg-BG" dirty="0"/>
              <a:t>Броят топки е </a:t>
            </a:r>
            <a:r>
              <a:rPr lang="en-US" b="1" dirty="0"/>
              <a:t>n</a:t>
            </a:r>
            <a:r>
              <a:rPr lang="en-US" dirty="0"/>
              <a:t>,</a:t>
            </a:r>
            <a:r>
              <a:rPr lang="bg-BG" dirty="0"/>
              <a:t> но се рисуват първите </a:t>
            </a:r>
            <a:r>
              <a:rPr lang="en-US" b="1" dirty="0"/>
              <a:t>m</a:t>
            </a:r>
          </a:p>
          <a:p>
            <a:pPr lvl="1"/>
            <a:r>
              <a:rPr lang="bg-BG" dirty="0"/>
              <a:t>Бутонът </a:t>
            </a:r>
            <a:r>
              <a:rPr lang="en-US" dirty="0"/>
              <a:t>[-1]</a:t>
            </a:r>
            <a:r>
              <a:rPr lang="bg-BG" dirty="0"/>
              <a:t> намалява </a:t>
            </a:r>
            <a:r>
              <a:rPr lang="en-US" b="1" dirty="0"/>
              <a:t>m</a:t>
            </a:r>
            <a:r>
              <a:rPr lang="en-US" dirty="0"/>
              <a:t>,</a:t>
            </a:r>
            <a:r>
              <a:rPr lang="bg-BG" dirty="0"/>
              <a:t> като се поддържа </a:t>
            </a:r>
            <a:r>
              <a:rPr lang="en-US" b="1" dirty="0"/>
              <a:t>m</a:t>
            </a:r>
            <a:r>
              <a:rPr lang="en-US" b="1" dirty="0">
                <a:sym typeface="Symbol"/>
              </a:rPr>
              <a:t></a:t>
            </a:r>
            <a:r>
              <a:rPr lang="en-US" b="1" dirty="0"/>
              <a:t>1</a:t>
            </a:r>
          </a:p>
          <a:p>
            <a:pPr lvl="1"/>
            <a:r>
              <a:rPr lang="bg-BG" dirty="0"/>
              <a:t>Бутонът </a:t>
            </a:r>
            <a:r>
              <a:rPr lang="en-US" dirty="0"/>
              <a:t>[+1]</a:t>
            </a:r>
            <a:r>
              <a:rPr lang="bg-BG" dirty="0"/>
              <a:t> увеличава</a:t>
            </a:r>
            <a:r>
              <a:rPr lang="en-US" dirty="0"/>
              <a:t> </a:t>
            </a:r>
            <a:r>
              <a:rPr lang="en-US" b="1" dirty="0"/>
              <a:t>m</a:t>
            </a:r>
            <a:r>
              <a:rPr lang="en-US" dirty="0"/>
              <a:t>,</a:t>
            </a:r>
            <a:r>
              <a:rPr lang="bg-BG" dirty="0"/>
              <a:t> но и дава случайни координати на „новата“ топка на празно място</a:t>
            </a:r>
          </a:p>
          <a:p>
            <a:pPr lvl="1"/>
            <a:r>
              <a:rPr lang="bg-BG" dirty="0"/>
              <a:t>В цикъл </a:t>
            </a:r>
            <a:r>
              <a:rPr lang="en-US" b="1" dirty="0"/>
              <a:t>do {…} while</a:t>
            </a:r>
            <a:r>
              <a:rPr lang="bg-BG" dirty="0"/>
              <a:t> условието се проверява накрая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743200"/>
            <a:ext cx="8534400" cy="3810000"/>
          </a:xfrm>
          <a:prstGeom prst="snip2DiagRect">
            <a:avLst>
              <a:gd name="adj1" fmla="val 0"/>
              <a:gd name="adj2" fmla="val 897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moreBalls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(m&lt;n)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x = random(-3.3,3.3);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y = random(-5.3,5.3);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while (!ok(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m,x,y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ball[m].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=[random(0,1),random(0,1),random(0,1)];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ball[m++].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=[x,y,0];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55906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381000"/>
            <a:ext cx="61341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39206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Цяла страница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Задача</a:t>
            </a:r>
          </a:p>
          <a:p>
            <a:pPr lvl="1"/>
            <a:r>
              <a:rPr lang="bg-BG" dirty="0"/>
              <a:t>Рисувателното поле е цялата уеб страница</a:t>
            </a:r>
          </a:p>
          <a:p>
            <a:pPr lvl="1"/>
            <a:r>
              <a:rPr lang="bg-BG" dirty="0"/>
              <a:t>В централния квадрат се рисува сфера</a:t>
            </a:r>
          </a:p>
          <a:p>
            <a:pPr lvl="1"/>
            <a:r>
              <a:rPr lang="bg-BG" dirty="0"/>
              <a:t>В 4-те ъгъла на квадрата се рисуват по-малки сфери</a:t>
            </a:r>
          </a:p>
          <a:p>
            <a:pPr lvl="1"/>
            <a:r>
              <a:rPr lang="bg-BG" dirty="0"/>
              <a:t>Повтаря се рекурсивно за двете странични полета</a:t>
            </a:r>
          </a:p>
          <a:p>
            <a:pPr lvl="1"/>
            <a:endParaRPr lang="bg-BG" dirty="0"/>
          </a:p>
          <a:p>
            <a:r>
              <a:rPr lang="bg-BG" dirty="0"/>
              <a:t>Най-важното</a:t>
            </a:r>
          </a:p>
          <a:p>
            <a:pPr lvl="1"/>
            <a:r>
              <a:rPr lang="bg-BG" dirty="0"/>
              <a:t>При промяна на размера на уеб страницата, наново се рисува сцената, като разположението и броят на сферите може да са различни</a:t>
            </a:r>
          </a:p>
          <a:p>
            <a:pPr lvl="1"/>
            <a:r>
              <a:rPr lang="bg-BG" dirty="0"/>
              <a:t>Да не се натоварва графичния процесор, докато уеб страницата не си променя размера</a:t>
            </a:r>
          </a:p>
        </p:txBody>
      </p:sp>
    </p:spTree>
    <p:extLst>
      <p:ext uri="{BB962C8B-B14F-4D97-AF65-F5344CB8AC3E}">
        <p14:creationId xmlns:p14="http://schemas.microsoft.com/office/powerpoint/2010/main" val="23792216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600200"/>
            <a:ext cx="7315200" cy="3657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5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0" y="1600200"/>
            <a:ext cx="3657600" cy="3657600"/>
          </a:xfrm>
          <a:prstGeom prst="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5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2743200" y="1611012"/>
            <a:ext cx="3657600" cy="3639671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45000">
                <a:schemeClr val="bg1">
                  <a:lumMod val="75000"/>
                </a:schemeClr>
              </a:gs>
              <a:gs pos="93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Oval 4"/>
          <p:cNvSpPr/>
          <p:nvPr/>
        </p:nvSpPr>
        <p:spPr>
          <a:xfrm>
            <a:off x="2750014" y="1602761"/>
            <a:ext cx="631814" cy="628717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45000">
                <a:schemeClr val="bg1">
                  <a:lumMod val="75000"/>
                </a:schemeClr>
              </a:gs>
              <a:gs pos="93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Oval 5"/>
          <p:cNvSpPr/>
          <p:nvPr/>
        </p:nvSpPr>
        <p:spPr>
          <a:xfrm>
            <a:off x="2746385" y="4629083"/>
            <a:ext cx="631814" cy="628717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45000">
                <a:schemeClr val="bg1">
                  <a:lumMod val="75000"/>
                </a:schemeClr>
              </a:gs>
              <a:gs pos="93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Oval 6"/>
          <p:cNvSpPr/>
          <p:nvPr/>
        </p:nvSpPr>
        <p:spPr>
          <a:xfrm>
            <a:off x="5761870" y="1603758"/>
            <a:ext cx="631814" cy="628717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45000">
                <a:schemeClr val="bg1">
                  <a:lumMod val="75000"/>
                </a:schemeClr>
              </a:gs>
              <a:gs pos="93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Oval 7"/>
          <p:cNvSpPr/>
          <p:nvPr/>
        </p:nvSpPr>
        <p:spPr>
          <a:xfrm>
            <a:off x="5758241" y="4630080"/>
            <a:ext cx="631814" cy="628717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45000">
                <a:schemeClr val="bg1">
                  <a:lumMod val="75000"/>
                </a:schemeClr>
              </a:gs>
              <a:gs pos="93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Left Brace 8"/>
          <p:cNvSpPr/>
          <p:nvPr/>
        </p:nvSpPr>
        <p:spPr>
          <a:xfrm rot="5400000">
            <a:off x="4419600" y="-2362200"/>
            <a:ext cx="304800" cy="7315200"/>
          </a:xfrm>
          <a:prstGeom prst="leftBrace">
            <a:avLst>
              <a:gd name="adj1" fmla="val 22451"/>
              <a:gd name="adj2" fmla="val 50000"/>
            </a:avLst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TextBox 9"/>
          <p:cNvSpPr txBox="1"/>
          <p:nvPr/>
        </p:nvSpPr>
        <p:spPr>
          <a:xfrm>
            <a:off x="3741324" y="795754"/>
            <a:ext cx="1661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588" lvl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Уеб страница</a:t>
            </a:r>
          </a:p>
        </p:txBody>
      </p:sp>
      <p:sp>
        <p:nvSpPr>
          <p:cNvPr id="11" name="Left Brace 10"/>
          <p:cNvSpPr/>
          <p:nvPr/>
        </p:nvSpPr>
        <p:spPr>
          <a:xfrm rot="16200000" flipV="1">
            <a:off x="4409712" y="3591289"/>
            <a:ext cx="324575" cy="3657600"/>
          </a:xfrm>
          <a:prstGeom prst="leftBrace">
            <a:avLst>
              <a:gd name="adj1" fmla="val 22451"/>
              <a:gd name="adj2" fmla="val 50000"/>
            </a:avLst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TextBox 11"/>
          <p:cNvSpPr txBox="1"/>
          <p:nvPr/>
        </p:nvSpPr>
        <p:spPr>
          <a:xfrm>
            <a:off x="3478306" y="5582377"/>
            <a:ext cx="2191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588" lvl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Централен квадрат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0439" y="3111990"/>
            <a:ext cx="1323119" cy="63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588" lvl="1" algn="ctr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Централна</a:t>
            </a:r>
          </a:p>
          <a:p>
            <a:pPr marL="1588" lvl="1" algn="ctr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сфера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0606" y="1736052"/>
            <a:ext cx="713977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588" lvl="1" algn="ctr">
              <a:lnSpc>
                <a:spcPts val="1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1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Ъглова</a:t>
            </a:r>
          </a:p>
          <a:p>
            <a:pPr marL="1588" lvl="1" algn="ctr">
              <a:lnSpc>
                <a:spcPts val="1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1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сфера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7412" y="4770645"/>
            <a:ext cx="713977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588" lvl="1" algn="ctr">
              <a:lnSpc>
                <a:spcPts val="1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1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Ъглова</a:t>
            </a:r>
          </a:p>
          <a:p>
            <a:pPr marL="1588" lvl="1" algn="ctr">
              <a:lnSpc>
                <a:spcPts val="1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1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сфера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9753" y="1739153"/>
            <a:ext cx="713977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588" lvl="1" algn="ctr">
              <a:lnSpc>
                <a:spcPts val="1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1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Ъглова</a:t>
            </a:r>
          </a:p>
          <a:p>
            <a:pPr marL="1588" lvl="1" algn="ctr">
              <a:lnSpc>
                <a:spcPts val="1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1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сфера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6559" y="4773746"/>
            <a:ext cx="713977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588" lvl="1" algn="ctr">
              <a:lnSpc>
                <a:spcPts val="1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1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Ъглова</a:t>
            </a:r>
          </a:p>
          <a:p>
            <a:pPr marL="1588" lvl="1" algn="ctr">
              <a:lnSpc>
                <a:spcPts val="1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1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сфера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46" y="2844224"/>
            <a:ext cx="126701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588" lvl="1" algn="ctr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Попълва се</a:t>
            </a:r>
            <a:b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рекурсивно</a:t>
            </a:r>
            <a:b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като че ли е</a:t>
            </a:r>
            <a:b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цялата уеб</a:t>
            </a:r>
            <a:b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страница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3341" y="2844223"/>
            <a:ext cx="126701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588" lvl="1" algn="ctr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100000"/>
            </a:pPr>
            <a: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Попълва се</a:t>
            </a:r>
            <a:b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рекурсивно</a:t>
            </a:r>
            <a:b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като че ли е</a:t>
            </a:r>
            <a:b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цялата уеб</a:t>
            </a:r>
            <a:b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400" dirty="0">
                <a:solidFill>
                  <a:schemeClr val="bg2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страница</a:t>
            </a:r>
          </a:p>
        </p:txBody>
      </p:sp>
    </p:spTree>
    <p:extLst>
      <p:ext uri="{BB962C8B-B14F-4D97-AF65-F5344CB8AC3E}">
        <p14:creationId xmlns:p14="http://schemas.microsoft.com/office/powerpoint/2010/main" val="7405288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3581400" y="1517752"/>
            <a:ext cx="5105400" cy="5187848"/>
            <a:chOff x="1447800" y="1295400"/>
            <a:chExt cx="5105400" cy="5187848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998259" y="3050094"/>
              <a:ext cx="0" cy="309697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554506" y="3352800"/>
              <a:ext cx="2822116" cy="277821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/>
            <p:cNvGrpSpPr/>
            <p:nvPr/>
          </p:nvGrpSpPr>
          <p:grpSpPr>
            <a:xfrm>
              <a:off x="1676400" y="1437217"/>
              <a:ext cx="4724400" cy="4711722"/>
              <a:chOff x="2743200" y="1611012"/>
              <a:chExt cx="3657600" cy="3647785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2743200" y="1611012"/>
                <a:ext cx="3657600" cy="3639671"/>
              </a:xfrm>
              <a:prstGeom prst="ellipse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5758241" y="4630080"/>
                <a:ext cx="631814" cy="628717"/>
              </a:xfrm>
              <a:prstGeom prst="ellipse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</p:grpSp>
        <p:sp>
          <p:nvSpPr>
            <p:cNvPr id="8" name="Oval 7"/>
            <p:cNvSpPr/>
            <p:nvPr/>
          </p:nvSpPr>
          <p:spPr>
            <a:xfrm>
              <a:off x="3933740" y="3723318"/>
              <a:ext cx="129038" cy="1290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447800" y="1295400"/>
              <a:ext cx="5105400" cy="2362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400800" y="3569719"/>
              <a:ext cx="0" cy="264187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362200" y="6147072"/>
              <a:ext cx="4041316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 rot="2700000">
                  <a:off x="5599974" y="4086173"/>
                  <a:ext cx="628762" cy="3676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1588" lvl="1">
                    <a:spcBef>
                      <a:spcPct val="20000"/>
                    </a:spcBef>
                    <a:buClr>
                      <a:schemeClr val="accent1">
                        <a:lumMod val="75000"/>
                      </a:schemeClr>
                    </a:buClr>
                    <a:buSzPct val="10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effectLst>
                              <a:outerShdw blurRad="63500" algn="ctr" rotWithShape="0">
                                <a:schemeClr val="tx1">
                                  <a:alpha val="40000"/>
                                </a:schemeClr>
                              </a:outerShdw>
                            </a:effectLst>
                            <a:latin typeface="Cambria Math"/>
                          </a:rPr>
                          <m:t>𝑅</m:t>
                        </m:r>
                        <m:rad>
                          <m:radPr>
                            <m:degHide m:val="on"/>
                            <m:ctrlPr>
                              <a:rPr lang="en-US" sz="1600" b="0" i="1" smtClean="0">
                                <a:effectLst>
                                  <a:outerShdw blurRad="63500" algn="ctr" rotWithShape="0">
                                    <a:schemeClr val="tx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b="0" i="1" smtClean="0">
                                <a:effectLst>
                                  <a:outerShdw blurRad="63500" algn="ctr" rotWithShape="0">
                                    <a:schemeClr val="tx1">
                                      <a:alpha val="40000"/>
                                    </a:schemeClr>
                                  </a:outerShdw>
                                </a:effectLst>
                                <a:latin typeface="Cambria Math"/>
                              </a:rPr>
                              <m:t>2</m:t>
                            </m:r>
                          </m:e>
                        </m:rad>
                      </m:oMath>
                    </m:oMathPara>
                  </a14:m>
                  <a:endParaRPr lang="bg-BG" sz="1600" dirty="0">
                    <a:effectLst>
                      <a:outerShdw blurRad="63500" algn="ctr" rotWithShape="0">
                        <a:schemeClr val="tx1">
                          <a:alpha val="40000"/>
                        </a:scheme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700000">
                  <a:off x="5599974" y="4086173"/>
                  <a:ext cx="628762" cy="367601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bg-B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 rot="2700000">
                  <a:off x="4762033" y="4354804"/>
                  <a:ext cx="3801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1588" lvl="1">
                    <a:spcBef>
                      <a:spcPct val="20000"/>
                    </a:spcBef>
                    <a:buClr>
                      <a:schemeClr val="accent1">
                        <a:lumMod val="75000"/>
                      </a:schemeClr>
                    </a:buClr>
                    <a:buSzPct val="10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effectLst>
                              <a:outerShdw blurRad="63500" algn="ctr" rotWithShape="0">
                                <a:schemeClr val="tx1">
                                  <a:alpha val="40000"/>
                                </a:schemeClr>
                              </a:outerShdw>
                            </a:effectLst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bg-BG" sz="1600" dirty="0">
                    <a:effectLst>
                      <a:outerShdw blurRad="63500" algn="ctr" rotWithShape="0">
                        <a:schemeClr val="tx1">
                          <a:alpha val="40000"/>
                        </a:scheme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700000">
                  <a:off x="4762033" y="4354804"/>
                  <a:ext cx="380168" cy="338554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bg-B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 rot="2700000">
                  <a:off x="5798397" y="5384744"/>
                  <a:ext cx="34496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1588" lvl="1">
                    <a:spcBef>
                      <a:spcPct val="20000"/>
                    </a:spcBef>
                    <a:buClr>
                      <a:schemeClr val="accent1">
                        <a:lumMod val="75000"/>
                      </a:schemeClr>
                    </a:buClr>
                    <a:buSzPct val="10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effectLst>
                              <a:outerShdw blurRad="63500" algn="ctr" rotWithShape="0">
                                <a:schemeClr val="tx1">
                                  <a:alpha val="40000"/>
                                </a:schemeClr>
                              </a:outerShdw>
                            </a:effectLst>
                            <a:latin typeface="Cambria Math"/>
                          </a:rPr>
                          <m:t>𝑟</m:t>
                        </m:r>
                      </m:oMath>
                    </m:oMathPara>
                  </a14:m>
                  <a:endParaRPr lang="bg-BG" sz="1600" dirty="0">
                    <a:effectLst>
                      <a:outerShdw blurRad="63500" algn="ctr" rotWithShape="0">
                        <a:schemeClr val="tx1">
                          <a:alpha val="40000"/>
                        </a:scheme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700000">
                  <a:off x="5798397" y="5384744"/>
                  <a:ext cx="344966" cy="338554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bg-B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 rot="2700000">
                  <a:off x="5986642" y="5662025"/>
                  <a:ext cx="593559" cy="367601"/>
                </a:xfrm>
                <a:prstGeom prst="rect">
                  <a:avLst/>
                </a:prstGeom>
                <a:solidFill>
                  <a:srgbClr val="FFFFFF">
                    <a:alpha val="69804"/>
                  </a:srgbClr>
                </a:solidFill>
                <a:effectLst>
                  <a:softEdge rad="31750"/>
                </a:effectLst>
              </p:spPr>
              <p:txBody>
                <a:bodyPr wrap="none" rtlCol="0">
                  <a:spAutoFit/>
                </a:bodyPr>
                <a:lstStyle/>
                <a:p>
                  <a:pPr marL="1588" lvl="1">
                    <a:spcBef>
                      <a:spcPct val="20000"/>
                    </a:spcBef>
                    <a:buClr>
                      <a:schemeClr val="accent1">
                        <a:lumMod val="75000"/>
                      </a:schemeClr>
                    </a:buClr>
                    <a:buSzPct val="10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effectLst>
                              <a:outerShdw blurRad="63500" algn="ctr" rotWithShape="0">
                                <a:schemeClr val="tx1">
                                  <a:alpha val="40000"/>
                                </a:schemeClr>
                              </a:outerShdw>
                            </a:effectLst>
                            <a:latin typeface="Cambria Math"/>
                          </a:rPr>
                          <m:t>𝑟</m:t>
                        </m:r>
                        <m:rad>
                          <m:radPr>
                            <m:degHide m:val="on"/>
                            <m:ctrlPr>
                              <a:rPr lang="en-US" sz="1600" b="0" i="1" smtClean="0">
                                <a:effectLst>
                                  <a:outerShdw blurRad="63500" algn="ctr" rotWithShape="0">
                                    <a:schemeClr val="tx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b="0" i="1" smtClean="0">
                                <a:effectLst>
                                  <a:outerShdw blurRad="63500" algn="ctr" rotWithShape="0">
                                    <a:schemeClr val="tx1">
                                      <a:alpha val="40000"/>
                                    </a:schemeClr>
                                  </a:outerShdw>
                                </a:effectLst>
                                <a:latin typeface="Cambria Math"/>
                              </a:rPr>
                              <m:t>2</m:t>
                            </m:r>
                          </m:e>
                        </m:rad>
                      </m:oMath>
                    </m:oMathPara>
                  </a14:m>
                  <a:endParaRPr lang="bg-BG" sz="1600" dirty="0">
                    <a:effectLst>
                      <a:outerShdw blurRad="63500" algn="ctr" rotWithShape="0">
                        <a:schemeClr val="tx1">
                          <a:alpha val="40000"/>
                        </a:scheme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700000">
                  <a:off x="5986642" y="5662025"/>
                  <a:ext cx="593559" cy="367601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  <a:effectLst>
                  <a:softEdge rad="31750"/>
                </a:effectLst>
              </p:spPr>
              <p:txBody>
                <a:bodyPr/>
                <a:lstStyle/>
                <a:p>
                  <a:r>
                    <a:rPr lang="bg-B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/>
            <p:cNvSpPr/>
            <p:nvPr/>
          </p:nvSpPr>
          <p:spPr>
            <a:xfrm>
              <a:off x="5914355" y="5678373"/>
              <a:ext cx="129038" cy="1290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" name="Oval 10"/>
            <p:cNvSpPr/>
            <p:nvPr/>
          </p:nvSpPr>
          <p:spPr>
            <a:xfrm>
              <a:off x="6338997" y="6082553"/>
              <a:ext cx="129038" cy="1290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4" name="Oval 23"/>
            <p:cNvSpPr/>
            <p:nvPr/>
          </p:nvSpPr>
          <p:spPr>
            <a:xfrm>
              <a:off x="5625353" y="5378824"/>
              <a:ext cx="129038" cy="1290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5" name="Left Brace 24"/>
            <p:cNvSpPr/>
            <p:nvPr/>
          </p:nvSpPr>
          <p:spPr>
            <a:xfrm rot="8100000">
              <a:off x="5522560" y="2798116"/>
              <a:ext cx="290704" cy="3448783"/>
            </a:xfrm>
            <a:prstGeom prst="leftBrace">
              <a:avLst>
                <a:gd name="adj1" fmla="val 22451"/>
                <a:gd name="adj2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6" name="Oval 25"/>
            <p:cNvSpPr/>
            <p:nvPr/>
          </p:nvSpPr>
          <p:spPr>
            <a:xfrm>
              <a:off x="3935506" y="6083503"/>
              <a:ext cx="129038" cy="1290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3658432" y="4690646"/>
                  <a:ext cx="3801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1588" lvl="1">
                    <a:spcBef>
                      <a:spcPct val="20000"/>
                    </a:spcBef>
                    <a:buClr>
                      <a:schemeClr val="accent1">
                        <a:lumMod val="75000"/>
                      </a:schemeClr>
                    </a:buClr>
                    <a:buSzPct val="10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effectLst>
                              <a:outerShdw blurRad="63500" algn="ctr" rotWithShape="0">
                                <a:schemeClr val="tx1">
                                  <a:alpha val="40000"/>
                                </a:schemeClr>
                              </a:outerShdw>
                            </a:effectLst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bg-BG" sz="1600" dirty="0">
                    <a:effectLst>
                      <a:outerShdw blurRad="63500" algn="ctr" rotWithShape="0">
                        <a:schemeClr val="tx1">
                          <a:alpha val="40000"/>
                        </a:scheme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8432" y="4690646"/>
                  <a:ext cx="380168" cy="338554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818"/>
                  </a:stretch>
                </a:blipFill>
              </p:spPr>
              <p:txBody>
                <a:bodyPr/>
                <a:lstStyle/>
                <a:p>
                  <a:r>
                    <a:rPr lang="bg-B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5016140" y="6144694"/>
                  <a:ext cx="3801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1588" lvl="1">
                    <a:spcBef>
                      <a:spcPct val="20000"/>
                    </a:spcBef>
                    <a:buClr>
                      <a:schemeClr val="accent1">
                        <a:lumMod val="75000"/>
                      </a:schemeClr>
                    </a:buClr>
                    <a:buSzPct val="100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effectLst>
                              <a:outerShdw blurRad="63500" algn="ctr" rotWithShape="0">
                                <a:schemeClr val="tx1">
                                  <a:alpha val="40000"/>
                                </a:schemeClr>
                              </a:outerShdw>
                            </a:effectLst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bg-BG" sz="1600" dirty="0">
                    <a:effectLst>
                      <a:outerShdw blurRad="63500" algn="ctr" rotWithShape="0">
                        <a:schemeClr val="tx1">
                          <a:alpha val="40000"/>
                        </a:scheme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6140" y="6144694"/>
                  <a:ext cx="380168" cy="338554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bg-B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/>
            <p:cNvSpPr/>
            <p:nvPr/>
          </p:nvSpPr>
          <p:spPr>
            <a:xfrm>
              <a:off x="1600200" y="3200400"/>
              <a:ext cx="1752600" cy="32828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34" name="Rectangle 33"/>
          <p:cNvSpPr/>
          <p:nvPr/>
        </p:nvSpPr>
        <p:spPr>
          <a:xfrm>
            <a:off x="914400" y="4265415"/>
            <a:ext cx="4267200" cy="21353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5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62863" y="4265415"/>
            <a:ext cx="2133600" cy="2130552"/>
          </a:xfrm>
          <a:prstGeom prst="rect">
            <a:avLst/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5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857916" y="4279757"/>
                <a:ext cx="380168" cy="338554"/>
              </a:xfrm>
              <a:prstGeom prst="rect">
                <a:avLst/>
              </a:prstGeom>
              <a:solidFill>
                <a:srgbClr val="FFFFFF">
                  <a:alpha val="69804"/>
                </a:srgbClr>
              </a:solidFill>
              <a:effectLst>
                <a:softEdge rad="63500"/>
              </a:effectLst>
            </p:spPr>
            <p:txBody>
              <a:bodyPr wrap="none" rtlCol="0">
                <a:spAutoFit/>
              </a:bodyPr>
              <a:lstStyle/>
              <a:p>
                <a:pPr marL="1588" lvl="1">
                  <a:spcBef>
                    <a:spcPct val="200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effectLst>
                            <a:outerShdw blurRad="63500" algn="ctr" rotWithShape="0">
                              <a:schemeClr val="tx1">
                                <a:alpha val="40000"/>
                              </a:schemeClr>
                            </a:outerShdw>
                          </a:effectLst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bg-BG" sz="1600" dirty="0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916" y="4279757"/>
                <a:ext cx="380168" cy="33855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effectLst>
                <a:softEdge rad="63500"/>
              </a:effectLst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733800" y="5198957"/>
                <a:ext cx="380168" cy="338554"/>
              </a:xfrm>
              <a:prstGeom prst="rect">
                <a:avLst/>
              </a:prstGeom>
              <a:solidFill>
                <a:srgbClr val="FFFFFF">
                  <a:alpha val="69804"/>
                </a:srgbClr>
              </a:solidFill>
              <a:effectLst>
                <a:softEdge rad="63500"/>
              </a:effectLst>
            </p:spPr>
            <p:txBody>
              <a:bodyPr wrap="none" rtlCol="0">
                <a:spAutoFit/>
              </a:bodyPr>
              <a:lstStyle/>
              <a:p>
                <a:pPr marL="1588" lvl="1">
                  <a:spcBef>
                    <a:spcPct val="200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effectLst>
                            <a:outerShdw blurRad="63500" algn="ctr" rotWithShape="0">
                              <a:schemeClr val="tx1">
                                <a:alpha val="40000"/>
                              </a:schemeClr>
                            </a:outerShdw>
                          </a:effectLst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bg-BG" sz="1600" dirty="0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5198957"/>
                <a:ext cx="380168" cy="338554"/>
              </a:xfrm>
              <a:prstGeom prst="rect">
                <a:avLst/>
              </a:prstGeom>
              <a:blipFill rotWithShape="1">
                <a:blip r:embed="rId9"/>
                <a:stretch>
                  <a:fillRect b="-1818"/>
                </a:stretch>
              </a:blipFill>
              <a:effectLst>
                <a:softEdge rad="63500"/>
              </a:effectLst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962863" y="5198957"/>
                <a:ext cx="380168" cy="338554"/>
              </a:xfrm>
              <a:prstGeom prst="rect">
                <a:avLst/>
              </a:prstGeom>
              <a:solidFill>
                <a:srgbClr val="FFFFFF">
                  <a:alpha val="69804"/>
                </a:srgbClr>
              </a:solidFill>
              <a:effectLst>
                <a:softEdge rad="63500"/>
              </a:effectLst>
            </p:spPr>
            <p:txBody>
              <a:bodyPr wrap="none" rtlCol="0">
                <a:spAutoFit/>
              </a:bodyPr>
              <a:lstStyle/>
              <a:p>
                <a:pPr marL="1588" lvl="1">
                  <a:spcBef>
                    <a:spcPct val="200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effectLst>
                            <a:outerShdw blurRad="63500" algn="ctr" rotWithShape="0">
                              <a:schemeClr val="tx1">
                                <a:alpha val="40000"/>
                              </a:schemeClr>
                            </a:outerShdw>
                          </a:effectLst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bg-BG" sz="1600" dirty="0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863" y="5198957"/>
                <a:ext cx="380168" cy="338554"/>
              </a:xfrm>
              <a:prstGeom prst="rect">
                <a:avLst/>
              </a:prstGeom>
              <a:blipFill rotWithShape="1">
                <a:blip r:embed="rId10"/>
                <a:stretch>
                  <a:fillRect b="-1818"/>
                </a:stretch>
              </a:blipFill>
              <a:effectLst>
                <a:softEdge rad="63500"/>
              </a:effectLst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232977" y="4244520"/>
                <a:ext cx="754245" cy="551754"/>
              </a:xfrm>
              <a:prstGeom prst="rect">
                <a:avLst/>
              </a:prstGeom>
              <a:solidFill>
                <a:srgbClr val="FFFFFF">
                  <a:alpha val="69804"/>
                </a:srgbClr>
              </a:solidFill>
              <a:effectLst>
                <a:softEdge rad="63500"/>
              </a:effectLst>
            </p:spPr>
            <p:txBody>
              <a:bodyPr wrap="none" rtlCol="0">
                <a:spAutoFit/>
              </a:bodyPr>
              <a:lstStyle/>
              <a:p>
                <a:pPr marL="1588" lvl="1">
                  <a:spcBef>
                    <a:spcPct val="200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effectLst>
                                <a:outerShdw blurRad="63500" algn="ctr" rotWithShape="0">
                                  <a:schemeClr val="tx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effectLst>
                                <a:outerShdw blurRad="63500" algn="ctr" rotWithShape="0">
                                  <a:schemeClr val="tx1"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𝑋</m:t>
                          </m:r>
                          <m:r>
                            <a:rPr lang="en-US" sz="1600" b="0" i="1" smtClean="0">
                              <a:effectLst>
                                <a:outerShdw blurRad="63500" algn="ctr" rotWithShape="0">
                                  <a:schemeClr val="tx1"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−</m:t>
                          </m:r>
                          <m:r>
                            <a:rPr lang="en-US" sz="1600" b="0" i="1" smtClean="0">
                              <a:effectLst>
                                <a:outerShdw blurRad="63500" algn="ctr" rotWithShape="0">
                                  <a:schemeClr val="tx1"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𝑌</m:t>
                          </m:r>
                        </m:num>
                        <m:den>
                          <m:r>
                            <a:rPr lang="en-US" sz="1600" b="0" i="1" smtClean="0">
                              <a:effectLst>
                                <a:outerShdw blurRad="63500" algn="ctr" rotWithShape="0">
                                  <a:schemeClr val="tx1"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bg-BG" sz="1600" dirty="0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977" y="4244520"/>
                <a:ext cx="754245" cy="551754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effectLst>
                <a:softEdge rad="63500"/>
              </a:effectLst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066800" y="4250325"/>
                <a:ext cx="754245" cy="551754"/>
              </a:xfrm>
              <a:prstGeom prst="rect">
                <a:avLst/>
              </a:prstGeom>
              <a:solidFill>
                <a:srgbClr val="FFFFFF">
                  <a:alpha val="69804"/>
                </a:srgbClr>
              </a:solidFill>
              <a:effectLst>
                <a:softEdge rad="63500"/>
              </a:effectLst>
            </p:spPr>
            <p:txBody>
              <a:bodyPr wrap="none" rtlCol="0">
                <a:spAutoFit/>
              </a:bodyPr>
              <a:lstStyle/>
              <a:p>
                <a:pPr marL="1588" lvl="1">
                  <a:spcBef>
                    <a:spcPct val="200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effectLst>
                                <a:outerShdw blurRad="63500" algn="ctr" rotWithShape="0">
                                  <a:schemeClr val="tx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effectLst>
                                <a:outerShdw blurRad="63500" algn="ctr" rotWithShape="0">
                                  <a:schemeClr val="tx1"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𝑋</m:t>
                          </m:r>
                          <m:r>
                            <a:rPr lang="en-US" sz="1600" b="0" i="1" smtClean="0">
                              <a:effectLst>
                                <a:outerShdw blurRad="63500" algn="ctr" rotWithShape="0">
                                  <a:schemeClr val="tx1"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−</m:t>
                          </m:r>
                          <m:r>
                            <a:rPr lang="en-US" sz="1600" b="0" i="1" smtClean="0">
                              <a:effectLst>
                                <a:outerShdw blurRad="63500" algn="ctr" rotWithShape="0">
                                  <a:schemeClr val="tx1"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𝑌</m:t>
                          </m:r>
                        </m:num>
                        <m:den>
                          <m:r>
                            <a:rPr lang="en-US" sz="1600" b="0" i="1" smtClean="0">
                              <a:effectLst>
                                <a:outerShdw blurRad="63500" algn="ctr" rotWithShape="0">
                                  <a:schemeClr val="tx1">
                                    <a:alpha val="40000"/>
                                  </a:schemeClr>
                                </a:outerShdw>
                              </a:effectLst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bg-BG" sz="1600" dirty="0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250325"/>
                <a:ext cx="754245" cy="551754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effectLst>
                <a:softEdge rad="63500"/>
              </a:effectLst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871363" y="3531827"/>
                <a:ext cx="3801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588" lvl="1">
                  <a:spcBef>
                    <a:spcPct val="200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effectLst>
                            <a:outerShdw blurRad="63500" algn="ctr" rotWithShape="0">
                              <a:schemeClr val="tx1">
                                <a:alpha val="40000"/>
                              </a:schemeClr>
                            </a:outerShdw>
                          </a:effectLst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bg-BG" sz="1600" dirty="0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363" y="3531827"/>
                <a:ext cx="380168" cy="338554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Left Brace 44"/>
          <p:cNvSpPr/>
          <p:nvPr/>
        </p:nvSpPr>
        <p:spPr>
          <a:xfrm rot="5400000">
            <a:off x="2895599" y="1864392"/>
            <a:ext cx="304799" cy="4267200"/>
          </a:xfrm>
          <a:prstGeom prst="leftBrace">
            <a:avLst>
              <a:gd name="adj1" fmla="val 22451"/>
              <a:gd name="adj2" fmla="val 50000"/>
            </a:avLst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bg-BG" dirty="0"/>
                  <a:t>Решение</a:t>
                </a:r>
              </a:p>
              <a:p>
                <a:pPr lvl="1"/>
                <a:r>
                  <a:rPr lang="bg-BG" dirty="0"/>
                  <a:t>Ако размерът на зона е </a:t>
                </a:r>
                <a:r>
                  <a:rPr lang="en-US" b="1" dirty="0" err="1"/>
                  <a:t>X</a:t>
                </a:r>
                <a:r>
                  <a:rPr lang="en-US" b="1" dirty="0" err="1">
                    <a:sym typeface="Symbol"/>
                  </a:rPr>
                  <a:t></a:t>
                </a:r>
                <a:r>
                  <a:rPr lang="en-US" b="1" dirty="0" err="1"/>
                  <a:t>Y</a:t>
                </a:r>
                <a:r>
                  <a:rPr lang="en-US" dirty="0"/>
                  <a:t>, </a:t>
                </a:r>
                <a:r>
                  <a:rPr lang="bg-BG" dirty="0"/>
                  <a:t>то радиусите на централната сфера и на 4-те сфери около нея са:</a:t>
                </a:r>
              </a:p>
              <a:p>
                <a:pPr lvl="1"/>
                <a:endParaRPr lang="bg-BG" sz="1100" dirty="0"/>
              </a:p>
              <a:p>
                <a:pPr marL="365760" lvl="1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𝑅</m:t>
                    </m:r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𝑌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bg-BG" dirty="0"/>
                  <a:t> </a:t>
                </a:r>
                <a:r>
                  <a:rPr lang="en-US" dirty="0"/>
                  <a:t>   </a:t>
                </a:r>
                <a:r>
                  <a:rPr lang="bg-BG" dirty="0"/>
                  <a:t>и</a:t>
                </a:r>
                <a:r>
                  <a:rPr lang="en-US" dirty="0"/>
                  <a:t>   </a:t>
                </a:r>
                <a:r>
                  <a:rPr lang="bg-BG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𝑟</m:t>
                    </m:r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𝑅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e>
                        </m:rad>
                        <m:r>
                          <a:rPr lang="en-US" sz="2400" b="0" i="1" smtClean="0">
                            <a:latin typeface="Cambria Math"/>
                          </a:rPr>
                          <m:t>−1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e>
                        </m:rad>
                        <m:r>
                          <a:rPr lang="en-US" sz="2400" b="0" i="1" smtClean="0">
                            <a:latin typeface="Cambria Math"/>
                          </a:rPr>
                          <m:t>+1</m:t>
                        </m:r>
                      </m:den>
                    </m:f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3−2</m:t>
                        </m:r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a:rPr lang="en-US" sz="2400" b="0" i="1" smtClean="0">
                        <a:latin typeface="Cambria Math"/>
                      </a:rPr>
                      <m:t>𝑅</m:t>
                    </m:r>
                  </m:oMath>
                </a14:m>
                <a:endParaRPr lang="en-US" dirty="0"/>
              </a:p>
              <a:p>
                <a:pPr marL="365760" lvl="1" indent="0" algn="ctr">
                  <a:buNone/>
                </a:pPr>
                <a:endParaRPr lang="en-US" sz="1000" dirty="0"/>
              </a:p>
              <a:p>
                <a:pPr lvl="1"/>
                <a:r>
                  <a:rPr lang="bg-BG" dirty="0"/>
                  <a:t>Околните две зони са с размери: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𝑌</m:t>
                    </m:r>
                  </m:oMath>
                </a14:m>
                <a:r>
                  <a:rPr lang="en-US" b="0" dirty="0"/>
                  <a:t> </a:t>
                </a:r>
                <a:r>
                  <a:rPr lang="bg-BG" b="0" dirty="0"/>
                  <a:t>или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𝑌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US" b="0" dirty="0"/>
              </a:p>
              <a:p>
                <a:pPr lvl="1"/>
                <a:endParaRPr lang="bg-BG" dirty="0"/>
              </a:p>
            </p:txBody>
          </p:sp>
        </mc:Choice>
        <mc:Fallback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14"/>
                <a:stretch>
                  <a:fillRect l="-1062" t="-152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839579" y="6019800"/>
                <a:ext cx="380168" cy="338554"/>
              </a:xfrm>
              <a:prstGeom prst="rect">
                <a:avLst/>
              </a:prstGeom>
              <a:solidFill>
                <a:srgbClr val="FFFFFF">
                  <a:alpha val="69804"/>
                </a:srgbClr>
              </a:solidFill>
              <a:effectLst>
                <a:softEdge rad="63500"/>
              </a:effectLst>
            </p:spPr>
            <p:txBody>
              <a:bodyPr wrap="none" rtlCol="0">
                <a:spAutoFit/>
              </a:bodyPr>
              <a:lstStyle/>
              <a:p>
                <a:pPr marL="1588" lvl="1">
                  <a:spcBef>
                    <a:spcPct val="200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effectLst>
                            <a:outerShdw blurRad="63500" algn="ctr" rotWithShape="0">
                              <a:schemeClr val="tx1">
                                <a:alpha val="40000"/>
                              </a:schemeClr>
                            </a:outerShdw>
                          </a:effectLst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bg-BG" sz="1600" dirty="0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579" y="6019800"/>
                <a:ext cx="380168" cy="338554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effectLst>
                <a:softEdge rad="63500"/>
              </a:effectLst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54920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Размер на графичното поле</a:t>
            </a:r>
          </a:p>
          <a:p>
            <a:pPr lvl="1"/>
            <a:r>
              <a:rPr lang="bg-BG" dirty="0"/>
              <a:t>Улавяме събитието </a:t>
            </a:r>
            <a:r>
              <a:rPr lang="en-US" b="1" dirty="0" err="1"/>
              <a:t>onresize</a:t>
            </a:r>
            <a:r>
              <a:rPr lang="bg-BG" dirty="0"/>
              <a:t> на прозореца</a:t>
            </a:r>
          </a:p>
          <a:p>
            <a:pPr lvl="1"/>
            <a:r>
              <a:rPr lang="bg-BG" dirty="0"/>
              <a:t>Актуализираме логическите размери </a:t>
            </a:r>
            <a:r>
              <a:rPr lang="en-US" b="1" dirty="0"/>
              <a:t>width</a:t>
            </a:r>
            <a:r>
              <a:rPr lang="bg-BG" dirty="0"/>
              <a:t> и </a:t>
            </a:r>
            <a:r>
              <a:rPr lang="en-US" b="1" dirty="0"/>
              <a:t>height</a:t>
            </a:r>
            <a:r>
              <a:rPr lang="en-US" dirty="0"/>
              <a:t> </a:t>
            </a:r>
            <a:r>
              <a:rPr lang="bg-BG" dirty="0"/>
              <a:t>с физическите размери</a:t>
            </a:r>
            <a:r>
              <a:rPr lang="en-US" dirty="0"/>
              <a:t> </a:t>
            </a:r>
            <a:r>
              <a:rPr lang="en-US" b="1" dirty="0" err="1"/>
              <a:t>offsetWidth</a:t>
            </a:r>
            <a:r>
              <a:rPr lang="bg-BG" dirty="0"/>
              <a:t> и </a:t>
            </a:r>
            <a:r>
              <a:rPr lang="en-US" b="1" dirty="0" err="1"/>
              <a:t>offsetHeight</a:t>
            </a:r>
            <a:endParaRPr lang="en-US" b="1" dirty="0"/>
          </a:p>
          <a:p>
            <a:pPr lvl="1"/>
            <a:r>
              <a:rPr lang="bg-BG" dirty="0"/>
              <a:t>Задаваме нов размер на рисувателната зона с </a:t>
            </a:r>
            <a:r>
              <a:rPr lang="en-US" b="1" dirty="0"/>
              <a:t>viewport</a:t>
            </a:r>
          </a:p>
          <a:p>
            <a:pPr lvl="1"/>
            <a:r>
              <a:rPr lang="bg-BG" dirty="0"/>
              <a:t>Актуализираме матрицата на проекцията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048000"/>
            <a:ext cx="8534400" cy="3505200"/>
          </a:xfrm>
          <a:prstGeom prst="snip2DiagRect">
            <a:avLst>
              <a:gd name="adj1" fmla="val 0"/>
              <a:gd name="adj2" fmla="val 897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window.addEventListener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resize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resized,false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resized()</a:t>
            </a: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gl.canvas.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offsetWidth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height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gl.canvas.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offsetHeight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viewport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(0,0,gl.canvas.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,gl.canvas.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height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proj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orthoMatrix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(gl.canvas.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,gl.canvas.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height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,-1000,1000);</a:t>
            </a: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gl.uniformMatrix4fv(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uProjectionMatrix,false,proj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22275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Без цикъл на рисуване</a:t>
            </a:r>
          </a:p>
          <a:p>
            <a:pPr lvl="1"/>
            <a:r>
              <a:rPr lang="bg-BG" dirty="0" err="1"/>
              <a:t>Прерисуваме</a:t>
            </a:r>
            <a:r>
              <a:rPr lang="bg-BG" dirty="0"/>
              <a:t> само при нужда, а не постоянно</a:t>
            </a:r>
          </a:p>
          <a:p>
            <a:pPr lvl="1"/>
            <a:r>
              <a:rPr lang="bg-BG" dirty="0"/>
              <a:t>В метода за рисуване </a:t>
            </a:r>
            <a:r>
              <a:rPr lang="en-US" b="1" dirty="0" err="1"/>
              <a:t>drawFrame</a:t>
            </a:r>
            <a:r>
              <a:rPr lang="en-US" dirty="0"/>
              <a:t> </a:t>
            </a:r>
            <a:r>
              <a:rPr lang="bg-BG" dirty="0"/>
              <a:t>няма заявка за генериране на още кадри </a:t>
            </a:r>
            <a:r>
              <a:rPr lang="en-GB" b="1" dirty="0" err="1"/>
              <a:t>requestAnimationFrame</a:t>
            </a:r>
            <a:endParaRPr lang="bg-BG" b="1" dirty="0"/>
          </a:p>
          <a:p>
            <a:pPr lvl="1"/>
            <a:r>
              <a:rPr lang="bg-BG" dirty="0"/>
              <a:t>Тази заявка е в метода </a:t>
            </a:r>
            <a:r>
              <a:rPr lang="en-US" b="1" dirty="0"/>
              <a:t>resized</a:t>
            </a:r>
            <a:r>
              <a:rPr lang="en-US" dirty="0"/>
              <a:t>,</a:t>
            </a:r>
            <a:r>
              <a:rPr lang="bg-BG" dirty="0"/>
              <a:t> който се активира еднократно при първо пускане на програмата, при загуба на контекст и при всяка промяна на размера</a:t>
            </a:r>
          </a:p>
          <a:p>
            <a:pPr lvl="1"/>
            <a:endParaRPr lang="bg-BG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971800"/>
            <a:ext cx="8534400" cy="3581400"/>
          </a:xfrm>
          <a:prstGeom prst="snip2DiagRect">
            <a:avLst>
              <a:gd name="adj1" fmla="val 0"/>
              <a:gd name="adj2" fmla="val 12624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start()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...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canvas.addEventListener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webglcontextrestored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init,false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window.addEventListener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('resize',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resized,false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resized();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resized()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requestAnimationFrame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drawFrame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drawFrame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968188" y="4182036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 4"/>
          <p:cNvSpPr/>
          <p:nvPr/>
        </p:nvSpPr>
        <p:spPr>
          <a:xfrm>
            <a:off x="1600200" y="50292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 5"/>
          <p:cNvSpPr/>
          <p:nvPr/>
        </p:nvSpPr>
        <p:spPr>
          <a:xfrm>
            <a:off x="3745678" y="4975412"/>
            <a:ext cx="92202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Rectangle 6"/>
          <p:cNvSpPr/>
          <p:nvPr/>
        </p:nvSpPr>
        <p:spPr>
          <a:xfrm>
            <a:off x="1973580" y="5562600"/>
            <a:ext cx="92202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Rectangle 7"/>
          <p:cNvSpPr/>
          <p:nvPr/>
        </p:nvSpPr>
        <p:spPr>
          <a:xfrm>
            <a:off x="6428156" y="5499847"/>
            <a:ext cx="1115644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 8"/>
          <p:cNvSpPr/>
          <p:nvPr/>
        </p:nvSpPr>
        <p:spPr>
          <a:xfrm>
            <a:off x="1632249" y="6096000"/>
            <a:ext cx="1115644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1" name="Elbow Connector 10"/>
          <p:cNvCxnSpPr>
            <a:stCxn id="4" idx="2"/>
            <a:endCxn id="5" idx="0"/>
          </p:cNvCxnSpPr>
          <p:nvPr/>
        </p:nvCxnSpPr>
        <p:spPr>
          <a:xfrm rot="16200000" flipH="1">
            <a:off x="1279712" y="4442012"/>
            <a:ext cx="542364" cy="632012"/>
          </a:xfrm>
          <a:prstGeom prst="bentConnector3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8" idx="2"/>
            <a:endCxn id="9" idx="0"/>
          </p:cNvCxnSpPr>
          <p:nvPr/>
        </p:nvCxnSpPr>
        <p:spPr>
          <a:xfrm rot="5400000">
            <a:off x="4442349" y="3552370"/>
            <a:ext cx="291353" cy="4795907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6" idx="2"/>
            <a:endCxn id="7" idx="0"/>
          </p:cNvCxnSpPr>
          <p:nvPr/>
        </p:nvCxnSpPr>
        <p:spPr>
          <a:xfrm rot="5400000">
            <a:off x="3179445" y="4535357"/>
            <a:ext cx="282388" cy="1772098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866790" y="3926542"/>
            <a:ext cx="944951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21" name="Elbow Connector 20"/>
          <p:cNvCxnSpPr>
            <a:stCxn id="20" idx="2"/>
            <a:endCxn id="24" idx="0"/>
          </p:cNvCxnSpPr>
          <p:nvPr/>
        </p:nvCxnSpPr>
        <p:spPr>
          <a:xfrm rot="5400000">
            <a:off x="3141401" y="3364735"/>
            <a:ext cx="1331258" cy="306447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008094" y="5562600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6" name="Rectangle 25"/>
          <p:cNvSpPr/>
          <p:nvPr/>
        </p:nvSpPr>
        <p:spPr>
          <a:xfrm>
            <a:off x="1752600" y="5020236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8" name="Rectangle 27"/>
          <p:cNvSpPr/>
          <p:nvPr/>
        </p:nvSpPr>
        <p:spPr>
          <a:xfrm>
            <a:off x="6356439" y="3657602"/>
            <a:ext cx="944951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29" name="Elbow Connector 28"/>
          <p:cNvCxnSpPr>
            <a:stCxn id="28" idx="2"/>
            <a:endCxn id="26" idx="0"/>
          </p:cNvCxnSpPr>
          <p:nvPr/>
        </p:nvCxnSpPr>
        <p:spPr>
          <a:xfrm rot="5400000">
            <a:off x="3895191" y="2086512"/>
            <a:ext cx="1057834" cy="4809615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5187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589" y="2937970"/>
            <a:ext cx="306705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47" y="3571382"/>
            <a:ext cx="4391025" cy="21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47" y="533400"/>
            <a:ext cx="1358153" cy="288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533400"/>
            <a:ext cx="6092638" cy="2279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06723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Наслагване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HTML</a:t>
            </a:r>
            <a:r>
              <a:rPr lang="bg-BG" dirty="0"/>
              <a:t> върху </a:t>
            </a:r>
            <a:r>
              <a:rPr lang="en-US" dirty="0"/>
              <a:t>WebGL</a:t>
            </a:r>
          </a:p>
          <a:p>
            <a:pPr lvl="1"/>
            <a:r>
              <a:rPr lang="en-US" dirty="0"/>
              <a:t>HUD – Head-up display</a:t>
            </a:r>
            <a:endParaRPr lang="bg-BG" dirty="0"/>
          </a:p>
          <a:p>
            <a:pPr lvl="1"/>
            <a:r>
              <a:rPr lang="en-US" dirty="0"/>
              <a:t>HTML</a:t>
            </a:r>
            <a:r>
              <a:rPr lang="bg-BG" dirty="0"/>
              <a:t> с прозрачен фон, насложен върху </a:t>
            </a:r>
            <a:r>
              <a:rPr lang="en-US" dirty="0"/>
              <a:t>canvas</a:t>
            </a:r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Опитайте се</a:t>
            </a:r>
          </a:p>
          <a:p>
            <a:pPr lvl="1"/>
            <a:r>
              <a:rPr lang="bg-BG" dirty="0"/>
              <a:t>Да разберете кои свойства на стиловете са нужни</a:t>
            </a:r>
          </a:p>
          <a:p>
            <a:pPr lvl="1"/>
            <a:r>
              <a:rPr lang="bg-BG" dirty="0"/>
              <a:t>Как </a:t>
            </a:r>
            <a:r>
              <a:rPr lang="en-US" dirty="0"/>
              <a:t>HTML </a:t>
            </a:r>
            <a:r>
              <a:rPr lang="bg-BG" dirty="0"/>
              <a:t>елемент е преместен върху друг и до друг</a:t>
            </a:r>
          </a:p>
        </p:txBody>
      </p:sp>
    </p:spTree>
    <p:extLst>
      <p:ext uri="{BB962C8B-B14F-4D97-AF65-F5344CB8AC3E}">
        <p14:creationId xmlns:p14="http://schemas.microsoft.com/office/powerpoint/2010/main" val="9955570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457200"/>
            <a:ext cx="6105525" cy="538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34466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WebGL </a:t>
            </a:r>
            <a:r>
              <a:rPr lang="bg-BG" dirty="0"/>
              <a:t>върху </a:t>
            </a:r>
            <a:r>
              <a:rPr lang="en-US" dirty="0"/>
              <a:t>HTML</a:t>
            </a:r>
          </a:p>
          <a:p>
            <a:pPr lvl="1"/>
            <a:r>
              <a:rPr lang="en-US" dirty="0"/>
              <a:t>WebGL </a:t>
            </a:r>
            <a:r>
              <a:rPr lang="en-US" b="1" dirty="0"/>
              <a:t>canvas</a:t>
            </a:r>
            <a:r>
              <a:rPr lang="en-US" dirty="0"/>
              <a:t> </a:t>
            </a:r>
            <a:r>
              <a:rPr lang="bg-BG" dirty="0"/>
              <a:t>с прозрачен фон, насложен върху </a:t>
            </a:r>
            <a:r>
              <a:rPr lang="en-US" dirty="0"/>
              <a:t>HTML</a:t>
            </a:r>
            <a:r>
              <a:rPr lang="bg-BG" dirty="0"/>
              <a:t> елементи</a:t>
            </a:r>
            <a:endParaRPr lang="en-US" dirty="0"/>
          </a:p>
          <a:p>
            <a:pPr lvl="1"/>
            <a:r>
              <a:rPr lang="bg-BG" dirty="0" err="1"/>
              <a:t>Топащи</a:t>
            </a:r>
            <a:r>
              <a:rPr lang="bg-BG" dirty="0"/>
              <a:t> се и отблъскващи се сфери</a:t>
            </a:r>
          </a:p>
          <a:p>
            <a:pPr lvl="1"/>
            <a:r>
              <a:rPr lang="bg-BG" dirty="0"/>
              <a:t>След удар се свиват и почервеняват (временно)</a:t>
            </a:r>
          </a:p>
          <a:p>
            <a:pPr lvl="1"/>
            <a:endParaRPr lang="bg-BG" dirty="0"/>
          </a:p>
          <a:p>
            <a:r>
              <a:rPr lang="bg-BG" dirty="0"/>
              <a:t>Опитайте се да разберете</a:t>
            </a:r>
          </a:p>
          <a:p>
            <a:pPr lvl="1"/>
            <a:r>
              <a:rPr lang="bg-BG" dirty="0"/>
              <a:t>Как сферите се възстановяват след удар</a:t>
            </a:r>
          </a:p>
          <a:p>
            <a:pPr lvl="1"/>
            <a:r>
              <a:rPr lang="bg-BG" dirty="0"/>
              <a:t>Кои свойства на стиловете са нужни</a:t>
            </a:r>
          </a:p>
          <a:p>
            <a:pPr lvl="1"/>
            <a:r>
              <a:rPr lang="bg-BG" dirty="0"/>
              <a:t>Как </a:t>
            </a:r>
            <a:r>
              <a:rPr lang="en-US" dirty="0"/>
              <a:t>canvas </a:t>
            </a:r>
            <a:r>
              <a:rPr lang="bg-BG" dirty="0"/>
              <a:t>елемент е направен да е прозрачен</a:t>
            </a:r>
          </a:p>
          <a:p>
            <a:pPr lvl="1"/>
            <a:endParaRPr lang="bg-BG" dirty="0"/>
          </a:p>
          <a:p>
            <a:pPr lvl="1"/>
            <a:r>
              <a:rPr lang="bg-BG" dirty="0"/>
              <a:t>Подсказка №1: методът за създаване на графичен контекст приема допълнителен параметър за свойствата му</a:t>
            </a:r>
          </a:p>
          <a:p>
            <a:pPr lvl="1"/>
            <a:r>
              <a:rPr lang="bg-BG" dirty="0"/>
              <a:t>Подсказка №2: </a:t>
            </a:r>
            <a:r>
              <a:rPr lang="en-GB" b="1" dirty="0" err="1"/>
              <a:t>premultipliedAlpha</a:t>
            </a:r>
            <a:endParaRPr lang="bg-BG" b="1" dirty="0"/>
          </a:p>
        </p:txBody>
      </p:sp>
    </p:spTree>
    <p:extLst>
      <p:ext uri="{BB962C8B-B14F-4D97-AF65-F5344CB8AC3E}">
        <p14:creationId xmlns:p14="http://schemas.microsoft.com/office/powerpoint/2010/main" val="20226556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1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457200"/>
            <a:ext cx="6105525" cy="538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05576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Речник</a:t>
            </a:r>
          </a:p>
        </p:txBody>
      </p:sp>
    </p:spTree>
    <p:extLst>
      <p:ext uri="{BB962C8B-B14F-4D97-AF65-F5344CB8AC3E}">
        <p14:creationId xmlns:p14="http://schemas.microsoft.com/office/powerpoint/2010/main" val="5810776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Речник на новите неща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WebGL</a:t>
            </a:r>
            <a:endParaRPr lang="bg-B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JavaScript</a:t>
            </a:r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endParaRPr lang="bg-B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023309"/>
              </p:ext>
            </p:extLst>
          </p:nvPr>
        </p:nvGraphicFramePr>
        <p:xfrm>
          <a:off x="609600" y="4191000"/>
          <a:ext cx="8077200" cy="185420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 числов обект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или конвертира до число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parseInt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Конвертира до цяло 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parseFloat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Конвертира до дробно 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event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Обект, описващ активирано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събитие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event.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target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DOM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елемент, за който се отнася събитието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327570"/>
              </p:ext>
            </p:extLst>
          </p:nvPr>
        </p:nvGraphicFramePr>
        <p:xfrm>
          <a:off x="609600" y="2032000"/>
          <a:ext cx="8077200" cy="115824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viewport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Указва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в коя част от рисувателното поле да се генерира графика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premultipliedAlpha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Параметър на </a:t>
                      </a:r>
                      <a:r>
                        <a:rPr lang="en-US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getContext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дали прозрачността да е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“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реална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”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(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false)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или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“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симулирана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”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(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true)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58390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DOM – </a:t>
            </a:r>
            <a:r>
              <a:rPr lang="bg-BG" dirty="0"/>
              <a:t>свойства</a:t>
            </a:r>
          </a:p>
          <a:p>
            <a:endParaRPr lang="bg-BG" dirty="0"/>
          </a:p>
          <a:p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r>
              <a:rPr lang="en-US" dirty="0"/>
              <a:t>DOM – </a:t>
            </a:r>
            <a:r>
              <a:rPr lang="bg-BG" dirty="0"/>
              <a:t>събития</a:t>
            </a:r>
          </a:p>
          <a:p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endParaRPr lang="bg-B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536344"/>
              </p:ext>
            </p:extLst>
          </p:nvPr>
        </p:nvGraphicFramePr>
        <p:xfrm>
          <a:off x="609600" y="990600"/>
          <a:ext cx="8077200" cy="296672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innerHTML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HTML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съдържание на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елемент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addEventListener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Добавяне на нов слушател за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събитие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nextElementSibling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Следващ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елемент на текущия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Стил на елемент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offsetWidth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Ш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ирина на елемент в пиксели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offsetHeight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Височина на елемент в пиксели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offsetLeft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Хоризонтално отместване на елемент в пиксели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offsetTop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Вертикално отместване на елемент в пиксели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195988"/>
              </p:ext>
            </p:extLst>
          </p:nvPr>
        </p:nvGraphicFramePr>
        <p:xfrm>
          <a:off x="609600" y="4648200"/>
          <a:ext cx="8077200" cy="185420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onclick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Кликване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върху елемент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onchange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Промяна на съдържанието на елемент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onmousemove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Движение на мишката над елемент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onkeypress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Натискане на клавиш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onresize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Размерът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на страницата е променен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07986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bg-BG" dirty="0"/>
              <a:t>Мерки на размери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015135"/>
              </p:ext>
            </p:extLst>
          </p:nvPr>
        </p:nvGraphicFramePr>
        <p:xfrm>
          <a:off x="609600" y="990600"/>
          <a:ext cx="8077200" cy="354584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HTML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елемент бутон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span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HTML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елемент за текст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input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HTML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елемент за входно поле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Атрибут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input 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за типа на входното поле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Атрибут за начална стойност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input,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за избрана стойност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select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или за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стойност на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option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size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Атрибут за ширината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input 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поле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HTML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елемент за списък от избираеми елементи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option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HTML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елемент за една опция в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select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HTML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елемент за стил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918099"/>
              </p:ext>
            </p:extLst>
          </p:nvPr>
        </p:nvGraphicFramePr>
        <p:xfrm>
          <a:off x="609600" y="5334000"/>
          <a:ext cx="8077200" cy="111252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em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Ширината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или височината на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M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px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Размер в пиксели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Размер в проценти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046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CSS</a:t>
            </a:r>
            <a:r>
              <a:rPr lang="bg-BG" dirty="0"/>
              <a:t>			</a:t>
            </a:r>
            <a:r>
              <a:rPr lang="en-US" dirty="0"/>
              <a:t>					DOM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302883"/>
              </p:ext>
            </p:extLst>
          </p:nvPr>
        </p:nvGraphicFramePr>
        <p:xfrm>
          <a:off x="609600" y="1066800"/>
          <a:ext cx="8077201" cy="507492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margin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Външен отстъп на елемент в четирите посоки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style.</a:t>
                      </a:r>
                      <a:r>
                        <a:rPr lang="en-US" sz="1800" b="1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margin</a:t>
                      </a:r>
                      <a:endParaRPr lang="bg-BG" sz="1800" b="1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margin-top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Външен отстъп отгоре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marginTop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margin-bottom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Външен отстъп отдолу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marginBottom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padding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Вътрешен отстъп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padding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display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Начин на показване на елемент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display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text-align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Подравняване на текст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textAlign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font-style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Стил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на шрифта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fontStyle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font-size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Размер на шрифта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fontSize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font-family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Име на шрифта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fontFamily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font-weight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Дебелина на шрифта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fontWeight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Цвят на текста –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име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, номер или </a:t>
                      </a:r>
                      <a:r>
                        <a:rPr lang="en-US" sz="1600" baseline="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rgb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(…)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background-</a:t>
                      </a:r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Цвят на фона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backgroundColor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7351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CSS</a:t>
            </a:r>
            <a:r>
              <a:rPr lang="bg-BG" dirty="0"/>
              <a:t>			</a:t>
            </a:r>
            <a:r>
              <a:rPr lang="en-US" dirty="0"/>
              <a:t>					DOM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286172"/>
              </p:ext>
            </p:extLst>
          </p:nvPr>
        </p:nvGraphicFramePr>
        <p:xfrm>
          <a:off x="609600" y="1066800"/>
          <a:ext cx="8077201" cy="396240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position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Позиция на елемент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спрямо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страницата или друг елемент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style.</a:t>
                      </a:r>
                      <a:r>
                        <a:rPr lang="en-US" sz="1800" b="1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position</a:t>
                      </a:r>
                      <a:endParaRPr lang="bg-BG" sz="1800" b="1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left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Позиция на левия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край на елемент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left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top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Позиция на горния 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край на елемент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top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line-height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Вертикален размер на ред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lineHeight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white-space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Начин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на третиране на празните разделители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whiteSpace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overflow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Начин на третиране на препълване на елемент със съдържание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overflow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border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Рамка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около елемент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border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border-left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Рамка отляво на елемент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borderLeft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border-right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Рамка отдясно на елемент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style.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borderRight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991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Стойности на стилове</a:t>
            </a:r>
            <a:endParaRPr lang="en-US" dirty="0"/>
          </a:p>
          <a:p>
            <a:endParaRPr lang="bg-BG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881006"/>
              </p:ext>
            </p:extLst>
          </p:nvPr>
        </p:nvGraphicFramePr>
        <p:xfrm>
          <a:off x="609600" y="1005840"/>
          <a:ext cx="8077200" cy="523748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auto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Стойност по подразбиране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евидим елемент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,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стойност на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display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block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Параграфен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стил, стойност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display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center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Центриране на текстови елементи, стойност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text-align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Изправен шрифт, стойност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font-style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Неудебелен шрифт, стойност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font-weight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italic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Наклонен шрифт, стойност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font-style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bold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Удебелен шрифт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,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стойност на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font-weight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r,g,b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Цвят зададен чрез компонентите си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solid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Непрекъсната рамка,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стойност на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border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absolute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озиция спрямо родителски елемент, стойност на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position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fixed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Позиция спрямо прозореца, стойност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position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nowrap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Редовете не се пренасят,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стойност на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white-space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hidden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Преливащото навън съдържание е невидимо, стойност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overflow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4051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/>
              <a:t>Въпроси и коментари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049308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49641</TotalTime>
  <Words>3877</Words>
  <Application>Microsoft Office PowerPoint</Application>
  <PresentationFormat>On-screen Show (4:3)</PresentationFormat>
  <Paragraphs>755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3" baseType="lpstr">
      <vt:lpstr>Arial</vt:lpstr>
      <vt:lpstr>Arial Black</vt:lpstr>
      <vt:lpstr>Calibri</vt:lpstr>
      <vt:lpstr>Cambria Math</vt:lpstr>
      <vt:lpstr>Century Gothic</vt:lpstr>
      <vt:lpstr>Consolas</vt:lpstr>
      <vt:lpstr>Symbol</vt:lpstr>
      <vt:lpstr>Times New Roman</vt:lpstr>
      <vt:lpstr>Wingdings 2</vt:lpstr>
      <vt:lpstr>Austin</vt:lpstr>
      <vt:lpstr>Интерфейс</vt:lpstr>
      <vt:lpstr>В тази лекция</vt:lpstr>
      <vt:lpstr>PowerPoint Presentation</vt:lpstr>
      <vt:lpstr>BOM</vt:lpstr>
      <vt:lpstr>PowerPoint Presentation</vt:lpstr>
      <vt:lpstr>DOM</vt:lpstr>
      <vt:lpstr>PowerPoint Presentation</vt:lpstr>
      <vt:lpstr>Работа с DOM</vt:lpstr>
      <vt:lpstr>PowerPoint Presentation</vt:lpstr>
      <vt:lpstr>PowerPoint Presentation</vt:lpstr>
      <vt:lpstr>Съдържание на елемент</vt:lpstr>
      <vt:lpstr>PowerPoint Presentation</vt:lpstr>
      <vt:lpstr>PowerPoint Presentation</vt:lpstr>
      <vt:lpstr>PowerPoint Presentation</vt:lpstr>
      <vt:lpstr>PowerPoint Presentation</vt:lpstr>
      <vt:lpstr>Съдържание на списък</vt:lpstr>
      <vt:lpstr>PowerPoint Presentation</vt:lpstr>
      <vt:lpstr>PowerPoint Presentation</vt:lpstr>
      <vt:lpstr>Събития</vt:lpstr>
      <vt:lpstr>Видове събития</vt:lpstr>
      <vt:lpstr>PowerPoint Presentation</vt:lpstr>
      <vt:lpstr>Свойства на събитията</vt:lpstr>
      <vt:lpstr>Често използвани събития</vt:lpstr>
      <vt:lpstr>Улавяне на събития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Пример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WebGL и HTML</vt:lpstr>
      <vt:lpstr>Центрирано поле</vt:lpstr>
      <vt:lpstr>PowerPoint Presentation</vt:lpstr>
      <vt:lpstr>PowerPoint Presentation</vt:lpstr>
      <vt:lpstr>PowerPoint Presentation</vt:lpstr>
      <vt:lpstr>PowerPoint Presentation</vt:lpstr>
      <vt:lpstr>Цяла страница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Наслагване</vt:lpstr>
      <vt:lpstr>PowerPoint Presentation</vt:lpstr>
      <vt:lpstr>PowerPoint Presentation</vt:lpstr>
      <vt:lpstr>PowerPoint Presentation</vt:lpstr>
      <vt:lpstr>PowerPoint Presentation</vt:lpstr>
      <vt:lpstr>Речник на новите неща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WebGL-21. Interface</dc:title>
  <dc:creator>Pavel Boytchev</dc:creator>
  <cp:lastModifiedBy>Pavel Boytchev</cp:lastModifiedBy>
  <cp:revision>1820</cp:revision>
  <dcterms:created xsi:type="dcterms:W3CDTF">2013-12-13T09:03:57Z</dcterms:created>
  <dcterms:modified xsi:type="dcterms:W3CDTF">2021-10-30T17:52:31Z</dcterms:modified>
</cp:coreProperties>
</file>