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8"/>
  </p:notesMasterIdLst>
  <p:sldIdLst>
    <p:sldId id="256" r:id="rId2"/>
    <p:sldId id="299" r:id="rId3"/>
    <p:sldId id="297" r:id="rId4"/>
    <p:sldId id="300" r:id="rId5"/>
    <p:sldId id="307" r:id="rId6"/>
    <p:sldId id="301" r:id="rId7"/>
    <p:sldId id="302" r:id="rId8"/>
    <p:sldId id="303" r:id="rId9"/>
    <p:sldId id="308" r:id="rId10"/>
    <p:sldId id="304" r:id="rId11"/>
    <p:sldId id="305" r:id="rId12"/>
    <p:sldId id="306" r:id="rId13"/>
    <p:sldId id="309" r:id="rId14"/>
    <p:sldId id="310" r:id="rId15"/>
    <p:sldId id="311" r:id="rId16"/>
    <p:sldId id="29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FFFC1"/>
    <a:srgbClr val="FFFFFF"/>
    <a:srgbClr val="000000"/>
    <a:srgbClr val="94C600"/>
    <a:srgbClr val="6F9500"/>
    <a:srgbClr val="E0F3AF"/>
    <a:srgbClr val="008000"/>
    <a:srgbClr val="6B9100"/>
    <a:srgbClr val="74A5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93" autoAdjust="0"/>
    <p:restoredTop sz="94590" autoAdjust="0"/>
  </p:normalViewPr>
  <p:slideViewPr>
    <p:cSldViewPr>
      <p:cViewPr varScale="1">
        <p:scale>
          <a:sx n="80" d="100"/>
          <a:sy n="80" d="100"/>
        </p:scale>
        <p:origin x="128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1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2.11.2021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57579" y="4478669"/>
            <a:ext cx="6164255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63500" algn="ctr" rotWithShape="0">
                    <a:schemeClr val="accent5">
                      <a:lumMod val="40000"/>
                      <a:lumOff val="60000"/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62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Solution%201%20-%20Black%20and%20red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Solution%202%20-%20Color%20palette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Solution%203%20-%20I%20see%20you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Solution%204%20-%20Drag%20and%20drop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Solution%205%20-%20Interactive%20objects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Solution%206%20-%20Worry-beads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Solution%207%20-%20Rul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Solution%208%20-%20Mini%20mikado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Solution%209%20-%20Infinite%20rooms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Интерактивност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Решения на </a:t>
            </a:r>
            <a:r>
              <a:rPr lang="en-US" dirty="0"/>
              <a:t>S1</a:t>
            </a:r>
            <a:r>
              <a:rPr lang="bg-BG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 на мишката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704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Цвят</a:t>
            </a:r>
            <a:endParaRPr lang="en-US" dirty="0"/>
          </a:p>
          <a:p>
            <a:pPr lvl="1"/>
            <a:r>
              <a:rPr lang="bg-BG" dirty="0"/>
              <a:t>В буфера с данни освен координати запомняме и цвят</a:t>
            </a:r>
          </a:p>
          <a:p>
            <a:pPr lvl="1"/>
            <a:r>
              <a:rPr lang="bg-BG" dirty="0"/>
              <a:t>При обработване на събитията отчитаме кой бутон е натиснат (с </a:t>
            </a:r>
            <a:r>
              <a:rPr lang="en-US" b="1" dirty="0"/>
              <a:t>which</a:t>
            </a:r>
            <a:r>
              <a:rPr lang="bg-BG" dirty="0"/>
              <a:t> или </a:t>
            </a:r>
            <a:r>
              <a:rPr lang="en-US" b="1" dirty="0"/>
              <a:t>button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Цвят</a:t>
            </a:r>
            <a:endParaRPr lang="en-US" dirty="0"/>
          </a:p>
          <a:p>
            <a:pPr lvl="1"/>
            <a:r>
              <a:rPr lang="bg-BG" dirty="0"/>
              <a:t>Изнесено е определянето на цвят от палитрата във функцията </a:t>
            </a:r>
            <a:r>
              <a:rPr lang="en-US" b="1" dirty="0" err="1"/>
              <a:t>getColor</a:t>
            </a:r>
            <a:endParaRPr lang="en-US" b="1" dirty="0"/>
          </a:p>
          <a:p>
            <a:pPr lvl="1"/>
            <a:r>
              <a:rPr lang="bg-BG" dirty="0"/>
              <a:t>При кликване се проверява </a:t>
            </a:r>
            <a:r>
              <a:rPr lang="en-US" dirty="0"/>
              <a:t>Y</a:t>
            </a:r>
            <a:r>
              <a:rPr lang="bg-BG" dirty="0"/>
              <a:t> координатата дали попада в палитрата:</a:t>
            </a:r>
          </a:p>
          <a:p>
            <a:pPr marL="914400" lvl="2"/>
            <a:r>
              <a:rPr lang="bg-BG" dirty="0"/>
              <a:t>Ако попада, се сменя текущия цвят</a:t>
            </a:r>
          </a:p>
          <a:p>
            <a:pPr marL="914400" lvl="2"/>
            <a:r>
              <a:rPr lang="bg-BG" dirty="0"/>
              <a:t>Ако не попада, това е рисуване на отсечка</a:t>
            </a:r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1090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Интерактивни обекти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477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Фокусиране</a:t>
            </a:r>
            <a:endParaRPr lang="en-US" dirty="0"/>
          </a:p>
          <a:p>
            <a:pPr lvl="1"/>
            <a:r>
              <a:rPr lang="bg-BG" dirty="0"/>
              <a:t>От координатите на мишката се определят вертикален и хоризонтален ъгъл на завъртане на всяко око</a:t>
            </a:r>
          </a:p>
          <a:p>
            <a:pPr lvl="1"/>
            <a:r>
              <a:rPr lang="bg-BG" dirty="0"/>
              <a:t>Към хоризонталния ъгъл добавяме константа за едното око, и вадим същата константа за другото</a:t>
            </a:r>
          </a:p>
          <a:p>
            <a:pPr lvl="1"/>
            <a:endParaRPr lang="bg-BG" dirty="0"/>
          </a:p>
          <a:p>
            <a:r>
              <a:rPr lang="bg-BG" dirty="0"/>
              <a:t>Отблясъци</a:t>
            </a:r>
          </a:p>
          <a:p>
            <a:pPr lvl="1"/>
            <a:r>
              <a:rPr lang="bg-BG" dirty="0"/>
              <a:t>В </a:t>
            </a:r>
            <a:r>
              <a:rPr lang="bg-BG" dirty="0" err="1"/>
              <a:t>шейдъра</a:t>
            </a:r>
            <a:r>
              <a:rPr lang="bg-BG" dirty="0"/>
              <a:t> за фрагменти при пресмятането на лъскавината смятаме трикратно за три посоки</a:t>
            </a:r>
          </a:p>
          <a:p>
            <a:pPr lvl="1"/>
            <a:r>
              <a:rPr lang="bg-BG" dirty="0"/>
              <a:t>Размерът на отблясъка се контролира с мащабиране на </a:t>
            </a:r>
            <a:r>
              <a:rPr lang="en-US" b="1" dirty="0" err="1"/>
              <a:t>uShininess</a:t>
            </a:r>
            <a:r>
              <a:rPr lang="en-US" dirty="0"/>
              <a:t> –</a:t>
            </a:r>
            <a:r>
              <a:rPr lang="bg-BG" dirty="0"/>
              <a:t> по-голямо число прави по-малък отблясък</a:t>
            </a:r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6430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Влачене</a:t>
            </a:r>
            <a:endParaRPr lang="en-US" dirty="0"/>
          </a:p>
          <a:p>
            <a:pPr lvl="1"/>
            <a:r>
              <a:rPr lang="bg-BG" dirty="0"/>
              <a:t>При натискане на бутон намираме кой е обекта под курсора (чрез рисуване с плоски цветове)</a:t>
            </a:r>
          </a:p>
          <a:p>
            <a:pPr lvl="1"/>
            <a:r>
              <a:rPr lang="bg-BG" dirty="0"/>
              <a:t>При пускане на бутон забравяме обекта</a:t>
            </a:r>
          </a:p>
          <a:p>
            <a:pPr lvl="1"/>
            <a:r>
              <a:rPr lang="bg-BG" dirty="0"/>
              <a:t>При движение на мишката, ако имаме избран обект, правим преместване толкова, колкото се е преместила мишката</a:t>
            </a:r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sp>
        <p:nvSpPr>
          <p:cNvPr id="7" name="Oval 6"/>
          <p:cNvSpPr/>
          <p:nvPr/>
        </p:nvSpPr>
        <p:spPr>
          <a:xfrm rot="21114352">
            <a:off x="2431702" y="4654611"/>
            <a:ext cx="1066800" cy="1066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00660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Oval 9"/>
          <p:cNvSpPr/>
          <p:nvPr/>
        </p:nvSpPr>
        <p:spPr>
          <a:xfrm rot="21012860">
            <a:off x="5632102" y="4121211"/>
            <a:ext cx="1066800" cy="1066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00660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3231280" y="4264646"/>
            <a:ext cx="3184845" cy="530953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410109" y="4224392"/>
            <a:ext cx="76200" cy="76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Down Arrow 10"/>
          <p:cNvSpPr/>
          <p:nvPr/>
        </p:nvSpPr>
        <p:spPr>
          <a:xfrm rot="9125015">
            <a:off x="6410515" y="4235844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Oval 12"/>
          <p:cNvSpPr/>
          <p:nvPr/>
        </p:nvSpPr>
        <p:spPr>
          <a:xfrm>
            <a:off x="3209414" y="4757234"/>
            <a:ext cx="76200" cy="76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Down Arrow 7"/>
          <p:cNvSpPr/>
          <p:nvPr/>
        </p:nvSpPr>
        <p:spPr>
          <a:xfrm rot="9125015">
            <a:off x="3210115" y="4769244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Oval 13"/>
          <p:cNvSpPr/>
          <p:nvPr/>
        </p:nvSpPr>
        <p:spPr>
          <a:xfrm>
            <a:off x="2927002" y="5149911"/>
            <a:ext cx="76200" cy="76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Oval 14"/>
          <p:cNvSpPr/>
          <p:nvPr/>
        </p:nvSpPr>
        <p:spPr>
          <a:xfrm>
            <a:off x="6127402" y="4616511"/>
            <a:ext cx="76200" cy="76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2945049" y="4665080"/>
            <a:ext cx="3184845" cy="530953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5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</a:t>
            </a:r>
            <a:r>
              <a:rPr lang="en-US" dirty="0"/>
              <a:t>5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Минимум рисуване</a:t>
            </a:r>
            <a:endParaRPr lang="en-US" dirty="0"/>
          </a:p>
          <a:p>
            <a:pPr lvl="1"/>
            <a:r>
              <a:rPr lang="bg-BG" dirty="0"/>
              <a:t>Заявка за </a:t>
            </a:r>
            <a:r>
              <a:rPr lang="bg-BG" dirty="0" err="1"/>
              <a:t>прерисуване</a:t>
            </a:r>
            <a:r>
              <a:rPr lang="bg-BG" dirty="0"/>
              <a:t> на кадър правим само след зареждане на текстура, при натискане на бутон и при движение на мишка с натиснат бутон</a:t>
            </a:r>
          </a:p>
          <a:p>
            <a:pPr lvl="1"/>
            <a:endParaRPr lang="bg-BG" dirty="0"/>
          </a:p>
          <a:p>
            <a:r>
              <a:rPr lang="bg-BG" dirty="0"/>
              <a:t>Интерактивност</a:t>
            </a:r>
          </a:p>
          <a:p>
            <a:pPr lvl="1"/>
            <a:r>
              <a:rPr lang="bg-BG" dirty="0"/>
              <a:t>Проверка за обект – само при натискане на бутон</a:t>
            </a:r>
          </a:p>
          <a:p>
            <a:pPr lvl="1"/>
            <a:r>
              <a:rPr lang="bg-BG" dirty="0"/>
              <a:t>При движение на мишката с натиснат бутон:</a:t>
            </a:r>
          </a:p>
          <a:p>
            <a:pPr marL="908050" lvl="2"/>
            <a:r>
              <a:rPr lang="bg-BG" dirty="0"/>
              <a:t>Ако имаме избран обект, то въртим обекта</a:t>
            </a:r>
          </a:p>
          <a:p>
            <a:pPr marL="908050" lvl="2"/>
            <a:r>
              <a:rPr lang="bg-BG" dirty="0"/>
              <a:t>Иначе въртим сцената, т.е. гледната точка</a:t>
            </a:r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338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Интерактивна физика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13547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Ъгли</a:t>
            </a:r>
          </a:p>
          <a:p>
            <a:pPr lvl="1"/>
            <a:r>
              <a:rPr lang="bg-BG" dirty="0"/>
              <a:t>Всеки кехлибар помни ъгълът, на кой е по окръжността</a:t>
            </a:r>
          </a:p>
          <a:p>
            <a:pPr lvl="1"/>
            <a:r>
              <a:rPr lang="bg-BG" dirty="0"/>
              <a:t>При влачене до координати (</a:t>
            </a:r>
            <a:r>
              <a:rPr lang="en-US" dirty="0" err="1"/>
              <a:t>x,y</a:t>
            </a:r>
            <a:r>
              <a:rPr lang="en-US" dirty="0"/>
              <a:t>)</a:t>
            </a:r>
            <a:r>
              <a:rPr lang="bg-BG" dirty="0"/>
              <a:t> се смята новия ъгъл на избрания кехлибар</a:t>
            </a:r>
          </a:p>
          <a:p>
            <a:pPr lvl="1"/>
            <a:r>
              <a:rPr lang="bg-BG" dirty="0"/>
              <a:t>От ъгъла се намират декартовите координати</a:t>
            </a:r>
          </a:p>
          <a:p>
            <a:pPr lvl="1"/>
            <a:r>
              <a:rPr lang="bg-BG" dirty="0"/>
              <a:t>Обхождат се останалите кехлибари и се проверява ъгловата разлика да не е под дадена граница</a:t>
            </a:r>
          </a:p>
        </p:txBody>
      </p:sp>
      <p:sp>
        <p:nvSpPr>
          <p:cNvPr id="9" name="Rectangle 8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066800" y="3500583"/>
            <a:ext cx="2912595" cy="3509817"/>
            <a:chOff x="1278405" y="3500583"/>
            <a:chExt cx="2912595" cy="3509817"/>
          </a:xfrm>
        </p:grpSpPr>
        <p:sp>
          <p:nvSpPr>
            <p:cNvPr id="18" name="Pie 17"/>
            <p:cNvSpPr/>
            <p:nvPr/>
          </p:nvSpPr>
          <p:spPr>
            <a:xfrm>
              <a:off x="1278405" y="4694488"/>
              <a:ext cx="1077932" cy="1118258"/>
            </a:xfrm>
            <a:prstGeom prst="pie">
              <a:avLst>
                <a:gd name="adj1" fmla="val 20565513"/>
                <a:gd name="adj2" fmla="val 21586749"/>
              </a:avLst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tx1"/>
                </a:solidFill>
              </a:endParaRPr>
            </a:p>
          </p:txBody>
        </p:sp>
        <p:sp>
          <p:nvSpPr>
            <p:cNvPr id="4" name="Arc 3"/>
            <p:cNvSpPr/>
            <p:nvPr/>
          </p:nvSpPr>
          <p:spPr>
            <a:xfrm>
              <a:off x="1371600" y="3500583"/>
              <a:ext cx="2577138" cy="3509817"/>
            </a:xfrm>
            <a:prstGeom prst="arc">
              <a:avLst>
                <a:gd name="adj1" fmla="val 18650029"/>
                <a:gd name="adj2" fmla="val 301627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5" name="Oval 4"/>
            <p:cNvSpPr/>
            <p:nvPr/>
          </p:nvSpPr>
          <p:spPr>
            <a:xfrm>
              <a:off x="1714587" y="5140123"/>
              <a:ext cx="230735" cy="23073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483066" y="5255490"/>
              <a:ext cx="270793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24200" y="4722265"/>
              <a:ext cx="230735" cy="23073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47657" y="441960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bg-BG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(</a:t>
              </a:r>
              <a:r>
                <a:rPr lang="en-US" dirty="0" err="1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x,y</a:t>
              </a:r>
              <a:r>
                <a:rPr lang="en-US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</a:rPr>
                <a:t>)</a:t>
              </a:r>
              <a:endPara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Down Arrow 11"/>
            <p:cNvSpPr/>
            <p:nvPr/>
          </p:nvSpPr>
          <p:spPr>
            <a:xfrm rot="9125015">
              <a:off x="3213902" y="4823830"/>
              <a:ext cx="239645" cy="353726"/>
            </a:xfrm>
            <a:prstGeom prst="downArrow">
              <a:avLst>
                <a:gd name="adj1" fmla="val 50000"/>
                <a:gd name="adj2" fmla="val 9816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l">
                <a:rot lat="0" lon="0" rev="20400000"/>
              </a:lightRig>
            </a:scene3d>
            <a:sp3d contourW="6350" prstMaterial="metal">
              <a:bevelT w="57150" h="6350"/>
              <a:contourClr>
                <a:schemeClr val="tx1"/>
              </a:contourClr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1767158" y="4616245"/>
              <a:ext cx="2111668" cy="6487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 rot="20659015">
              <a:off x="3688326" y="4197145"/>
              <a:ext cx="381000" cy="8382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49284" y="495300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Arial"/>
                  <a:cs typeface="Arial"/>
                </a:rPr>
                <a:t>α</a:t>
              </a:r>
              <a:endPara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82862" y="3500583"/>
            <a:ext cx="2837138" cy="3509817"/>
            <a:chOff x="1278405" y="3500583"/>
            <a:chExt cx="2837138" cy="3509817"/>
          </a:xfrm>
        </p:grpSpPr>
        <p:sp>
          <p:nvSpPr>
            <p:cNvPr id="22" name="Pie 21"/>
            <p:cNvSpPr/>
            <p:nvPr/>
          </p:nvSpPr>
          <p:spPr>
            <a:xfrm>
              <a:off x="1278405" y="4694488"/>
              <a:ext cx="1077932" cy="1118258"/>
            </a:xfrm>
            <a:prstGeom prst="pie">
              <a:avLst>
                <a:gd name="adj1" fmla="val 20565513"/>
                <a:gd name="adj2" fmla="val 659236"/>
              </a:avLst>
            </a:prstGeom>
            <a:solidFill>
              <a:schemeClr val="accent1">
                <a:alpha val="30196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tx1"/>
                </a:solidFill>
              </a:endParaRPr>
            </a:p>
          </p:txBody>
        </p:sp>
        <p:sp>
          <p:nvSpPr>
            <p:cNvPr id="23" name="Arc 22"/>
            <p:cNvSpPr/>
            <p:nvPr/>
          </p:nvSpPr>
          <p:spPr>
            <a:xfrm>
              <a:off x="1371600" y="3500583"/>
              <a:ext cx="2577138" cy="3509817"/>
            </a:xfrm>
            <a:prstGeom prst="arc">
              <a:avLst>
                <a:gd name="adj1" fmla="val 18650029"/>
                <a:gd name="adj2" fmla="val 301627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4" name="Oval 23"/>
            <p:cNvSpPr/>
            <p:nvPr/>
          </p:nvSpPr>
          <p:spPr>
            <a:xfrm>
              <a:off x="1714587" y="5140123"/>
              <a:ext cx="230735" cy="23073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V="1">
              <a:off x="1767158" y="4616245"/>
              <a:ext cx="2111668" cy="6487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 rot="20659015">
              <a:off x="3688326" y="4197145"/>
              <a:ext cx="381000" cy="8382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64032" y="5041488"/>
              <a:ext cx="489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Century Gothic"/>
                  <a:cs typeface="Arial"/>
                </a:rPr>
                <a:t>Δ</a:t>
              </a:r>
              <a:r>
                <a:rPr lang="el-GR" dirty="0">
                  <a:effectLst>
                    <a:outerShdw blurRad="63500" algn="ctr" rotWithShape="0">
                      <a:schemeClr val="tx1">
                        <a:alpha val="40000"/>
                      </a:schemeClr>
                    </a:outerShdw>
                  </a:effectLst>
                  <a:latin typeface="Arial"/>
                  <a:cs typeface="Arial"/>
                </a:rPr>
                <a:t>α</a:t>
              </a:r>
              <a:endPara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1818090" y="5250730"/>
              <a:ext cx="2106953" cy="42070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 rot="650744">
              <a:off x="3734543" y="5252332"/>
              <a:ext cx="381000" cy="83820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</p:spTree>
    <p:extLst>
      <p:ext uri="{BB962C8B-B14F-4D97-AF65-F5344CB8AC3E}">
        <p14:creationId xmlns:p14="http://schemas.microsoft.com/office/powerpoint/2010/main" val="371999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Модел на линийката</a:t>
            </a:r>
          </a:p>
          <a:p>
            <a:pPr lvl="1"/>
            <a:r>
              <a:rPr lang="bg-BG" dirty="0"/>
              <a:t>Три обекта – линийка и два невидими края</a:t>
            </a:r>
            <a:endParaRPr lang="en-US" dirty="0"/>
          </a:p>
          <a:p>
            <a:pPr lvl="1"/>
            <a:r>
              <a:rPr lang="bg-BG" dirty="0"/>
              <a:t>При натискане на бутон разбираме дали сме на линийката</a:t>
            </a:r>
          </a:p>
          <a:p>
            <a:pPr lvl="1"/>
            <a:r>
              <a:rPr lang="bg-BG" dirty="0"/>
              <a:t>След това проверяваме колко далеч сме от единия и от другия край и даваме стойност на </a:t>
            </a:r>
            <a:r>
              <a:rPr lang="en-US" b="1" dirty="0"/>
              <a:t>select</a:t>
            </a:r>
            <a:endParaRPr lang="bg-BG" b="1" dirty="0"/>
          </a:p>
        </p:txBody>
      </p:sp>
      <p:sp>
        <p:nvSpPr>
          <p:cNvPr id="25" name="Rectangle 24"/>
          <p:cNvSpPr/>
          <p:nvPr/>
        </p:nvSpPr>
        <p:spPr>
          <a:xfrm rot="8100000">
            <a:off x="2884113" y="4865312"/>
            <a:ext cx="2743200" cy="457200"/>
          </a:xfrm>
          <a:prstGeom prst="rect">
            <a:avLst/>
          </a:prstGeom>
          <a:solidFill>
            <a:srgbClr val="CCFF99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>
            <a:off x="5144700" y="4034500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Oval 26"/>
          <p:cNvSpPr/>
          <p:nvPr/>
        </p:nvSpPr>
        <p:spPr>
          <a:xfrm>
            <a:off x="3200764" y="5979164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TextBox 30"/>
          <p:cNvSpPr txBox="1"/>
          <p:nvPr/>
        </p:nvSpPr>
        <p:spPr>
          <a:xfrm>
            <a:off x="5420563" y="3927902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select=1</a:t>
            </a:r>
            <a:endParaRPr lang="bg-BG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14038" y="5877414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select=2</a:t>
            </a:r>
            <a:endParaRPr lang="bg-BG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63961" y="490924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select=3</a:t>
            </a:r>
            <a:endParaRPr lang="bg-BG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rc 15"/>
          <p:cNvSpPr/>
          <p:nvPr/>
        </p:nvSpPr>
        <p:spPr>
          <a:xfrm rot="2700000">
            <a:off x="2518655" y="5342541"/>
            <a:ext cx="1511405" cy="1511405"/>
          </a:xfrm>
          <a:prstGeom prst="arc">
            <a:avLst>
              <a:gd name="adj1" fmla="val 12347163"/>
              <a:gd name="adj2" fmla="val 20190085"/>
            </a:avLst>
          </a:prstGeom>
          <a:gradFill flip="none" rotWithShape="1">
            <a:gsLst>
              <a:gs pos="0">
                <a:srgbClr val="FF0000">
                  <a:alpha val="30000"/>
                </a:srgbClr>
              </a:gs>
              <a:gs pos="63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lt1"/>
              </a:solidFill>
            </a:endParaRPr>
          </a:p>
        </p:txBody>
      </p:sp>
      <p:sp>
        <p:nvSpPr>
          <p:cNvPr id="36" name="Arc 35"/>
          <p:cNvSpPr/>
          <p:nvPr/>
        </p:nvSpPr>
        <p:spPr>
          <a:xfrm rot="13500000">
            <a:off x="4471596" y="3356855"/>
            <a:ext cx="1511405" cy="1511405"/>
          </a:xfrm>
          <a:prstGeom prst="arc">
            <a:avLst>
              <a:gd name="adj1" fmla="val 12347163"/>
              <a:gd name="adj2" fmla="val 20190085"/>
            </a:avLst>
          </a:prstGeom>
          <a:gradFill flip="none" rotWithShape="1">
            <a:gsLst>
              <a:gs pos="0">
                <a:srgbClr val="FF0000">
                  <a:alpha val="30000"/>
                </a:srgbClr>
              </a:gs>
              <a:gs pos="63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lt1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94777" y="5006447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955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Движение на линийката</a:t>
            </a:r>
          </a:p>
          <a:p>
            <a:pPr lvl="1"/>
            <a:r>
              <a:rPr lang="bg-BG" dirty="0"/>
              <a:t>Ако </a:t>
            </a:r>
            <a:r>
              <a:rPr lang="en-US" b="1" dirty="0"/>
              <a:t>select</a:t>
            </a:r>
            <a:r>
              <a:rPr lang="en-US" dirty="0"/>
              <a:t> e 1 </a:t>
            </a:r>
            <a:r>
              <a:rPr lang="bg-BG" dirty="0"/>
              <a:t>или </a:t>
            </a:r>
            <a:r>
              <a:rPr lang="en-US" dirty="0"/>
              <a:t>3</a:t>
            </a:r>
            <a:r>
              <a:rPr lang="bg-BG" dirty="0"/>
              <a:t> – местим край 1</a:t>
            </a:r>
          </a:p>
          <a:p>
            <a:pPr lvl="1"/>
            <a:r>
              <a:rPr lang="bg-BG" dirty="0"/>
              <a:t>Ако </a:t>
            </a:r>
            <a:r>
              <a:rPr lang="en-US" b="1" dirty="0"/>
              <a:t>select</a:t>
            </a:r>
            <a:r>
              <a:rPr lang="en-US" dirty="0"/>
              <a:t> e </a:t>
            </a:r>
            <a:r>
              <a:rPr lang="bg-BG" dirty="0"/>
              <a:t>2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dirty="0"/>
              <a:t>3</a:t>
            </a:r>
            <a:r>
              <a:rPr lang="bg-BG" dirty="0"/>
              <a:t> – местим край 2</a:t>
            </a:r>
          </a:p>
          <a:p>
            <a:pPr lvl="1"/>
            <a:endParaRPr lang="bg-BG" dirty="0"/>
          </a:p>
          <a:p>
            <a:r>
              <a:rPr lang="bg-BG" dirty="0"/>
              <a:t>И после</a:t>
            </a:r>
          </a:p>
          <a:p>
            <a:pPr lvl="1"/>
            <a:r>
              <a:rPr lang="bg-BG" dirty="0"/>
              <a:t>Ако </a:t>
            </a:r>
            <a:r>
              <a:rPr lang="en-US" b="1" dirty="0"/>
              <a:t>select</a:t>
            </a:r>
            <a:r>
              <a:rPr lang="en-US" dirty="0"/>
              <a:t> e 1 </a:t>
            </a:r>
            <a:r>
              <a:rPr lang="bg-BG" dirty="0"/>
              <a:t>или 2 – местим другия край по оста на линийката да е на фиксирано разстояние</a:t>
            </a:r>
          </a:p>
          <a:p>
            <a:pPr lvl="1"/>
            <a:r>
              <a:rPr lang="bg-BG" dirty="0"/>
              <a:t>Ако </a:t>
            </a:r>
            <a:r>
              <a:rPr lang="en-US" b="1" dirty="0"/>
              <a:t>select</a:t>
            </a:r>
            <a:r>
              <a:rPr lang="en-US" dirty="0"/>
              <a:t> e </a:t>
            </a:r>
            <a:r>
              <a:rPr lang="bg-BG" dirty="0"/>
              <a:t>3</a:t>
            </a:r>
            <a:r>
              <a:rPr lang="en-US" dirty="0"/>
              <a:t> </a:t>
            </a:r>
            <a:r>
              <a:rPr lang="bg-BG" dirty="0"/>
              <a:t>– нищо допълнително не правим</a:t>
            </a:r>
          </a:p>
          <a:p>
            <a:pPr lvl="1"/>
            <a:endParaRPr lang="bg-BG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127514" y="4038600"/>
            <a:ext cx="2314575" cy="642938"/>
          </a:xfrm>
          <a:prstGeom prst="line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8100000">
            <a:off x="1777639" y="4789112"/>
            <a:ext cx="2743200" cy="457200"/>
          </a:xfrm>
          <a:prstGeom prst="rect">
            <a:avLst/>
          </a:prstGeom>
          <a:solidFill>
            <a:srgbClr val="CCFF99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>
            <a:off x="4038226" y="3958300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TextBox 30"/>
          <p:cNvSpPr txBox="1"/>
          <p:nvPr/>
        </p:nvSpPr>
        <p:spPr>
          <a:xfrm>
            <a:off x="2657451" y="3851702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select=1</a:t>
            </a:r>
            <a:endParaRPr lang="bg-BG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5788580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select=2</a:t>
            </a:r>
            <a:endParaRPr lang="bg-BG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36726" y="4800600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select=3</a:t>
            </a:r>
            <a:endParaRPr lang="bg-BG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Oval 36"/>
          <p:cNvSpPr/>
          <p:nvPr/>
        </p:nvSpPr>
        <p:spPr>
          <a:xfrm>
            <a:off x="3088303" y="4930247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198576" y="4267200"/>
            <a:ext cx="6815138" cy="19859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 rot="9125015">
            <a:off x="3839187" y="4182392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Rectangle 25"/>
          <p:cNvSpPr/>
          <p:nvPr/>
        </p:nvSpPr>
        <p:spPr>
          <a:xfrm rot="20612079">
            <a:off x="3837980" y="4875186"/>
            <a:ext cx="2743200" cy="4572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Down Arrow 18"/>
          <p:cNvSpPr/>
          <p:nvPr/>
        </p:nvSpPr>
        <p:spPr>
          <a:xfrm rot="9125015">
            <a:off x="6238287" y="4868556"/>
            <a:ext cx="239645" cy="353726"/>
          </a:xfrm>
          <a:prstGeom prst="downArrow">
            <a:avLst>
              <a:gd name="adj1" fmla="val 50000"/>
              <a:gd name="adj2" fmla="val 98160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6350" prstMaterial="metal">
            <a:bevelT w="57150" h="6350"/>
            <a:contourClr>
              <a:schemeClr val="tx1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Oval 17"/>
          <p:cNvSpPr/>
          <p:nvPr/>
        </p:nvSpPr>
        <p:spPr>
          <a:xfrm>
            <a:off x="6437326" y="4644464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Oval 27"/>
          <p:cNvSpPr/>
          <p:nvPr/>
        </p:nvSpPr>
        <p:spPr>
          <a:xfrm>
            <a:off x="3809454" y="5406464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2127263" y="5495925"/>
            <a:ext cx="1671638" cy="47745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094290" y="5902964"/>
            <a:ext cx="156136" cy="15613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TextBox 29"/>
          <p:cNvSpPr txBox="1"/>
          <p:nvPr/>
        </p:nvSpPr>
        <p:spPr>
          <a:xfrm rot="20640000">
            <a:off x="6693123" y="4143337"/>
            <a:ext cx="1321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нова ос на</a:t>
            </a:r>
            <a:b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</a:br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линийката</a:t>
            </a:r>
          </a:p>
        </p:txBody>
      </p:sp>
      <p:sp>
        <p:nvSpPr>
          <p:cNvPr id="32" name="TextBox 31"/>
          <p:cNvSpPr txBox="1"/>
          <p:nvPr/>
        </p:nvSpPr>
        <p:spPr>
          <a:xfrm rot="929233">
            <a:off x="4421877" y="3977705"/>
            <a:ext cx="1335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плъзгане</a:t>
            </a:r>
          </a:p>
          <a:p>
            <a:pPr algn="ctr"/>
            <a:r>
              <a:rPr lang="bg-BG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с мишката</a:t>
            </a:r>
          </a:p>
        </p:txBody>
      </p:sp>
      <p:sp>
        <p:nvSpPr>
          <p:cNvPr id="33" name="TextBox 32"/>
          <p:cNvSpPr txBox="1"/>
          <p:nvPr/>
        </p:nvSpPr>
        <p:spPr>
          <a:xfrm rot="20625780">
            <a:off x="2444977" y="5643601"/>
            <a:ext cx="15712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плъзгане за</a:t>
            </a:r>
          </a:p>
          <a:p>
            <a:pPr algn="ctr"/>
            <a:r>
              <a:rPr lang="bg-BG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запазване на</a:t>
            </a:r>
          </a:p>
          <a:p>
            <a:pPr algn="ctr"/>
            <a:r>
              <a:rPr lang="bg-BG" sz="16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дължината</a:t>
            </a:r>
          </a:p>
        </p:txBody>
      </p:sp>
      <p:sp>
        <p:nvSpPr>
          <p:cNvPr id="38" name="Rectangle 37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2112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Мини игри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4999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Управление на времето</a:t>
            </a:r>
          </a:p>
          <a:p>
            <a:pPr lvl="1"/>
            <a:r>
              <a:rPr lang="bg-BG" dirty="0"/>
              <a:t>Променлива </a:t>
            </a:r>
            <a:r>
              <a:rPr lang="en-US" b="1" dirty="0" err="1"/>
              <a:t>startTime</a:t>
            </a:r>
            <a:r>
              <a:rPr lang="en-US" dirty="0"/>
              <a:t> </a:t>
            </a:r>
            <a:r>
              <a:rPr lang="bg-BG" dirty="0"/>
              <a:t>съдържа времето на започване на играта, докато тя се играе</a:t>
            </a:r>
            <a:r>
              <a:rPr lang="en-US" dirty="0"/>
              <a:t>, </a:t>
            </a:r>
            <a:r>
              <a:rPr lang="bg-BG" dirty="0"/>
              <a:t>иначе е без стойност</a:t>
            </a:r>
            <a:endParaRPr lang="en-US" dirty="0"/>
          </a:p>
          <a:p>
            <a:pPr lvl="1"/>
            <a:r>
              <a:rPr lang="bg-BG" dirty="0"/>
              <a:t>Показваната информация е:</a:t>
            </a:r>
          </a:p>
          <a:p>
            <a:pPr lvl="1"/>
            <a:r>
              <a:rPr lang="bg-BG" dirty="0"/>
              <a:t>Ако </a:t>
            </a:r>
            <a:r>
              <a:rPr lang="en-US" b="1" dirty="0" err="1"/>
              <a:t>startTime</a:t>
            </a:r>
            <a:r>
              <a:rPr lang="bg-BG" dirty="0"/>
              <a:t> има стойност, значи се играе и се показва </a:t>
            </a:r>
            <a:r>
              <a:rPr lang="bg-BG"/>
              <a:t>броят останали </a:t>
            </a:r>
            <a:r>
              <a:rPr lang="bg-BG" dirty="0"/>
              <a:t>клечки и изминалото спрямо </a:t>
            </a:r>
            <a:r>
              <a:rPr lang="en-US" b="1" dirty="0" err="1"/>
              <a:t>startTime</a:t>
            </a:r>
            <a:r>
              <a:rPr lang="bg-BG" dirty="0"/>
              <a:t> време</a:t>
            </a:r>
          </a:p>
          <a:p>
            <a:pPr lvl="1"/>
            <a:r>
              <a:rPr lang="bg-BG" dirty="0"/>
              <a:t>Ако </a:t>
            </a:r>
            <a:r>
              <a:rPr lang="en-US" b="1" dirty="0" err="1"/>
              <a:t>startTime</a:t>
            </a:r>
            <a:r>
              <a:rPr lang="bg-BG" dirty="0"/>
              <a:t> няма стойност, но нито една клечка не е маркирана, то играта още не е започнала</a:t>
            </a:r>
          </a:p>
          <a:p>
            <a:pPr lvl="1"/>
            <a:r>
              <a:rPr lang="bg-BG" dirty="0"/>
              <a:t>Ако </a:t>
            </a:r>
            <a:r>
              <a:rPr lang="en-US" b="1" dirty="0" err="1"/>
              <a:t>startTime</a:t>
            </a:r>
            <a:r>
              <a:rPr lang="bg-BG" dirty="0"/>
              <a:t> няма стойност и всички клечки са маркирани, то играта е завършила</a:t>
            </a:r>
          </a:p>
          <a:p>
            <a:pPr lvl="1"/>
            <a:endParaRPr lang="bg-BG" dirty="0"/>
          </a:p>
        </p:txBody>
      </p:sp>
      <p:sp>
        <p:nvSpPr>
          <p:cNvPr id="13" name="Rectangle 12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09400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981200" y="3810000"/>
            <a:ext cx="5181600" cy="1828800"/>
          </a:xfrm>
          <a:prstGeom prst="rect">
            <a:avLst/>
          </a:prstGeom>
          <a:solidFill>
            <a:srgbClr val="EFFFC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Безкрайност на стаите</a:t>
            </a:r>
          </a:p>
          <a:p>
            <a:pPr lvl="1"/>
            <a:r>
              <a:rPr lang="bg-BG" dirty="0"/>
              <a:t>Измама – има само една стая + стена от друга</a:t>
            </a:r>
          </a:p>
          <a:p>
            <a:pPr lvl="1"/>
            <a:r>
              <a:rPr lang="bg-BG" dirty="0"/>
              <a:t>Стаите са симетрични в 4-те посоки</a:t>
            </a:r>
          </a:p>
          <a:p>
            <a:pPr lvl="1"/>
            <a:r>
              <a:rPr lang="bg-BG" dirty="0"/>
              <a:t>Движението от стая в стая завършва с рязко връщане в първата стая</a:t>
            </a:r>
          </a:p>
        </p:txBody>
      </p:sp>
      <p:sp>
        <p:nvSpPr>
          <p:cNvPr id="13" name="Rectangle 12">
            <a:hlinkClick r:id="rId2" action="ppaction://hlinkfile"/>
          </p:cNvPr>
          <p:cNvSpPr/>
          <p:nvPr/>
        </p:nvSpPr>
        <p:spPr>
          <a:xfrm>
            <a:off x="3962400" y="62484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Решение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3810000" y="3948113"/>
            <a:ext cx="1524000" cy="1538287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Rectangle 7"/>
          <p:cNvSpPr/>
          <p:nvPr/>
        </p:nvSpPr>
        <p:spPr>
          <a:xfrm>
            <a:off x="5486400" y="3948113"/>
            <a:ext cx="1524000" cy="1538287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Rectangle 13"/>
          <p:cNvSpPr/>
          <p:nvPr/>
        </p:nvSpPr>
        <p:spPr>
          <a:xfrm>
            <a:off x="3657600" y="4527219"/>
            <a:ext cx="152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Rectangle 14"/>
          <p:cNvSpPr/>
          <p:nvPr/>
        </p:nvSpPr>
        <p:spPr>
          <a:xfrm>
            <a:off x="5334000" y="4495800"/>
            <a:ext cx="152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Rectangle 15"/>
          <p:cNvSpPr/>
          <p:nvPr/>
        </p:nvSpPr>
        <p:spPr>
          <a:xfrm>
            <a:off x="7010400" y="4527219"/>
            <a:ext cx="152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Rectangle 16"/>
          <p:cNvSpPr/>
          <p:nvPr/>
        </p:nvSpPr>
        <p:spPr>
          <a:xfrm rot="16200000">
            <a:off x="6179343" y="3650457"/>
            <a:ext cx="138113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Rectangle 17"/>
          <p:cNvSpPr/>
          <p:nvPr/>
        </p:nvSpPr>
        <p:spPr>
          <a:xfrm rot="16200000">
            <a:off x="6172202" y="5333999"/>
            <a:ext cx="152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Rectangle 18"/>
          <p:cNvSpPr/>
          <p:nvPr/>
        </p:nvSpPr>
        <p:spPr>
          <a:xfrm rot="16200000">
            <a:off x="4502944" y="3650457"/>
            <a:ext cx="138113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Rectangle 19"/>
          <p:cNvSpPr/>
          <p:nvPr/>
        </p:nvSpPr>
        <p:spPr>
          <a:xfrm rot="16200000">
            <a:off x="4495803" y="5333999"/>
            <a:ext cx="152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Rectangle 20"/>
          <p:cNvSpPr/>
          <p:nvPr/>
        </p:nvSpPr>
        <p:spPr>
          <a:xfrm>
            <a:off x="2133600" y="3948113"/>
            <a:ext cx="1524000" cy="1538287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Rectangle 21"/>
          <p:cNvSpPr/>
          <p:nvPr/>
        </p:nvSpPr>
        <p:spPr>
          <a:xfrm>
            <a:off x="1981200" y="4527219"/>
            <a:ext cx="152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Rectangle 22"/>
          <p:cNvSpPr/>
          <p:nvPr/>
        </p:nvSpPr>
        <p:spPr>
          <a:xfrm rot="16200000">
            <a:off x="2826544" y="3650457"/>
            <a:ext cx="138113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Rectangle 23"/>
          <p:cNvSpPr/>
          <p:nvPr/>
        </p:nvSpPr>
        <p:spPr>
          <a:xfrm rot="16200000">
            <a:off x="2819403" y="5333999"/>
            <a:ext cx="152400" cy="457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4114800" y="4724400"/>
            <a:ext cx="457200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248399" y="4717256"/>
            <a:ext cx="457200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685904" y="4717256"/>
            <a:ext cx="1562495" cy="74"/>
          </a:xfrm>
          <a:prstGeom prst="straightConnector1">
            <a:avLst/>
          </a:prstGeom>
          <a:ln w="6350">
            <a:solidFill>
              <a:schemeClr val="accent1"/>
            </a:solidFill>
            <a:prstDash val="sysDash"/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257802" y="3987225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Еквивалентна гледна точка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05000" y="4444425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Ненужна</a:t>
            </a:r>
          </a:p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стая</a:t>
            </a:r>
          </a:p>
        </p:txBody>
      </p:sp>
      <p:sp>
        <p:nvSpPr>
          <p:cNvPr id="43" name="Arc 42"/>
          <p:cNvSpPr/>
          <p:nvPr/>
        </p:nvSpPr>
        <p:spPr>
          <a:xfrm>
            <a:off x="4313923" y="4476032"/>
            <a:ext cx="516157" cy="509149"/>
          </a:xfrm>
          <a:prstGeom prst="arc">
            <a:avLst>
              <a:gd name="adj1" fmla="val 16848489"/>
              <a:gd name="adj2" fmla="val 4746398"/>
            </a:avLst>
          </a:prstGeom>
          <a:ln w="6350">
            <a:solidFill>
              <a:schemeClr val="accent1"/>
            </a:solidFill>
            <a:prstDash val="sysDash"/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Arc 43"/>
          <p:cNvSpPr/>
          <p:nvPr/>
        </p:nvSpPr>
        <p:spPr>
          <a:xfrm>
            <a:off x="4316494" y="4475270"/>
            <a:ext cx="516157" cy="509149"/>
          </a:xfrm>
          <a:prstGeom prst="arc">
            <a:avLst>
              <a:gd name="adj1" fmla="val 5366166"/>
              <a:gd name="adj2" fmla="val 10196074"/>
            </a:avLst>
          </a:prstGeom>
          <a:ln w="6350">
            <a:solidFill>
              <a:schemeClr val="accent1"/>
            </a:solidFill>
            <a:prstDash val="sysDash"/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Arc 44"/>
          <p:cNvSpPr/>
          <p:nvPr/>
        </p:nvSpPr>
        <p:spPr>
          <a:xfrm flipV="1">
            <a:off x="4313919" y="4470879"/>
            <a:ext cx="516157" cy="509149"/>
          </a:xfrm>
          <a:prstGeom prst="arc">
            <a:avLst>
              <a:gd name="adj1" fmla="val 5401162"/>
              <a:gd name="adj2" fmla="val 10120041"/>
            </a:avLst>
          </a:prstGeom>
          <a:ln w="6350">
            <a:solidFill>
              <a:schemeClr val="accent1"/>
            </a:solidFill>
            <a:prstDash val="sysDash"/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4572003" y="4267200"/>
            <a:ext cx="3" cy="4572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4572006" y="4724400"/>
            <a:ext cx="1" cy="4572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572003" y="4724400"/>
            <a:ext cx="457200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40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accent1">
            <a:alpha val="30196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17173</TotalTime>
  <Words>568</Words>
  <Application>Microsoft Office PowerPoint</Application>
  <PresentationFormat>On-screen Show (4:3)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Интерактивност</vt:lpstr>
      <vt:lpstr>PowerPoint Presentation</vt:lpstr>
      <vt:lpstr>Решение №1</vt:lpstr>
      <vt:lpstr>Решение №2</vt:lpstr>
      <vt:lpstr>PowerPoint Presentation</vt:lpstr>
      <vt:lpstr>Решение №3</vt:lpstr>
      <vt:lpstr>Решение №4</vt:lpstr>
      <vt:lpstr>Решение №5</vt:lpstr>
      <vt:lpstr>PowerPoint Presentation</vt:lpstr>
      <vt:lpstr>Решение №6</vt:lpstr>
      <vt:lpstr>Решение №7</vt:lpstr>
      <vt:lpstr>PowerPoint Presentation</vt:lpstr>
      <vt:lpstr>PowerPoint Presentation</vt:lpstr>
      <vt:lpstr>Решение №8</vt:lpstr>
      <vt:lpstr>Решение №9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WebGL-Solutions-11</dc:title>
  <dc:creator>Pavel Boytchev</dc:creator>
  <cp:lastModifiedBy>Pavel Boytchev</cp:lastModifiedBy>
  <cp:revision>601</cp:revision>
  <dcterms:created xsi:type="dcterms:W3CDTF">2013-12-13T09:03:57Z</dcterms:created>
  <dcterms:modified xsi:type="dcterms:W3CDTF">2021-11-02T13:55:32Z</dcterms:modified>
</cp:coreProperties>
</file>