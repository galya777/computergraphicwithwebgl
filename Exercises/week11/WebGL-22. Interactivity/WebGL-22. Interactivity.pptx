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8"/>
  </p:notesMasterIdLst>
  <p:sldIdLst>
    <p:sldId id="256" r:id="rId2"/>
    <p:sldId id="297" r:id="rId3"/>
    <p:sldId id="1236" r:id="rId4"/>
    <p:sldId id="1230" r:id="rId5"/>
    <p:sldId id="1231" r:id="rId6"/>
    <p:sldId id="1232" r:id="rId7"/>
    <p:sldId id="1233" r:id="rId8"/>
    <p:sldId id="1234" r:id="rId9"/>
    <p:sldId id="1237" r:id="rId10"/>
    <p:sldId id="1238" r:id="rId11"/>
    <p:sldId id="1240" r:id="rId12"/>
    <p:sldId id="1242" r:id="rId13"/>
    <p:sldId id="1243" r:id="rId14"/>
    <p:sldId id="1244" r:id="rId15"/>
    <p:sldId id="1245" r:id="rId16"/>
    <p:sldId id="1246" r:id="rId17"/>
    <p:sldId id="1247" r:id="rId18"/>
    <p:sldId id="1248" r:id="rId19"/>
    <p:sldId id="1249" r:id="rId20"/>
    <p:sldId id="1250" r:id="rId21"/>
    <p:sldId id="1251" r:id="rId22"/>
    <p:sldId id="1252" r:id="rId23"/>
    <p:sldId id="1253" r:id="rId24"/>
    <p:sldId id="1241" r:id="rId25"/>
    <p:sldId id="1254" r:id="rId26"/>
    <p:sldId id="1255" r:id="rId27"/>
    <p:sldId id="1256" r:id="rId28"/>
    <p:sldId id="1258" r:id="rId29"/>
    <p:sldId id="1259" r:id="rId30"/>
    <p:sldId id="1260" r:id="rId31"/>
    <p:sldId id="1261" r:id="rId32"/>
    <p:sldId id="1262" r:id="rId33"/>
    <p:sldId id="1263" r:id="rId34"/>
    <p:sldId id="1291" r:id="rId35"/>
    <p:sldId id="1257" r:id="rId36"/>
    <p:sldId id="1265" r:id="rId37"/>
    <p:sldId id="1267" r:id="rId38"/>
    <p:sldId id="1266" r:id="rId39"/>
    <p:sldId id="1264" r:id="rId40"/>
    <p:sldId id="1268" r:id="rId41"/>
    <p:sldId id="1269" r:id="rId42"/>
    <p:sldId id="1270" r:id="rId43"/>
    <p:sldId id="1271" r:id="rId44"/>
    <p:sldId id="1272" r:id="rId45"/>
    <p:sldId id="1273" r:id="rId46"/>
    <p:sldId id="1274" r:id="rId47"/>
    <p:sldId id="1275" r:id="rId48"/>
    <p:sldId id="1276" r:id="rId49"/>
    <p:sldId id="1278" r:id="rId50"/>
    <p:sldId id="1277" r:id="rId51"/>
    <p:sldId id="1279" r:id="rId52"/>
    <p:sldId id="1280" r:id="rId53"/>
    <p:sldId id="1281" r:id="rId54"/>
    <p:sldId id="1282" r:id="rId55"/>
    <p:sldId id="1284" r:id="rId56"/>
    <p:sldId id="1286" r:id="rId57"/>
    <p:sldId id="1283" r:id="rId58"/>
    <p:sldId id="1287" r:id="rId59"/>
    <p:sldId id="1288" r:id="rId60"/>
    <p:sldId id="1289" r:id="rId61"/>
    <p:sldId id="1290" r:id="rId62"/>
    <p:sldId id="1076" r:id="rId63"/>
    <p:sldId id="1235" r:id="rId64"/>
    <p:sldId id="1285" r:id="rId65"/>
    <p:sldId id="289" r:id="rId66"/>
    <p:sldId id="290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CC"/>
    <a:srgbClr val="FF0000"/>
    <a:srgbClr val="94C600"/>
    <a:srgbClr val="AAEA25"/>
    <a:srgbClr val="6F9500"/>
    <a:srgbClr val="000000"/>
    <a:srgbClr val="00CCFF"/>
    <a:srgbClr val="0099FF"/>
    <a:srgbClr val="C7D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99825" autoAdjust="0"/>
  </p:normalViewPr>
  <p:slideViewPr>
    <p:cSldViewPr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41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Mouse%20coordinates" TargetMode="External"/><Relationship Id="rId2" Type="http://schemas.openxmlformats.org/officeDocument/2006/relationships/hyperlink" Target="Example%201%20-%20Mouse%20coordinates/Example%2022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Mouse%20dots" TargetMode="External"/><Relationship Id="rId2" Type="http://schemas.openxmlformats.org/officeDocument/2006/relationships/hyperlink" Target="Example%202%20-%20Mouse%20dots/Example%2022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Mouse%20lines" TargetMode="External"/><Relationship Id="rId2" Type="http://schemas.openxmlformats.org/officeDocument/2006/relationships/hyperlink" Target="Example%203%20-%20Mouse%20lines/Example%2022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Geometric%20drawing" TargetMode="External"/><Relationship Id="rId2" Type="http://schemas.openxmlformats.org/officeDocument/2006/relationships/hyperlink" Target="Example%204%20-%20Geometric%20drawing/Example%2022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Panning%20in%202D" TargetMode="External"/><Relationship Id="rId2" Type="http://schemas.openxmlformats.org/officeDocument/2006/relationships/hyperlink" Target="http://localhost/Example%205%20-%20Panning%20in%202D/Example%2022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Zooming%20in%202D" TargetMode="External"/><Relationship Id="rId2" Type="http://schemas.openxmlformats.org/officeDocument/2006/relationships/hyperlink" Target="http://localhost/Example%206%20-%20Zooming%20in%202D/Example%2022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Spinning%20in%202D" TargetMode="External"/><Relationship Id="rId2" Type="http://schemas.openxmlformats.org/officeDocument/2006/relationships/hyperlink" Target="http://localhost/Example%207%20-%20Spinning%20in%202D/Example%2022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Interactivity%20in%203D" TargetMode="External"/><Relationship Id="rId2" Type="http://schemas.openxmlformats.org/officeDocument/2006/relationships/hyperlink" Target="http://localhost/Example%208%20-%20Interactivity%20in%203D/Example%2022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Intertia" TargetMode="External"/><Relationship Id="rId2" Type="http://schemas.openxmlformats.org/officeDocument/2006/relationships/hyperlink" Target="http://localhost/Example%209%20-%20Intertia/Example%2022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Hard%20link" TargetMode="External"/><Relationship Id="rId2" Type="http://schemas.openxmlformats.org/officeDocument/2006/relationships/hyperlink" Target="Example%2010%20-%20Hard%20link/Example%202210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Example%2011%20-%20Soft%20link" TargetMode="External"/><Relationship Id="rId2" Type="http://schemas.openxmlformats.org/officeDocument/2006/relationships/hyperlink" Target="Example%2011%20-%20Soft%20link/Example%20221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Example%2012%20-%20Reading%20pixels" TargetMode="External"/><Relationship Id="rId2" Type="http://schemas.openxmlformats.org/officeDocument/2006/relationships/hyperlink" Target="Example%2012%20-%20Reading%20pixels/Example%202212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Example%2013%20-%20Selecting%20objects" TargetMode="External"/><Relationship Id="rId2" Type="http://schemas.openxmlformats.org/officeDocument/2006/relationships/hyperlink" Target="Example%2013%20-%20Selecting%20objects/Example%20221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  <a:p>
            <a:pPr lvl="1"/>
            <a:r>
              <a:rPr lang="bg-BG" dirty="0"/>
              <a:t>Събития на мишката</a:t>
            </a:r>
          </a:p>
          <a:p>
            <a:pPr lvl="1"/>
            <a:r>
              <a:rPr lang="bg-BG" dirty="0"/>
              <a:t>Рисуване с мишка</a:t>
            </a:r>
          </a:p>
          <a:p>
            <a:pPr lvl="1"/>
            <a:r>
              <a:rPr lang="bg-BG" dirty="0"/>
              <a:t>Чертане с мишка</a:t>
            </a:r>
          </a:p>
          <a:p>
            <a:pPr lvl="1"/>
            <a:r>
              <a:rPr lang="bg-BG" dirty="0"/>
              <a:t>Интерактивна гледна точка</a:t>
            </a:r>
            <a:endParaRPr lang="en-US" dirty="0"/>
          </a:p>
          <a:p>
            <a:pPr lvl="1"/>
            <a:r>
              <a:rPr lang="bg-BG" dirty="0"/>
              <a:t>Следене</a:t>
            </a:r>
            <a:r>
              <a:rPr lang="en-US" dirty="0"/>
              <a:t> </a:t>
            </a:r>
            <a:r>
              <a:rPr lang="bg-BG" dirty="0"/>
              <a:t>и избиране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Събития на мишката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503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Събития на мишката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мишката</a:t>
            </a:r>
          </a:p>
          <a:p>
            <a:pPr lvl="1"/>
            <a:r>
              <a:rPr lang="bg-BG" b="1" dirty="0" err="1"/>
              <a:t>mousemove</a:t>
            </a:r>
            <a:r>
              <a:rPr lang="bg-BG" dirty="0"/>
              <a:t> – движение</a:t>
            </a:r>
          </a:p>
          <a:p>
            <a:pPr lvl="1"/>
            <a:r>
              <a:rPr lang="en-US" b="1" dirty="0" err="1"/>
              <a:t>mouseenter</a:t>
            </a:r>
            <a:r>
              <a:rPr lang="en-US" dirty="0"/>
              <a:t> – </a:t>
            </a:r>
            <a:r>
              <a:rPr lang="bg-BG" dirty="0"/>
              <a:t>навлизане в елемент</a:t>
            </a:r>
          </a:p>
          <a:p>
            <a:pPr lvl="1"/>
            <a:r>
              <a:rPr lang="en-US" b="1" dirty="0" err="1"/>
              <a:t>mouseleave</a:t>
            </a:r>
            <a:r>
              <a:rPr lang="en-US" dirty="0"/>
              <a:t> </a:t>
            </a:r>
            <a:r>
              <a:rPr lang="bg-BG" dirty="0"/>
              <a:t>– излизане от елемент</a:t>
            </a:r>
          </a:p>
          <a:p>
            <a:pPr lvl="1"/>
            <a:r>
              <a:rPr lang="en-US" b="1" dirty="0" err="1"/>
              <a:t>mouseover</a:t>
            </a:r>
            <a:r>
              <a:rPr lang="en-US" dirty="0"/>
              <a:t> </a:t>
            </a:r>
            <a:r>
              <a:rPr lang="bg-BG" dirty="0"/>
              <a:t>– движение над елемент или подчинените му</a:t>
            </a:r>
          </a:p>
          <a:p>
            <a:pPr lvl="1"/>
            <a:r>
              <a:rPr lang="en-US" b="1" dirty="0" err="1"/>
              <a:t>mouseout</a:t>
            </a:r>
            <a:r>
              <a:rPr lang="en-US" dirty="0"/>
              <a:t> – </a:t>
            </a:r>
            <a:r>
              <a:rPr lang="bg-BG" dirty="0"/>
              <a:t>движение навън от елемент или подчинените му</a:t>
            </a:r>
          </a:p>
          <a:p>
            <a:pPr lvl="1"/>
            <a:endParaRPr lang="bg-BG" dirty="0"/>
          </a:p>
          <a:p>
            <a:r>
              <a:rPr lang="bg-BG" dirty="0"/>
              <a:t>Работа с бутоните</a:t>
            </a:r>
          </a:p>
          <a:p>
            <a:pPr lvl="1"/>
            <a:r>
              <a:rPr lang="bg-BG" b="1" dirty="0" err="1"/>
              <a:t>mousedown</a:t>
            </a:r>
            <a:r>
              <a:rPr lang="bg-BG" dirty="0"/>
              <a:t> – натискане на бутон</a:t>
            </a:r>
          </a:p>
          <a:p>
            <a:pPr lvl="1"/>
            <a:r>
              <a:rPr lang="bg-BG" b="1" dirty="0" err="1"/>
              <a:t>mouseup</a:t>
            </a:r>
            <a:r>
              <a:rPr lang="bg-BG" dirty="0"/>
              <a:t> – пускане на бутон</a:t>
            </a:r>
          </a:p>
          <a:p>
            <a:pPr lvl="1"/>
            <a:r>
              <a:rPr lang="en-US" b="1" dirty="0"/>
              <a:t>click</a:t>
            </a:r>
            <a:r>
              <a:rPr lang="en-US" dirty="0"/>
              <a:t> – </a:t>
            </a:r>
            <a:r>
              <a:rPr lang="bg-BG" dirty="0"/>
              <a:t>кликване</a:t>
            </a:r>
          </a:p>
          <a:p>
            <a:pPr lvl="1"/>
            <a:r>
              <a:rPr lang="en-US" b="1" dirty="0" err="1"/>
              <a:t>dblclick</a:t>
            </a:r>
            <a:r>
              <a:rPr lang="en-US" dirty="0"/>
              <a:t> – </a:t>
            </a:r>
            <a:r>
              <a:rPr lang="bg-BG" dirty="0"/>
              <a:t>двойно кликване</a:t>
            </a:r>
          </a:p>
          <a:p>
            <a:pPr lvl="1"/>
            <a:r>
              <a:rPr lang="en-US" b="1" dirty="0" err="1"/>
              <a:t>contextmenu</a:t>
            </a:r>
            <a:r>
              <a:rPr lang="bg-BG" dirty="0"/>
              <a:t> – кликване с десен бутон за меню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7507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Свойства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Обект на събитието</a:t>
            </a:r>
          </a:p>
          <a:p>
            <a:pPr lvl="1"/>
            <a:r>
              <a:rPr lang="bg-BG" dirty="0"/>
              <a:t>Всяко събитие се описва с </a:t>
            </a:r>
            <a:r>
              <a:rPr lang="en-US" dirty="0" err="1"/>
              <a:t>JS</a:t>
            </a:r>
            <a:r>
              <a:rPr lang="bg-BG" dirty="0"/>
              <a:t> обект</a:t>
            </a:r>
          </a:p>
          <a:p>
            <a:pPr lvl="1"/>
            <a:r>
              <a:rPr lang="bg-BG" dirty="0"/>
              <a:t>Свойствата му дават информация за събитието</a:t>
            </a:r>
          </a:p>
          <a:p>
            <a:pPr lvl="1"/>
            <a:endParaRPr lang="bg-BG" dirty="0"/>
          </a:p>
          <a:p>
            <a:r>
              <a:rPr lang="bg-BG" dirty="0"/>
              <a:t>Свойства на събитие на мишката</a:t>
            </a:r>
          </a:p>
          <a:p>
            <a:pPr lvl="1"/>
            <a:r>
              <a:rPr lang="en-US" b="1" dirty="0"/>
              <a:t>target </a:t>
            </a:r>
            <a:r>
              <a:rPr lang="en-US" dirty="0"/>
              <a:t>–</a:t>
            </a:r>
            <a:r>
              <a:rPr lang="bg-BG" dirty="0"/>
              <a:t> </a:t>
            </a:r>
            <a:r>
              <a:rPr lang="en-US" dirty="0"/>
              <a:t>HTML</a:t>
            </a:r>
            <a:r>
              <a:rPr lang="bg-BG" dirty="0"/>
              <a:t> елемент, където е възникнало събитието</a:t>
            </a:r>
          </a:p>
          <a:p>
            <a:pPr lvl="1"/>
            <a:r>
              <a:rPr lang="en-US" b="1" dirty="0" err="1"/>
              <a:t>timeStamp</a:t>
            </a:r>
            <a:r>
              <a:rPr lang="en-US" dirty="0"/>
              <a:t> – </a:t>
            </a:r>
            <a:r>
              <a:rPr lang="bg-BG" dirty="0"/>
              <a:t>момент на случване на събитието</a:t>
            </a:r>
          </a:p>
          <a:p>
            <a:pPr lvl="1"/>
            <a:r>
              <a:rPr lang="en-US" b="1" dirty="0" err="1"/>
              <a:t>clientX</a:t>
            </a:r>
            <a:r>
              <a:rPr lang="en-US" dirty="0"/>
              <a:t>, </a:t>
            </a:r>
            <a:r>
              <a:rPr lang="en-US" b="1" dirty="0" err="1"/>
              <a:t>clientY</a:t>
            </a:r>
            <a:r>
              <a:rPr lang="en-US" b="1" dirty="0"/>
              <a:t> </a:t>
            </a:r>
            <a:r>
              <a:rPr lang="en-US" dirty="0"/>
              <a:t>–</a:t>
            </a:r>
            <a:r>
              <a:rPr lang="bg-BG" dirty="0"/>
              <a:t> координати спрямо прозореца</a:t>
            </a:r>
          </a:p>
          <a:p>
            <a:pPr lvl="1"/>
            <a:r>
              <a:rPr lang="en-US" b="1" dirty="0" err="1"/>
              <a:t>screenX</a:t>
            </a:r>
            <a:r>
              <a:rPr lang="en-US" dirty="0"/>
              <a:t>, </a:t>
            </a:r>
            <a:r>
              <a:rPr lang="en-US" b="1" dirty="0" err="1"/>
              <a:t>screenY</a:t>
            </a:r>
            <a:r>
              <a:rPr lang="en-US" dirty="0"/>
              <a:t> –</a:t>
            </a:r>
            <a:r>
              <a:rPr lang="bg-BG" dirty="0"/>
              <a:t> координати спрямо екрана</a:t>
            </a:r>
          </a:p>
          <a:p>
            <a:pPr lvl="1"/>
            <a:r>
              <a:rPr lang="en-US" b="1" dirty="0"/>
              <a:t>button</a:t>
            </a:r>
            <a:r>
              <a:rPr lang="bg-BG" b="1" dirty="0"/>
              <a:t> </a:t>
            </a:r>
            <a:r>
              <a:rPr lang="bg-BG" dirty="0"/>
              <a:t>– кой бутон е натиснат</a:t>
            </a:r>
          </a:p>
          <a:p>
            <a:pPr lvl="1"/>
            <a:r>
              <a:rPr lang="en-US" b="1" dirty="0"/>
              <a:t>which</a:t>
            </a:r>
            <a:r>
              <a:rPr lang="bg-BG" b="1" dirty="0"/>
              <a:t> </a:t>
            </a:r>
            <a:r>
              <a:rPr lang="bg-BG" dirty="0"/>
              <a:t>– кой бутон е натиснат</a:t>
            </a:r>
            <a:r>
              <a:rPr lang="en-US" dirty="0"/>
              <a:t> (</a:t>
            </a:r>
            <a:r>
              <a:rPr lang="en-US" b="1" dirty="0"/>
              <a:t>which</a:t>
            </a:r>
            <a:r>
              <a:rPr lang="en-US" dirty="0"/>
              <a:t>=</a:t>
            </a:r>
            <a:r>
              <a:rPr lang="en-US" b="1" dirty="0"/>
              <a:t>button</a:t>
            </a:r>
            <a:r>
              <a:rPr lang="en-US" dirty="0"/>
              <a:t>+1)</a:t>
            </a:r>
            <a:endParaRPr lang="bg-BG" dirty="0"/>
          </a:p>
          <a:p>
            <a:pPr lvl="1"/>
            <a:r>
              <a:rPr lang="en-US" b="1" dirty="0" err="1"/>
              <a:t>altKey</a:t>
            </a:r>
            <a:r>
              <a:rPr lang="en-US" dirty="0"/>
              <a:t>, </a:t>
            </a:r>
            <a:r>
              <a:rPr lang="en-US" b="1" dirty="0" err="1"/>
              <a:t>ctrlKey</a:t>
            </a:r>
            <a:r>
              <a:rPr lang="en-US" dirty="0"/>
              <a:t>, </a:t>
            </a:r>
            <a:r>
              <a:rPr lang="en-US" b="1" dirty="0" err="1"/>
              <a:t>shiftKey</a:t>
            </a:r>
            <a:r>
              <a:rPr lang="en-US" b="1" dirty="0"/>
              <a:t> </a:t>
            </a:r>
            <a:r>
              <a:rPr lang="bg-BG" dirty="0"/>
              <a:t>– дали са натиснати </a:t>
            </a:r>
            <a:r>
              <a:rPr lang="en-US" b="1" dirty="0"/>
              <a:t>Alt</a:t>
            </a:r>
            <a:r>
              <a:rPr lang="en-US" dirty="0"/>
              <a:t>, </a:t>
            </a:r>
            <a:r>
              <a:rPr lang="en-US" b="1" dirty="0"/>
              <a:t>Ctrl</a:t>
            </a:r>
            <a:r>
              <a:rPr lang="bg-BG" dirty="0"/>
              <a:t>, </a:t>
            </a:r>
            <a:r>
              <a:rPr lang="en-US" b="1" dirty="0"/>
              <a:t>Shift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152299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Координати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Локални координати</a:t>
            </a:r>
          </a:p>
          <a:p>
            <a:pPr lvl="1"/>
            <a:r>
              <a:rPr lang="bg-BG" dirty="0"/>
              <a:t>Имаме графичен елемент </a:t>
            </a:r>
            <a:r>
              <a:rPr lang="en-US" b="1" dirty="0"/>
              <a:t>canvas</a:t>
            </a:r>
          </a:p>
          <a:p>
            <a:pPr lvl="1"/>
            <a:r>
              <a:rPr lang="bg-BG" dirty="0"/>
              <a:t>Искаме </a:t>
            </a:r>
            <a:r>
              <a:rPr lang="en-US" dirty="0"/>
              <a:t>(</a:t>
            </a:r>
            <a:r>
              <a:rPr lang="en-US" b="1" dirty="0" err="1"/>
              <a:t>x,y</a:t>
            </a:r>
            <a:r>
              <a:rPr lang="en-US" dirty="0"/>
              <a:t>) </a:t>
            </a:r>
            <a:r>
              <a:rPr lang="bg-BG" dirty="0"/>
              <a:t>на мишката спрямо горния ляв ъгъл на </a:t>
            </a:r>
            <a:r>
              <a:rPr lang="en-US" b="1" dirty="0"/>
              <a:t>canvas</a:t>
            </a:r>
            <a:endParaRPr lang="bg-BG" b="1" dirty="0"/>
          </a:p>
          <a:p>
            <a:pPr marL="1588" lvl="1" indent="0" algn="ctr">
              <a:buNone/>
            </a:pPr>
            <a:r>
              <a:rPr lang="en-US" dirty="0"/>
              <a:t>x = </a:t>
            </a:r>
            <a:r>
              <a:rPr lang="en-US" dirty="0" err="1"/>
              <a:t>clientX</a:t>
            </a:r>
            <a:r>
              <a:rPr lang="en-US" dirty="0"/>
              <a:t> – </a:t>
            </a:r>
            <a:r>
              <a:rPr lang="en-US" dirty="0" err="1"/>
              <a:t>offsetLeft</a:t>
            </a:r>
            <a:endParaRPr lang="en-US" dirty="0"/>
          </a:p>
          <a:p>
            <a:pPr marL="1588" lvl="1" indent="0" algn="ctr">
              <a:buNone/>
            </a:pPr>
            <a:r>
              <a:rPr lang="en-US" dirty="0"/>
              <a:t>y = </a:t>
            </a:r>
            <a:r>
              <a:rPr lang="en-US" dirty="0" err="1"/>
              <a:t>clientY</a:t>
            </a:r>
            <a:r>
              <a:rPr lang="en-US" dirty="0"/>
              <a:t> – </a:t>
            </a:r>
            <a:r>
              <a:rPr lang="en-US" dirty="0" err="1"/>
              <a:t>offsetTop</a:t>
            </a:r>
            <a:endParaRPr lang="en-US" dirty="0"/>
          </a:p>
          <a:p>
            <a:pPr lvl="1"/>
            <a:endParaRPr lang="bg-BG" dirty="0"/>
          </a:p>
        </p:txBody>
      </p:sp>
      <p:sp>
        <p:nvSpPr>
          <p:cNvPr id="6" name="Chevron 5"/>
          <p:cNvSpPr/>
          <p:nvPr/>
        </p:nvSpPr>
        <p:spPr>
          <a:xfrm>
            <a:off x="2286050" y="3581400"/>
            <a:ext cx="4571950" cy="2895600"/>
          </a:xfrm>
          <a:prstGeom prst="chevron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Екран</a:t>
            </a:r>
          </a:p>
        </p:txBody>
      </p:sp>
      <p:sp>
        <p:nvSpPr>
          <p:cNvPr id="7" name="Chevron 6"/>
          <p:cNvSpPr/>
          <p:nvPr/>
        </p:nvSpPr>
        <p:spPr>
          <a:xfrm>
            <a:off x="3276650" y="4046277"/>
            <a:ext cx="3283530" cy="2226745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/>
          <a:lstStyle/>
          <a:p>
            <a:pPr marL="120650" algn="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Прозорец</a:t>
            </a:r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</a:t>
            </a:r>
            <a:endParaRPr lang="bg-BG" sz="16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419650" y="4504332"/>
            <a:ext cx="1162314" cy="131149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/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canvas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279468" y="5198200"/>
            <a:ext cx="2130782" cy="1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/>
          <p:cNvSpPr txBox="1"/>
          <p:nvPr/>
        </p:nvSpPr>
        <p:spPr>
          <a:xfrm>
            <a:off x="2971850" y="5192367"/>
            <a:ext cx="1870196" cy="2882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 err="1"/>
              <a:t>clientX</a:t>
            </a:r>
            <a:endParaRPr lang="bg-BG" dirty="0"/>
          </a:p>
        </p:txBody>
      </p:sp>
      <p:sp>
        <p:nvSpPr>
          <p:cNvPr id="22" name="TextBox 21"/>
          <p:cNvSpPr txBox="1"/>
          <p:nvPr/>
        </p:nvSpPr>
        <p:spPr>
          <a:xfrm>
            <a:off x="3372164" y="4066644"/>
            <a:ext cx="1199886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 err="1"/>
              <a:t>offsetTop</a:t>
            </a:r>
            <a:endParaRPr lang="bg-BG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286050" y="5165225"/>
            <a:ext cx="3124200" cy="0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279468" y="4596622"/>
            <a:ext cx="1140182" cy="0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495850" y="4046279"/>
            <a:ext cx="3057" cy="458053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5410249" y="4046277"/>
            <a:ext cx="1" cy="1159946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5438679" y="3581400"/>
            <a:ext cx="7460" cy="1624824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extBox 41"/>
          <p:cNvSpPr txBox="1"/>
          <p:nvPr/>
        </p:nvSpPr>
        <p:spPr>
          <a:xfrm>
            <a:off x="1905050" y="5123660"/>
            <a:ext cx="1752600" cy="3319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 err="1"/>
              <a:t>screenX</a:t>
            </a:r>
            <a:endParaRPr lang="bg-BG" dirty="0"/>
          </a:p>
        </p:txBody>
      </p:sp>
      <p:sp>
        <p:nvSpPr>
          <p:cNvPr id="44" name="TextBox 43"/>
          <p:cNvSpPr txBox="1"/>
          <p:nvPr/>
        </p:nvSpPr>
        <p:spPr>
          <a:xfrm>
            <a:off x="3276650" y="4596622"/>
            <a:ext cx="1142999" cy="30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 err="1"/>
              <a:t>offsetLeft</a:t>
            </a:r>
            <a:endParaRPr lang="bg-BG" dirty="0"/>
          </a:p>
        </p:txBody>
      </p:sp>
      <p:sp>
        <p:nvSpPr>
          <p:cNvPr id="50" name="TextBox 49"/>
          <p:cNvSpPr txBox="1"/>
          <p:nvPr/>
        </p:nvSpPr>
        <p:spPr>
          <a:xfrm>
            <a:off x="4248398" y="4058404"/>
            <a:ext cx="1199886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 err="1"/>
              <a:t>clientY</a:t>
            </a:r>
            <a:endParaRPr lang="bg-BG" dirty="0"/>
          </a:p>
        </p:txBody>
      </p:sp>
      <p:sp>
        <p:nvSpPr>
          <p:cNvPr id="52" name="TextBox 51"/>
          <p:cNvSpPr txBox="1"/>
          <p:nvPr/>
        </p:nvSpPr>
        <p:spPr>
          <a:xfrm>
            <a:off x="5000972" y="4119306"/>
            <a:ext cx="1752600" cy="3319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 err="1"/>
              <a:t>screenY</a:t>
            </a:r>
            <a:endParaRPr lang="bg-BG" dirty="0"/>
          </a:p>
        </p:txBody>
      </p:sp>
      <p:sp>
        <p:nvSpPr>
          <p:cNvPr id="56" name="Chevron 55"/>
          <p:cNvSpPr/>
          <p:nvPr/>
        </p:nvSpPr>
        <p:spPr>
          <a:xfrm>
            <a:off x="3276650" y="3833056"/>
            <a:ext cx="3283530" cy="200619"/>
          </a:xfrm>
          <a:prstGeom prst="chevron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tabLst>
                <a:tab pos="3144838" algn="l"/>
              </a:tabLst>
            </a:pPr>
            <a:r>
              <a:rPr lang="bg-BG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Браузър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	x</a:t>
            </a:r>
            <a:endParaRPr lang="bg-BG" sz="1200" b="1" dirty="0">
              <a:solidFill>
                <a:schemeClr val="bg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5370089" y="4504332"/>
            <a:ext cx="1" cy="689289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4419601" y="5125455"/>
            <a:ext cx="990599" cy="1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Oval 48"/>
          <p:cNvSpPr/>
          <p:nvPr/>
        </p:nvSpPr>
        <p:spPr>
          <a:xfrm>
            <a:off x="5334251" y="5092924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Down Arrow 26"/>
          <p:cNvSpPr/>
          <p:nvPr/>
        </p:nvSpPr>
        <p:spPr>
          <a:xfrm rot="9125015">
            <a:off x="5422733" y="5183571"/>
            <a:ext cx="186967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3" name="TextBox 62"/>
          <p:cNvSpPr txBox="1"/>
          <p:nvPr/>
        </p:nvSpPr>
        <p:spPr>
          <a:xfrm>
            <a:off x="5105400" y="4677828"/>
            <a:ext cx="333279" cy="2751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y</a:t>
            </a:r>
            <a:endParaRPr lang="bg-BG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81701" y="4846032"/>
            <a:ext cx="333279" cy="2751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x</a:t>
            </a:r>
            <a:endParaRPr lang="bg-BG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599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Искаме още</a:t>
            </a:r>
          </a:p>
          <a:p>
            <a:pPr lvl="1"/>
            <a:r>
              <a:rPr lang="bg-BG" dirty="0"/>
              <a:t>Да покажем координатите в </a:t>
            </a:r>
            <a:r>
              <a:rPr lang="en-US" b="1" dirty="0"/>
              <a:t>info</a:t>
            </a:r>
            <a:r>
              <a:rPr lang="en-US" dirty="0"/>
              <a:t>, </a:t>
            </a:r>
            <a:r>
              <a:rPr lang="bg-BG" dirty="0"/>
              <a:t>който е над </a:t>
            </a:r>
            <a:r>
              <a:rPr lang="en-US" b="1" dirty="0"/>
              <a:t>canvas</a:t>
            </a:r>
            <a:r>
              <a:rPr lang="en-US" dirty="0"/>
              <a:t>:</a:t>
            </a:r>
            <a:r>
              <a:rPr lang="bg-BG" dirty="0"/>
              <a:t> трябва да има </a:t>
            </a:r>
            <a:r>
              <a:rPr lang="en-US" b="1" dirty="0" err="1"/>
              <a:t>mousemove</a:t>
            </a:r>
            <a:r>
              <a:rPr lang="bg-BG" dirty="0"/>
              <a:t> както на </a:t>
            </a:r>
            <a:r>
              <a:rPr lang="en-US" b="1" dirty="0"/>
              <a:t>canvas</a:t>
            </a:r>
            <a:r>
              <a:rPr lang="en-US" dirty="0"/>
              <a:t>,</a:t>
            </a:r>
            <a:r>
              <a:rPr lang="bg-BG" dirty="0"/>
              <a:t> така и на </a:t>
            </a:r>
            <a:r>
              <a:rPr lang="en-US" b="1" dirty="0"/>
              <a:t>info</a:t>
            </a:r>
          </a:p>
          <a:p>
            <a:pPr lvl="1"/>
            <a:r>
              <a:rPr lang="bg-BG" dirty="0"/>
              <a:t>Не показваме нищо, ако излезем извън графичното поле: за тази цел ползваме </a:t>
            </a:r>
            <a:r>
              <a:rPr lang="en-US" b="1" dirty="0" err="1"/>
              <a:t>mouseout</a:t>
            </a:r>
            <a:endParaRPr lang="bg-BG" b="1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667000"/>
            <a:ext cx="8534400" cy="3886200"/>
          </a:xfrm>
          <a:prstGeom prst="snip2DiagRect">
            <a:avLst>
              <a:gd name="adj1" fmla="val 0"/>
              <a:gd name="adj2" fmla="val 729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mouseout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mouseOut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event.clientX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-gl.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canvas.offsetLeft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event.clientY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-gl.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canvas.offsetTop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info.innerHTML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'('+x+','+y+')';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mouseOut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info.innerHTML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55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36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Рисуване с мишка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2100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Рисуване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Програма за рисуване</a:t>
            </a:r>
          </a:p>
          <a:p>
            <a:pPr lvl="1"/>
            <a:r>
              <a:rPr lang="bg-BG" dirty="0"/>
              <a:t>При движение на мишката тя оставя следа</a:t>
            </a:r>
            <a:r>
              <a:rPr lang="en-US" dirty="0"/>
              <a:t> </a:t>
            </a:r>
            <a:r>
              <a:rPr lang="bg-BG" dirty="0"/>
              <a:t>от точки</a:t>
            </a:r>
          </a:p>
          <a:p>
            <a:pPr lvl="1"/>
            <a:endParaRPr lang="bg-BG" dirty="0"/>
          </a:p>
          <a:p>
            <a:r>
              <a:rPr lang="bg-BG" dirty="0"/>
              <a:t>Неща за отчитане</a:t>
            </a:r>
          </a:p>
          <a:p>
            <a:pPr lvl="1"/>
            <a:r>
              <a:rPr lang="bg-BG" dirty="0"/>
              <a:t>Трябва да симулираме 2</a:t>
            </a:r>
            <a:r>
              <a:rPr lang="en-US" dirty="0"/>
              <a:t>D</a:t>
            </a:r>
            <a:r>
              <a:rPr lang="bg-BG" dirty="0"/>
              <a:t> сцена, т.е. гледаме сцената от </a:t>
            </a:r>
            <a:r>
              <a:rPr lang="en-US" dirty="0"/>
              <a:t>Z,</a:t>
            </a:r>
            <a:r>
              <a:rPr lang="bg-BG" dirty="0"/>
              <a:t> оста </a:t>
            </a:r>
            <a:r>
              <a:rPr lang="en-US" dirty="0"/>
              <a:t>X</a:t>
            </a:r>
            <a:r>
              <a:rPr lang="bg-BG" dirty="0"/>
              <a:t> е надясно, а </a:t>
            </a:r>
            <a:r>
              <a:rPr lang="en-US" dirty="0"/>
              <a:t>Y</a:t>
            </a:r>
            <a:r>
              <a:rPr lang="bg-BG" dirty="0"/>
              <a:t> е нагоре</a:t>
            </a:r>
          </a:p>
          <a:p>
            <a:pPr lvl="1"/>
            <a:r>
              <a:rPr lang="bg-BG" dirty="0"/>
              <a:t>За да има съответствие 1:</a:t>
            </a:r>
            <a:r>
              <a:rPr lang="bg-BG" dirty="0" err="1"/>
              <a:t>1</a:t>
            </a:r>
            <a:r>
              <a:rPr lang="bg-BG" dirty="0"/>
              <a:t> между мишите координати и пикселите в графиката, използваме ортогонална проекция</a:t>
            </a:r>
          </a:p>
          <a:p>
            <a:pPr lvl="1"/>
            <a:r>
              <a:rPr lang="bg-BG" dirty="0"/>
              <a:t>По </a:t>
            </a:r>
            <a:r>
              <a:rPr lang="en-US" dirty="0"/>
              <a:t>Y</a:t>
            </a:r>
            <a:r>
              <a:rPr lang="bg-BG" dirty="0"/>
              <a:t> трябва да обърнем посоката, понеже мишите координати растат по </a:t>
            </a:r>
            <a:r>
              <a:rPr lang="en-US" dirty="0"/>
              <a:t>Y</a:t>
            </a:r>
            <a:r>
              <a:rPr lang="bg-BG" dirty="0"/>
              <a:t> при движение надолу</a:t>
            </a:r>
          </a:p>
          <a:p>
            <a:pPr lvl="1"/>
            <a:r>
              <a:rPr lang="bg-BG" dirty="0"/>
              <a:t>Логическите координати трябва да се изчисляват спрямо центъра на графичното поле</a:t>
            </a:r>
          </a:p>
        </p:txBody>
      </p:sp>
    </p:spTree>
    <p:extLst>
      <p:ext uri="{BB962C8B-B14F-4D97-AF65-F5344CB8AC3E}">
        <p14:creationId xmlns:p14="http://schemas.microsoft.com/office/powerpoint/2010/main" val="317399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Реализация на четирите неща за отчитане</a:t>
            </a:r>
          </a:p>
          <a:p>
            <a:pPr lvl="1"/>
            <a:r>
              <a:rPr lang="bg-BG" dirty="0"/>
              <a:t>Добавен (но непоказан) е обект </a:t>
            </a:r>
            <a:r>
              <a:rPr lang="en-US" b="1" dirty="0"/>
              <a:t>Cloud</a:t>
            </a:r>
            <a:r>
              <a:rPr lang="bg-BG" dirty="0"/>
              <a:t> за множество точки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1905000"/>
            <a:ext cx="8534400" cy="4648200"/>
          </a:xfrm>
          <a:prstGeom prst="snip2DiagRect">
            <a:avLst>
              <a:gd name="adj1" fmla="val 0"/>
              <a:gd name="adj2" fmla="val 555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orthoMatrix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(gl.canvas.width,gl.canvas.height,-1000,1000);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gl.uniformMatrix4fv(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uProjectionMatrix,false,proj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([0,0,500],[0,0,0],[0,1,0]);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event.clientX-gl.canvas.offsetLeft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event.clientY-gl.canvas.offsetTop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+(x-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gl.canvas.offsetWidth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y = -(y-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gl.canvas.offsetHeight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cloud.point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(x,y,0);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993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925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Рисуване на линии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Промяна в рисуването</a:t>
            </a:r>
          </a:p>
          <a:p>
            <a:pPr lvl="1"/>
            <a:r>
              <a:rPr lang="bg-BG" dirty="0"/>
              <a:t>Рисува се линия, а не точки</a:t>
            </a:r>
          </a:p>
          <a:p>
            <a:pPr lvl="1"/>
            <a:r>
              <a:rPr lang="bg-BG" dirty="0"/>
              <a:t>Рисуването да започва с натискане на ляв бутон</a:t>
            </a:r>
          </a:p>
          <a:p>
            <a:pPr lvl="1"/>
            <a:r>
              <a:rPr lang="bg-BG" dirty="0"/>
              <a:t>Рисуването да свършва с пускането на ляв бутон</a:t>
            </a:r>
          </a:p>
          <a:p>
            <a:pPr lvl="1"/>
            <a:endParaRPr lang="bg-BG" dirty="0"/>
          </a:p>
          <a:p>
            <a:r>
              <a:rPr lang="bg-BG" dirty="0"/>
              <a:t>Идея</a:t>
            </a:r>
          </a:p>
          <a:p>
            <a:pPr lvl="1"/>
            <a:r>
              <a:rPr lang="bg-BG" dirty="0"/>
              <a:t>При натискане влизаме в режим на рисуване</a:t>
            </a:r>
          </a:p>
          <a:p>
            <a:pPr lvl="1"/>
            <a:r>
              <a:rPr lang="bg-BG" dirty="0"/>
              <a:t>При пускане излизаме от режима на рисуване</a:t>
            </a:r>
          </a:p>
          <a:p>
            <a:pPr lvl="1"/>
            <a:r>
              <a:rPr lang="bg-BG" dirty="0"/>
              <a:t>При движение запомняме координатите само ако сме в режим на рисуване</a:t>
            </a:r>
          </a:p>
        </p:txBody>
      </p:sp>
    </p:spTree>
    <p:extLst>
      <p:ext uri="{BB962C8B-B14F-4D97-AF65-F5344CB8AC3E}">
        <p14:creationId xmlns:p14="http://schemas.microsoft.com/office/powerpoint/2010/main" val="113320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Улавяме три събития</a:t>
            </a:r>
            <a:r>
              <a:rPr lang="en-US" dirty="0"/>
              <a:t> – </a:t>
            </a:r>
            <a:r>
              <a:rPr lang="en-US" b="1" dirty="0" err="1"/>
              <a:t>mousemove</a:t>
            </a:r>
            <a:r>
              <a:rPr lang="en-US" dirty="0"/>
              <a:t>, </a:t>
            </a:r>
            <a:r>
              <a:rPr lang="en-US" b="1" dirty="0" err="1"/>
              <a:t>mousedown</a:t>
            </a:r>
            <a:r>
              <a:rPr lang="bg-BG" dirty="0"/>
              <a:t> и </a:t>
            </a:r>
            <a:r>
              <a:rPr lang="en-US" b="1" dirty="0" err="1"/>
              <a:t>mouseup</a:t>
            </a:r>
            <a:endParaRPr lang="en-US" b="1" dirty="0"/>
          </a:p>
          <a:p>
            <a:pPr lvl="1"/>
            <a:r>
              <a:rPr lang="bg-BG" dirty="0"/>
              <a:t>В </a:t>
            </a:r>
            <a:r>
              <a:rPr lang="en-US" b="1" dirty="0"/>
              <a:t>draw</a:t>
            </a:r>
            <a:r>
              <a:rPr lang="en-US" dirty="0"/>
              <a:t> </a:t>
            </a:r>
            <a:r>
              <a:rPr lang="bg-BG" dirty="0"/>
              <a:t>помним дали сме в режим на рисуване</a:t>
            </a:r>
          </a:p>
          <a:p>
            <a:pPr lvl="1"/>
            <a:r>
              <a:rPr lang="bg-BG" dirty="0"/>
              <a:t>С </a:t>
            </a:r>
            <a:r>
              <a:rPr lang="en-US" b="1" dirty="0"/>
              <a:t>which</a:t>
            </a:r>
            <a:r>
              <a:rPr lang="bg-BG" dirty="0"/>
              <a:t> проверяваме кой бутон е натиснат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057400"/>
            <a:ext cx="8534400" cy="4495800"/>
          </a:xfrm>
          <a:prstGeom prst="snip2DiagRect">
            <a:avLst>
              <a:gd name="adj1" fmla="val 0"/>
              <a:gd name="adj2" fmla="val 555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 = false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event.which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!=1) return;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(draw)</a:t>
            </a: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event.which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!=1) return;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 = true;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mouseUp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event.which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!=1) return;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879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04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Чертане с мишка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80542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 rot="19800000">
            <a:off x="1944701" y="4983488"/>
            <a:ext cx="1779494" cy="14219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Чертане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Задача</a:t>
            </a:r>
          </a:p>
          <a:p>
            <a:pPr lvl="1"/>
            <a:r>
              <a:rPr lang="bg-BG" dirty="0"/>
              <a:t>С мишката да могат да се правят чертежи</a:t>
            </a:r>
          </a:p>
          <a:p>
            <a:pPr lvl="1"/>
            <a:r>
              <a:rPr lang="bg-BG" dirty="0"/>
              <a:t>Елементите са точки, отсечки и окръжности</a:t>
            </a:r>
          </a:p>
          <a:p>
            <a:pPr lvl="1"/>
            <a:endParaRPr lang="bg-BG" dirty="0"/>
          </a:p>
          <a:p>
            <a:r>
              <a:rPr lang="bg-BG" dirty="0"/>
              <a:t>Интерактивност</a:t>
            </a:r>
          </a:p>
          <a:p>
            <a:pPr lvl="1"/>
            <a:r>
              <a:rPr lang="bg-BG" dirty="0"/>
              <a:t>При рисуване на отсечки и окръжности</a:t>
            </a:r>
          </a:p>
        </p:txBody>
      </p:sp>
      <p:sp>
        <p:nvSpPr>
          <p:cNvPr id="4" name="Oval 3"/>
          <p:cNvSpPr/>
          <p:nvPr/>
        </p:nvSpPr>
        <p:spPr>
          <a:xfrm rot="908276">
            <a:off x="1925263" y="5339214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Oval 4"/>
          <p:cNvSpPr/>
          <p:nvPr/>
        </p:nvSpPr>
        <p:spPr>
          <a:xfrm rot="1302211">
            <a:off x="3476157" y="446515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9" name="Straight Connector 8"/>
          <p:cNvCxnSpPr>
            <a:stCxn id="4" idx="7"/>
            <a:endCxn id="5" idx="3"/>
          </p:cNvCxnSpPr>
          <p:nvPr/>
        </p:nvCxnSpPr>
        <p:spPr>
          <a:xfrm flipV="1">
            <a:off x="2209828" y="4677828"/>
            <a:ext cx="1278754" cy="737904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5"/>
            <a:endCxn id="7" idx="2"/>
          </p:cNvCxnSpPr>
          <p:nvPr/>
        </p:nvCxnSpPr>
        <p:spPr>
          <a:xfrm>
            <a:off x="6530761" y="5270163"/>
            <a:ext cx="780936" cy="464826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onut 13"/>
          <p:cNvSpPr/>
          <p:nvPr/>
        </p:nvSpPr>
        <p:spPr>
          <a:xfrm>
            <a:off x="5132294" y="3962400"/>
            <a:ext cx="2514600" cy="2514600"/>
          </a:xfrm>
          <a:prstGeom prst="donut">
            <a:avLst>
              <a:gd name="adj" fmla="val 5043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 rot="1730702">
            <a:off x="7292788" y="5656113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TextBox 22"/>
          <p:cNvSpPr txBox="1"/>
          <p:nvPr/>
        </p:nvSpPr>
        <p:spPr>
          <a:xfrm>
            <a:off x="651412" y="5310356"/>
            <a:ext cx="144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натискане</a:t>
            </a:r>
            <a:b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ляв бутон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0312" y="4424116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пускане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2146906" y="466206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влачене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0799" y="5639236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пускане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7474" y="4419600"/>
            <a:ext cx="1284326" cy="83099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натискане</a:t>
            </a:r>
            <a:b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десен</a:t>
            </a:r>
            <a:b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бутон</a:t>
            </a:r>
          </a:p>
        </p:txBody>
      </p:sp>
      <p:sp>
        <p:nvSpPr>
          <p:cNvPr id="28" name="TextBox 27"/>
          <p:cNvSpPr txBox="1"/>
          <p:nvPr/>
        </p:nvSpPr>
        <p:spPr>
          <a:xfrm rot="1868455">
            <a:off x="6469365" y="519369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влачене</a:t>
            </a:r>
          </a:p>
        </p:txBody>
      </p:sp>
      <p:sp>
        <p:nvSpPr>
          <p:cNvPr id="6" name="Oval 5"/>
          <p:cNvSpPr/>
          <p:nvPr/>
        </p:nvSpPr>
        <p:spPr>
          <a:xfrm rot="20789177">
            <a:off x="6248400" y="503816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0921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Обект отсечка</a:t>
            </a:r>
          </a:p>
          <a:p>
            <a:pPr lvl="1"/>
            <a:r>
              <a:rPr lang="bg-BG" dirty="0"/>
              <a:t>Отсечката е единична линия между две точки</a:t>
            </a:r>
            <a:endParaRPr lang="en-US" dirty="0"/>
          </a:p>
          <a:p>
            <a:pPr lvl="1"/>
            <a:r>
              <a:rPr lang="bg-BG" dirty="0"/>
              <a:t>Конструктор </a:t>
            </a:r>
            <a:r>
              <a:rPr lang="en-GB" b="1" dirty="0"/>
              <a:t>Segment</a:t>
            </a:r>
            <a:r>
              <a:rPr lang="en-GB" dirty="0"/>
              <a:t>(</a:t>
            </a:r>
            <a:r>
              <a:rPr lang="en-GB" b="1" dirty="0" err="1"/>
              <a:t>x</a:t>
            </a:r>
            <a:r>
              <a:rPr lang="en-GB" dirty="0" err="1"/>
              <a:t>,</a:t>
            </a:r>
            <a:r>
              <a:rPr lang="en-GB" b="1" dirty="0" err="1"/>
              <a:t>y</a:t>
            </a:r>
            <a:r>
              <a:rPr lang="en-GB" dirty="0"/>
              <a:t>)</a:t>
            </a:r>
            <a:r>
              <a:rPr lang="bg-BG" dirty="0"/>
              <a:t> – начална точка</a:t>
            </a:r>
          </a:p>
          <a:p>
            <a:pPr lvl="1"/>
            <a:r>
              <a:rPr lang="bg-BG" dirty="0"/>
              <a:t>Метод </a:t>
            </a:r>
            <a:r>
              <a:rPr lang="en-GB" dirty="0" err="1"/>
              <a:t>Segment.</a:t>
            </a:r>
            <a:r>
              <a:rPr lang="en-GB" b="1" dirty="0" err="1"/>
              <a:t>end</a:t>
            </a:r>
            <a:r>
              <a:rPr lang="en-GB" dirty="0"/>
              <a:t>(</a:t>
            </a:r>
            <a:r>
              <a:rPr lang="en-GB" b="1" dirty="0" err="1"/>
              <a:t>x</a:t>
            </a:r>
            <a:r>
              <a:rPr lang="en-GB" dirty="0" err="1"/>
              <a:t>,</a:t>
            </a:r>
            <a:r>
              <a:rPr lang="en-GB" b="1" dirty="0" err="1"/>
              <a:t>y</a:t>
            </a:r>
            <a:r>
              <a:rPr lang="en-GB" dirty="0"/>
              <a:t>)</a:t>
            </a:r>
            <a:r>
              <a:rPr lang="bg-BG" dirty="0"/>
              <a:t> – крайна точка</a:t>
            </a:r>
          </a:p>
          <a:p>
            <a:pPr lvl="1"/>
            <a:r>
              <a:rPr lang="bg-BG" dirty="0"/>
              <a:t>Метод </a:t>
            </a:r>
            <a:r>
              <a:rPr lang="en-GB" dirty="0" err="1"/>
              <a:t>Segment.</a:t>
            </a:r>
            <a:r>
              <a:rPr lang="en-GB" b="1" dirty="0" err="1"/>
              <a:t>draw</a:t>
            </a:r>
            <a:r>
              <a:rPr lang="en-GB" dirty="0"/>
              <a:t>()</a:t>
            </a:r>
            <a:r>
              <a:rPr lang="bg-BG" dirty="0"/>
              <a:t> – рисуване</a:t>
            </a:r>
          </a:p>
          <a:p>
            <a:pPr lvl="1"/>
            <a:endParaRPr lang="bg-BG" dirty="0"/>
          </a:p>
          <a:p>
            <a:r>
              <a:rPr lang="bg-BG" dirty="0"/>
              <a:t>Обект окръжност</a:t>
            </a:r>
          </a:p>
          <a:p>
            <a:pPr lvl="1"/>
            <a:r>
              <a:rPr lang="bg-BG" dirty="0"/>
              <a:t>Окръжността се дефинира от точка-център и точка, през която тя минава, разстоянието между тях е радиуса</a:t>
            </a:r>
          </a:p>
          <a:p>
            <a:pPr lvl="1"/>
            <a:r>
              <a:rPr lang="bg-BG" dirty="0"/>
              <a:t>Конструктор </a:t>
            </a:r>
            <a:r>
              <a:rPr lang="en-GB" b="1" dirty="0"/>
              <a:t>Circle</a:t>
            </a:r>
            <a:r>
              <a:rPr lang="en-GB" dirty="0"/>
              <a:t>(</a:t>
            </a:r>
            <a:r>
              <a:rPr lang="en-GB" b="1" dirty="0" err="1"/>
              <a:t>x</a:t>
            </a:r>
            <a:r>
              <a:rPr lang="en-GB" dirty="0" err="1"/>
              <a:t>,</a:t>
            </a:r>
            <a:r>
              <a:rPr lang="en-GB" b="1" dirty="0" err="1"/>
              <a:t>y</a:t>
            </a:r>
            <a:r>
              <a:rPr lang="en-US" b="1" dirty="0"/>
              <a:t>,full</a:t>
            </a:r>
            <a:r>
              <a:rPr lang="en-GB" dirty="0"/>
              <a:t>)</a:t>
            </a:r>
            <a:r>
              <a:rPr lang="bg-BG" dirty="0"/>
              <a:t> – център</a:t>
            </a:r>
          </a:p>
          <a:p>
            <a:pPr lvl="1"/>
            <a:r>
              <a:rPr lang="bg-BG" dirty="0"/>
              <a:t>Метод </a:t>
            </a:r>
            <a:r>
              <a:rPr lang="en-GB" dirty="0" err="1"/>
              <a:t>Circle.</a:t>
            </a:r>
            <a:r>
              <a:rPr lang="en-GB" b="1" dirty="0" err="1"/>
              <a:t>end</a:t>
            </a:r>
            <a:r>
              <a:rPr lang="en-GB" dirty="0"/>
              <a:t>(</a:t>
            </a:r>
            <a:r>
              <a:rPr lang="en-GB" b="1" dirty="0" err="1"/>
              <a:t>x</a:t>
            </a:r>
            <a:r>
              <a:rPr lang="en-GB" dirty="0" err="1"/>
              <a:t>,</a:t>
            </a:r>
            <a:r>
              <a:rPr lang="en-GB" b="1" dirty="0" err="1"/>
              <a:t>y</a:t>
            </a:r>
            <a:r>
              <a:rPr lang="en-GB" dirty="0"/>
              <a:t>)</a:t>
            </a:r>
            <a:r>
              <a:rPr lang="bg-BG" dirty="0"/>
              <a:t> – точка по окръжността</a:t>
            </a:r>
          </a:p>
          <a:p>
            <a:pPr lvl="1"/>
            <a:r>
              <a:rPr lang="bg-BG" dirty="0"/>
              <a:t>Метод </a:t>
            </a:r>
            <a:r>
              <a:rPr lang="en-GB" dirty="0" err="1"/>
              <a:t>Circle.</a:t>
            </a:r>
            <a:r>
              <a:rPr lang="en-GB" b="1" dirty="0" err="1"/>
              <a:t>draw</a:t>
            </a:r>
            <a:r>
              <a:rPr lang="en-GB" dirty="0"/>
              <a:t>()</a:t>
            </a:r>
            <a:r>
              <a:rPr lang="bg-BG" dirty="0"/>
              <a:t> - рисуване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7086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Примерна реализация на </a:t>
            </a:r>
            <a:r>
              <a:rPr lang="en-US" dirty="0"/>
              <a:t>Segment</a:t>
            </a:r>
          </a:p>
          <a:p>
            <a:pPr lvl="1"/>
            <a:r>
              <a:rPr lang="bg-BG" dirty="0"/>
              <a:t>Буферът се създава целия в конструктора</a:t>
            </a:r>
          </a:p>
          <a:p>
            <a:pPr lvl="1"/>
            <a:r>
              <a:rPr lang="bg-BG" dirty="0"/>
              <a:t>Методът </a:t>
            </a:r>
            <a:r>
              <a:rPr lang="en-US" b="1" dirty="0"/>
              <a:t>end</a:t>
            </a:r>
            <a:r>
              <a:rPr lang="bg-BG" dirty="0"/>
              <a:t> променя буфера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1676400"/>
            <a:ext cx="8534400" cy="4876800"/>
          </a:xfrm>
          <a:prstGeom prst="snip2DiagRect">
            <a:avLst>
              <a:gd name="adj1" fmla="val 0"/>
              <a:gd name="adj2" fmla="val 555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bufferData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new Float32Array(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[x,y,0,0,0,0]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	     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gl.DYNAMIC_DRAW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Segment.prototype.end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gl.bindBuffer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gl.ARRAY_BUFFER,this.buf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bufferSubData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(gl.ARRAY_BUFFER,3*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FLOATS,new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Float32Array(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Segment.prototype.draw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gl.drawArrays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469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Обработване на събития</a:t>
            </a:r>
          </a:p>
          <a:p>
            <a:pPr lvl="1"/>
            <a:r>
              <a:rPr lang="bg-BG" dirty="0"/>
              <a:t>При натискане на бутон създаваме отсечка или окръжност</a:t>
            </a:r>
          </a:p>
          <a:p>
            <a:pPr lvl="1"/>
            <a:r>
              <a:rPr lang="bg-BG" dirty="0"/>
              <a:t>При движение актуализираме крайната точка на последния създаден обект</a:t>
            </a:r>
          </a:p>
          <a:p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286000"/>
            <a:ext cx="8534400" cy="4267200"/>
          </a:xfrm>
          <a:prstGeom prst="snip2DiagRect">
            <a:avLst>
              <a:gd name="adj1" fmla="val 0"/>
              <a:gd name="adj2" fmla="val 681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elem.push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Segment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(event)));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==2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elem.push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Circle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(event),false));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draw = true;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(!draw) return;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event.button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 ||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event.button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==2)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[elem.length-1].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05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Особености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Точки</a:t>
            </a:r>
          </a:p>
          <a:p>
            <a:pPr lvl="1"/>
            <a:r>
              <a:rPr lang="bg-BG" dirty="0"/>
              <a:t>Точки в краищата на отсечка и в центъра на окръжност</a:t>
            </a:r>
          </a:p>
          <a:p>
            <a:pPr lvl="1"/>
            <a:r>
              <a:rPr lang="bg-BG" dirty="0"/>
              <a:t>Рисуват се като малки плътни окръжности с радиус 5</a:t>
            </a:r>
          </a:p>
          <a:p>
            <a:pPr lvl="1"/>
            <a:endParaRPr lang="bg-BG" dirty="0"/>
          </a:p>
          <a:p>
            <a:r>
              <a:rPr lang="bg-BG" dirty="0"/>
              <a:t>Контекстно меню</a:t>
            </a:r>
          </a:p>
          <a:p>
            <a:pPr lvl="1"/>
            <a:r>
              <a:rPr lang="bg-BG" dirty="0"/>
              <a:t>При пускане на десен бутон се появява контекстно меню</a:t>
            </a:r>
          </a:p>
          <a:p>
            <a:pPr lvl="1"/>
            <a:r>
              <a:rPr lang="bg-BG" dirty="0"/>
              <a:t>При възникване на събитие </a:t>
            </a:r>
            <a:r>
              <a:rPr lang="en-US" b="1" dirty="0" err="1"/>
              <a:t>contextmenu</a:t>
            </a:r>
            <a:r>
              <a:rPr lang="en-US" dirty="0"/>
              <a:t> </a:t>
            </a:r>
            <a:r>
              <a:rPr lang="bg-BG" dirty="0"/>
              <a:t>извикваме метода </a:t>
            </a:r>
            <a:r>
              <a:rPr lang="en-US" b="1" dirty="0" err="1"/>
              <a:t>preventDefault</a:t>
            </a:r>
            <a:r>
              <a:rPr lang="bg-BG" dirty="0"/>
              <a:t> на събитието, с което забраняваме извършването на подразбиращото се действие (в случая – показване на контекстно меню)</a:t>
            </a:r>
          </a:p>
        </p:txBody>
      </p:sp>
    </p:spTree>
    <p:extLst>
      <p:ext uri="{BB962C8B-B14F-4D97-AF65-F5344CB8AC3E}">
        <p14:creationId xmlns:p14="http://schemas.microsoft.com/office/powerpoint/2010/main" val="1580988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Тестване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Намиране на среда на отсечка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Рисуване на правоъгълен триъгълник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39" y="1961949"/>
            <a:ext cx="1828800" cy="1636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026" y="1961949"/>
            <a:ext cx="1828800" cy="1636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513" y="1961949"/>
            <a:ext cx="1828800" cy="1636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61949"/>
            <a:ext cx="1828800" cy="1636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39" y="4535905"/>
            <a:ext cx="1828800" cy="163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026" y="4535905"/>
            <a:ext cx="1828800" cy="163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513" y="4535905"/>
            <a:ext cx="1828800" cy="163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535905"/>
            <a:ext cx="1828800" cy="163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960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04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Интерактивна гледна точка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28488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Интерактивност и гледна точка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Досега</a:t>
            </a:r>
          </a:p>
          <a:p>
            <a:pPr lvl="1"/>
            <a:r>
              <a:rPr lang="bg-BG" dirty="0"/>
              <a:t>Движение на сцената чрез промяна на гледната точка</a:t>
            </a:r>
          </a:p>
          <a:p>
            <a:pPr lvl="1"/>
            <a:r>
              <a:rPr lang="bg-BG" dirty="0"/>
              <a:t>Движение на мишката чрез нейните събития</a:t>
            </a:r>
          </a:p>
          <a:p>
            <a:pPr lvl="1"/>
            <a:endParaRPr lang="bg-BG" dirty="0"/>
          </a:p>
          <a:p>
            <a:r>
              <a:rPr lang="bg-BG" dirty="0"/>
              <a:t>Цел</a:t>
            </a:r>
          </a:p>
          <a:p>
            <a:pPr lvl="1"/>
            <a:r>
              <a:rPr lang="bg-BG" dirty="0"/>
              <a:t>Да свържем двете неща</a:t>
            </a:r>
          </a:p>
          <a:p>
            <a:pPr lvl="1"/>
            <a:r>
              <a:rPr lang="bg-BG" dirty="0"/>
              <a:t>Движение на мишката </a:t>
            </a:r>
            <a:r>
              <a:rPr lang="bg-BG" dirty="0">
                <a:sym typeface="Symbol"/>
              </a:rPr>
              <a:t></a:t>
            </a:r>
            <a:r>
              <a:rPr lang="bg-BG" dirty="0"/>
              <a:t> движение на/в сцената</a:t>
            </a:r>
          </a:p>
          <a:p>
            <a:pPr lvl="1"/>
            <a:endParaRPr lang="bg-BG" dirty="0"/>
          </a:p>
          <a:p>
            <a:r>
              <a:rPr lang="bg-BG" dirty="0"/>
              <a:t>Проблем</a:t>
            </a:r>
          </a:p>
          <a:p>
            <a:pPr lvl="1"/>
            <a:r>
              <a:rPr lang="bg-BG" dirty="0"/>
              <a:t>Движенията са много, данните от мишката са малко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91414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Примерни движения в 2</a:t>
            </a:r>
            <a:r>
              <a:rPr lang="en-US" dirty="0"/>
              <a:t>D</a:t>
            </a:r>
            <a:endParaRPr lang="bg-BG" dirty="0"/>
          </a:p>
          <a:p>
            <a:pPr lvl="1"/>
            <a:r>
              <a:rPr lang="bg-BG" dirty="0"/>
              <a:t>Плъзгане: 1-2 параметъра</a:t>
            </a:r>
          </a:p>
          <a:p>
            <a:pPr lvl="1"/>
            <a:r>
              <a:rPr lang="bg-BG" dirty="0"/>
              <a:t>Въртим: 1 параметър</a:t>
            </a:r>
          </a:p>
          <a:p>
            <a:pPr lvl="1"/>
            <a:r>
              <a:rPr lang="bg-BG" dirty="0"/>
              <a:t>Мащабиране: 1-2 параметъра</a:t>
            </a:r>
          </a:p>
          <a:p>
            <a:pPr lvl="1"/>
            <a:endParaRPr lang="bg-BG" dirty="0"/>
          </a:p>
          <a:p>
            <a:r>
              <a:rPr lang="bg-BG" dirty="0"/>
              <a:t>Примерни движения в 3</a:t>
            </a:r>
            <a:r>
              <a:rPr lang="en-US" dirty="0"/>
              <a:t>D</a:t>
            </a:r>
            <a:endParaRPr lang="bg-BG" dirty="0"/>
          </a:p>
          <a:p>
            <a:pPr lvl="1"/>
            <a:r>
              <a:rPr lang="bg-BG" dirty="0"/>
              <a:t>Плъзгане: 1-3 параметъра</a:t>
            </a:r>
          </a:p>
          <a:p>
            <a:pPr lvl="1"/>
            <a:r>
              <a:rPr lang="bg-BG" dirty="0"/>
              <a:t>Въртене: 1-3 параметъра</a:t>
            </a:r>
          </a:p>
          <a:p>
            <a:pPr lvl="1"/>
            <a:r>
              <a:rPr lang="bg-BG" dirty="0"/>
              <a:t>Мащабиране: 1-3 параметъра</a:t>
            </a:r>
          </a:p>
          <a:p>
            <a:pPr lvl="1"/>
            <a:endParaRPr lang="bg-BG" dirty="0"/>
          </a:p>
          <a:p>
            <a:r>
              <a:rPr lang="bg-BG" dirty="0"/>
              <a:t>Параметри от мишката</a:t>
            </a:r>
          </a:p>
          <a:p>
            <a:pPr lvl="1"/>
            <a:r>
              <a:rPr lang="bg-BG" dirty="0"/>
              <a:t>Хоризонтално и вертикално плъзгане: </a:t>
            </a:r>
            <a:r>
              <a:rPr lang="en-US" dirty="0"/>
              <a:t>2</a:t>
            </a:r>
            <a:r>
              <a:rPr lang="bg-BG" dirty="0"/>
              <a:t> параметъра</a:t>
            </a:r>
          </a:p>
          <a:p>
            <a:pPr lvl="1"/>
            <a:r>
              <a:rPr lang="bg-BG" dirty="0"/>
              <a:t>Бутони на мишката: </a:t>
            </a:r>
            <a:r>
              <a:rPr lang="bg-BG" dirty="0">
                <a:sym typeface="Symbol"/>
              </a:rPr>
              <a:t></a:t>
            </a:r>
            <a:r>
              <a:rPr lang="bg-BG" dirty="0"/>
              <a:t>4 параметъра (при 2 бутона)</a:t>
            </a:r>
          </a:p>
          <a:p>
            <a:pPr lvl="1"/>
            <a:r>
              <a:rPr lang="bg-BG" dirty="0"/>
              <a:t>Клавиши: </a:t>
            </a:r>
            <a:r>
              <a:rPr lang="bg-BG" dirty="0">
                <a:sym typeface="Symbol"/>
              </a:rPr>
              <a:t></a:t>
            </a:r>
            <a:r>
              <a:rPr lang="bg-BG" dirty="0"/>
              <a:t>8 параметъра (при 3 клавиша)</a:t>
            </a:r>
          </a:p>
        </p:txBody>
      </p:sp>
    </p:spTree>
    <p:extLst>
      <p:ext uri="{BB962C8B-B14F-4D97-AF65-F5344CB8AC3E}">
        <p14:creationId xmlns:p14="http://schemas.microsoft.com/office/powerpoint/2010/main" val="1487015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Сцена в </a:t>
            </a:r>
            <a:r>
              <a:rPr lang="en-US" dirty="0"/>
              <a:t>2D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Плъзгане</a:t>
            </a:r>
          </a:p>
          <a:p>
            <a:pPr lvl="1"/>
            <a:r>
              <a:rPr lang="bg-BG" dirty="0"/>
              <a:t>Плъзгане с натиснат ляв бутон (</a:t>
            </a:r>
            <a:r>
              <a:rPr lang="bg-BG" dirty="0">
                <a:latin typeface="Century Gothic"/>
              </a:rPr>
              <a:t>↔↕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Скоростта на плъзгане на сцената и на курсора на мишката да е една и съща</a:t>
            </a:r>
          </a:p>
          <a:p>
            <a:pPr lvl="1"/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Гледната точка се определя от </a:t>
            </a:r>
            <a:r>
              <a:rPr lang="en-US" b="1" dirty="0" err="1"/>
              <a:t>viewX</a:t>
            </a:r>
            <a:r>
              <a:rPr lang="bg-BG" dirty="0"/>
              <a:t> и </a:t>
            </a:r>
            <a:r>
              <a:rPr lang="en-US" b="1" dirty="0" err="1"/>
              <a:t>viewY</a:t>
            </a:r>
            <a:endParaRPr lang="en-US" b="1" dirty="0"/>
          </a:p>
          <a:p>
            <a:pPr lvl="1"/>
            <a:r>
              <a:rPr lang="bg-BG" dirty="0"/>
              <a:t>При разстояние 750 двете скорости се изравняват (установено е експериментално)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5257800"/>
            <a:ext cx="8534400" cy="1295400"/>
          </a:xfrm>
          <a:prstGeom prst="snip2DiagRect">
            <a:avLst>
              <a:gd name="adj1" fmla="val 0"/>
              <a:gd name="adj2" fmla="val 2031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750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,0],[0,1,0]);</a:t>
            </a:r>
          </a:p>
        </p:txBody>
      </p:sp>
    </p:spTree>
    <p:extLst>
      <p:ext uri="{BB962C8B-B14F-4D97-AF65-F5344CB8AC3E}">
        <p14:creationId xmlns:p14="http://schemas.microsoft.com/office/powerpoint/2010/main" val="3350042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Събития</a:t>
            </a:r>
          </a:p>
          <a:p>
            <a:pPr lvl="1"/>
            <a:r>
              <a:rPr lang="bg-BG" dirty="0"/>
              <a:t>В</a:t>
            </a:r>
            <a:r>
              <a:rPr lang="en-US" dirty="0"/>
              <a:t> </a:t>
            </a:r>
            <a:r>
              <a:rPr lang="en-US" b="1" dirty="0"/>
              <a:t>drag</a:t>
            </a:r>
            <a:r>
              <a:rPr lang="bg-BG" dirty="0"/>
              <a:t> помним дали сме в процес на влачене</a:t>
            </a:r>
          </a:p>
          <a:p>
            <a:pPr lvl="1"/>
            <a:r>
              <a:rPr lang="bg-BG" dirty="0"/>
              <a:t>В </a:t>
            </a:r>
            <a:r>
              <a:rPr lang="en-US" b="1" dirty="0" err="1"/>
              <a:t>startX</a:t>
            </a:r>
            <a:r>
              <a:rPr lang="bg-BG" dirty="0"/>
              <a:t> и </a:t>
            </a:r>
            <a:r>
              <a:rPr lang="en-US" b="1" dirty="0" err="1"/>
              <a:t>startY</a:t>
            </a:r>
            <a:r>
              <a:rPr lang="bg-BG" dirty="0"/>
              <a:t> помним началните координати на всяко индивидуално движение (в </a:t>
            </a:r>
            <a:r>
              <a:rPr lang="en-US" b="1" dirty="0" err="1"/>
              <a:t>mouseMove</a:t>
            </a:r>
            <a:r>
              <a:rPr lang="bg-BG" dirty="0"/>
              <a:t> се актуализират)</a:t>
            </a:r>
          </a:p>
          <a:p>
            <a:pPr lvl="1"/>
            <a:r>
              <a:rPr lang="bg-BG" dirty="0"/>
              <a:t>Промяната във </a:t>
            </a:r>
            <a:r>
              <a:rPr lang="en-US" b="1" dirty="0" err="1"/>
              <a:t>viewX</a:t>
            </a:r>
            <a:r>
              <a:rPr lang="bg-BG" dirty="0"/>
              <a:t> и </a:t>
            </a:r>
            <a:r>
              <a:rPr lang="en-US" b="1" dirty="0" err="1"/>
              <a:t>viewY</a:t>
            </a:r>
            <a:r>
              <a:rPr lang="bg-BG" dirty="0"/>
              <a:t> зависи от разликата между началното положение </a:t>
            </a:r>
            <a:r>
              <a:rPr lang="en-US" dirty="0"/>
              <a:t>(</a:t>
            </a:r>
            <a:r>
              <a:rPr lang="en-US" b="1" dirty="0" err="1"/>
              <a:t>startX,startY</a:t>
            </a:r>
            <a:r>
              <a:rPr lang="en-US" dirty="0"/>
              <a:t>) </a:t>
            </a:r>
            <a:r>
              <a:rPr lang="bg-BG" dirty="0"/>
              <a:t>и текущото положение</a:t>
            </a:r>
            <a:r>
              <a:rPr lang="en-US" dirty="0"/>
              <a:t> (</a:t>
            </a:r>
            <a:r>
              <a:rPr lang="en-US" b="1" dirty="0" err="1"/>
              <a:t>getX,getY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3200400"/>
            <a:ext cx="8534400" cy="3352800"/>
          </a:xfrm>
          <a:prstGeom prst="snip2DiagRect">
            <a:avLst>
              <a:gd name="adj1" fmla="val 0"/>
              <a:gd name="adj2" fmla="val 825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drag = false;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drag = true;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mouseUp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drag = false;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4267200" y="3200400"/>
            <a:ext cx="4648200" cy="3352800"/>
          </a:xfrm>
          <a:prstGeom prst="snip2DiagRect">
            <a:avLst>
              <a:gd name="adj1" fmla="val 0"/>
              <a:gd name="adj2" fmla="val 6254"/>
            </a:avLst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(!drag) return;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startX-getX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startY-getY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0428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Други екстри</a:t>
            </a:r>
          </a:p>
          <a:p>
            <a:pPr lvl="1"/>
            <a:r>
              <a:rPr lang="bg-BG" dirty="0"/>
              <a:t>При излизане извън графичното поле забравяме, че сме в процес на влачене, като следим събитието </a:t>
            </a:r>
            <a:r>
              <a:rPr lang="en-US" b="1" dirty="0" err="1"/>
              <a:t>mouseout</a:t>
            </a:r>
            <a:endParaRPr lang="en-US" b="1" dirty="0"/>
          </a:p>
          <a:p>
            <a:pPr lvl="1"/>
            <a:r>
              <a:rPr lang="bg-BG" dirty="0"/>
              <a:t>При започване на влаченето ползваме курсор с 4 стрелки</a:t>
            </a:r>
          </a:p>
          <a:p>
            <a:pPr lvl="1"/>
            <a:r>
              <a:rPr lang="bg-BG" dirty="0"/>
              <a:t>При приключване – връщаме оригиналния курсор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3200400"/>
            <a:ext cx="8534400" cy="3352800"/>
          </a:xfrm>
          <a:prstGeom prst="snip2DiagRect">
            <a:avLst>
              <a:gd name="adj1" fmla="val 0"/>
              <a:gd name="adj2" fmla="val 825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canvas.addEventListener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mouseout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mouseUp,false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style.cursor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mouseUp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style.cursor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0174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048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61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315200" y="4343400"/>
            <a:ext cx="6096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Pie 24"/>
          <p:cNvSpPr/>
          <p:nvPr/>
        </p:nvSpPr>
        <p:spPr>
          <a:xfrm>
            <a:off x="6019800" y="5791200"/>
            <a:ext cx="762000" cy="762000"/>
          </a:xfrm>
          <a:prstGeom prst="pie">
            <a:avLst>
              <a:gd name="adj1" fmla="val 17841302"/>
              <a:gd name="adj2" fmla="val 18893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6" name="Pie 25"/>
          <p:cNvSpPr/>
          <p:nvPr/>
        </p:nvSpPr>
        <p:spPr>
          <a:xfrm>
            <a:off x="5105400" y="5791200"/>
            <a:ext cx="762000" cy="762000"/>
          </a:xfrm>
          <a:prstGeom prst="pie">
            <a:avLst>
              <a:gd name="adj1" fmla="val 18945358"/>
              <a:gd name="adj2" fmla="val 18893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7" name="Pie 26"/>
          <p:cNvSpPr/>
          <p:nvPr/>
        </p:nvSpPr>
        <p:spPr>
          <a:xfrm>
            <a:off x="533400" y="5791200"/>
            <a:ext cx="762000" cy="762000"/>
          </a:xfrm>
          <a:prstGeom prst="pie">
            <a:avLst>
              <a:gd name="adj1" fmla="val 20706539"/>
              <a:gd name="adj2" fmla="val 18893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8" name="Pie 27"/>
          <p:cNvSpPr/>
          <p:nvPr/>
        </p:nvSpPr>
        <p:spPr>
          <a:xfrm>
            <a:off x="1447800" y="5791200"/>
            <a:ext cx="762000" cy="762000"/>
          </a:xfrm>
          <a:prstGeom prst="pie">
            <a:avLst>
              <a:gd name="adj1" fmla="val 20515138"/>
              <a:gd name="adj2" fmla="val 18893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Увеличаване в </a:t>
            </a:r>
            <a:r>
              <a:rPr lang="en-US" dirty="0"/>
              <a:t>2D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Увеличаване и намаляване</a:t>
            </a:r>
          </a:p>
          <a:p>
            <a:pPr lvl="1"/>
            <a:r>
              <a:rPr lang="bg-BG" dirty="0"/>
              <a:t>Плъзгане с натиснат десен бутон (</a:t>
            </a:r>
            <a:r>
              <a:rPr lang="bg-BG" dirty="0">
                <a:latin typeface="Century Gothic"/>
              </a:rPr>
              <a:t>↕</a:t>
            </a:r>
            <a:r>
              <a:rPr lang="bg-BG" dirty="0"/>
              <a:t>)</a:t>
            </a:r>
          </a:p>
          <a:p>
            <a:pPr lvl="1"/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Чрез приближаване или отдалечаване</a:t>
            </a:r>
          </a:p>
          <a:p>
            <a:pPr lvl="1"/>
            <a:r>
              <a:rPr lang="bg-BG" dirty="0"/>
              <a:t>Не е добре да се реализира както плъзгането с линейна зависимост спрямо движение на мишката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14400" y="6172200"/>
            <a:ext cx="73152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86500" y="60579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Oval 11"/>
          <p:cNvSpPr/>
          <p:nvPr/>
        </p:nvSpPr>
        <p:spPr>
          <a:xfrm>
            <a:off x="5372100" y="60579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Oval 12"/>
          <p:cNvSpPr/>
          <p:nvPr/>
        </p:nvSpPr>
        <p:spPr>
          <a:xfrm>
            <a:off x="1714500" y="60579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Oval 13"/>
          <p:cNvSpPr/>
          <p:nvPr/>
        </p:nvSpPr>
        <p:spPr>
          <a:xfrm>
            <a:off x="800100" y="60567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6400800" y="4343400"/>
            <a:ext cx="914400" cy="18288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486400" y="4343400"/>
            <a:ext cx="1828800" cy="18288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1828800" y="4343400"/>
            <a:ext cx="5486400" cy="18288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914400" y="4343400"/>
            <a:ext cx="6400800" cy="18288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82552" y="5802868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100%</a:t>
            </a:r>
            <a:endParaRPr lang="bg-BG" sz="16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05765" y="580286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71%</a:t>
            </a:r>
            <a:endParaRPr lang="bg-BG" sz="16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67387" y="6214646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100%</a:t>
            </a:r>
            <a:endParaRPr lang="bg-BG" sz="16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0600" y="621464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86%</a:t>
            </a:r>
            <a:endParaRPr lang="bg-BG" sz="16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86876" y="6141422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Абсолютно</a:t>
            </a:r>
            <a:b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отдалечаване</a:t>
            </a:r>
          </a:p>
        </p:txBody>
      </p:sp>
    </p:spTree>
    <p:extLst>
      <p:ext uri="{BB962C8B-B14F-4D97-AF65-F5344CB8AC3E}">
        <p14:creationId xmlns:p14="http://schemas.microsoft.com/office/powerpoint/2010/main" val="2905638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Експоненциално отдалечаване</a:t>
                </a:r>
              </a:p>
              <a:p>
                <a:pPr lvl="1"/>
                <a:r>
                  <a:rPr lang="bg-BG" dirty="0"/>
                  <a:t>Вместо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+∆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bg-BG" dirty="0"/>
                  <a:t>се използва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1.01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sup>
                    </m:sSup>
                  </m:oMath>
                </a14:m>
                <a:endParaRPr lang="bg-BG" dirty="0"/>
              </a:p>
              <a:p>
                <a:pPr lvl="1"/>
                <a:r>
                  <a:rPr lang="bg-BG" dirty="0"/>
                  <a:t>Добавено е ограничение за мащаб от 1/3 до 3</a:t>
                </a:r>
              </a:p>
              <a:p>
                <a:pPr lvl="1"/>
                <a:r>
                  <a:rPr lang="bg-BG" dirty="0"/>
                  <a:t>Мащабът влияе на големината на стъпката на плъзгане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42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nip Diagonal Corner Rectangle 4"/>
          <p:cNvSpPr/>
          <p:nvPr/>
        </p:nvSpPr>
        <p:spPr>
          <a:xfrm>
            <a:off x="304800" y="2286000"/>
            <a:ext cx="8534400" cy="4267200"/>
          </a:xfrm>
          <a:prstGeom prst="snip2DiagRect">
            <a:avLst>
              <a:gd name="adj1" fmla="val 0"/>
              <a:gd name="adj2" fmla="val 726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([viewX,viewY,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750*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],[viewX,viewY,0],[0,1,0]);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event.buttons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==1)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startX-getX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(event))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startY-getY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(event))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Math.pow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(1.01,startY-getY(event));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&gt;3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&lt;1/3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=1/3;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642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819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048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812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Проблем</a:t>
            </a:r>
          </a:p>
          <a:p>
            <a:pPr lvl="1"/>
            <a:r>
              <a:rPr lang="bg-BG" dirty="0"/>
              <a:t>В някои браузъри свойствата </a:t>
            </a:r>
            <a:r>
              <a:rPr lang="en-US" b="1" dirty="0"/>
              <a:t>buttons</a:t>
            </a:r>
            <a:r>
              <a:rPr lang="bg-BG" dirty="0"/>
              <a:t> и </a:t>
            </a:r>
            <a:r>
              <a:rPr lang="en-US" b="1" dirty="0"/>
              <a:t>which</a:t>
            </a:r>
            <a:r>
              <a:rPr lang="en-US" dirty="0"/>
              <a:t> </a:t>
            </a:r>
            <a:r>
              <a:rPr lang="bg-BG" dirty="0"/>
              <a:t>са дефинирани само за </a:t>
            </a:r>
            <a:r>
              <a:rPr lang="en-US" b="1" dirty="0" err="1"/>
              <a:t>mousedown</a:t>
            </a:r>
            <a:r>
              <a:rPr lang="bg-BG" dirty="0"/>
              <a:t> и </a:t>
            </a:r>
            <a:r>
              <a:rPr lang="en-US" b="1" dirty="0" err="1"/>
              <a:t>mouseup</a:t>
            </a:r>
            <a:endParaRPr lang="en-US" b="1" dirty="0"/>
          </a:p>
          <a:p>
            <a:pPr lvl="1"/>
            <a:r>
              <a:rPr lang="bg-BG" dirty="0"/>
              <a:t>При тях в </a:t>
            </a:r>
            <a:r>
              <a:rPr lang="en-US" b="1" dirty="0" err="1"/>
              <a:t>mousemove</a:t>
            </a:r>
            <a:r>
              <a:rPr lang="bg-BG" dirty="0"/>
              <a:t> свойствата имат най-често стойност 0</a:t>
            </a:r>
          </a:p>
          <a:p>
            <a:r>
              <a:rPr lang="bg-BG" dirty="0"/>
              <a:t>Решение</a:t>
            </a:r>
          </a:p>
          <a:p>
            <a:pPr lvl="1"/>
            <a:r>
              <a:rPr lang="bg-BG" dirty="0"/>
              <a:t>По-добре е </a:t>
            </a:r>
            <a:r>
              <a:rPr lang="bg-BG" dirty="0" err="1"/>
              <a:t>натиснатостта</a:t>
            </a:r>
            <a:r>
              <a:rPr lang="bg-BG" dirty="0"/>
              <a:t> на бутоните да се следи чрез </a:t>
            </a:r>
            <a:r>
              <a:rPr lang="en-US" b="1" dirty="0" err="1"/>
              <a:t>mousedown</a:t>
            </a:r>
            <a:r>
              <a:rPr lang="bg-BG" dirty="0"/>
              <a:t> и </a:t>
            </a:r>
            <a:r>
              <a:rPr lang="en-US" b="1" dirty="0" err="1"/>
              <a:t>mouseup</a:t>
            </a:r>
            <a:r>
              <a:rPr lang="en-US" dirty="0"/>
              <a:t>,</a:t>
            </a:r>
            <a:r>
              <a:rPr lang="bg-BG" dirty="0"/>
              <a:t> вместо да проверяваме </a:t>
            </a:r>
            <a:r>
              <a:rPr lang="en-US" b="1" dirty="0"/>
              <a:t>buttons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/>
              <a:t>which</a:t>
            </a:r>
            <a:r>
              <a:rPr lang="bg-BG" dirty="0"/>
              <a:t> в </a:t>
            </a:r>
            <a:r>
              <a:rPr lang="en-US" b="1" dirty="0" err="1"/>
              <a:t>mousemove</a:t>
            </a:r>
            <a:endParaRPr lang="bg-BG" b="1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9000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Въртене в </a:t>
            </a:r>
            <a:r>
              <a:rPr lang="en-US" dirty="0"/>
              <a:t>2D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Въртене</a:t>
            </a:r>
          </a:p>
          <a:p>
            <a:pPr lvl="1"/>
            <a:r>
              <a:rPr lang="bg-BG" dirty="0"/>
              <a:t>Въртене с натиснат десен бутон (↔)</a:t>
            </a:r>
          </a:p>
          <a:p>
            <a:pPr lvl="1"/>
            <a:r>
              <a:rPr lang="bg-BG" dirty="0"/>
              <a:t>Въртенето да е спрямо центъра на графичното поле</a:t>
            </a:r>
          </a:p>
          <a:p>
            <a:pPr lvl="1"/>
            <a:r>
              <a:rPr lang="bg-BG" dirty="0"/>
              <a:t>След въртене, плъзгането да е пак хоризонтално и вертикално спрямо екрана</a:t>
            </a:r>
          </a:p>
          <a:p>
            <a:pPr lvl="1"/>
            <a:r>
              <a:rPr lang="bg-BG" dirty="0"/>
              <a:t>Да има „защита“ от трепване на ръката, защото мащабиране и въртене е с един и същ бутон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572000" y="5972145"/>
            <a:ext cx="304800" cy="5048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12207" y="5980984"/>
            <a:ext cx="12554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724400" y="5503747"/>
            <a:ext cx="152400" cy="468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4343400" y="5019644"/>
            <a:ext cx="381000" cy="48410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343400" y="4343400"/>
            <a:ext cx="152400" cy="6762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72000" y="6477000"/>
            <a:ext cx="30480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72000" y="5972145"/>
            <a:ext cx="0" cy="504856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724400" y="5972145"/>
            <a:ext cx="152400" cy="1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876800" y="5503747"/>
            <a:ext cx="0" cy="46840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4343400" y="5503747"/>
            <a:ext cx="381000" cy="401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724400" y="5019644"/>
            <a:ext cx="0" cy="48410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343400" y="5015630"/>
            <a:ext cx="152400" cy="401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343400" y="4343400"/>
            <a:ext cx="0" cy="67423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sysDot"/>
            <a:headEnd type="none" w="med" len="med"/>
            <a:tailEnd type="triangle" w="med" len="me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457700" y="6362701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Oval 39"/>
          <p:cNvSpPr/>
          <p:nvPr/>
        </p:nvSpPr>
        <p:spPr>
          <a:xfrm>
            <a:off x="4419600" y="41148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TextBox 40"/>
          <p:cNvSpPr txBox="1"/>
          <p:nvPr/>
        </p:nvSpPr>
        <p:spPr>
          <a:xfrm>
            <a:off x="4876800" y="5507761"/>
            <a:ext cx="12554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24400" y="5019644"/>
            <a:ext cx="12554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87928" y="4343400"/>
            <a:ext cx="12554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76800" y="6323111"/>
            <a:ext cx="860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76800" y="5827095"/>
            <a:ext cx="860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82972" y="5353872"/>
            <a:ext cx="860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78259" y="4872692"/>
            <a:ext cx="860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191000" y="4014409"/>
            <a:ext cx="148384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Arial"/>
                <a:cs typeface="Arial"/>
              </a:rPr>
              <a:t>движение</a:t>
            </a:r>
            <a:b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Arial"/>
                <a:cs typeface="Arial"/>
              </a:rPr>
            </a:b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Arial"/>
                <a:cs typeface="Arial"/>
              </a:rPr>
              <a:t>на мишката</a:t>
            </a:r>
            <a:endParaRPr lang="bg-BG" sz="14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7450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Параметър </a:t>
            </a:r>
            <a:r>
              <a:rPr lang="en-US" b="1" dirty="0" err="1"/>
              <a:t>viewA</a:t>
            </a:r>
            <a:r>
              <a:rPr lang="bg-BG" dirty="0"/>
              <a:t> за ъгъл на завъртането</a:t>
            </a:r>
            <a:endParaRPr lang="en-US" dirty="0"/>
          </a:p>
          <a:p>
            <a:pPr lvl="1"/>
            <a:r>
              <a:rPr lang="bg-BG" dirty="0"/>
              <a:t>Промяната в ъгъла зависи линейно от</a:t>
            </a:r>
            <a:r>
              <a:rPr lang="en-US" dirty="0"/>
              <a:t> </a:t>
            </a:r>
            <a:r>
              <a:rPr lang="en-US" b="1" dirty="0" err="1">
                <a:latin typeface="Century Gothic"/>
              </a:rPr>
              <a:t>dX</a:t>
            </a:r>
            <a:r>
              <a:rPr lang="bg-BG" dirty="0"/>
              <a:t> </a:t>
            </a:r>
          </a:p>
          <a:p>
            <a:pPr lvl="1"/>
            <a:r>
              <a:rPr lang="bg-BG" dirty="0"/>
              <a:t>Знакът на промяната зависи от положението на мишката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4038600"/>
            <a:ext cx="8534400" cy="2514600"/>
          </a:xfrm>
          <a:prstGeom prst="snip2DiagRect">
            <a:avLst>
              <a:gd name="adj1" fmla="val 0"/>
              <a:gd name="adj2" fmla="val 996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([viewX,viewY,750*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],[viewX,viewY,0],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   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,0]);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0.005*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(event)&gt;0?1:-1)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24000" y="2133600"/>
            <a:ext cx="2895600" cy="1737366"/>
            <a:chOff x="1524000" y="2212817"/>
            <a:chExt cx="2895600" cy="1737366"/>
          </a:xfrm>
        </p:grpSpPr>
        <p:sp>
          <p:nvSpPr>
            <p:cNvPr id="4" name="Chevron 3"/>
            <p:cNvSpPr/>
            <p:nvPr/>
          </p:nvSpPr>
          <p:spPr>
            <a:xfrm>
              <a:off x="1524000" y="2426039"/>
              <a:ext cx="2895600" cy="1524144"/>
            </a:xfrm>
            <a:prstGeom prst="chevron">
              <a:avLst>
                <a:gd name="adj" fmla="val 0"/>
              </a:avLst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b"/>
            <a:lstStyle/>
            <a:p>
              <a:pPr marL="120650" algn="r">
                <a:spcBef>
                  <a:spcPct val="0"/>
                </a:spcBef>
                <a:tabLst>
                  <a:tab pos="228600" algn="l"/>
                  <a:tab pos="457200" algn="l"/>
                  <a:tab pos="685800" algn="l"/>
                  <a:tab pos="914400" algn="l"/>
                  <a:tab pos="1143000" algn="l"/>
                </a:tabLst>
              </a:pPr>
              <a:endPara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Chevron 5"/>
            <p:cNvSpPr/>
            <p:nvPr/>
          </p:nvSpPr>
          <p:spPr>
            <a:xfrm>
              <a:off x="1724890" y="2549775"/>
              <a:ext cx="2514600" cy="1311490"/>
            </a:xfrm>
            <a:prstGeom prst="chevron">
              <a:avLst>
                <a:gd name="adj" fmla="val 0"/>
              </a:avLst>
            </a:prstGeom>
            <a:solidFill>
              <a:schemeClr val="bg1"/>
            </a:solidFill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b"/>
            <a:lstStyle/>
            <a:p>
              <a:pPr>
                <a:spcBef>
                  <a:spcPct val="0"/>
                </a:spcBef>
              </a:pPr>
              <a:r>
                <a:rPr lang="en-US" b="1" dirty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</a:t>
              </a:r>
              <a:endParaRPr lang="bg-BG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Chevron 15"/>
            <p:cNvSpPr/>
            <p:nvPr/>
          </p:nvSpPr>
          <p:spPr>
            <a:xfrm>
              <a:off x="1524000" y="2212817"/>
              <a:ext cx="2895600" cy="213222"/>
            </a:xfrm>
            <a:prstGeom prst="chevron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>
                <a:tabLst>
                  <a:tab pos="3144838" algn="l"/>
                </a:tabLst>
              </a:pPr>
              <a:r>
                <a:rPr lang="bg-BG" sz="1200" b="1" dirty="0">
                  <a:solidFill>
                    <a:schemeClr val="bg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Браузър 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                                              X</a:t>
              </a:r>
              <a:endParaRPr lang="bg-BG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24400" y="2133600"/>
            <a:ext cx="2895600" cy="1737366"/>
            <a:chOff x="4724400" y="2230226"/>
            <a:chExt cx="2895600" cy="1737366"/>
          </a:xfrm>
        </p:grpSpPr>
        <p:sp>
          <p:nvSpPr>
            <p:cNvPr id="23" name="Chevron 22"/>
            <p:cNvSpPr/>
            <p:nvPr/>
          </p:nvSpPr>
          <p:spPr>
            <a:xfrm>
              <a:off x="4724400" y="2443448"/>
              <a:ext cx="2895600" cy="1524144"/>
            </a:xfrm>
            <a:prstGeom prst="chevron">
              <a:avLst>
                <a:gd name="adj" fmla="val 0"/>
              </a:avLst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b"/>
            <a:lstStyle/>
            <a:p>
              <a:pPr marL="120650" algn="r">
                <a:spcBef>
                  <a:spcPct val="0"/>
                </a:spcBef>
                <a:tabLst>
                  <a:tab pos="228600" algn="l"/>
                  <a:tab pos="457200" algn="l"/>
                  <a:tab pos="685800" algn="l"/>
                  <a:tab pos="914400" algn="l"/>
                  <a:tab pos="1143000" algn="l"/>
                </a:tabLst>
              </a:pPr>
              <a:endPara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Chevron 23"/>
            <p:cNvSpPr/>
            <p:nvPr/>
          </p:nvSpPr>
          <p:spPr>
            <a:xfrm>
              <a:off x="4925290" y="2567184"/>
              <a:ext cx="2514600" cy="1311490"/>
            </a:xfrm>
            <a:prstGeom prst="chevron">
              <a:avLst>
                <a:gd name="adj" fmla="val 0"/>
              </a:avLst>
            </a:prstGeom>
            <a:solidFill>
              <a:schemeClr val="bg1"/>
            </a:solidFill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b"/>
            <a:lstStyle/>
            <a:p>
              <a:pPr>
                <a:spcBef>
                  <a:spcPct val="0"/>
                </a:spcBef>
              </a:pPr>
              <a:r>
                <a:rPr lang="en-US" b="1" dirty="0">
                  <a:solidFill>
                    <a:schemeClr val="tx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</a:t>
              </a:r>
              <a:endParaRPr lang="bg-BG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Chevron 24"/>
            <p:cNvSpPr/>
            <p:nvPr/>
          </p:nvSpPr>
          <p:spPr>
            <a:xfrm>
              <a:off x="4724400" y="2230226"/>
              <a:ext cx="2895600" cy="213222"/>
            </a:xfrm>
            <a:prstGeom prst="chevron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>
                <a:tabLst>
                  <a:tab pos="3144838" algn="l"/>
                </a:tabLst>
              </a:pPr>
              <a:r>
                <a:rPr lang="bg-BG" sz="1200" b="1" dirty="0">
                  <a:solidFill>
                    <a:schemeClr val="bg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Браузър 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                                               X</a:t>
              </a:r>
              <a:endParaRPr lang="bg-BG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25340" y="2467041"/>
            <a:ext cx="1714500" cy="394098"/>
            <a:chOff x="5448300" y="2546258"/>
            <a:chExt cx="1714500" cy="394098"/>
          </a:xfrm>
        </p:grpSpPr>
        <p:sp>
          <p:nvSpPr>
            <p:cNvPr id="30" name="TextBox 29"/>
            <p:cNvSpPr txBox="1"/>
            <p:nvPr/>
          </p:nvSpPr>
          <p:spPr>
            <a:xfrm>
              <a:off x="5681165" y="2546258"/>
              <a:ext cx="1264477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effectLst>
                    <a:outerShdw blurRad="63500" algn="ctr" rotWithShape="0">
                      <a:schemeClr val="bg1">
                        <a:lumMod val="50000"/>
                        <a:alpha val="40000"/>
                      </a:schemeClr>
                    </a:outerShdw>
                  </a:effectLst>
                  <a:latin typeface="Arial"/>
                  <a:cs typeface="Arial"/>
                </a:rPr>
                <a:t>мишка</a:t>
              </a:r>
              <a:endParaRPr lang="bg-BG" sz="1400" dirty="0"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5627153" y="2830864"/>
              <a:ext cx="131848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5448300" y="2711756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Oval 30"/>
            <p:cNvSpPr/>
            <p:nvPr/>
          </p:nvSpPr>
          <p:spPr>
            <a:xfrm>
              <a:off x="6934200" y="2707743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124940" y="3316794"/>
            <a:ext cx="1714500" cy="394098"/>
            <a:chOff x="5448300" y="2546258"/>
            <a:chExt cx="1714500" cy="394098"/>
          </a:xfrm>
        </p:grpSpPr>
        <p:sp>
          <p:nvSpPr>
            <p:cNvPr id="36" name="TextBox 35"/>
            <p:cNvSpPr txBox="1"/>
            <p:nvPr/>
          </p:nvSpPr>
          <p:spPr>
            <a:xfrm>
              <a:off x="5681165" y="2546258"/>
              <a:ext cx="1264477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1400" dirty="0">
                  <a:effectLst>
                    <a:outerShdw blurRad="63500" algn="ctr" rotWithShape="0">
                      <a:schemeClr val="bg1">
                        <a:lumMod val="50000"/>
                        <a:alpha val="40000"/>
                      </a:schemeClr>
                    </a:outerShdw>
                  </a:effectLst>
                  <a:latin typeface="Arial"/>
                  <a:cs typeface="Arial"/>
                </a:rPr>
                <a:t>мишка</a:t>
              </a:r>
              <a:endParaRPr lang="bg-BG" sz="1400" dirty="0"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5627153" y="2830864"/>
              <a:ext cx="131848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5448300" y="2711756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7" name="Oval 36"/>
            <p:cNvSpPr/>
            <p:nvPr/>
          </p:nvSpPr>
          <p:spPr>
            <a:xfrm>
              <a:off x="6934200" y="2707743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8" name="Arc 37"/>
          <p:cNvSpPr/>
          <p:nvPr/>
        </p:nvSpPr>
        <p:spPr>
          <a:xfrm>
            <a:off x="5847318" y="2951886"/>
            <a:ext cx="686250" cy="686250"/>
          </a:xfrm>
          <a:prstGeom prst="arc">
            <a:avLst>
              <a:gd name="adj1" fmla="val 7352961"/>
              <a:gd name="adj2" fmla="val 3963755"/>
            </a:avLst>
          </a:prstGeom>
          <a:solidFill>
            <a:schemeClr val="bg1"/>
          </a:solidFill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Arc 38"/>
          <p:cNvSpPr/>
          <p:nvPr/>
        </p:nvSpPr>
        <p:spPr>
          <a:xfrm rot="10800000" flipH="1">
            <a:off x="2619912" y="2564155"/>
            <a:ext cx="686250" cy="686250"/>
          </a:xfrm>
          <a:prstGeom prst="arc">
            <a:avLst>
              <a:gd name="adj1" fmla="val 7352961"/>
              <a:gd name="adj2" fmla="val 3963755"/>
            </a:avLst>
          </a:prstGeom>
          <a:solidFill>
            <a:schemeClr val="bg1"/>
          </a:solidFill>
          <a:ln w="381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Box 20"/>
          <p:cNvSpPr txBox="1"/>
          <p:nvPr/>
        </p:nvSpPr>
        <p:spPr>
          <a:xfrm>
            <a:off x="5624945" y="3138954"/>
            <a:ext cx="1143000" cy="2675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bg-BG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сцена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0300" y="2773492"/>
            <a:ext cx="1143000" cy="2675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ctr"/>
            <a:r>
              <a:rPr lang="bg-BG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сцена</a:t>
            </a:r>
          </a:p>
        </p:txBody>
      </p:sp>
    </p:spTree>
    <p:extLst>
      <p:ext uri="{BB962C8B-B14F-4D97-AF65-F5344CB8AC3E}">
        <p14:creationId xmlns:p14="http://schemas.microsoft.com/office/powerpoint/2010/main" val="725811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Arrow Connector 40"/>
          <p:cNvCxnSpPr/>
          <p:nvPr/>
        </p:nvCxnSpPr>
        <p:spPr>
          <a:xfrm>
            <a:off x="2743200" y="3016105"/>
            <a:ext cx="36576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4572000" y="2097223"/>
            <a:ext cx="0" cy="1828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ie 52"/>
          <p:cNvSpPr/>
          <p:nvPr/>
        </p:nvSpPr>
        <p:spPr>
          <a:xfrm>
            <a:off x="4192064" y="2636709"/>
            <a:ext cx="762000" cy="762000"/>
          </a:xfrm>
          <a:prstGeom prst="pie">
            <a:avLst>
              <a:gd name="adj1" fmla="val 19892008"/>
              <a:gd name="adj2" fmla="val 1787918"/>
            </a:avLst>
          </a:prstGeom>
          <a:solidFill>
            <a:srgbClr val="FFCC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4" name="Pie 53"/>
          <p:cNvSpPr/>
          <p:nvPr/>
        </p:nvSpPr>
        <p:spPr>
          <a:xfrm rot="10800000">
            <a:off x="4192064" y="2636709"/>
            <a:ext cx="762000" cy="762000"/>
          </a:xfrm>
          <a:prstGeom prst="pie">
            <a:avLst>
              <a:gd name="adj1" fmla="val 19892008"/>
              <a:gd name="adj2" fmla="val 1787918"/>
            </a:avLst>
          </a:prstGeom>
          <a:solidFill>
            <a:srgbClr val="FFCC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8" name="Pie 27"/>
          <p:cNvSpPr/>
          <p:nvPr/>
        </p:nvSpPr>
        <p:spPr>
          <a:xfrm rot="5400000">
            <a:off x="4192064" y="2636709"/>
            <a:ext cx="762000" cy="762000"/>
          </a:xfrm>
          <a:prstGeom prst="pie">
            <a:avLst>
              <a:gd name="adj1" fmla="val 19892008"/>
              <a:gd name="adj2" fmla="val 1787918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2" name="Pie 51"/>
          <p:cNvSpPr/>
          <p:nvPr/>
        </p:nvSpPr>
        <p:spPr>
          <a:xfrm rot="16200000">
            <a:off x="4192064" y="2636709"/>
            <a:ext cx="762000" cy="762000"/>
          </a:xfrm>
          <a:prstGeom prst="pie">
            <a:avLst>
              <a:gd name="adj1" fmla="val 19892008"/>
              <a:gd name="adj2" fmla="val 1787918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Защита</a:t>
            </a:r>
          </a:p>
          <a:p>
            <a:pPr lvl="1"/>
            <a:r>
              <a:rPr lang="bg-BG" dirty="0"/>
              <a:t>Ако отклонението по </a:t>
            </a:r>
            <a:r>
              <a:rPr lang="en-US" dirty="0"/>
              <a:t>X</a:t>
            </a:r>
            <a:r>
              <a:rPr lang="bg-BG" dirty="0"/>
              <a:t> е двойно по-голямо от</a:t>
            </a:r>
            <a:r>
              <a:rPr lang="en-US" dirty="0"/>
              <a:t> </a:t>
            </a:r>
            <a:r>
              <a:rPr lang="bg-BG" dirty="0"/>
              <a:t>това по </a:t>
            </a:r>
            <a:r>
              <a:rPr lang="en-US" dirty="0"/>
              <a:t>Y, </a:t>
            </a:r>
            <a:r>
              <a:rPr lang="bg-BG" dirty="0"/>
              <a:t>приемаме</a:t>
            </a:r>
            <a:r>
              <a:rPr lang="en-US"/>
              <a:t>,</a:t>
            </a:r>
            <a:r>
              <a:rPr lang="bg-BG"/>
              <a:t> </a:t>
            </a:r>
            <a:r>
              <a:rPr lang="bg-BG" dirty="0"/>
              <a:t>че имаме само хоризонтално движение</a:t>
            </a:r>
          </a:p>
          <a:p>
            <a:pPr lvl="1"/>
            <a:r>
              <a:rPr lang="bg-BG" dirty="0"/>
              <a:t>Аналогично и по </a:t>
            </a:r>
            <a:r>
              <a:rPr lang="en-US" dirty="0"/>
              <a:t>Y</a:t>
            </a:r>
            <a:endParaRPr lang="bg-BG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4343400"/>
            <a:ext cx="8534400" cy="2209800"/>
          </a:xfrm>
          <a:prstGeom prst="snip2DiagRect">
            <a:avLst>
              <a:gd name="adj1" fmla="val 0"/>
              <a:gd name="adj2" fmla="val 996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)&lt;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)&gt;2*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2" name="Oval 41"/>
          <p:cNvSpPr/>
          <p:nvPr/>
        </p:nvSpPr>
        <p:spPr>
          <a:xfrm>
            <a:off x="4458982" y="2903409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48" name="Group 47"/>
          <p:cNvGrpSpPr/>
          <p:nvPr/>
        </p:nvGrpSpPr>
        <p:grpSpPr>
          <a:xfrm rot="1800000">
            <a:off x="3674010" y="2068158"/>
            <a:ext cx="1752600" cy="1851212"/>
            <a:chOff x="5486400" y="2492188"/>
            <a:chExt cx="1752600" cy="1851212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6400800" y="2492188"/>
              <a:ext cx="0" cy="185121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5486400" y="3417794"/>
              <a:ext cx="1752600" cy="1568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 rot="19800000">
            <a:off x="3657861" y="2101845"/>
            <a:ext cx="1752600" cy="1851212"/>
            <a:chOff x="5486400" y="2492188"/>
            <a:chExt cx="1752600" cy="1851212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6400800" y="2492188"/>
              <a:ext cx="0" cy="185121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5486400" y="3417794"/>
              <a:ext cx="1752600" cy="1568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3932099" y="2327767"/>
            <a:ext cx="1255472" cy="307777"/>
          </a:xfrm>
          <a:prstGeom prst="rect">
            <a:avLst/>
          </a:prstGeom>
          <a:solidFill>
            <a:srgbClr val="FFFFFF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03940" y="2836659"/>
            <a:ext cx="860428" cy="307777"/>
          </a:xfrm>
          <a:prstGeom prst="rect">
            <a:avLst/>
          </a:prstGeom>
          <a:solidFill>
            <a:srgbClr val="FFFFFF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60075" y="2836659"/>
            <a:ext cx="860428" cy="307777"/>
          </a:xfrm>
          <a:prstGeom prst="rect">
            <a:avLst/>
          </a:prstGeom>
          <a:solidFill>
            <a:srgbClr val="FFFFFF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въртене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918652" y="3398710"/>
            <a:ext cx="1255472" cy="307777"/>
          </a:xfrm>
          <a:prstGeom prst="rect">
            <a:avLst/>
          </a:prstGeom>
          <a:solidFill>
            <a:srgbClr val="FFFFFF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14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40000"/>
                    </a:schemeClr>
                  </a:outerShdw>
                </a:effectLst>
                <a:latin typeface="Arial"/>
                <a:cs typeface="Arial"/>
              </a:rPr>
              <a:t>мащабиране</a:t>
            </a:r>
            <a:endParaRPr lang="bg-BG" sz="14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618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Плъзгане</a:t>
                </a:r>
              </a:p>
              <a:p>
                <a:pPr lvl="1"/>
                <a:r>
                  <a:rPr lang="bg-BG" dirty="0"/>
                  <a:t>При завъртяна сцена посоките </a:t>
                </a:r>
                <a:r>
                  <a:rPr lang="en-US" dirty="0"/>
                  <a:t>X</a:t>
                </a:r>
                <a:r>
                  <a:rPr lang="bg-BG" dirty="0"/>
                  <a:t> и </a:t>
                </a:r>
                <a:r>
                  <a:rPr lang="en-US" dirty="0"/>
                  <a:t>Y </a:t>
                </a:r>
                <a:r>
                  <a:rPr lang="bg-BG" dirty="0"/>
                  <a:t>също се завъртат</a:t>
                </a:r>
              </a:p>
              <a:p>
                <a:pPr lvl="1"/>
                <a:r>
                  <a:rPr lang="bg-BG" dirty="0"/>
                  <a:t>За хоризонтално и вертикално плъзгане трябва да компенсираме това с насрещно завъртане</a:t>
                </a:r>
              </a:p>
              <a:p>
                <a:pPr lvl="1"/>
                <a:r>
                  <a:rPr lang="bg-BG" dirty="0"/>
                  <a:t>Вместо</a:t>
                </a:r>
                <a:r>
                  <a:rPr lang="en-US" dirty="0"/>
                  <a:t>:</a:t>
                </a:r>
                <a:endParaRPr lang="bg-BG" dirty="0"/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sz="2400" i="1">
                                  <a:effectLst/>
                                  <a:latin typeface="Cambria Math"/>
                                </a:rPr>
                                <m:t>𝑑𝑋</m:t>
                              </m:r>
                            </m:e>
                            <m:e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𝑑𝑌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400" dirty="0"/>
              </a:p>
              <a:p>
                <a:pPr marL="365760" lvl="1" indent="0">
                  <a:buNone/>
                </a:pPr>
                <a:endParaRPr lang="en-US" dirty="0"/>
              </a:p>
              <a:p>
                <a:pPr marL="633413" lvl="1" indent="0">
                  <a:buNone/>
                </a:pPr>
                <a:r>
                  <a:rPr lang="bg-BG" dirty="0"/>
                  <a:t>умножаваме с въртяща матрица:</a:t>
                </a:r>
              </a:p>
              <a:p>
                <a:pPr marL="633413" lvl="1" indent="0">
                  <a:buNone/>
                </a:pPr>
                <a:endParaRPr lang="bg-BG" dirty="0"/>
              </a:p>
              <a:p>
                <a:pPr marL="63341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effectLst/>
                                      <a:latin typeface="Cambria Math"/>
                                    </a:rPr>
                                    <m:t>𝑑𝑌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  <m:r>
                                    <a:rPr lang="en-US" sz="2400" b="0" i="1" smtClean="0">
                                      <a:effectLst/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effectLst/>
                                      <a:latin typeface="Cambria Math"/>
                                    </a:rPr>
                                    <m:t>𝑑𝑋</m:t>
                                  </m:r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effectLst/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effectLst/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400" i="1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effectLst/>
                                      <a:latin typeface="Cambria Math"/>
                                    </a:rPr>
                                    <m:t>𝑑𝑌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effectLst/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  <m:r>
                                    <a:rPr lang="en-US" sz="2400" b="0" i="1" smtClean="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lang="en-US" sz="2400" b="0" i="1" smtClean="0">
                                      <a:effectLst/>
                                      <a:latin typeface="Cambria Math"/>
                                    </a:rPr>
                                    <m:t>𝑋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effectLst/>
                                          <a:latin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bg-BG" sz="2400" dirty="0"/>
              </a:p>
              <a:p>
                <a:pPr marL="633413" lvl="1" indent="0">
                  <a:buNone/>
                </a:pPr>
                <a:endParaRPr lang="bg-BG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42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nip Diagonal Corner Rectangle 4"/>
          <p:cNvSpPr/>
          <p:nvPr/>
        </p:nvSpPr>
        <p:spPr>
          <a:xfrm>
            <a:off x="304800" y="5715000"/>
            <a:ext cx="8534400" cy="838200"/>
          </a:xfrm>
          <a:prstGeom prst="snip2DiagRect">
            <a:avLst>
              <a:gd name="adj1" fmla="val 0"/>
              <a:gd name="adj2" fmla="val 3450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*sin(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*cos(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*cos(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*sin(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618246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921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048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1220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Интерактивност в 3</a:t>
            </a:r>
            <a:r>
              <a:rPr lang="en-US" dirty="0"/>
              <a:t>D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Тримерна сцена от пръснати кубове</a:t>
            </a:r>
          </a:p>
          <a:p>
            <a:pPr lvl="1"/>
            <a:r>
              <a:rPr lang="bg-BG" dirty="0"/>
              <a:t>Въртене с ляв бутон на мишката</a:t>
            </a:r>
          </a:p>
          <a:p>
            <a:pPr lvl="1"/>
            <a:r>
              <a:rPr lang="bg-BG" dirty="0"/>
              <a:t>Приближаване и отдалечаване с десен бутон</a:t>
            </a:r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В допълнение</a:t>
            </a:r>
          </a:p>
          <a:p>
            <a:pPr lvl="1"/>
            <a:r>
              <a:rPr lang="bg-BG" dirty="0"/>
              <a:t>По-близките кубове да са по-светли</a:t>
            </a:r>
          </a:p>
          <a:p>
            <a:pPr lvl="1"/>
            <a:r>
              <a:rPr lang="bg-BG" dirty="0"/>
              <a:t>По-далечните да са по-тъмни</a:t>
            </a:r>
          </a:p>
          <a:p>
            <a:pPr lvl="1"/>
            <a:r>
              <a:rPr lang="bg-BG" dirty="0"/>
              <a:t>Тази осветеност да отчита гледната точка</a:t>
            </a:r>
          </a:p>
        </p:txBody>
      </p:sp>
    </p:spTree>
    <p:extLst>
      <p:ext uri="{BB962C8B-B14F-4D97-AF65-F5344CB8AC3E}">
        <p14:creationId xmlns:p14="http://schemas.microsoft.com/office/powerpoint/2010/main" val="435088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Гледната точка се движи по сфера с радиус </a:t>
            </a:r>
            <a:r>
              <a:rPr lang="en-US" b="1" dirty="0" err="1"/>
              <a:t>viewD</a:t>
            </a:r>
            <a:r>
              <a:rPr lang="bg-BG" dirty="0"/>
              <a:t> и ъгли </a:t>
            </a:r>
            <a:r>
              <a:rPr lang="en-US" b="1" dirty="0" err="1"/>
              <a:t>viewA</a:t>
            </a:r>
            <a:r>
              <a:rPr lang="bg-BG" dirty="0"/>
              <a:t> и </a:t>
            </a:r>
            <a:r>
              <a:rPr lang="en-US" b="1" dirty="0" err="1"/>
              <a:t>viewB</a:t>
            </a:r>
            <a:endParaRPr lang="en-US" b="1" dirty="0"/>
          </a:p>
          <a:p>
            <a:pPr lvl="1"/>
            <a:r>
              <a:rPr lang="bg-BG" dirty="0"/>
              <a:t>Добре е вертикалният ъгъл </a:t>
            </a:r>
            <a:r>
              <a:rPr lang="en-US" b="1" dirty="0" err="1"/>
              <a:t>viewB</a:t>
            </a:r>
            <a:r>
              <a:rPr lang="bg-BG" dirty="0"/>
              <a:t> да е само в (-</a:t>
            </a:r>
            <a:r>
              <a:rPr lang="bg-BG" dirty="0">
                <a:sym typeface="Symbol"/>
              </a:rPr>
              <a:t></a:t>
            </a:r>
            <a:r>
              <a:rPr lang="bg-BG" dirty="0"/>
              <a:t>/2,+</a:t>
            </a:r>
            <a:r>
              <a:rPr lang="bg-BG" dirty="0">
                <a:sym typeface="Symbol"/>
              </a:rPr>
              <a:t></a:t>
            </a:r>
            <a:r>
              <a:rPr lang="bg-BG" dirty="0"/>
              <a:t>/2)</a:t>
            </a:r>
            <a:r>
              <a:rPr lang="en-US" dirty="0"/>
              <a:t>,</a:t>
            </a:r>
            <a:r>
              <a:rPr lang="bg-BG" dirty="0"/>
              <a:t> за да няма рязко обръщане на гледната точка (защо?)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2514600"/>
            <a:ext cx="8534400" cy="4038600"/>
          </a:xfrm>
          <a:prstGeom prst="snip2DiagRect">
            <a:avLst>
              <a:gd name="adj1" fmla="val 0"/>
              <a:gd name="adj2" fmla="val 692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viewB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1000;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lookAt([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viewD*cos(viewA)*cos(viewB)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viewD*sin(viewA)*cos(viewB)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    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viewD*sin(viewB)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],[0,0,0],[0,0,1]);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mouseMove(event)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endParaRPr lang="da-DK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(event.buttons==1)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dX/100;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viewB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dY/100;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Math.pow(1.01,dY);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da-DK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6482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Осветяване</a:t>
            </a:r>
          </a:p>
          <a:p>
            <a:pPr lvl="1"/>
            <a:r>
              <a:rPr lang="bg-BG" dirty="0"/>
              <a:t>Към </a:t>
            </a:r>
            <a:r>
              <a:rPr lang="bg-BG" dirty="0" err="1"/>
              <a:t>шейдъра</a:t>
            </a:r>
            <a:r>
              <a:rPr lang="bg-BG" dirty="0"/>
              <a:t> на фрагменти подаваме</a:t>
            </a:r>
            <a:r>
              <a:rPr lang="en-US" dirty="0"/>
              <a:t> </a:t>
            </a:r>
            <a:r>
              <a:rPr lang="bg-BG" dirty="0"/>
              <a:t>координатата </a:t>
            </a:r>
            <a:r>
              <a:rPr lang="en-US" b="1" dirty="0"/>
              <a:t>w</a:t>
            </a:r>
            <a:r>
              <a:rPr lang="en-US" dirty="0"/>
              <a:t>,</a:t>
            </a:r>
            <a:r>
              <a:rPr lang="bg-BG" dirty="0"/>
              <a:t> в която е записана дълбочината на фрагмент</a:t>
            </a:r>
            <a:endParaRPr lang="en-US" dirty="0"/>
          </a:p>
          <a:p>
            <a:pPr lvl="1"/>
            <a:r>
              <a:rPr lang="bg-BG" dirty="0"/>
              <a:t>От </a:t>
            </a:r>
            <a:r>
              <a:rPr lang="bg-BG" dirty="0" err="1"/>
              <a:t>интерполираното</a:t>
            </a:r>
            <a:r>
              <a:rPr lang="bg-BG" dirty="0"/>
              <a:t> </a:t>
            </a:r>
            <a:r>
              <a:rPr lang="en-US" b="1" dirty="0" err="1"/>
              <a:t>vW</a:t>
            </a:r>
            <a:r>
              <a:rPr lang="bg-BG" dirty="0"/>
              <a:t> изчисляваме коефициент на осветеност </a:t>
            </a:r>
            <a:r>
              <a:rPr lang="en-US" b="1" dirty="0"/>
              <a:t>k</a:t>
            </a:r>
            <a:r>
              <a:rPr lang="en-US" dirty="0"/>
              <a:t>,</a:t>
            </a:r>
            <a:r>
              <a:rPr lang="bg-BG" dirty="0"/>
              <a:t> който ограничаваме отгоре до 1.2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209800" y="3526508"/>
            <a:ext cx="4637875" cy="228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3338761" y="2461994"/>
            <a:ext cx="0" cy="14647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nip Diagonal Corner Rectangle 4"/>
          <p:cNvSpPr/>
          <p:nvPr/>
        </p:nvSpPr>
        <p:spPr>
          <a:xfrm>
            <a:off x="304800" y="4038600"/>
            <a:ext cx="8534400" cy="2514600"/>
          </a:xfrm>
          <a:prstGeom prst="snip2DiagRect">
            <a:avLst>
              <a:gd name="adj1" fmla="val 0"/>
              <a:gd name="adj2" fmla="val 996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 ()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vW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uProjectionMatrix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vec4(aXYZ,1)).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main( 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k = (uDist+150.0-vW)/400.0;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(k&gt;1.2) k=1.2;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gl_FragColor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vec4(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*vec3(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texCol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)*vColor,1.0);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6761" y="3056792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Rectangle 23"/>
          <p:cNvSpPr/>
          <p:nvPr/>
        </p:nvSpPr>
        <p:spPr>
          <a:xfrm rot="1800000">
            <a:off x="2869038" y="3329264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Rectangle 24"/>
          <p:cNvSpPr/>
          <p:nvPr/>
        </p:nvSpPr>
        <p:spPr>
          <a:xfrm rot="20700000">
            <a:off x="2729161" y="2919194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 25"/>
          <p:cNvSpPr/>
          <p:nvPr/>
        </p:nvSpPr>
        <p:spPr>
          <a:xfrm rot="20700000">
            <a:off x="3201720" y="3467397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 26"/>
          <p:cNvSpPr/>
          <p:nvPr/>
        </p:nvSpPr>
        <p:spPr>
          <a:xfrm>
            <a:off x="3186361" y="2727808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Rectangle 28"/>
          <p:cNvSpPr/>
          <p:nvPr/>
        </p:nvSpPr>
        <p:spPr>
          <a:xfrm>
            <a:off x="3719761" y="3056792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Rectangle 29"/>
          <p:cNvSpPr/>
          <p:nvPr/>
        </p:nvSpPr>
        <p:spPr>
          <a:xfrm rot="18900000">
            <a:off x="3552786" y="3391195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Rectangle 30"/>
          <p:cNvSpPr/>
          <p:nvPr/>
        </p:nvSpPr>
        <p:spPr>
          <a:xfrm rot="2700000">
            <a:off x="3069820" y="3056792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Rectangle 31"/>
          <p:cNvSpPr/>
          <p:nvPr/>
        </p:nvSpPr>
        <p:spPr>
          <a:xfrm rot="900000">
            <a:off x="3414961" y="2880626"/>
            <a:ext cx="304800" cy="27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/>
          <p:cNvSpPr txBox="1"/>
          <p:nvPr/>
        </p:nvSpPr>
        <p:spPr>
          <a:xfrm>
            <a:off x="2451278" y="3613184"/>
            <a:ext cx="581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k=0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2209800" y="2605311"/>
            <a:ext cx="4637875" cy="1275925"/>
          </a:xfrm>
          <a:custGeom>
            <a:avLst/>
            <a:gdLst>
              <a:gd name="connsiteX0" fmla="*/ 0 w 3435927"/>
              <a:gd name="connsiteY0" fmla="*/ 1316181 h 1316181"/>
              <a:gd name="connsiteX1" fmla="*/ 1205346 w 3435927"/>
              <a:gd name="connsiteY1" fmla="*/ 0 h 1316181"/>
              <a:gd name="connsiteX2" fmla="*/ 3435927 w 3435927"/>
              <a:gd name="connsiteY2" fmla="*/ 13854 h 1316181"/>
              <a:gd name="connsiteX0" fmla="*/ 0 w 3470433"/>
              <a:gd name="connsiteY0" fmla="*/ 1344936 h 1344936"/>
              <a:gd name="connsiteX1" fmla="*/ 1239852 w 3470433"/>
              <a:gd name="connsiteY1" fmla="*/ 0 h 1344936"/>
              <a:gd name="connsiteX2" fmla="*/ 3470433 w 3470433"/>
              <a:gd name="connsiteY2" fmla="*/ 13854 h 1344936"/>
              <a:gd name="connsiteX0" fmla="*/ 0 w 3470433"/>
              <a:gd name="connsiteY0" fmla="*/ 1331082 h 1331082"/>
              <a:gd name="connsiteX1" fmla="*/ 1918463 w 3470433"/>
              <a:gd name="connsiteY1" fmla="*/ 60908 h 1331082"/>
              <a:gd name="connsiteX2" fmla="*/ 3470433 w 3470433"/>
              <a:gd name="connsiteY2" fmla="*/ 0 h 1331082"/>
              <a:gd name="connsiteX0" fmla="*/ 0 w 4614871"/>
              <a:gd name="connsiteY0" fmla="*/ 1270174 h 1270174"/>
              <a:gd name="connsiteX1" fmla="*/ 1918463 w 4614871"/>
              <a:gd name="connsiteY1" fmla="*/ 0 h 1270174"/>
              <a:gd name="connsiteX2" fmla="*/ 4614871 w 4614871"/>
              <a:gd name="connsiteY2" fmla="*/ 2352 h 1270174"/>
              <a:gd name="connsiteX0" fmla="*/ 0 w 4614871"/>
              <a:gd name="connsiteY0" fmla="*/ 1463354 h 1463354"/>
              <a:gd name="connsiteX1" fmla="*/ 1918463 w 4614871"/>
              <a:gd name="connsiteY1" fmla="*/ 193180 h 1463354"/>
              <a:gd name="connsiteX2" fmla="*/ 4614871 w 4614871"/>
              <a:gd name="connsiteY2" fmla="*/ 0 h 1463354"/>
              <a:gd name="connsiteX0" fmla="*/ 0 w 4637875"/>
              <a:gd name="connsiteY0" fmla="*/ 1273573 h 1273573"/>
              <a:gd name="connsiteX1" fmla="*/ 1918463 w 4637875"/>
              <a:gd name="connsiteY1" fmla="*/ 3399 h 1273573"/>
              <a:gd name="connsiteX2" fmla="*/ 4637875 w 4637875"/>
              <a:gd name="connsiteY2" fmla="*/ 0 h 1273573"/>
              <a:gd name="connsiteX0" fmla="*/ 0 w 4637875"/>
              <a:gd name="connsiteY0" fmla="*/ 1273573 h 1273573"/>
              <a:gd name="connsiteX1" fmla="*/ 2062237 w 4637875"/>
              <a:gd name="connsiteY1" fmla="*/ 428969 h 1273573"/>
              <a:gd name="connsiteX2" fmla="*/ 4637875 w 4637875"/>
              <a:gd name="connsiteY2" fmla="*/ 0 h 1273573"/>
              <a:gd name="connsiteX0" fmla="*/ 0 w 4637875"/>
              <a:gd name="connsiteY0" fmla="*/ 1275925 h 1275925"/>
              <a:gd name="connsiteX1" fmla="*/ 1912712 w 4637875"/>
              <a:gd name="connsiteY1" fmla="*/ 0 h 1275925"/>
              <a:gd name="connsiteX2" fmla="*/ 4637875 w 4637875"/>
              <a:gd name="connsiteY2" fmla="*/ 2352 h 127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7875" h="1275925">
                <a:moveTo>
                  <a:pt x="0" y="1275925"/>
                </a:moveTo>
                <a:lnTo>
                  <a:pt x="1912712" y="0"/>
                </a:lnTo>
                <a:lnTo>
                  <a:pt x="4637875" y="2352"/>
                </a:lnTo>
              </a:path>
            </a:pathLst>
          </a:custGeom>
          <a:noFill/>
          <a:ln w="57150">
            <a:solidFill>
              <a:srgbClr val="FF0000"/>
            </a:solidFill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1" name="Oval 60"/>
          <p:cNvSpPr/>
          <p:nvPr/>
        </p:nvSpPr>
        <p:spPr>
          <a:xfrm>
            <a:off x="2663683" y="3448022"/>
            <a:ext cx="156973" cy="15697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5" name="Oval 64"/>
          <p:cNvSpPr/>
          <p:nvPr/>
        </p:nvSpPr>
        <p:spPr>
          <a:xfrm>
            <a:off x="4024561" y="2526824"/>
            <a:ext cx="156973" cy="15697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6" name="TextBox 65"/>
          <p:cNvSpPr txBox="1"/>
          <p:nvPr/>
        </p:nvSpPr>
        <p:spPr>
          <a:xfrm>
            <a:off x="3881808" y="2259106"/>
            <a:ext cx="757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k=1.2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793674" y="2697537"/>
            <a:ext cx="156973" cy="15697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8" name="TextBox 67"/>
          <p:cNvSpPr txBox="1"/>
          <p:nvPr/>
        </p:nvSpPr>
        <p:spPr>
          <a:xfrm>
            <a:off x="3433573" y="2438400"/>
            <a:ext cx="757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k=1</a:t>
            </a:r>
            <a:endParaRPr lang="bg-BG" sz="14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2714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048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707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Инерция</a:t>
            </a:r>
          </a:p>
          <a:p>
            <a:pPr lvl="1"/>
            <a:r>
              <a:rPr lang="bg-BG" dirty="0"/>
              <a:t>След движение с мишката, сцената продължава да се движи в същата посока</a:t>
            </a:r>
          </a:p>
          <a:p>
            <a:pPr lvl="1"/>
            <a:r>
              <a:rPr lang="bg-BG" dirty="0"/>
              <a:t>Това допълнително движение е затихващо</a:t>
            </a:r>
          </a:p>
          <a:p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Ъглите и разстоянието се получават с линейна комбинация от каквото е и каквото трябва да е</a:t>
            </a:r>
          </a:p>
          <a:p>
            <a:pPr lvl="1"/>
            <a:r>
              <a:rPr lang="bg-BG" dirty="0"/>
              <a:t>Променливите </a:t>
            </a:r>
            <a:r>
              <a:rPr lang="en-US" b="1" dirty="0" err="1"/>
              <a:t>viewA</a:t>
            </a:r>
            <a:r>
              <a:rPr lang="en-US" dirty="0"/>
              <a:t>, </a:t>
            </a:r>
            <a:r>
              <a:rPr lang="en-US" b="1" dirty="0" err="1"/>
              <a:t>viewB</a:t>
            </a:r>
            <a:r>
              <a:rPr lang="bg-BG" dirty="0"/>
              <a:t> и</a:t>
            </a:r>
            <a:r>
              <a:rPr lang="en-US" dirty="0"/>
              <a:t> </a:t>
            </a:r>
            <a:r>
              <a:rPr lang="en-US" b="1" dirty="0" err="1"/>
              <a:t>viewD</a:t>
            </a:r>
            <a:r>
              <a:rPr lang="en-US" dirty="0"/>
              <a:t> </a:t>
            </a:r>
            <a:r>
              <a:rPr lang="bg-BG" dirty="0"/>
              <a:t>са</a:t>
            </a:r>
            <a:r>
              <a:rPr lang="en-US" dirty="0"/>
              <a:t> </a:t>
            </a:r>
            <a:r>
              <a:rPr lang="bg-BG" dirty="0"/>
              <a:t>каквото трябва да е</a:t>
            </a:r>
          </a:p>
          <a:p>
            <a:pPr lvl="1"/>
            <a:r>
              <a:rPr lang="bg-BG" dirty="0"/>
              <a:t>Променливите </a:t>
            </a:r>
            <a:r>
              <a:rPr lang="en-US" b="1" dirty="0" err="1"/>
              <a:t>realA</a:t>
            </a:r>
            <a:r>
              <a:rPr lang="en-US" dirty="0"/>
              <a:t>, </a:t>
            </a:r>
            <a:r>
              <a:rPr lang="en-US" b="1" dirty="0" err="1"/>
              <a:t>realB</a:t>
            </a:r>
            <a:r>
              <a:rPr lang="bg-BG" dirty="0"/>
              <a:t> и </a:t>
            </a:r>
            <a:r>
              <a:rPr lang="en-US" b="1" dirty="0" err="1"/>
              <a:t>realD</a:t>
            </a:r>
            <a:r>
              <a:rPr lang="bg-BG" dirty="0"/>
              <a:t> са каквото е в момента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419600"/>
            <a:ext cx="8534400" cy="2133600"/>
          </a:xfrm>
          <a:prstGeom prst="snip2DiagRect">
            <a:avLst>
              <a:gd name="adj1" fmla="val 0"/>
              <a:gd name="adj2" fmla="val 1300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(k&gt;1) k=1;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*(1-k)+k*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viewA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realB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realB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*(1-k)+k*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viewB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realD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*(1-k)+k*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*cos(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)*cos(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realB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*sin(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realA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)*cos(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realB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gl.uniform1f(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realD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73549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756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Следене и избиране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5791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Следене на мишката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Връзки графичен обект–мишка</a:t>
            </a:r>
          </a:p>
          <a:p>
            <a:pPr lvl="1"/>
            <a:r>
              <a:rPr lang="bg-BG" dirty="0"/>
              <a:t>Обект следва мишката </a:t>
            </a:r>
          </a:p>
          <a:p>
            <a:pPr lvl="1"/>
            <a:r>
              <a:rPr lang="bg-BG" dirty="0"/>
              <a:t>Обект се влачи с мишката</a:t>
            </a:r>
          </a:p>
          <a:p>
            <a:endParaRPr lang="bg-BG" dirty="0"/>
          </a:p>
          <a:p>
            <a:r>
              <a:rPr lang="bg-BG" dirty="0"/>
              <a:t>Следене на мишката</a:t>
            </a:r>
          </a:p>
          <a:p>
            <a:pPr lvl="1"/>
            <a:r>
              <a:rPr lang="bg-BG" dirty="0"/>
              <a:t>По-лесно се реализира</a:t>
            </a:r>
          </a:p>
          <a:p>
            <a:pPr lvl="1"/>
            <a:r>
              <a:rPr lang="bg-BG" dirty="0"/>
              <a:t>Не изисква избиране на текущ обект</a:t>
            </a:r>
          </a:p>
          <a:p>
            <a:pPr lvl="1"/>
            <a:r>
              <a:rPr lang="bg-BG" dirty="0"/>
              <a:t>Удобно с ортогонална проекция</a:t>
            </a:r>
          </a:p>
        </p:txBody>
      </p:sp>
    </p:spTree>
    <p:extLst>
      <p:ext uri="{BB962C8B-B14F-4D97-AF65-F5344CB8AC3E}">
        <p14:creationId xmlns:p14="http://schemas.microsoft.com/office/powerpoint/2010/main" val="28954693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Твърда връзка</a:t>
            </a:r>
          </a:p>
          <a:p>
            <a:pPr lvl="1"/>
            <a:r>
              <a:rPr lang="bg-BG" dirty="0"/>
              <a:t>Обектът е “закачен” за мишката</a:t>
            </a:r>
          </a:p>
          <a:p>
            <a:pPr lvl="1"/>
            <a:r>
              <a:rPr lang="bg-BG" dirty="0"/>
              <a:t>Движи се точно като нея</a:t>
            </a:r>
          </a:p>
          <a:p>
            <a:pPr lvl="1"/>
            <a:r>
              <a:rPr lang="bg-BG" dirty="0"/>
              <a:t>Движи се само когато тя се движи</a:t>
            </a:r>
          </a:p>
          <a:p>
            <a:pPr lvl="1"/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Тривиална, подобна на рисуването с мишка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105400"/>
            <a:ext cx="8534400" cy="1447800"/>
          </a:xfrm>
          <a:prstGeom prst="snip2DiagRect">
            <a:avLst>
              <a:gd name="adj1" fmla="val 0"/>
              <a:gd name="adj2" fmla="val 1858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mouseMove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(event),0];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8169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586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Мека връзка</a:t>
            </a:r>
          </a:p>
          <a:p>
            <a:pPr lvl="1"/>
            <a:r>
              <a:rPr lang="bg-BG" dirty="0"/>
              <a:t>Обектът е закачен като с ластик</a:t>
            </a:r>
          </a:p>
          <a:p>
            <a:pPr lvl="1"/>
            <a:r>
              <a:rPr lang="bg-BG" dirty="0"/>
              <a:t>Движи се почти като мишката</a:t>
            </a:r>
          </a:p>
          <a:p>
            <a:pPr lvl="1"/>
            <a:r>
              <a:rPr lang="bg-BG" dirty="0"/>
              <a:t>Движи се и след като тя спре да се движи</a:t>
            </a:r>
          </a:p>
          <a:p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Аналогична на инерцията</a:t>
            </a:r>
          </a:p>
          <a:p>
            <a:pPr lvl="1"/>
            <a:r>
              <a:rPr lang="bg-BG" dirty="0"/>
              <a:t>Задава се цел на координатите, а не самите координати</a:t>
            </a:r>
          </a:p>
          <a:p>
            <a:pPr lvl="1"/>
            <a:r>
              <a:rPr lang="bg-BG" dirty="0"/>
              <a:t>Коефициентът </a:t>
            </a:r>
            <a:r>
              <a:rPr lang="en-US" b="1" dirty="0"/>
              <a:t>k</a:t>
            </a:r>
            <a:r>
              <a:rPr lang="bg-BG" dirty="0"/>
              <a:t> на линейна комбинация определя твърдостта на връзката; при </a:t>
            </a:r>
            <a:r>
              <a:rPr lang="en-US" b="1" dirty="0"/>
              <a:t>k=1</a:t>
            </a:r>
            <a:r>
              <a:rPr lang="bg-BG" dirty="0"/>
              <a:t> е твърда, при </a:t>
            </a:r>
            <a:r>
              <a:rPr lang="en-US" b="1" dirty="0"/>
              <a:t>k=0</a:t>
            </a:r>
            <a:r>
              <a:rPr lang="bg-BG" dirty="0"/>
              <a:t> изцяло липсва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105400"/>
            <a:ext cx="8534400" cy="1447800"/>
          </a:xfrm>
          <a:prstGeom prst="snip2DiagRect">
            <a:avLst>
              <a:gd name="adj1" fmla="val 0"/>
              <a:gd name="adj2" fmla="val 1858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*(1-k)+k*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[i-1].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*(1-k)+k*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[i-1].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  <a:p>
            <a:pPr marL="120650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2911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100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6" y="304800"/>
            <a:ext cx="615315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83567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Избиране с мишката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Основна цел</a:t>
            </a:r>
          </a:p>
          <a:p>
            <a:pPr lvl="1"/>
            <a:r>
              <a:rPr lang="bg-BG" dirty="0"/>
              <a:t>Да се намери графичният обект, върху който е мишката</a:t>
            </a:r>
          </a:p>
          <a:p>
            <a:pPr lvl="1"/>
            <a:endParaRPr lang="bg-BG" dirty="0"/>
          </a:p>
          <a:p>
            <a:r>
              <a:rPr lang="bg-BG" dirty="0"/>
              <a:t>Проблем</a:t>
            </a:r>
          </a:p>
          <a:p>
            <a:pPr lvl="1"/>
            <a:r>
              <a:rPr lang="bg-BG" dirty="0"/>
              <a:t>При прости форми, удобна гледна точка и проекция това може да бъде изчислено</a:t>
            </a:r>
          </a:p>
          <a:p>
            <a:pPr lvl="1"/>
            <a:r>
              <a:rPr lang="bg-BG" dirty="0"/>
              <a:t>При сложни форми, подвижна гледна точка или неприятна проекция изчислението може да е тежко</a:t>
            </a:r>
          </a:p>
          <a:p>
            <a:pPr lvl="1"/>
            <a:r>
              <a:rPr lang="bg-BG" dirty="0"/>
              <a:t>Няма подходяща вградена функция в </a:t>
            </a:r>
            <a:r>
              <a:rPr lang="en-US" dirty="0"/>
              <a:t>WebGL </a:t>
            </a:r>
            <a:r>
              <a:rPr lang="bg-BG" dirty="0"/>
              <a:t>или </a:t>
            </a:r>
            <a:r>
              <a:rPr lang="en-US" dirty="0" err="1"/>
              <a:t>GLSL</a:t>
            </a:r>
            <a:r>
              <a:rPr lang="bg-BG" dirty="0"/>
              <a:t> конкретно за избиране на графичен обект</a:t>
            </a:r>
          </a:p>
        </p:txBody>
      </p:sp>
    </p:spTree>
    <p:extLst>
      <p:ext uri="{BB962C8B-B14F-4D97-AF65-F5344CB8AC3E}">
        <p14:creationId xmlns:p14="http://schemas.microsoft.com/office/powerpoint/2010/main" val="2958114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</a:p>
          <a:p>
            <a:pPr lvl="1"/>
            <a:r>
              <a:rPr lang="bg-BG" dirty="0"/>
              <a:t>Сцената се </a:t>
            </a:r>
            <a:r>
              <a:rPr lang="bg-BG" dirty="0" err="1"/>
              <a:t>прерисува</a:t>
            </a:r>
            <a:r>
              <a:rPr lang="bg-BG" dirty="0"/>
              <a:t> с уникални и плоски цветове:</a:t>
            </a:r>
          </a:p>
          <a:p>
            <a:pPr marL="914400" lvl="2"/>
            <a:r>
              <a:rPr lang="bg-BG" dirty="0"/>
              <a:t>Уникални – всеки обект с различен цвят</a:t>
            </a:r>
          </a:p>
          <a:p>
            <a:pPr marL="914400" lvl="2"/>
            <a:r>
              <a:rPr lang="bg-BG" dirty="0"/>
              <a:t>Плоски – без светлосенки, без текстури</a:t>
            </a:r>
          </a:p>
          <a:p>
            <a:pPr lvl="1"/>
            <a:r>
              <a:rPr lang="bg-BG" dirty="0"/>
              <a:t>Прочита се цветът на търсения пиксел (най-често точно под курсора на мишката)</a:t>
            </a:r>
          </a:p>
          <a:p>
            <a:pPr lvl="1"/>
            <a:r>
              <a:rPr lang="bg-BG" dirty="0"/>
              <a:t>От този цвят се намира графичния обект</a:t>
            </a:r>
          </a:p>
          <a:p>
            <a:pPr lvl="1"/>
            <a:r>
              <a:rPr lang="bg-BG" dirty="0"/>
              <a:t>Сцената се </a:t>
            </a:r>
            <a:r>
              <a:rPr lang="bg-BG" dirty="0" err="1"/>
              <a:t>прерисува</a:t>
            </a:r>
            <a:r>
              <a:rPr lang="bg-BG" dirty="0"/>
              <a:t> с истинските цветове и текстури</a:t>
            </a:r>
          </a:p>
          <a:p>
            <a:pPr lvl="1"/>
            <a:endParaRPr lang="bg-BG" dirty="0"/>
          </a:p>
          <a:p>
            <a:r>
              <a:rPr lang="bg-BG" dirty="0"/>
              <a:t>За по-висока скорост</a:t>
            </a:r>
          </a:p>
          <a:p>
            <a:pPr lvl="1"/>
            <a:r>
              <a:rPr lang="bg-BG" dirty="0"/>
              <a:t>Плоското рисуване да е на малка зона</a:t>
            </a:r>
          </a:p>
          <a:p>
            <a:pPr lvl="1"/>
            <a:r>
              <a:rPr lang="bg-BG" dirty="0"/>
              <a:t>Четенето на цветове на пиксели да е на малка зона</a:t>
            </a:r>
          </a:p>
        </p:txBody>
      </p:sp>
    </p:spTree>
    <p:extLst>
      <p:ext uri="{BB962C8B-B14F-4D97-AF65-F5344CB8AC3E}">
        <p14:creationId xmlns:p14="http://schemas.microsoft.com/office/powerpoint/2010/main" val="2962389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Няколко обекта се въртят по екрана</a:t>
            </a:r>
          </a:p>
          <a:p>
            <a:pPr lvl="1"/>
            <a:r>
              <a:rPr lang="bg-BG" dirty="0"/>
              <a:t>При движение на мишката над графиката се прочита цветът под нея и се показва в цветен правоъгълник</a:t>
            </a:r>
          </a:p>
          <a:p>
            <a:pPr lvl="1"/>
            <a:r>
              <a:rPr lang="bg-BG" dirty="0"/>
              <a:t>Два режима на работа – с реални и с плоски цветове</a:t>
            </a:r>
          </a:p>
          <a:p>
            <a:pPr lvl="1"/>
            <a:endParaRPr lang="bg-BG" dirty="0"/>
          </a:p>
          <a:p>
            <a:r>
              <a:rPr lang="bg-BG" dirty="0"/>
              <a:t>Четене на цвят на пиксел</a:t>
            </a:r>
          </a:p>
          <a:p>
            <a:pPr lvl="1"/>
            <a:r>
              <a:rPr lang="bg-BG" dirty="0"/>
              <a:t>Използва се функцията </a:t>
            </a:r>
            <a:r>
              <a:rPr lang="en-US" b="1" dirty="0" err="1"/>
              <a:t>readPixels</a:t>
            </a:r>
            <a:r>
              <a:rPr lang="en-US" dirty="0"/>
              <a:t> </a:t>
            </a:r>
            <a:r>
              <a:rPr lang="bg-BG" dirty="0"/>
              <a:t>с параметри:</a:t>
            </a:r>
          </a:p>
          <a:p>
            <a:pPr marL="1257300" lvl="2" indent="-342900">
              <a:buFont typeface="+mj-lt"/>
              <a:buAutoNum type="arabicPeriod"/>
            </a:pPr>
            <a:r>
              <a:rPr lang="bg-BG" dirty="0"/>
              <a:t>Координати на пиксел при координатна система с начало долния ляв ъгъл на графичното поле (</a:t>
            </a:r>
            <a:r>
              <a:rPr lang="en-US" b="1" dirty="0" err="1"/>
              <a:t>mouseX</a:t>
            </a:r>
            <a:r>
              <a:rPr lang="en-US" dirty="0"/>
              <a:t>, </a:t>
            </a:r>
            <a:r>
              <a:rPr lang="en-US" b="1" dirty="0" err="1"/>
              <a:t>mouseY</a:t>
            </a:r>
            <a:r>
              <a:rPr lang="en-US" dirty="0"/>
              <a:t>)</a:t>
            </a:r>
            <a:endParaRPr lang="bg-BG" dirty="0"/>
          </a:p>
          <a:p>
            <a:pPr marL="1257300" lvl="2" indent="-342900">
              <a:buFont typeface="+mj-lt"/>
              <a:buAutoNum type="arabicPeriod"/>
            </a:pPr>
            <a:r>
              <a:rPr lang="bg-BG" dirty="0"/>
              <a:t>Размери на правоъгълник за четене (1х1 </a:t>
            </a:r>
            <a:r>
              <a:rPr lang="en-US" dirty="0"/>
              <a:t>= 1 </a:t>
            </a:r>
            <a:r>
              <a:rPr lang="bg-BG" dirty="0"/>
              <a:t>пиксел)</a:t>
            </a:r>
          </a:p>
          <a:p>
            <a:pPr marL="1257300" lvl="2" indent="-342900">
              <a:buFont typeface="+mj-lt"/>
              <a:buAutoNum type="arabicPeriod"/>
            </a:pPr>
            <a:r>
              <a:rPr lang="bg-BG" dirty="0"/>
              <a:t>Какви данни да се четат (</a:t>
            </a:r>
            <a:r>
              <a:rPr lang="en-US" b="1" dirty="0" err="1"/>
              <a:t>RGB</a:t>
            </a:r>
            <a:r>
              <a:rPr lang="en-US" dirty="0"/>
              <a:t>+</a:t>
            </a:r>
            <a:r>
              <a:rPr lang="bg-BG" dirty="0"/>
              <a:t>прозрачност)</a:t>
            </a:r>
          </a:p>
          <a:p>
            <a:pPr marL="1257300" lvl="2" indent="-342900">
              <a:buFont typeface="+mj-lt"/>
              <a:buAutoNum type="arabicPeriod"/>
            </a:pPr>
            <a:r>
              <a:rPr lang="bg-BG" dirty="0"/>
              <a:t>В какъв формат да се четат (байтове без знак)</a:t>
            </a:r>
          </a:p>
          <a:p>
            <a:pPr marL="1257300" lvl="2" indent="-342900">
              <a:buFont typeface="+mj-lt"/>
              <a:buAutoNum type="arabicPeriod"/>
            </a:pPr>
            <a:r>
              <a:rPr lang="bg-BG" dirty="0"/>
              <a:t>Буфер</a:t>
            </a:r>
            <a:r>
              <a:rPr lang="en-US" dirty="0"/>
              <a:t> </a:t>
            </a:r>
            <a:r>
              <a:rPr lang="bg-BG" dirty="0"/>
              <a:t>за записване на прочетените цветове (</a:t>
            </a:r>
            <a:r>
              <a:rPr lang="en-US" b="1" dirty="0" err="1"/>
              <a:t>pixelValues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715000"/>
            <a:ext cx="8534400" cy="838200"/>
          </a:xfrm>
          <a:prstGeom prst="snip2DiagRect">
            <a:avLst>
              <a:gd name="adj1" fmla="val 0"/>
              <a:gd name="adj2" fmla="val 2981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Uint8Array(4);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readPixels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(mouseX,mouseY,1,1,gl.RGBA,gl.UNSIGNED_BYTE,pixelValues);</a:t>
            </a:r>
          </a:p>
        </p:txBody>
      </p:sp>
    </p:spTree>
    <p:extLst>
      <p:ext uri="{BB962C8B-B14F-4D97-AF65-F5344CB8AC3E}">
        <p14:creationId xmlns:p14="http://schemas.microsoft.com/office/powerpoint/2010/main" val="3582642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Режим на рисуване</a:t>
            </a:r>
          </a:p>
          <a:p>
            <a:pPr lvl="1"/>
            <a:r>
              <a:rPr lang="bg-BG" dirty="0"/>
              <a:t>Всеки обект има уникален плосък цвят в </a:t>
            </a:r>
            <a:r>
              <a:rPr lang="en-US" b="1" dirty="0" err="1"/>
              <a:t>selectColor</a:t>
            </a:r>
            <a:r>
              <a:rPr lang="bg-BG" dirty="0"/>
              <a:t>, който се използва преди самото рисуване на обекта</a:t>
            </a:r>
          </a:p>
          <a:p>
            <a:pPr lvl="1"/>
            <a:r>
              <a:rPr lang="bg-BG" dirty="0"/>
              <a:t>Променлива </a:t>
            </a:r>
            <a:r>
              <a:rPr lang="en-US" b="1" dirty="0" err="1"/>
              <a:t>selectMode</a:t>
            </a:r>
            <a:r>
              <a:rPr lang="bg-BG" dirty="0"/>
              <a:t> определя дали сме в режим на рисуване с плоски цветове или не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362200"/>
            <a:ext cx="8534400" cy="4191000"/>
          </a:xfrm>
          <a:prstGeom prst="snip2DiagRect">
            <a:avLst>
              <a:gd name="adj1" fmla="val 0"/>
              <a:gd name="adj2" fmla="val 594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tor[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/(n-1),0,1-i/(n-1)];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gl.uniform1i(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uSelectMode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selectMode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selectMode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gl.clearColor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(0,0,0,1);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gl.clearColor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(0.9,1,0.9,1);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gl.uniform3fv(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uSelectColor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,tor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tor[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].draw();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2609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Промяна в </a:t>
            </a:r>
            <a:r>
              <a:rPr lang="bg-BG" dirty="0" err="1"/>
              <a:t>шейдъра</a:t>
            </a:r>
            <a:r>
              <a:rPr lang="bg-BG" dirty="0"/>
              <a:t> за върхове</a:t>
            </a:r>
          </a:p>
          <a:p>
            <a:pPr lvl="1"/>
            <a:r>
              <a:rPr lang="en-US" b="1" dirty="0" err="1"/>
              <a:t>selectMode</a:t>
            </a:r>
            <a:r>
              <a:rPr lang="bg-BG" dirty="0"/>
              <a:t> и </a:t>
            </a:r>
            <a:r>
              <a:rPr lang="en-US" b="1" dirty="0" err="1"/>
              <a:t>selectColor</a:t>
            </a:r>
            <a:r>
              <a:rPr lang="bg-BG" dirty="0"/>
              <a:t>  се прехвърлят в глобалните </a:t>
            </a:r>
            <a:r>
              <a:rPr lang="bg-BG" dirty="0" err="1"/>
              <a:t>шейдърни</a:t>
            </a:r>
            <a:r>
              <a:rPr lang="bg-BG" dirty="0"/>
              <a:t> променливи </a:t>
            </a:r>
            <a:r>
              <a:rPr lang="en-US" b="1" dirty="0" err="1"/>
              <a:t>uSelectMode</a:t>
            </a:r>
            <a:r>
              <a:rPr lang="bg-BG" dirty="0"/>
              <a:t> и </a:t>
            </a:r>
            <a:r>
              <a:rPr lang="en-US" b="1" dirty="0" err="1"/>
              <a:t>uSelectColor</a:t>
            </a:r>
            <a:endParaRPr lang="en-US" b="1" dirty="0"/>
          </a:p>
          <a:p>
            <a:pPr lvl="1"/>
            <a:r>
              <a:rPr lang="bg-BG" dirty="0"/>
              <a:t>Ако </a:t>
            </a:r>
            <a:r>
              <a:rPr lang="en-US" b="1" dirty="0" err="1"/>
              <a:t>uSelectMode</a:t>
            </a:r>
            <a:r>
              <a:rPr lang="bg-BG" dirty="0"/>
              <a:t> е </a:t>
            </a:r>
            <a:r>
              <a:rPr lang="en-US" dirty="0"/>
              <a:t>true, </a:t>
            </a:r>
            <a:r>
              <a:rPr lang="bg-BG" dirty="0"/>
              <a:t>изчисленията за цвят на връх се прескачат, а за цвят се използва директно </a:t>
            </a:r>
            <a:r>
              <a:rPr lang="en-US" b="1" dirty="0" err="1"/>
              <a:t>selectColor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286000"/>
            <a:ext cx="8534400" cy="4267200"/>
          </a:xfrm>
          <a:prstGeom prst="snip2DiagRect">
            <a:avLst>
              <a:gd name="adj1" fmla="val 0"/>
              <a:gd name="adj2" fmla="val 741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bool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uSelectMode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vec3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 ()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mat4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uViewMatrix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uModelMatrix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gl_Position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uProjectionMatrix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vec4(aXYZ,1);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uSelectMode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uSelectColor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uDiffuseColor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*abs(dot(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normal,light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1265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77" y="1101436"/>
            <a:ext cx="4261923" cy="415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477" y="1101436"/>
            <a:ext cx="4261923" cy="415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0416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Избиране на обект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Уникални плоски цветове</a:t>
            </a:r>
          </a:p>
          <a:p>
            <a:pPr lvl="1"/>
            <a:r>
              <a:rPr lang="bg-BG" dirty="0"/>
              <a:t>Позволяват от прочетения цвят да се намери обекта</a:t>
            </a:r>
          </a:p>
          <a:p>
            <a:pPr lvl="1"/>
            <a:endParaRPr lang="bg-BG" dirty="0"/>
          </a:p>
          <a:p>
            <a:r>
              <a:rPr lang="bg-BG" dirty="0"/>
              <a:t>Проблем при заглаждане на контурите</a:t>
            </a:r>
          </a:p>
          <a:p>
            <a:pPr lvl="1"/>
            <a:r>
              <a:rPr lang="bg-BG" dirty="0"/>
              <a:t>Малък проблем – прочитаме цвят, който не сме задали</a:t>
            </a:r>
          </a:p>
          <a:p>
            <a:pPr lvl="1"/>
            <a:r>
              <a:rPr lang="bg-BG" dirty="0"/>
              <a:t>Голям проблем – прочитаме цвят, който по случайност съответства на плоския цвят на друг обект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0" y="4442009"/>
            <a:ext cx="2291229" cy="180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39944" y="4442009"/>
            <a:ext cx="3469342" cy="1807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77000" y="4442009"/>
            <a:ext cx="2291229" cy="1807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977900" y="4804296"/>
            <a:ext cx="639014" cy="3328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 9"/>
          <p:cNvSpPr/>
          <p:nvPr/>
        </p:nvSpPr>
        <p:spPr>
          <a:xfrm>
            <a:off x="4597400" y="4857750"/>
            <a:ext cx="838200" cy="609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60743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  <a:p>
            <a:pPr lvl="1"/>
            <a:r>
              <a:rPr lang="bg-BG" dirty="0"/>
              <a:t>По подразбиране </a:t>
            </a:r>
            <a:r>
              <a:rPr lang="en-US" dirty="0"/>
              <a:t>WebGL</a:t>
            </a:r>
            <a:r>
              <a:rPr lang="bg-BG" dirty="0"/>
              <a:t> прави заглаждане</a:t>
            </a:r>
          </a:p>
          <a:p>
            <a:pPr lvl="1"/>
            <a:r>
              <a:rPr lang="bg-BG" dirty="0"/>
              <a:t>Може да се изключи, ако при създаване на контекста с </a:t>
            </a:r>
            <a:r>
              <a:rPr lang="en-US" b="1" dirty="0" err="1"/>
              <a:t>getContext</a:t>
            </a:r>
            <a:r>
              <a:rPr lang="bg-BG" dirty="0"/>
              <a:t> се подаде параметър </a:t>
            </a:r>
            <a:r>
              <a:rPr lang="en-US" dirty="0"/>
              <a:t>{</a:t>
            </a:r>
            <a:r>
              <a:rPr lang="en-US" b="1" dirty="0" err="1"/>
              <a:t>antialias</a:t>
            </a:r>
            <a:r>
              <a:rPr lang="en-US" dirty="0"/>
              <a:t>: false}</a:t>
            </a:r>
          </a:p>
          <a:p>
            <a:pPr lvl="1"/>
            <a:r>
              <a:rPr lang="bg-BG" dirty="0"/>
              <a:t>Преимущество: плоските цветове са наистина плоски</a:t>
            </a:r>
          </a:p>
          <a:p>
            <a:pPr lvl="1"/>
            <a:r>
              <a:rPr lang="bg-BG" dirty="0"/>
              <a:t>Недостатък: формите при реалната сцена са ръбести</a:t>
            </a:r>
            <a:endParaRPr lang="en-US" dirty="0"/>
          </a:p>
          <a:p>
            <a:pPr lvl="1"/>
            <a:endParaRPr lang="bg-BG" dirty="0"/>
          </a:p>
          <a:p>
            <a:r>
              <a:rPr lang="bg-BG" dirty="0"/>
              <a:t>Решение №2</a:t>
            </a:r>
          </a:p>
          <a:p>
            <a:pPr lvl="1"/>
            <a:r>
              <a:rPr lang="bg-BG" dirty="0"/>
              <a:t>Два контекста – със заглаждане и без заглаждане</a:t>
            </a:r>
          </a:p>
          <a:p>
            <a:pPr lvl="1"/>
            <a:r>
              <a:rPr lang="bg-BG" dirty="0"/>
              <a:t>Единият ползваме за показване, другият за избиране</a:t>
            </a:r>
          </a:p>
          <a:p>
            <a:pPr lvl="1"/>
            <a:r>
              <a:rPr lang="bg-BG" dirty="0"/>
              <a:t>Преимущество: плоските цветове са плоски, обектите са със заглаждане</a:t>
            </a:r>
          </a:p>
          <a:p>
            <a:pPr lvl="1"/>
            <a:r>
              <a:rPr lang="bg-BG" dirty="0"/>
              <a:t>Недостатък: двойно повече ресурси, компилация в два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169429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  <a:p>
            <a:pPr lvl="1"/>
            <a:r>
              <a:rPr lang="bg-BG" dirty="0"/>
              <a:t>Избираме няколко 2х2 съседни пиксела</a:t>
            </a:r>
          </a:p>
          <a:p>
            <a:pPr lvl="1"/>
            <a:r>
              <a:rPr lang="bg-BG" dirty="0"/>
              <a:t>Ако сме на контур – те ще са с различни цветове</a:t>
            </a:r>
          </a:p>
          <a:p>
            <a:pPr lvl="1"/>
            <a:r>
              <a:rPr lang="bg-BG" dirty="0"/>
              <a:t>Ако сме във вътрешност – </a:t>
            </a:r>
            <a:r>
              <a:rPr lang="bg-BG"/>
              <a:t>ще са с </a:t>
            </a:r>
            <a:r>
              <a:rPr lang="bg-BG" dirty="0"/>
              <a:t>еднакви цветове</a:t>
            </a:r>
          </a:p>
          <a:p>
            <a:pPr lvl="1"/>
            <a:r>
              <a:rPr lang="bg-BG" dirty="0"/>
              <a:t>Червената компонента на цвета (като стойност на байт) е индекса на обекта</a:t>
            </a:r>
          </a:p>
          <a:p>
            <a:pPr lvl="1"/>
            <a:r>
              <a:rPr lang="bg-BG" dirty="0"/>
              <a:t>Синята компонента на цвета ползваме за разграничаване на фона от обектите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505200"/>
            <a:ext cx="8534400" cy="3048000"/>
          </a:xfrm>
          <a:prstGeom prst="snip2DiagRect">
            <a:avLst>
              <a:gd name="adj1" fmla="val 0"/>
              <a:gd name="adj2" fmla="val 923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tor[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/255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gl.clearColor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(0,0,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,1);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gl.readPixels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(mouseX,mouseY,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2,2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,gl.RGBA,gl.UNSIGNED_BYTE,pixelValues);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selected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-1;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[8]</a:t>
            </a:r>
            <a:endParaRPr lang="bg-BG" sz="17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[12]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[2]==255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34925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selected =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pixelValues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  <a:endParaRPr lang="bg-BG" sz="17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12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81000"/>
            <a:ext cx="61531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24507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Събития</a:t>
            </a:r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Свойства и методи на събитие</a:t>
            </a:r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88851"/>
              </p:ext>
            </p:extLst>
          </p:nvPr>
        </p:nvGraphicFramePr>
        <p:xfrm>
          <a:off x="609600" y="4622800"/>
          <a:ext cx="8077200" cy="13208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clientX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Координата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X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спрямо прозореца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clientY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Координата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Y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спрямо прозореца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preventDefault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Игнорира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подразбиращата се обработка на събитие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641084"/>
              </p:ext>
            </p:extLst>
          </p:nvPr>
        </p:nvGraphicFramePr>
        <p:xfrm>
          <a:off x="609600" y="2032000"/>
          <a:ext cx="8077200" cy="18542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mousemove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Движение на мишката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mousedown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Натискане на бутон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mouseup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Пускане на бутон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mouseout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Излизане извън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contextmenu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Показване на контекстно меню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90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WebGL</a:t>
            </a:r>
            <a:endParaRPr lang="bg-B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872210"/>
              </p:ext>
            </p:extLst>
          </p:nvPr>
        </p:nvGraphicFramePr>
        <p:xfrm>
          <a:off x="609600" y="990600"/>
          <a:ext cx="8077200" cy="15290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readPixel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Прочита</a:t>
                      </a:r>
                      <a:r>
                        <a:rPr lang="bg-BG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цветовете от правоъгълна зона на избран </a:t>
                      </a: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WebGL </a:t>
                      </a:r>
                      <a:r>
                        <a:rPr lang="bg-BG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буфер</a:t>
                      </a:r>
                      <a:endParaRPr lang="bg-BG" sz="1600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RGBA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4-компонентен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формат на данни – </a:t>
                      </a:r>
                      <a:r>
                        <a:rPr lang="en-US" sz="1600" baseline="0" noProof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RGB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 прозрачност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antialias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Опционален параметър на </a:t>
                      </a:r>
                      <a:r>
                        <a:rPr lang="en-US" sz="1600" noProof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getContext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8482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52952</TotalTime>
  <Words>3763</Words>
  <Application>Microsoft Office PowerPoint</Application>
  <PresentationFormat>On-screen Show (4:3)</PresentationFormat>
  <Paragraphs>674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Arial Black</vt:lpstr>
      <vt:lpstr>Calibri</vt:lpstr>
      <vt:lpstr>Cambria Math</vt:lpstr>
      <vt:lpstr>Century Gothic</vt:lpstr>
      <vt:lpstr>Consolas</vt:lpstr>
      <vt:lpstr>Symbol</vt:lpstr>
      <vt:lpstr>Times New Roman</vt:lpstr>
      <vt:lpstr>Wingdings 2</vt:lpstr>
      <vt:lpstr>Austin</vt:lpstr>
      <vt:lpstr>Интерактивност</vt:lpstr>
      <vt:lpstr>В тази лекция</vt:lpstr>
      <vt:lpstr>PowerPoint Presentation</vt:lpstr>
      <vt:lpstr>Събития на мишката</vt:lpstr>
      <vt:lpstr>Свойства</vt:lpstr>
      <vt:lpstr>Координати</vt:lpstr>
      <vt:lpstr>PowerPoint Presentation</vt:lpstr>
      <vt:lpstr>PowerPoint Presentation</vt:lpstr>
      <vt:lpstr>PowerPoint Presentation</vt:lpstr>
      <vt:lpstr>Рисуване</vt:lpstr>
      <vt:lpstr>PowerPoint Presentation</vt:lpstr>
      <vt:lpstr>PowerPoint Presentation</vt:lpstr>
      <vt:lpstr>Рисуване на линии</vt:lpstr>
      <vt:lpstr>PowerPoint Presentation</vt:lpstr>
      <vt:lpstr>PowerPoint Presentation</vt:lpstr>
      <vt:lpstr>PowerPoint Presentation</vt:lpstr>
      <vt:lpstr>Чертане</vt:lpstr>
      <vt:lpstr>Реализация</vt:lpstr>
      <vt:lpstr>PowerPoint Presentation</vt:lpstr>
      <vt:lpstr>PowerPoint Presentation</vt:lpstr>
      <vt:lpstr>Особености</vt:lpstr>
      <vt:lpstr>Тестване</vt:lpstr>
      <vt:lpstr>PowerPoint Presentation</vt:lpstr>
      <vt:lpstr>PowerPoint Presentation</vt:lpstr>
      <vt:lpstr>Интерактивност и гледна точка</vt:lpstr>
      <vt:lpstr>PowerPoint Presentation</vt:lpstr>
      <vt:lpstr>Сцена в 2D</vt:lpstr>
      <vt:lpstr>PowerPoint Presentation</vt:lpstr>
      <vt:lpstr>PowerPoint Presentation</vt:lpstr>
      <vt:lpstr>PowerPoint Presentation</vt:lpstr>
      <vt:lpstr>Увеличаване в 2D</vt:lpstr>
      <vt:lpstr>PowerPoint Presentation</vt:lpstr>
      <vt:lpstr>PowerPoint Presentation</vt:lpstr>
      <vt:lpstr>PowerPoint Presentation</vt:lpstr>
      <vt:lpstr>Въртене в 2D</vt:lpstr>
      <vt:lpstr>PowerPoint Presentation</vt:lpstr>
      <vt:lpstr>PowerPoint Presentation</vt:lpstr>
      <vt:lpstr>PowerPoint Presentation</vt:lpstr>
      <vt:lpstr>PowerPoint Presentation</vt:lpstr>
      <vt:lpstr>Интерактивност в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Следене на мишката</vt:lpstr>
      <vt:lpstr>PowerPoint Presentation</vt:lpstr>
      <vt:lpstr>PowerPoint Presentation</vt:lpstr>
      <vt:lpstr>PowerPoint Presentation</vt:lpstr>
      <vt:lpstr>PowerPoint Presentation</vt:lpstr>
      <vt:lpstr>Избиране с мишката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Избиране на обект</vt:lpstr>
      <vt:lpstr>PowerPoint Presentation</vt:lpstr>
      <vt:lpstr>PowerPoint Presentation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WebGL-22. Interactivity</dc:title>
  <dc:creator>Pavel Boytchev</dc:creator>
  <cp:lastModifiedBy>Pavel Boytchev</cp:lastModifiedBy>
  <cp:revision>1898</cp:revision>
  <dcterms:created xsi:type="dcterms:W3CDTF">2013-12-13T09:03:57Z</dcterms:created>
  <dcterms:modified xsi:type="dcterms:W3CDTF">2021-11-02T12:46:20Z</dcterms:modified>
</cp:coreProperties>
</file>