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6"/>
  </p:notesMasterIdLst>
  <p:sldIdLst>
    <p:sldId id="256" r:id="rId2"/>
    <p:sldId id="294" r:id="rId3"/>
    <p:sldId id="296" r:id="rId4"/>
    <p:sldId id="297" r:id="rId5"/>
    <p:sldId id="306" r:id="rId6"/>
    <p:sldId id="300" r:id="rId7"/>
    <p:sldId id="303" r:id="rId8"/>
    <p:sldId id="258" r:id="rId9"/>
    <p:sldId id="298" r:id="rId10"/>
    <p:sldId id="261" r:id="rId11"/>
    <p:sldId id="307" r:id="rId12"/>
    <p:sldId id="262" r:id="rId13"/>
    <p:sldId id="314" r:id="rId14"/>
    <p:sldId id="323" r:id="rId15"/>
    <p:sldId id="309" r:id="rId16"/>
    <p:sldId id="310" r:id="rId17"/>
    <p:sldId id="311" r:id="rId18"/>
    <p:sldId id="312" r:id="rId19"/>
    <p:sldId id="313" r:id="rId20"/>
    <p:sldId id="322" r:id="rId21"/>
    <p:sldId id="315" r:id="rId22"/>
    <p:sldId id="263" r:id="rId23"/>
    <p:sldId id="316" r:id="rId24"/>
    <p:sldId id="317" r:id="rId25"/>
    <p:sldId id="319" r:id="rId26"/>
    <p:sldId id="365" r:id="rId27"/>
    <p:sldId id="321" r:id="rId28"/>
    <p:sldId id="366" r:id="rId29"/>
    <p:sldId id="367" r:id="rId30"/>
    <p:sldId id="369" r:id="rId31"/>
    <p:sldId id="371" r:id="rId32"/>
    <p:sldId id="372" r:id="rId33"/>
    <p:sldId id="373" r:id="rId34"/>
    <p:sldId id="325" r:id="rId35"/>
    <p:sldId id="327" r:id="rId36"/>
    <p:sldId id="328" r:id="rId37"/>
    <p:sldId id="329" r:id="rId38"/>
    <p:sldId id="330" r:id="rId39"/>
    <p:sldId id="331" r:id="rId40"/>
    <p:sldId id="332" r:id="rId41"/>
    <p:sldId id="334" r:id="rId42"/>
    <p:sldId id="335" r:id="rId43"/>
    <p:sldId id="337" r:id="rId44"/>
    <p:sldId id="338" r:id="rId45"/>
    <p:sldId id="339" r:id="rId46"/>
    <p:sldId id="340" r:id="rId47"/>
    <p:sldId id="356" r:id="rId48"/>
    <p:sldId id="341" r:id="rId49"/>
    <p:sldId id="343" r:id="rId50"/>
    <p:sldId id="345" r:id="rId51"/>
    <p:sldId id="346" r:id="rId52"/>
    <p:sldId id="347" r:id="rId53"/>
    <p:sldId id="348" r:id="rId54"/>
    <p:sldId id="349" r:id="rId55"/>
    <p:sldId id="350" r:id="rId56"/>
    <p:sldId id="351" r:id="rId57"/>
    <p:sldId id="352" r:id="rId58"/>
    <p:sldId id="353" r:id="rId59"/>
    <p:sldId id="354" r:id="rId60"/>
    <p:sldId id="355" r:id="rId61"/>
    <p:sldId id="363" r:id="rId62"/>
    <p:sldId id="364" r:id="rId63"/>
    <p:sldId id="358" r:id="rId64"/>
    <p:sldId id="359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BD63"/>
    <a:srgbClr val="006600"/>
    <a:srgbClr val="336600"/>
    <a:srgbClr val="BBD979"/>
    <a:srgbClr val="003300"/>
    <a:srgbClr val="339933"/>
    <a:srgbClr val="CAF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3" autoAdjust="0"/>
    <p:restoredTop sz="94660" autoAdjust="0"/>
  </p:normalViewPr>
  <p:slideViewPr>
    <p:cSldViewPr>
      <p:cViewPr varScale="1">
        <p:scale>
          <a:sx n="84" d="100"/>
          <a:sy n="84" d="100"/>
        </p:scale>
        <p:origin x="129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79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2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9ED2C-851F-4193-8C04-09F342F60FD1}" type="datetimeFigureOut">
              <a:rPr lang="bg-BG" smtClean="0"/>
              <a:pPr/>
              <a:t>7.11.2021 г.</a:t>
            </a:fld>
            <a:endParaRPr lang="bg-BG"/>
          </a:p>
        </p:txBody>
      </p:sp>
      <p:sp>
        <p:nvSpPr>
          <p:cNvPr id="4" name="Контейнер за изображение н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F07EE-69FA-4824-B30A-1662B7D73DD1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07627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mal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10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b="1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1pPr>
            <a:lvl2pPr>
              <a:defRPr lang="en-US" sz="20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lang="en-US" sz="1800" dirty="0" smtClean="0"/>
            </a:lvl3pPr>
            <a:lvl4pPr>
              <a:defRPr lang="en-US" sz="1600" dirty="0" smtClean="0"/>
            </a:lvl4pPr>
            <a:lvl5pPr>
              <a:defRPr lang="bg-BG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>
              <a:buClrTx/>
            </a:pPr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518689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>
              <a:defRPr sz="1200" b="1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pPr lvl="0"/>
            <a:fld id="{8B37D5FE-740C-46F5-801A-FA5477D9711F}" type="slidenum">
              <a:rPr lang="en-US" sz="1100" b="0" smtClean="0">
                <a:latin typeface="Arial" panose="020B0604020202020204" pitchFamily="34" charset="0"/>
                <a:cs typeface="Arial" panose="020B0604020202020204" pitchFamily="34" charset="0"/>
              </a:rPr>
              <a:pPr lvl="0"/>
              <a:t>‹#›</a:t>
            </a:fld>
            <a:endParaRPr lang="en-US" sz="11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894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457200" y="373680"/>
            <a:ext cx="8610600" cy="6408120"/>
          </a:xfrm>
        </p:spPr>
        <p:txBody>
          <a:bodyPr/>
          <a:lstStyle>
            <a:lvl1pPr>
              <a:defRPr lang="en-US" sz="2800" b="1" kern="1200" dirty="0" smtClean="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>
              <a:buClrTx/>
              <a:defRPr sz="2000">
                <a:solidFill>
                  <a:schemeClr val="tx1"/>
                </a:solidFill>
                <a:effectLst>
                  <a:outerShdw blurRad="63500" algn="ctr" rotWithShape="0">
                    <a:schemeClr val="tx1">
                      <a:alpha val="40000"/>
                    </a:schemeClr>
                  </a:outerShdw>
                </a:effectLst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marL="6858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817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bg-BG" dirty="0"/>
          </a:p>
        </p:txBody>
      </p:sp>
      <p:sp>
        <p:nvSpPr>
          <p:cNvPr id="7" name="Slide Number Placeholder 3"/>
          <p:cNvSpPr txBox="1">
            <a:spLocks/>
          </p:cNvSpPr>
          <p:nvPr userDrawn="1"/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defPPr>
              <a:defRPr lang="en-US"/>
            </a:defPPr>
            <a:lvl1pPr lvl="0">
              <a:defRPr sz="1100" b="0" cap="none" spc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8B37D5FE-740C-46F5-801A-FA5477D9711F}" type="slidenum">
              <a:rPr lang="en-US" smtClean="0"/>
              <a:pPr lv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852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6492875"/>
            <a:ext cx="531049" cy="365125"/>
          </a:xfrm>
          <a:prstGeom prst="rect">
            <a:avLst/>
          </a:prstGeom>
        </p:spPr>
        <p:txBody>
          <a:bodyPr vert="horz" lIns="45720" tIns="137160" rIns="0" bIns="91440" rtlCol="0" anchor="ctr"/>
          <a:lstStyle>
            <a:lvl1pPr>
              <a:defRPr lang="bg-BG" sz="1100" b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B37D5FE-740C-46F5-801A-FA5477D9711F}" type="slidenum">
              <a:rPr lang="bg-BG" smtClean="0"/>
              <a:pPr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21396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Snip Single Corner Rectangle 4"/>
          <p:cNvSpPr/>
          <p:nvPr userDrawn="1"/>
        </p:nvSpPr>
        <p:spPr>
          <a:xfrm flipH="1" flipV="1">
            <a:off x="890084" y="2505929"/>
            <a:ext cx="7796716" cy="3704864"/>
          </a:xfrm>
          <a:prstGeom prst="snip1Rect">
            <a:avLst>
              <a:gd name="adj" fmla="val 10229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033265" y="2665060"/>
            <a:ext cx="7501135" cy="20846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52388" indent="0">
              <a:buNone/>
              <a:defRPr lang="bg-BG" sz="4000" b="0" cap="none" baseline="0" dirty="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2510" y="4749747"/>
            <a:ext cx="7501890" cy="1274011"/>
          </a:xfrm>
          <a:effectLst>
            <a:outerShdw blurRad="63500" algn="ctr" rotWithShape="0">
              <a:prstClr val="black">
                <a:alpha val="2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Tx/>
              <a:buNone/>
              <a:defRPr lang="en-US" sz="2800" b="0" cap="none" baseline="0" dirty="0">
                <a:solidFill>
                  <a:srgbClr val="006600"/>
                </a:solidFill>
              </a:defRPr>
            </a:lvl1pPr>
          </a:lstStyle>
          <a:p>
            <a:pPr marL="0" lvl="0" indent="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</a:pPr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491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Snip Single Corner Rectangle 45"/>
          <p:cNvSpPr/>
          <p:nvPr/>
        </p:nvSpPr>
        <p:spPr>
          <a:xfrm flipH="1" flipV="1">
            <a:off x="1865551" y="-21511"/>
            <a:ext cx="6668849" cy="4885059"/>
          </a:xfrm>
          <a:prstGeom prst="snip1Rect">
            <a:avLst>
              <a:gd name="adj" fmla="val 7714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905000"/>
            <a:ext cx="6440634" cy="2209799"/>
          </a:xfrm>
        </p:spPr>
        <p:txBody>
          <a:bodyPr anchor="t">
            <a:noAutofit/>
          </a:bodyPr>
          <a:lstStyle>
            <a:lvl1pPr>
              <a:defRPr lang="en-US" sz="4400" b="0" kern="1200" dirty="0">
                <a:solidFill>
                  <a:srgbClr val="0066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</a:t>
            </a:r>
            <a:r>
              <a:rPr lang="bg-BG" dirty="0"/>
              <a:t> </a:t>
            </a:r>
            <a:r>
              <a:rPr lang="en-US" dirty="0"/>
              <a:t>Master title style</a:t>
            </a:r>
          </a:p>
        </p:txBody>
      </p:sp>
      <p:sp>
        <p:nvSpPr>
          <p:cNvPr id="72" name="Title 1"/>
          <p:cNvSpPr txBox="1">
            <a:spLocks/>
          </p:cNvSpPr>
          <p:nvPr userDrawn="1"/>
        </p:nvSpPr>
        <p:spPr>
          <a:xfrm>
            <a:off x="3777814" y="4478669"/>
            <a:ext cx="4644019" cy="321931"/>
          </a:xfrm>
          <a:prstGeom prst="rect">
            <a:avLst/>
          </a:prstGeom>
          <a:effectLst>
            <a:outerShdw blurRad="508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rtlCol="0">
            <a:noAutofit/>
          </a:bodyPr>
          <a:lstStyle>
            <a:lvl1pPr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000" b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63500" algn="ctr" rotWithShape="0">
                    <a:srgbClr val="003300">
                      <a:alpha val="50000"/>
                    </a:srgbClr>
                  </a:outerShdw>
                </a:effectLst>
                <a:ea typeface="+mj-ea"/>
                <a:cs typeface="Times New Roman"/>
              </a:defRPr>
            </a:lvl1pPr>
            <a:lvl2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2pPr>
            <a:lvl3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3pPr>
            <a:lvl4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4pPr>
            <a:lvl5pPr marL="0" indent="0">
              <a:spcBef>
                <a:spcPct val="0"/>
              </a:spcBef>
              <a:buClr>
                <a:schemeClr val="accent1"/>
              </a:buClr>
              <a:buSzPct val="76000"/>
              <a:buFont typeface="Wingdings 2" pitchFamily="18" charset="2"/>
              <a:buNone/>
              <a:defRPr lang="en-US" sz="2800" b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5pPr>
            <a:lvl6pPr marL="1517904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6pPr>
            <a:lvl7pPr marL="1719072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7pPr>
            <a:lvl8pPr marL="1920240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8pPr>
            <a:lvl9pPr marL="2121408" indent="-228600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>
                <a:solidFill>
                  <a:schemeClr val="tx2"/>
                </a:solidFill>
              </a:defRPr>
            </a:lvl9pPr>
          </a:lstStyle>
          <a:p>
            <a:pPr algn="r"/>
            <a:r>
              <a:rPr lang="bg-BG" sz="2000" dirty="0" err="1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Вл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.</a:t>
            </a:r>
            <a:r>
              <a:rPr lang="bg-BG" sz="2000" baseline="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 Бончев 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● </a:t>
            </a:r>
            <a:r>
              <a:rPr lang="bg-BG" sz="2000" dirty="0" err="1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ФМИ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 ● СУ ●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201</a:t>
            </a:r>
            <a:r>
              <a:rPr lang="bg-BG" sz="2000" dirty="0">
                <a:solidFill>
                  <a:schemeClr val="accent1">
                    <a:lumMod val="50000"/>
                  </a:schemeClr>
                </a:solidFill>
                <a:effectLst>
                  <a:outerShdw blurRad="63500" algn="ctr" rotWithShape="0">
                    <a:schemeClr val="accent1">
                      <a:alpha val="67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81200" y="1106795"/>
            <a:ext cx="6466241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3600" b="0" smtClean="0">
                <a:ln>
                  <a:solidFill>
                    <a:schemeClr val="tx1"/>
                  </a:solidFill>
                </a:ln>
                <a:solidFill>
                  <a:srgbClr val="003300"/>
                </a:solidFill>
                <a:effectLst>
                  <a:outerShdw blurRad="635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 lang="en-US" sz="1800" smtClean="0">
                <a:solidFill>
                  <a:schemeClr val="tx2"/>
                </a:solidFill>
              </a:defRPr>
            </a:lvl2pPr>
            <a:lvl3pPr>
              <a:defRPr lang="en-US" sz="1800" smtClean="0">
                <a:solidFill>
                  <a:schemeClr val="tx2"/>
                </a:solidFill>
              </a:defRPr>
            </a:lvl3pPr>
            <a:lvl4pPr>
              <a:defRPr lang="en-US" smtClean="0">
                <a:solidFill>
                  <a:schemeClr val="tx2"/>
                </a:solidFill>
              </a:defRPr>
            </a:lvl4pPr>
            <a:lvl5pPr>
              <a:defRPr lang="bg-BG" sz="1800">
                <a:solidFill>
                  <a:schemeClr val="tx2"/>
                </a:solidFill>
              </a:defRPr>
            </a:lvl5pPr>
          </a:lstStyle>
          <a:p>
            <a:pPr marL="0" lvl="0">
              <a:spcBef>
                <a:spcPct val="0"/>
              </a:spcBef>
            </a:pPr>
            <a:r>
              <a:rPr lang="en-US" dirty="0"/>
              <a:t>Click to edit Master text styles</a:t>
            </a:r>
            <a:endParaRPr lang="bg-BG" dirty="0"/>
          </a:p>
        </p:txBody>
      </p:sp>
      <p:sp>
        <p:nvSpPr>
          <p:cNvPr id="74" name="Snip Single Corner Rectangle 73"/>
          <p:cNvSpPr/>
          <p:nvPr userDrawn="1"/>
        </p:nvSpPr>
        <p:spPr>
          <a:xfrm flipH="1" flipV="1">
            <a:off x="2302463" y="4900020"/>
            <a:ext cx="6231936" cy="89423"/>
          </a:xfrm>
          <a:prstGeom prst="snip1Rect">
            <a:avLst>
              <a:gd name="adj" fmla="val 50000"/>
            </a:avLst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810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nip Diagonal Corner Rectangle 3"/>
          <p:cNvSpPr/>
          <p:nvPr/>
        </p:nvSpPr>
        <p:spPr>
          <a:xfrm>
            <a:off x="66260" y="72888"/>
            <a:ext cx="8993004" cy="6705600"/>
          </a:xfrm>
          <a:prstGeom prst="snip2DiagRect">
            <a:avLst>
              <a:gd name="adj1" fmla="val 0"/>
              <a:gd name="adj2" fmla="val 5797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7912" y="228600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00514" y="1371600"/>
            <a:ext cx="8505314" cy="5391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-6671" y="6492875"/>
            <a:ext cx="640379" cy="365125"/>
          </a:xfrm>
          <a:prstGeom prst="rect">
            <a:avLst/>
          </a:prstGeom>
        </p:spPr>
        <p:txBody>
          <a:bodyPr vert="horz" lIns="45720" tIns="91440" rIns="0" bIns="0" rtlCol="0" anchor="ctr"/>
          <a:lstStyle>
            <a:lvl1pPr algn="l">
              <a:defRPr lang="bg-BG" sz="1200" b="1" cap="none" spc="0" smtClean="0">
                <a:ln w="3175">
                  <a:noFill/>
                  <a:prstDash val="solid"/>
                </a:ln>
                <a:gradFill flip="none" rotWithShape="1">
                  <a:gsLst>
                    <a:gs pos="0">
                      <a:schemeClr val="bg2">
                        <a:tint val="85000"/>
                        <a:satMod val="155000"/>
                        <a:tint val="66000"/>
                        <a:satMod val="160000"/>
                      </a:schemeClr>
                    </a:gs>
                    <a:gs pos="50000">
                      <a:schemeClr val="bg2">
                        <a:tint val="85000"/>
                        <a:satMod val="155000"/>
                        <a:tint val="44500"/>
                        <a:satMod val="160000"/>
                      </a:schemeClr>
                    </a:gs>
                    <a:gs pos="100000">
                      <a:schemeClr val="bg2">
                        <a:tint val="85000"/>
                        <a:satMod val="155000"/>
                        <a:tint val="23500"/>
                        <a:satMod val="160000"/>
                      </a:schemeClr>
                    </a:gs>
                  </a:gsLst>
                  <a:lin ang="16200000" scaled="1"/>
                  <a:tileRect/>
                </a:gra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</a:defRPr>
            </a:lvl1pPr>
          </a:lstStyle>
          <a:p>
            <a:fld id="{C2B91535-A786-4613-A807-A416A35B3377}" type="slidenum">
              <a:rPr lang="bg-BG" smtClean="0"/>
              <a:pPr/>
              <a:t>‹#›</a:t>
            </a:fld>
            <a:endParaRPr lang="bg-BG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2" r:id="rId4"/>
    <p:sldLayoutId id="2147483803" r:id="rId5"/>
    <p:sldLayoutId id="2147483793" r:id="rId6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lang="en-US" sz="4000" kern="1200" dirty="0">
          <a:solidFill>
            <a:srgbClr val="003300"/>
          </a:solidFill>
          <a:effectLst>
            <a:outerShdw blurRad="63500" algn="ctr" rotWithShape="0">
              <a:srgbClr val="003300">
                <a:alpha val="40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685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2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rgbClr val="339933"/>
        </a:buClr>
        <a:buSzPct val="100000"/>
        <a:buFont typeface="Times New Roman" panose="02020603050405020304" pitchFamily="18" charset="0"/>
        <a:buChar char="●"/>
        <a:defRPr lang="en-US" sz="2400" kern="1200" dirty="0" smtClean="0">
          <a:solidFill>
            <a:srgbClr val="006600"/>
          </a:solidFill>
          <a:effectLst>
            <a:outerShdw blurRad="63500" algn="ctr" rotWithShape="0">
              <a:srgbClr val="339933">
                <a:alpha val="40000"/>
              </a:srgbClr>
            </a:outerShdw>
          </a:effectLst>
          <a:latin typeface="+mn-lt"/>
          <a:ea typeface="+mn-ea"/>
          <a:cs typeface="+mn-cs"/>
        </a:defRPr>
      </a:lvl2pPr>
      <a:lvl3pPr marL="68580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Tx/>
        <a:buNone/>
        <a:defRPr lang="en-US" sz="20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3pPr>
      <a:lvl4pPr marL="896112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800" kern="1200" dirty="0" smtClean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4pPr>
      <a:lvl5pPr marL="1097280" indent="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None/>
        <a:defRPr lang="en-US" sz="1600" kern="1200" baseline="0" dirty="0">
          <a:solidFill>
            <a:schemeClr val="tx1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01.Introduction/Introduction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01.Introduction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02.FirstAp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03.Five%20Cubes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04.Square/Square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04.Square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05.Hypnotic%20squares/hypnoSquares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hyperlink" Target="05.Hypnotic%20squares" TargetMode="Externa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06.hypnoticSquaresGame%20-%20part%20one/hypnoSquaresGame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hyperlink" Target="06.hypnoticSquaresGame%20-%20part%20one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07.hypnoticSquaresGame%20-%20part%20two/hypnoSquaresGameImproved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hyperlink" Target="07.hypnoticSquaresGame%20-%20part%20two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Turbulenz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Тема №</a:t>
            </a:r>
            <a:r>
              <a:rPr lang="en-US" dirty="0"/>
              <a:t>28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6679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 тази лекция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525780" indent="-457200">
              <a:buFont typeface="Arial" pitchFamily="34" charset="0"/>
              <a:buChar char="•"/>
            </a:pPr>
            <a:r>
              <a:rPr lang="en-US" dirty="0" err="1"/>
              <a:t>Turbulenz</a:t>
            </a:r>
            <a:r>
              <a:rPr lang="en-US" dirty="0"/>
              <a:t> </a:t>
            </a:r>
            <a:r>
              <a:rPr lang="bg-BG" dirty="0"/>
              <a:t>– обща информация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Съдържание на </a:t>
            </a:r>
            <a:r>
              <a:rPr lang="en-US" dirty="0" err="1"/>
              <a:t>Turbulenz</a:t>
            </a:r>
            <a:r>
              <a:rPr lang="en-US" dirty="0"/>
              <a:t> SDK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Първа програма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Качване на програми на сървъра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Пет куба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Запознаване с </a:t>
            </a:r>
            <a:r>
              <a:rPr lang="en-US" dirty="0" err="1"/>
              <a:t>Turbulenz</a:t>
            </a:r>
            <a:endParaRPr lang="en-US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Игра – част 1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Игра – част 2</a:t>
            </a:r>
          </a:p>
        </p:txBody>
      </p:sp>
    </p:spTree>
    <p:extLst>
      <p:ext uri="{BB962C8B-B14F-4D97-AF65-F5344CB8AC3E}">
        <p14:creationId xmlns:p14="http://schemas.microsoft.com/office/powerpoint/2010/main" val="261384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Обща информация</a:t>
            </a:r>
          </a:p>
        </p:txBody>
      </p:sp>
    </p:spTree>
    <p:extLst>
      <p:ext uri="{BB962C8B-B14F-4D97-AF65-F5344CB8AC3E}">
        <p14:creationId xmlns:p14="http://schemas.microsoft.com/office/powerpoint/2010/main" val="195443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Turbulenz 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1219200"/>
            <a:ext cx="8610600" cy="5410200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Какво е </a:t>
            </a:r>
            <a:r>
              <a:rPr lang="en-US" dirty="0" err="1"/>
              <a:t>Turbulenz</a:t>
            </a:r>
            <a:r>
              <a:rPr lang="en-US" dirty="0"/>
              <a:t>?</a:t>
            </a:r>
          </a:p>
          <a:p>
            <a:r>
              <a:rPr lang="en-US" b="0" dirty="0" err="1"/>
              <a:t>Turbulenz</a:t>
            </a:r>
            <a:r>
              <a:rPr lang="en-US" b="0" dirty="0"/>
              <a:t> </a:t>
            </a:r>
            <a:r>
              <a:rPr lang="bg-BG" b="0" dirty="0"/>
              <a:t>е платформа за разработка на интернет игри, включваща висока функционалност и пълен пакет за разработка на софтуер.</a:t>
            </a:r>
            <a:br>
              <a:rPr lang="bg-BG" b="0" dirty="0"/>
            </a:br>
            <a:r>
              <a:rPr lang="bg-BG" dirty="0"/>
              <a:t>Изисквания за използване на </a:t>
            </a:r>
            <a:r>
              <a:rPr lang="en-US" dirty="0" err="1"/>
              <a:t>Turbulenz</a:t>
            </a:r>
            <a:br>
              <a:rPr lang="en-US" dirty="0"/>
            </a:br>
            <a:r>
              <a:rPr lang="en-US" b="0" dirty="0"/>
              <a:t>Python 2.X</a:t>
            </a:r>
            <a:r>
              <a:rPr lang="bg-BG" b="0" dirty="0"/>
              <a:t> – изисква се при инсталацията</a:t>
            </a:r>
          </a:p>
          <a:p>
            <a:r>
              <a:rPr lang="en-US" b="0" dirty="0"/>
              <a:t>Microsoft Visual Studio – </a:t>
            </a:r>
            <a:r>
              <a:rPr lang="bg-BG" b="0" dirty="0"/>
              <a:t>пак за инсталацията</a:t>
            </a:r>
          </a:p>
          <a:p>
            <a:r>
              <a:rPr lang="bg-BG" b="0" dirty="0"/>
              <a:t>Текстов редактор</a:t>
            </a:r>
            <a:r>
              <a:rPr lang="en-US" b="0" dirty="0"/>
              <a:t> </a:t>
            </a:r>
            <a:r>
              <a:rPr lang="bg-BG" b="0" dirty="0"/>
              <a:t>и браузър - задължителен</a:t>
            </a:r>
            <a:br>
              <a:rPr lang="bg-BG" b="0" dirty="0"/>
            </a:br>
            <a:r>
              <a:rPr lang="bg-BG" b="0" dirty="0"/>
              <a:t>Акъл - опционално</a:t>
            </a:r>
            <a:br>
              <a:rPr lang="bg-BG" b="0" dirty="0"/>
            </a:br>
            <a:br>
              <a:rPr lang="en-US" dirty="0"/>
            </a:br>
            <a:endParaRPr lang="en-US" dirty="0"/>
          </a:p>
          <a:p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4248198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Игри, създадени с </a:t>
            </a:r>
            <a:r>
              <a:rPr lang="en-US" dirty="0" err="1"/>
              <a:t>Turbulenz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894944"/>
            <a:ext cx="8610600" cy="5410200"/>
          </a:xfrm>
        </p:spPr>
        <p:txBody>
          <a:bodyPr>
            <a:normAutofit/>
          </a:bodyPr>
          <a:lstStyle/>
          <a:p>
            <a:r>
              <a:rPr lang="en-US" sz="2000" dirty="0"/>
              <a:t>Score Rush</a:t>
            </a:r>
            <a:endParaRPr lang="bg-BG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1295400"/>
            <a:ext cx="8362950" cy="470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534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Игри, създадени с </a:t>
            </a:r>
            <a:r>
              <a:rPr lang="en-US" dirty="0" err="1"/>
              <a:t>Turbulenz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894944"/>
            <a:ext cx="8610600" cy="5410200"/>
          </a:xfrm>
        </p:spPr>
        <p:txBody>
          <a:bodyPr>
            <a:normAutofit/>
          </a:bodyPr>
          <a:lstStyle/>
          <a:p>
            <a:r>
              <a:rPr lang="en-US" sz="2000" dirty="0" err="1"/>
              <a:t>Polycraft</a:t>
            </a:r>
            <a:endParaRPr lang="bg-BG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" y="1295400"/>
            <a:ext cx="8422721" cy="46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571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Игри, създадени с </a:t>
            </a:r>
            <a:r>
              <a:rPr lang="en-US" dirty="0" err="1"/>
              <a:t>Turbulenz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894944"/>
            <a:ext cx="8610600" cy="5410200"/>
          </a:xfrm>
        </p:spPr>
        <p:txBody>
          <a:bodyPr>
            <a:normAutofit/>
          </a:bodyPr>
          <a:lstStyle/>
          <a:p>
            <a:r>
              <a:rPr lang="en-US" sz="2000" dirty="0"/>
              <a:t>Save the Day</a:t>
            </a:r>
            <a:endParaRPr lang="bg-BG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400"/>
            <a:ext cx="849330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639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 на </a:t>
            </a:r>
            <a:r>
              <a:rPr lang="en-US" dirty="0"/>
              <a:t>SDK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Turbulenz</a:t>
            </a:r>
            <a:r>
              <a:rPr lang="en-US" dirty="0"/>
              <a:t> SDK (Software Development Kit)  </a:t>
            </a:r>
            <a:r>
              <a:rPr lang="bg-BG" dirty="0"/>
              <a:t>включва в себе си </a:t>
            </a:r>
            <a:r>
              <a:rPr lang="en-US" dirty="0"/>
              <a:t>: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en-US" dirty="0"/>
              <a:t>JavaScript Engine Source Code</a:t>
            </a:r>
            <a:br>
              <a:rPr lang="en-US" dirty="0"/>
            </a:br>
            <a:r>
              <a:rPr lang="bg-BG" sz="2000" b="0" dirty="0"/>
              <a:t>Можем да разглеждаме и променяме  сорс кода на </a:t>
            </a:r>
            <a:r>
              <a:rPr lang="en-US" sz="2000" b="0" dirty="0" err="1"/>
              <a:t>Turbulenz</a:t>
            </a:r>
            <a:r>
              <a:rPr lang="bg-BG" sz="2000" b="0" dirty="0"/>
              <a:t> </a:t>
            </a:r>
            <a:r>
              <a:rPr lang="en-US" sz="2000" b="0" dirty="0"/>
              <a:t>Engine - </a:t>
            </a:r>
            <a:r>
              <a:rPr lang="bg-BG" sz="2000" b="0" dirty="0"/>
              <a:t>това значи по-лесно дебъгване и изменяне на сорс кода за наши цели при нужда.</a:t>
            </a: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en-US" dirty="0"/>
              <a:t>Documentation</a:t>
            </a:r>
            <a:br>
              <a:rPr lang="en-US" dirty="0"/>
            </a:br>
            <a:r>
              <a:rPr lang="bg-BG" sz="2000" b="0" dirty="0"/>
              <a:t>Пълна документация, включваща описание на цялата функционалност на платформата.</a:t>
            </a:r>
            <a:endParaRPr lang="bg-BG" b="0" dirty="0"/>
          </a:p>
        </p:txBody>
      </p:sp>
    </p:spTree>
    <p:extLst>
      <p:ext uri="{BB962C8B-B14F-4D97-AF65-F5344CB8AC3E}">
        <p14:creationId xmlns:p14="http://schemas.microsoft.com/office/powerpoint/2010/main" val="2338910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Съдържание на </a:t>
            </a:r>
            <a:r>
              <a:rPr lang="en-US" dirty="0"/>
              <a:t>SDK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Turbulenz</a:t>
            </a:r>
            <a:r>
              <a:rPr lang="en-US" dirty="0"/>
              <a:t> SDK (Software Development Kit)  </a:t>
            </a:r>
            <a:r>
              <a:rPr lang="bg-BG" dirty="0"/>
              <a:t>включва в себе си </a:t>
            </a:r>
            <a:r>
              <a:rPr lang="en-US" dirty="0"/>
              <a:t>: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en-US" dirty="0"/>
              <a:t>Local Development Server</a:t>
            </a:r>
            <a:br>
              <a:rPr lang="en-US" dirty="0"/>
            </a:br>
            <a:r>
              <a:rPr lang="bg-BG" sz="2000" b="0" dirty="0"/>
              <a:t>Локален сървър (подобен на </a:t>
            </a:r>
            <a:r>
              <a:rPr lang="en-US" sz="2000" b="0" dirty="0"/>
              <a:t>Mongoose</a:t>
            </a:r>
            <a:r>
              <a:rPr lang="bg-BG" sz="2000" b="0" dirty="0"/>
              <a:t>), с подобрена функционалност – дава ни различни статистики за текущата игра, вървяща на сървъра.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Packaging and Deployment</a:t>
            </a:r>
            <a:b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Възможност за пакетиране на игрите и директно</a:t>
            </a:r>
            <a:b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публикуване на сървърите на </a:t>
            </a:r>
            <a:r>
              <a:rPr lang="en-US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Turbulenz</a:t>
            </a: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sz="20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Turbulenz</a:t>
            </a:r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Developer</a:t>
            </a:r>
            <a:b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Hub)</a:t>
            </a: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където могат да се играят онлайн.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525780" indent="-457200">
              <a:buFont typeface="Arial" pitchFamily="34" charset="0"/>
              <a:buChar char="•"/>
            </a:pPr>
            <a:endParaRPr lang="bg-BG" b="0" dirty="0"/>
          </a:p>
        </p:txBody>
      </p:sp>
    </p:spTree>
    <p:extLst>
      <p:ext uri="{BB962C8B-B14F-4D97-AF65-F5344CB8AC3E}">
        <p14:creationId xmlns:p14="http://schemas.microsoft.com/office/powerpoint/2010/main" val="1124932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Положителни качества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en-US" dirty="0"/>
              <a:t>Multi-threaded evaluation</a:t>
            </a:r>
            <a:br>
              <a:rPr lang="en-US" dirty="0"/>
            </a:br>
            <a:r>
              <a:rPr lang="bg-BG" sz="2000" b="0" dirty="0"/>
              <a:t>Ядрото поддържа едновременна обработка на много процеси</a:t>
            </a:r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en-US" dirty="0"/>
              <a:t>Lazy Evaluation</a:t>
            </a:r>
            <a:br>
              <a:rPr lang="en-US" dirty="0"/>
            </a:br>
            <a:r>
              <a:rPr lang="bg-BG" sz="2000" b="0" dirty="0"/>
              <a:t>Използва се мързеливо оценяване за по-голямата част от обработката на графичните данни</a:t>
            </a:r>
            <a:endParaRPr lang="bg-BG" sz="2000" dirty="0"/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Physics, Collision and Animation</a:t>
            </a:r>
            <a:br>
              <a:rPr lang="bg-BG" dirty="0"/>
            </a:br>
            <a:r>
              <a:rPr lang="bg-BG" sz="2000" b="0" dirty="0"/>
              <a:t>Вградена поддръжка на физика, колизия между твърди тела</a:t>
            </a:r>
            <a:r>
              <a:rPr lang="en-US" sz="2000" b="0" dirty="0"/>
              <a:t>, </a:t>
            </a:r>
            <a:r>
              <a:rPr lang="bg-BG" sz="2000" b="0" dirty="0"/>
              <a:t>скелети (лекция 16</a:t>
            </a:r>
            <a:r>
              <a:rPr lang="en-US" sz="2000" b="0" dirty="0"/>
              <a:t> - skeletons</a:t>
            </a:r>
            <a:r>
              <a:rPr lang="bg-BG" sz="2000" b="0" dirty="0"/>
              <a:t>)</a:t>
            </a:r>
            <a:r>
              <a:rPr lang="en-US" sz="2000" b="0" dirty="0"/>
              <a:t> </a:t>
            </a:r>
            <a:r>
              <a:rPr lang="bg-BG" sz="2000" b="0" dirty="0"/>
              <a:t>и много други</a:t>
            </a:r>
          </a:p>
          <a:p>
            <a:endParaRPr lang="bg-BG" sz="2000" b="0" dirty="0"/>
          </a:p>
          <a:p>
            <a:br>
              <a:rPr lang="en-US" b="0" dirty="0"/>
            </a:br>
            <a:endParaRPr lang="bg-BG" b="0" dirty="0"/>
          </a:p>
        </p:txBody>
      </p:sp>
    </p:spTree>
    <p:extLst>
      <p:ext uri="{BB962C8B-B14F-4D97-AF65-F5344CB8AC3E}">
        <p14:creationId xmlns:p14="http://schemas.microsoft.com/office/powerpoint/2010/main" val="208700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Положителни качества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GUI/HUD system</a:t>
            </a:r>
            <a:b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Система за изграждане на интерфейс, включваща много шрифтове</a:t>
            </a:r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езици (лекция 21</a:t>
            </a:r>
            <a:r>
              <a:rPr lang="en-US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interface</a:t>
            </a:r>
            <a:r>
              <a:rPr lang="bg-BG" sz="2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bg-BG" sz="2400" dirty="0"/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Network, Multiplayer 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sz="2000" b="0" dirty="0"/>
              <a:t>Компресия, криптиране и </a:t>
            </a:r>
            <a:r>
              <a:rPr lang="en-US" sz="2000" b="0" dirty="0"/>
              <a:t>p2p </a:t>
            </a:r>
            <a:r>
              <a:rPr lang="bg-BG" sz="2000" b="0" dirty="0"/>
              <a:t>архитектура за интернет връзки между играчите и сървъра</a:t>
            </a:r>
          </a:p>
          <a:p>
            <a:pPr marL="411480" indent="-342900">
              <a:buFont typeface="Arial" pitchFamily="34" charset="0"/>
              <a:buChar char="•"/>
            </a:pPr>
            <a:endParaRPr lang="bg-BG" sz="2000" b="0" dirty="0"/>
          </a:p>
          <a:p>
            <a:pPr marL="411480" indent="-342900">
              <a:buFont typeface="Arial" pitchFamily="34" charset="0"/>
              <a:buChar char="•"/>
            </a:pPr>
            <a:r>
              <a:rPr lang="en-US" dirty="0"/>
              <a:t>Social network integration</a:t>
            </a:r>
            <a:br>
              <a:rPr lang="en-US" dirty="0"/>
            </a:br>
            <a:r>
              <a:rPr lang="bg-BG" sz="2000" b="0" dirty="0"/>
              <a:t>Готови библиотеки за връзка с </a:t>
            </a:r>
            <a:r>
              <a:rPr lang="en-US" sz="2000" b="0" dirty="0"/>
              <a:t>Facebook, Google+</a:t>
            </a:r>
            <a:r>
              <a:rPr lang="bg-BG" sz="2000" b="0" dirty="0"/>
              <a:t> и т.н., създаване на акаунти, автоматичен логин.</a:t>
            </a:r>
            <a:endParaRPr lang="bg-BG" sz="2000" dirty="0"/>
          </a:p>
          <a:p>
            <a:br>
              <a:rPr lang="en-US" b="0" dirty="0"/>
            </a:br>
            <a:endParaRPr lang="bg-BG" b="0" dirty="0"/>
          </a:p>
        </p:txBody>
      </p:sp>
    </p:spTree>
    <p:extLst>
      <p:ext uri="{BB962C8B-B14F-4D97-AF65-F5344CB8AC3E}">
        <p14:creationId xmlns:p14="http://schemas.microsoft.com/office/powerpoint/2010/main" val="3116745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Неутрални качества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33400" y="952500"/>
            <a:ext cx="8610600" cy="5410200"/>
          </a:xfrm>
        </p:spPr>
        <p:txBody>
          <a:bodyPr>
            <a:normAutofit/>
          </a:bodyPr>
          <a:lstStyle/>
          <a:p>
            <a:pPr lvl="1"/>
            <a:endParaRPr lang="bg-BG" sz="2800" b="1" dirty="0"/>
          </a:p>
          <a:p>
            <a:pPr lvl="1"/>
            <a:r>
              <a:rPr lang="bg-BG" sz="2800" b="1" dirty="0"/>
              <a:t>Сложна платформа</a:t>
            </a:r>
            <a:br>
              <a:rPr lang="bg-BG" sz="2800" b="1" dirty="0"/>
            </a:br>
            <a:r>
              <a:rPr lang="bg-BG" dirty="0"/>
              <a:t>- Огромен брой функции</a:t>
            </a:r>
            <a:r>
              <a:rPr lang="en-US" dirty="0"/>
              <a:t>/</a:t>
            </a:r>
            <a:r>
              <a:rPr lang="bg-BG" dirty="0"/>
              <a:t>библиотеки за разучаване</a:t>
            </a:r>
            <a:br>
              <a:rPr lang="bg-BG" dirty="0"/>
            </a:br>
            <a:r>
              <a:rPr lang="bg-BG" dirty="0"/>
              <a:t>- Но пък почти всичко ни е написано на готово</a:t>
            </a:r>
            <a:endParaRPr lang="bg-BG" b="1" dirty="0"/>
          </a:p>
          <a:p>
            <a:pPr lvl="1"/>
            <a:endParaRPr lang="bg-BG" sz="2800" b="1" dirty="0"/>
          </a:p>
          <a:p>
            <a:pPr marL="365760" lvl="1" indent="0">
              <a:buNone/>
            </a:pPr>
            <a:endParaRPr lang="bg-BG" sz="2800" b="1" dirty="0"/>
          </a:p>
          <a:p>
            <a:pPr marL="365760" lvl="1" indent="0">
              <a:buNone/>
            </a:pPr>
            <a:endParaRPr lang="bg-BG" sz="2800" b="1" dirty="0"/>
          </a:p>
          <a:p>
            <a:pPr lvl="1"/>
            <a:r>
              <a:rPr lang="bg-BG" sz="2800" b="1" dirty="0"/>
              <a:t>Бавна работа</a:t>
            </a:r>
            <a:br>
              <a:rPr lang="bg-BG" sz="2800" b="1" dirty="0"/>
            </a:br>
            <a:r>
              <a:rPr lang="bg-BG" dirty="0"/>
              <a:t>За бързо работеща игра се изисква добре написан код – дори и малък брой грешки водят до резки спадове в производителността </a:t>
            </a:r>
            <a:endParaRPr lang="bg-BG" sz="2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2400" y="2915168"/>
            <a:ext cx="8661288" cy="648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4000" b="1" kern="1200">
                <a:solidFill>
                  <a:schemeClr val="tx1"/>
                </a:solidFill>
                <a:effectLst>
                  <a:outerShdw blurRad="63500" algn="ctr" rotWithShape="0">
                    <a:srgbClr val="0033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g-BG" dirty="0"/>
              <a:t>Отрицателни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2217845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Първа програма</a:t>
            </a:r>
          </a:p>
        </p:txBody>
      </p:sp>
    </p:spTree>
    <p:extLst>
      <p:ext uri="{BB962C8B-B14F-4D97-AF65-F5344CB8AC3E}">
        <p14:creationId xmlns:p14="http://schemas.microsoft.com/office/powerpoint/2010/main" val="1007448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Първа програма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33400" y="952500"/>
            <a:ext cx="8610600" cy="5410200"/>
          </a:xfrm>
        </p:spPr>
        <p:txBody>
          <a:bodyPr>
            <a:normAutofit/>
          </a:bodyPr>
          <a:lstStyle/>
          <a:p>
            <a:pPr lvl="1"/>
            <a:endParaRPr lang="bg-BG" sz="2800" b="1" dirty="0"/>
          </a:p>
          <a:p>
            <a:pPr lvl="1"/>
            <a:r>
              <a:rPr lang="bg-BG" sz="2800" b="1" dirty="0"/>
              <a:t>Да се вижда жълт прозорец</a:t>
            </a:r>
            <a:endParaRPr lang="en-US" sz="2800" b="1" dirty="0"/>
          </a:p>
          <a:p>
            <a:pPr marL="365760" lvl="1" indent="0">
              <a:buNone/>
            </a:pPr>
            <a:endParaRPr lang="bg-BG" b="1" dirty="0"/>
          </a:p>
          <a:p>
            <a:pPr lvl="1"/>
            <a:r>
              <a:rPr lang="bg-BG" sz="2800" b="1" dirty="0"/>
              <a:t>Всичко да се съдържа в </a:t>
            </a:r>
            <a:r>
              <a:rPr lang="en-US" sz="2800" b="1" dirty="0"/>
              <a:t>HTML </a:t>
            </a:r>
            <a:r>
              <a:rPr lang="bg-BG" sz="2800" b="1" dirty="0"/>
              <a:t>файл</a:t>
            </a:r>
            <a:endParaRPr lang="en-US" sz="2800" b="1" dirty="0"/>
          </a:p>
          <a:p>
            <a:pPr marL="365760" lvl="1" indent="0">
              <a:buNone/>
            </a:pPr>
            <a:endParaRPr lang="bg-BG" sz="2800" b="1" dirty="0"/>
          </a:p>
          <a:p>
            <a:pPr lvl="1"/>
            <a:r>
              <a:rPr lang="bg-BG" sz="2800" b="1" dirty="0"/>
              <a:t>Да се запознаем със структурата на една програма, използваща </a:t>
            </a:r>
            <a:r>
              <a:rPr lang="en-US" sz="2800" b="1" dirty="0" err="1"/>
              <a:t>Turbulenz</a:t>
            </a:r>
            <a:endParaRPr lang="en-US" sz="2800" b="1" dirty="0"/>
          </a:p>
          <a:p>
            <a:pPr lvl="1"/>
            <a:endParaRPr lang="en-US" sz="2800" b="1" dirty="0"/>
          </a:p>
          <a:p>
            <a:pPr lvl="1"/>
            <a:r>
              <a:rPr lang="bg-BG" sz="2800" b="1" dirty="0"/>
              <a:t>За целта </a:t>
            </a:r>
            <a:r>
              <a:rPr lang="en-US" sz="2800" b="1" dirty="0"/>
              <a:t>:</a:t>
            </a:r>
            <a:endParaRPr lang="bg-BG" sz="2800" b="1" dirty="0"/>
          </a:p>
        </p:txBody>
      </p:sp>
    </p:spTree>
    <p:extLst>
      <p:ext uri="{BB962C8B-B14F-4D97-AF65-F5344CB8AC3E}">
        <p14:creationId xmlns:p14="http://schemas.microsoft.com/office/powerpoint/2010/main" val="2773294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27" y="152399"/>
            <a:ext cx="8661288" cy="1076325"/>
          </a:xfrm>
        </p:spPr>
        <p:txBody>
          <a:bodyPr/>
          <a:lstStyle/>
          <a:p>
            <a:r>
              <a:rPr lang="bg-BG" sz="2000" b="0" dirty="0"/>
              <a:t>Задължително добавяме </a:t>
            </a:r>
            <a:r>
              <a:rPr lang="en-US" sz="2000" b="0" dirty="0"/>
              <a:t>turbulenzengine.js </a:t>
            </a:r>
            <a:r>
              <a:rPr lang="bg-BG" sz="2000" b="0" dirty="0"/>
              <a:t>във всяка програма, както и всяка друга библиотека, която ще използваме. Всички библиотеки се съдържат в  папката </a:t>
            </a:r>
            <a:r>
              <a:rPr lang="en-US" sz="2000" b="0" dirty="0" err="1"/>
              <a:t>jslib</a:t>
            </a:r>
            <a:r>
              <a:rPr lang="en-US" sz="2000" b="0" dirty="0"/>
              <a:t> </a:t>
            </a:r>
            <a:r>
              <a:rPr lang="bg-BG" sz="2000" b="0" dirty="0"/>
              <a:t>в инсталационната директория на </a:t>
            </a:r>
            <a:r>
              <a:rPr lang="en-US" sz="2000" b="0" dirty="0" err="1"/>
              <a:t>Turbulenz</a:t>
            </a:r>
            <a:r>
              <a:rPr lang="en-US" sz="2000" b="0" dirty="0"/>
              <a:t>.</a:t>
            </a:r>
            <a:endParaRPr lang="bg-BG" sz="2000" b="0" dirty="0"/>
          </a:p>
        </p:txBody>
      </p:sp>
      <p:sp>
        <p:nvSpPr>
          <p:cNvPr id="5" name="Snip Diagonal Corner Rectangle 4"/>
          <p:cNvSpPr/>
          <p:nvPr/>
        </p:nvSpPr>
        <p:spPr>
          <a:xfrm>
            <a:off x="466165" y="1295400"/>
            <a:ext cx="8534400" cy="5410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....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/debug.js"&gt;&lt;/</a:t>
            </a:r>
            <a:r>
              <a:rPr lang="en-US" dirty="0">
                <a:solidFill>
                  <a:schemeClr val="tx1"/>
                </a:solidFill>
              </a:rPr>
              <a:t>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/turbulenzengine.js"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/graphicsdevice.js"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&lt;canvas id="canvas" width="640px" height="480px"/&gt;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TurbulenzEngine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WebGLTurbulenzEngine.create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rgbClr val="00B0F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({ canvas: </a:t>
            </a:r>
            <a:r>
              <a:rPr lang="en-US" dirty="0" err="1">
                <a:solidFill>
                  <a:srgbClr val="00B0F0"/>
                </a:solidFill>
              </a:rPr>
              <a:t>document.getElementById</a:t>
            </a:r>
            <a:r>
              <a:rPr lang="en-US" dirty="0">
                <a:solidFill>
                  <a:srgbClr val="00B0F0"/>
                </a:solidFill>
              </a:rPr>
              <a:t>("canvas") 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TurbulenzEngine.createGraphicsDevice</a:t>
            </a:r>
            <a:r>
              <a:rPr lang="en-US" dirty="0">
                <a:solidFill>
                  <a:srgbClr val="00B0F0"/>
                </a:solidFill>
              </a:rPr>
              <a:t>({})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r = 1.0, g = 1.0, b = 0.0, a = 1.0;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 = [r, g, b, a];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{if (</a:t>
            </a:r>
            <a:r>
              <a:rPr lang="en-US" dirty="0" err="1">
                <a:solidFill>
                  <a:srgbClr val="00B0F0"/>
                </a:solidFill>
              </a:rPr>
              <a:t>graphicsDevice.beginFrame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 </a:t>
            </a:r>
            <a:r>
              <a:rPr lang="en-US" dirty="0" err="1">
                <a:solidFill>
                  <a:srgbClr val="00B0F0"/>
                </a:solidFill>
              </a:rPr>
              <a:t>graphicsDevice.clear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bgColor</a:t>
            </a:r>
            <a:r>
              <a:rPr lang="en-US" dirty="0">
                <a:solidFill>
                  <a:srgbClr val="00B0F0"/>
                </a:solidFill>
              </a:rPr>
              <a:t>, 1.0)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graphicsDevice.endFrame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; } }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TurbulenzEngine.setInterval</a:t>
            </a:r>
            <a:r>
              <a:rPr lang="en-US" dirty="0">
                <a:solidFill>
                  <a:srgbClr val="00B0F0"/>
                </a:solidFill>
              </a:rPr>
              <a:t>(update, 1000 / 60)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&lt;/script&gt; &lt;/body&gt;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600200"/>
            <a:ext cx="7391400" cy="1447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959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6165" y="1295400"/>
            <a:ext cx="8534400" cy="5410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....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/debug.js"&gt;&lt;/</a:t>
            </a:r>
            <a:r>
              <a:rPr lang="en-US" dirty="0">
                <a:solidFill>
                  <a:schemeClr val="tx1"/>
                </a:solidFill>
              </a:rPr>
              <a:t>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/turbulenzengine.js"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/graphicsdevice.js"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&lt;canvas id="canvas" width="640px" height="480px"/&gt;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TurbulenzEngine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WebGLTurbulenzEngine.create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rgbClr val="00B0F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({ canvas: </a:t>
            </a:r>
            <a:r>
              <a:rPr lang="en-US" dirty="0" err="1">
                <a:solidFill>
                  <a:srgbClr val="00B0F0"/>
                </a:solidFill>
              </a:rPr>
              <a:t>document.getElementById</a:t>
            </a:r>
            <a:r>
              <a:rPr lang="en-US" dirty="0">
                <a:solidFill>
                  <a:srgbClr val="00B0F0"/>
                </a:solidFill>
              </a:rPr>
              <a:t>("canvas") 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TurbulenzEngine.createGraphicsDevice</a:t>
            </a:r>
            <a:r>
              <a:rPr lang="en-US" dirty="0">
                <a:solidFill>
                  <a:srgbClr val="00B0F0"/>
                </a:solidFill>
              </a:rPr>
              <a:t>({})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r = 1.0, g = 1.0, b = 0.0, a = 1.0;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 = [r, g, b, a];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{if (</a:t>
            </a:r>
            <a:r>
              <a:rPr lang="en-US" dirty="0" err="1">
                <a:solidFill>
                  <a:srgbClr val="00B0F0"/>
                </a:solidFill>
              </a:rPr>
              <a:t>graphicsDevice.beginFrame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 </a:t>
            </a:r>
            <a:r>
              <a:rPr lang="en-US" dirty="0" err="1">
                <a:solidFill>
                  <a:srgbClr val="00B0F0"/>
                </a:solidFill>
              </a:rPr>
              <a:t>graphicsDevice.clear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bgColor</a:t>
            </a:r>
            <a:r>
              <a:rPr lang="en-US" dirty="0">
                <a:solidFill>
                  <a:srgbClr val="00B0F0"/>
                </a:solidFill>
              </a:rPr>
              <a:t>, 1.0)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graphicsDevice.endFrame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; } }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TurbulenzEngine.setInterval</a:t>
            </a:r>
            <a:r>
              <a:rPr lang="en-US" dirty="0">
                <a:solidFill>
                  <a:srgbClr val="00B0F0"/>
                </a:solidFill>
              </a:rPr>
              <a:t>(update, 1000 / 60)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&lt;/script&gt; &lt;/body&gt;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61288" cy="914400"/>
          </a:xfrm>
        </p:spPr>
        <p:txBody>
          <a:bodyPr/>
          <a:lstStyle/>
          <a:p>
            <a:r>
              <a:rPr lang="bg-BG" sz="2000" b="0" dirty="0"/>
              <a:t>Създаваме </a:t>
            </a:r>
            <a:r>
              <a:rPr lang="en-US" sz="2000" b="0" dirty="0"/>
              <a:t>Canvas</a:t>
            </a:r>
            <a:r>
              <a:rPr lang="bg-BG" sz="2000" b="0" dirty="0"/>
              <a:t>.</a:t>
            </a:r>
            <a:r>
              <a:rPr lang="en-US" sz="2000" b="0" dirty="0"/>
              <a:t> </a:t>
            </a:r>
            <a:r>
              <a:rPr lang="bg-BG" sz="2000" b="0" dirty="0"/>
              <a:t>Тъй като </a:t>
            </a:r>
            <a:r>
              <a:rPr lang="en-US" sz="2000" b="0" dirty="0" err="1"/>
              <a:t>Turbulenz</a:t>
            </a:r>
            <a:r>
              <a:rPr lang="en-US" sz="2000" b="0" dirty="0"/>
              <a:t> Engine </a:t>
            </a:r>
            <a:r>
              <a:rPr lang="bg-BG" sz="2000" b="0" dirty="0"/>
              <a:t>работи по подобен начин на </a:t>
            </a:r>
            <a:r>
              <a:rPr lang="en-US" sz="2000" b="0" dirty="0" err="1"/>
              <a:t>WebGL</a:t>
            </a:r>
            <a:r>
              <a:rPr lang="bg-BG" sz="2000" b="0" dirty="0"/>
              <a:t>,</a:t>
            </a:r>
            <a:r>
              <a:rPr lang="en-US" sz="2000" b="0" dirty="0"/>
              <a:t> </a:t>
            </a:r>
            <a:r>
              <a:rPr lang="bg-BG" sz="2000" b="0" dirty="0"/>
              <a:t>ще работим само в него.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048000"/>
            <a:ext cx="7315200" cy="838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853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6165" y="1295400"/>
            <a:ext cx="8534400" cy="5410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....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/debug.js"&gt;&lt;/</a:t>
            </a:r>
            <a:r>
              <a:rPr lang="en-US" dirty="0">
                <a:solidFill>
                  <a:schemeClr val="tx1"/>
                </a:solidFill>
              </a:rPr>
              <a:t>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/turbulenzengine.js"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/graphicsdevice.js"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&lt;canvas id="canvas" width="640px" height="480px"/&gt;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TurbulenzEngine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WebGLTurbulenzEngine.create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rgbClr val="00B0F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({ canvas: </a:t>
            </a:r>
            <a:r>
              <a:rPr lang="en-US" dirty="0" err="1">
                <a:solidFill>
                  <a:srgbClr val="00B0F0"/>
                </a:solidFill>
              </a:rPr>
              <a:t>document.getElementById</a:t>
            </a:r>
            <a:r>
              <a:rPr lang="en-US" dirty="0">
                <a:solidFill>
                  <a:srgbClr val="00B0F0"/>
                </a:solidFill>
              </a:rPr>
              <a:t>("canvas") 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TurbulenzEngine.createGraphicsDevice</a:t>
            </a:r>
            <a:r>
              <a:rPr lang="en-US" dirty="0">
                <a:solidFill>
                  <a:srgbClr val="00B0F0"/>
                </a:solidFill>
              </a:rPr>
              <a:t>({})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r = 1.0, g = 1.0, b = 0.0, a = 1.0;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 = [r, g, b, a];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{if (</a:t>
            </a:r>
            <a:r>
              <a:rPr lang="en-US" dirty="0" err="1">
                <a:solidFill>
                  <a:srgbClr val="00B0F0"/>
                </a:solidFill>
              </a:rPr>
              <a:t>graphicsDevice.beginFrame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 </a:t>
            </a:r>
            <a:r>
              <a:rPr lang="en-US" dirty="0" err="1">
                <a:solidFill>
                  <a:srgbClr val="00B0F0"/>
                </a:solidFill>
              </a:rPr>
              <a:t>graphicsDevice.clear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bgColor</a:t>
            </a:r>
            <a:r>
              <a:rPr lang="en-US" dirty="0">
                <a:solidFill>
                  <a:srgbClr val="00B0F0"/>
                </a:solidFill>
              </a:rPr>
              <a:t>, 1.0)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graphicsDevice.endFrame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; } }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TurbulenzEngine.setInterval</a:t>
            </a:r>
            <a:r>
              <a:rPr lang="en-US" dirty="0">
                <a:solidFill>
                  <a:srgbClr val="00B0F0"/>
                </a:solidFill>
              </a:rPr>
              <a:t>(update, 1000 / 60)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&lt;/script&gt; &lt;/body&gt;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61288" cy="914400"/>
          </a:xfrm>
        </p:spPr>
        <p:txBody>
          <a:bodyPr/>
          <a:lstStyle/>
          <a:p>
            <a:r>
              <a:rPr lang="bg-BG" sz="2000" b="0" dirty="0"/>
              <a:t>Създаваме инстанция на </a:t>
            </a:r>
            <a:r>
              <a:rPr lang="en-US" sz="2000" b="0" dirty="0" err="1">
                <a:solidFill>
                  <a:srgbClr val="00B0F0"/>
                </a:solidFill>
              </a:rPr>
              <a:t>TurbulenzEngine</a:t>
            </a:r>
            <a:r>
              <a:rPr lang="bg-BG" sz="2000" b="0" dirty="0"/>
              <a:t>. С нея можем да създаваме повечето други основни обекти – в случая </a:t>
            </a:r>
            <a:r>
              <a:rPr lang="en-US" sz="2000" b="0" dirty="0" err="1">
                <a:solidFill>
                  <a:srgbClr val="00B0F0"/>
                </a:solidFill>
              </a:rPr>
              <a:t>GraphicsDevice</a:t>
            </a:r>
            <a:r>
              <a:rPr lang="en-US" sz="2000" b="0" dirty="0"/>
              <a:t>. </a:t>
            </a:r>
            <a:endParaRPr lang="bg-BG" sz="2000" b="0" dirty="0"/>
          </a:p>
        </p:txBody>
      </p:sp>
      <p:sp>
        <p:nvSpPr>
          <p:cNvPr id="3" name="Rectangle 2"/>
          <p:cNvSpPr/>
          <p:nvPr/>
        </p:nvSpPr>
        <p:spPr>
          <a:xfrm>
            <a:off x="1371600" y="3829050"/>
            <a:ext cx="7315200" cy="847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366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6165" y="1295400"/>
            <a:ext cx="8534400" cy="5410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....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/debug.js"&gt;&lt;/</a:t>
            </a:r>
            <a:r>
              <a:rPr lang="en-US" dirty="0">
                <a:solidFill>
                  <a:schemeClr val="tx1"/>
                </a:solidFill>
              </a:rPr>
              <a:t>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/turbulenzengine.js"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/graphicsdevice.js"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&lt;canvas id="canvas" width="640px" height="480px"/&gt;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TurbulenzEngine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WebGLTurbulenzEngine.create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rgbClr val="00B0F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({ canvas: </a:t>
            </a:r>
            <a:r>
              <a:rPr lang="en-US" dirty="0" err="1">
                <a:solidFill>
                  <a:srgbClr val="00B0F0"/>
                </a:solidFill>
              </a:rPr>
              <a:t>document.getElementById</a:t>
            </a:r>
            <a:r>
              <a:rPr lang="en-US" dirty="0">
                <a:solidFill>
                  <a:srgbClr val="00B0F0"/>
                </a:solidFill>
              </a:rPr>
              <a:t>("canvas") 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TurbulenzEngine.createGraphicsDevice</a:t>
            </a:r>
            <a:r>
              <a:rPr lang="en-US" dirty="0">
                <a:solidFill>
                  <a:srgbClr val="00B0F0"/>
                </a:solidFill>
              </a:rPr>
              <a:t>({})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r = 1.0, g = 1.0, b = 0.0, a = 1.0;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 = [r, g, b, a];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{if (</a:t>
            </a:r>
            <a:r>
              <a:rPr lang="en-US" dirty="0" err="1">
                <a:solidFill>
                  <a:srgbClr val="00B0F0"/>
                </a:solidFill>
              </a:rPr>
              <a:t>graphicsDevice.beginFrame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 </a:t>
            </a:r>
            <a:r>
              <a:rPr lang="en-US" dirty="0" err="1">
                <a:solidFill>
                  <a:srgbClr val="00B0F0"/>
                </a:solidFill>
              </a:rPr>
              <a:t>graphicsDevice.clear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bgColor</a:t>
            </a:r>
            <a:r>
              <a:rPr lang="en-US" dirty="0">
                <a:solidFill>
                  <a:srgbClr val="00B0F0"/>
                </a:solidFill>
              </a:rPr>
              <a:t>, 1.0)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graphicsDevice.endFrame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; } }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TurbulenzEngine.setInterval</a:t>
            </a:r>
            <a:r>
              <a:rPr lang="en-US" dirty="0">
                <a:solidFill>
                  <a:srgbClr val="00B0F0"/>
                </a:solidFill>
              </a:rPr>
              <a:t>(update, 1000 / 60)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&lt;/script&gt; &lt;/body&gt;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61288" cy="1066800"/>
          </a:xfrm>
        </p:spPr>
        <p:txBody>
          <a:bodyPr/>
          <a:lstStyle/>
          <a:p>
            <a:r>
              <a:rPr lang="bg-BG" sz="2000" b="0" dirty="0"/>
              <a:t>Във функцията </a:t>
            </a:r>
            <a:r>
              <a:rPr lang="en-US" sz="2000" b="0" dirty="0">
                <a:solidFill>
                  <a:srgbClr val="00B0F0"/>
                </a:solidFill>
              </a:rPr>
              <a:t>update()</a:t>
            </a:r>
            <a:r>
              <a:rPr lang="bg-BG" sz="2000" b="0" dirty="0">
                <a:solidFill>
                  <a:srgbClr val="00B0F0"/>
                </a:solidFill>
              </a:rPr>
              <a:t> </a:t>
            </a:r>
            <a:r>
              <a:rPr lang="bg-BG" sz="2000" b="0" dirty="0"/>
              <a:t>е цикъла на играта</a:t>
            </a:r>
            <a:r>
              <a:rPr lang="en-US" sz="2000" b="0" dirty="0">
                <a:solidFill>
                  <a:srgbClr val="00B0F0"/>
                </a:solidFill>
              </a:rPr>
              <a:t>(game loop)</a:t>
            </a:r>
            <a:r>
              <a:rPr lang="en-US" sz="2000" b="0" dirty="0"/>
              <a:t>. </a:t>
            </a:r>
            <a:r>
              <a:rPr lang="bg-BG" sz="2000" b="0" dirty="0"/>
              <a:t>С функциите </a:t>
            </a:r>
            <a:r>
              <a:rPr lang="en-US" sz="2000" b="0" dirty="0" err="1">
                <a:solidFill>
                  <a:srgbClr val="00B0F0"/>
                </a:solidFill>
              </a:rPr>
              <a:t>beginFrame</a:t>
            </a:r>
            <a:r>
              <a:rPr lang="en-US" sz="2000" b="0" dirty="0">
                <a:solidFill>
                  <a:srgbClr val="00B0F0"/>
                </a:solidFill>
              </a:rPr>
              <a:t>()</a:t>
            </a:r>
            <a:r>
              <a:rPr lang="en-US" sz="2000" b="0" dirty="0"/>
              <a:t>/</a:t>
            </a:r>
            <a:r>
              <a:rPr lang="en-US" sz="2000" b="0" dirty="0" err="1">
                <a:solidFill>
                  <a:srgbClr val="00B0F0"/>
                </a:solidFill>
              </a:rPr>
              <a:t>endFrame</a:t>
            </a:r>
            <a:r>
              <a:rPr lang="en-US" sz="2000" b="0" dirty="0">
                <a:solidFill>
                  <a:srgbClr val="00B0F0"/>
                </a:solidFill>
              </a:rPr>
              <a:t>()</a:t>
            </a:r>
            <a:r>
              <a:rPr lang="en-US" sz="2000" b="0" dirty="0"/>
              <a:t> </a:t>
            </a:r>
            <a:r>
              <a:rPr lang="bg-BG" sz="2000" b="0" dirty="0"/>
              <a:t>проверяваме дали сме в началото или в края на кадъра, а с </a:t>
            </a:r>
            <a:r>
              <a:rPr lang="en-US" sz="2000" b="0" dirty="0"/>
              <a:t>clear() </a:t>
            </a:r>
            <a:r>
              <a:rPr lang="bg-BG" sz="2000" b="0" dirty="0"/>
              <a:t>рисуваме предварително създадения цвят </a:t>
            </a:r>
            <a:r>
              <a:rPr lang="en-US" sz="2000" b="0" dirty="0" err="1">
                <a:solidFill>
                  <a:srgbClr val="00B0F0"/>
                </a:solidFill>
              </a:rPr>
              <a:t>bgColor</a:t>
            </a:r>
            <a:r>
              <a:rPr lang="bg-BG" sz="2000" b="0" dirty="0"/>
              <a:t> на екрана.</a:t>
            </a:r>
            <a:r>
              <a:rPr lang="en-US" sz="2000" b="0" dirty="0"/>
              <a:t> </a:t>
            </a:r>
            <a:endParaRPr lang="bg-BG" sz="2000" b="0" dirty="0"/>
          </a:p>
        </p:txBody>
      </p:sp>
      <p:sp>
        <p:nvSpPr>
          <p:cNvPr id="3" name="Rectangle 2"/>
          <p:cNvSpPr/>
          <p:nvPr/>
        </p:nvSpPr>
        <p:spPr>
          <a:xfrm>
            <a:off x="1371600" y="4953000"/>
            <a:ext cx="7315200" cy="838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5506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6165" y="1295400"/>
            <a:ext cx="8534400" cy="5410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....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/debug.js"&gt;&lt;/</a:t>
            </a:r>
            <a:r>
              <a:rPr lang="en-US" dirty="0">
                <a:solidFill>
                  <a:schemeClr val="tx1"/>
                </a:solidFill>
              </a:rPr>
              <a:t>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/turbulenzengine.js"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</a:t>
            </a:r>
            <a:r>
              <a:rPr lang="en-US" dirty="0" err="1">
                <a:solidFill>
                  <a:srgbClr val="00B0F0"/>
                </a:solidFill>
              </a:rPr>
              <a:t>webgl</a:t>
            </a:r>
            <a:r>
              <a:rPr lang="en-US" dirty="0">
                <a:solidFill>
                  <a:srgbClr val="00B0F0"/>
                </a:solidFill>
              </a:rPr>
              <a:t>/graphicsdevice.js"</a:t>
            </a:r>
            <a:r>
              <a:rPr lang="en-US" dirty="0">
                <a:solidFill>
                  <a:schemeClr val="tx1"/>
                </a:solidFill>
              </a:rPr>
              <a:t>&gt;&lt;/script&gt;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&lt;/head&gt;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&lt;canvas id="canvas" width="640px" height="480px"/&gt;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&lt;script&gt;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TurbulenzEngine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WebGLTurbulenzEngine.create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rgbClr val="00B0F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({ canvas: </a:t>
            </a:r>
            <a:r>
              <a:rPr lang="en-US" dirty="0" err="1">
                <a:solidFill>
                  <a:srgbClr val="00B0F0"/>
                </a:solidFill>
              </a:rPr>
              <a:t>document.getElementById</a:t>
            </a:r>
            <a:r>
              <a:rPr lang="en-US" dirty="0">
                <a:solidFill>
                  <a:srgbClr val="00B0F0"/>
                </a:solidFill>
              </a:rPr>
              <a:t>("canvas") 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TurbulenzEngine.createGraphicsDevice</a:t>
            </a:r>
            <a:r>
              <a:rPr lang="en-US" dirty="0">
                <a:solidFill>
                  <a:srgbClr val="00B0F0"/>
                </a:solidFill>
              </a:rPr>
              <a:t>({})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r = 1.0, g = 1.0, b = 0.0, a = 1.0;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 = [r, g, b, a];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{if (</a:t>
            </a:r>
            <a:r>
              <a:rPr lang="en-US" dirty="0" err="1">
                <a:solidFill>
                  <a:srgbClr val="00B0F0"/>
                </a:solidFill>
              </a:rPr>
              <a:t>graphicsDevice.beginFrame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)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 </a:t>
            </a:r>
            <a:r>
              <a:rPr lang="en-US" dirty="0" err="1">
                <a:solidFill>
                  <a:srgbClr val="00B0F0"/>
                </a:solidFill>
              </a:rPr>
              <a:t>graphicsDevice.clear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bgColor</a:t>
            </a:r>
            <a:r>
              <a:rPr lang="en-US" dirty="0">
                <a:solidFill>
                  <a:srgbClr val="00B0F0"/>
                </a:solidFill>
              </a:rPr>
              <a:t>, 1.0)</a:t>
            </a:r>
            <a:r>
              <a:rPr lang="en-US" dirty="0">
                <a:solidFill>
                  <a:schemeClr val="tx1"/>
                </a:solidFill>
              </a:rPr>
              <a:t>; </a:t>
            </a:r>
            <a:endParaRPr lang="bg-BG" dirty="0">
              <a:solidFill>
                <a:schemeClr val="tx1"/>
              </a:solidFill>
            </a:endParaRP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graphicsDevice.endFrame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; } }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TurbulenzEngine.setInterval</a:t>
            </a:r>
            <a:r>
              <a:rPr lang="en-US" dirty="0">
                <a:solidFill>
                  <a:srgbClr val="00B0F0"/>
                </a:solidFill>
              </a:rPr>
              <a:t>(update, 1000 / 60)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&lt;/script&gt; &lt;/body&gt;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61288" cy="1066800"/>
          </a:xfrm>
        </p:spPr>
        <p:txBody>
          <a:bodyPr/>
          <a:lstStyle/>
          <a:p>
            <a:r>
              <a:rPr lang="bg-BG" sz="2000" b="0" dirty="0"/>
              <a:t>Чрез </a:t>
            </a:r>
            <a:r>
              <a:rPr lang="en-US" sz="2000" b="0" dirty="0" err="1">
                <a:solidFill>
                  <a:srgbClr val="00B0F0"/>
                </a:solidFill>
              </a:rPr>
              <a:t>setInterval</a:t>
            </a:r>
            <a:r>
              <a:rPr lang="en-US" sz="2000" b="0" dirty="0">
                <a:solidFill>
                  <a:srgbClr val="00B0F0"/>
                </a:solidFill>
              </a:rPr>
              <a:t>()</a:t>
            </a:r>
            <a:r>
              <a:rPr lang="bg-BG" sz="2000" b="0" dirty="0"/>
              <a:t> викаме функцията </a:t>
            </a:r>
            <a:r>
              <a:rPr lang="en-US" sz="2000" b="0" dirty="0">
                <a:solidFill>
                  <a:srgbClr val="00B0F0"/>
                </a:solidFill>
              </a:rPr>
              <a:t>update</a:t>
            </a:r>
            <a:r>
              <a:rPr lang="en-US" sz="2000" b="0" dirty="0"/>
              <a:t> </a:t>
            </a:r>
            <a:r>
              <a:rPr lang="bg-BG" sz="2000" b="0" dirty="0"/>
              <a:t>на всеки </a:t>
            </a:r>
            <a:r>
              <a:rPr lang="en-US" sz="2000" b="0" dirty="0">
                <a:solidFill>
                  <a:srgbClr val="00B0F0"/>
                </a:solidFill>
              </a:rPr>
              <a:t>1000/60</a:t>
            </a:r>
            <a:r>
              <a:rPr lang="en-US" sz="2000" b="0" dirty="0"/>
              <a:t> </a:t>
            </a:r>
            <a:r>
              <a:rPr lang="bg-BG" sz="2000" b="0" dirty="0"/>
              <a:t>милисекунди – иначе казано </a:t>
            </a:r>
            <a:r>
              <a:rPr lang="en-US" sz="2000" b="0" dirty="0"/>
              <a:t>1/60</a:t>
            </a:r>
            <a:r>
              <a:rPr lang="bg-BG" sz="2000" b="0" dirty="0"/>
              <a:t> от секундата или </a:t>
            </a:r>
            <a:r>
              <a:rPr lang="en-US" sz="2000" b="0" dirty="0"/>
              <a:t>60 frames per second.</a:t>
            </a:r>
            <a:endParaRPr lang="bg-BG" sz="2000" b="0" dirty="0"/>
          </a:p>
        </p:txBody>
      </p:sp>
      <p:sp>
        <p:nvSpPr>
          <p:cNvPr id="3" name="Rectangle 2"/>
          <p:cNvSpPr/>
          <p:nvPr/>
        </p:nvSpPr>
        <p:spPr>
          <a:xfrm>
            <a:off x="1381125" y="5791200"/>
            <a:ext cx="73152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08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914399"/>
            <a:ext cx="6553200" cy="4703830"/>
          </a:xfrm>
          <a:prstGeom prst="rect">
            <a:avLst/>
          </a:prstGeom>
        </p:spPr>
      </p:pic>
      <p:sp>
        <p:nvSpPr>
          <p:cNvPr id="4" name="Rectangle 3">
            <a:hlinkClick r:id="rId3" action="ppaction://hlinkfile"/>
          </p:cNvPr>
          <p:cNvSpPr/>
          <p:nvPr/>
        </p:nvSpPr>
        <p:spPr>
          <a:xfrm>
            <a:off x="2362200" y="57531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5" name="Rectangle 4">
            <a:hlinkClick r:id="rId4" action="ppaction://hlinkfile"/>
          </p:cNvPr>
          <p:cNvSpPr/>
          <p:nvPr/>
        </p:nvSpPr>
        <p:spPr>
          <a:xfrm>
            <a:off x="5181600" y="57531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1563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Използване на сървъра</a:t>
            </a:r>
          </a:p>
        </p:txBody>
      </p:sp>
    </p:spTree>
    <p:extLst>
      <p:ext uri="{BB962C8B-B14F-4D97-AF65-F5344CB8AC3E}">
        <p14:creationId xmlns:p14="http://schemas.microsoft.com/office/powerpoint/2010/main" val="1007448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сървъра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/>
          <a:lstStyle/>
          <a:p>
            <a:r>
              <a:rPr lang="bg-BG" sz="2000" b="0" dirty="0"/>
              <a:t>Ще напишем същата програма на </a:t>
            </a:r>
            <a:r>
              <a:rPr lang="en-US" sz="2000" b="0" dirty="0"/>
              <a:t>JavaScript </a:t>
            </a:r>
            <a:r>
              <a:rPr lang="bg-BG" sz="2000" b="0" dirty="0"/>
              <a:t>и ще я качим на сървъра. За целта</a:t>
            </a:r>
            <a:r>
              <a:rPr lang="en-US" sz="2000" b="0" dirty="0"/>
              <a:t>:</a:t>
            </a:r>
            <a:endParaRPr lang="bg-BG" sz="2000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Правим си програма</a:t>
            </a:r>
            <a:br>
              <a:rPr lang="bg-BG" dirty="0"/>
            </a:br>
            <a:r>
              <a:rPr lang="bg-BG" sz="2000" b="0" dirty="0"/>
              <a:t>На желаното от нас място(съдържащо копие от </a:t>
            </a:r>
            <a:r>
              <a:rPr lang="en-US" sz="2000" b="0" dirty="0" err="1"/>
              <a:t>jslib</a:t>
            </a:r>
            <a:r>
              <a:rPr lang="en-US" sz="2000" b="0" dirty="0"/>
              <a:t>)</a:t>
            </a:r>
            <a:r>
              <a:rPr lang="bg-BG" sz="2000" b="0" dirty="0"/>
              <a:t> си създаваме файла </a:t>
            </a:r>
            <a:r>
              <a:rPr lang="en-US" sz="2000" b="0" dirty="0"/>
              <a:t>myfirstapp.js </a:t>
            </a:r>
            <a:r>
              <a:rPr lang="bg-BG" sz="2000" b="0" dirty="0"/>
              <a:t>със съдържание, показващо същото като на предната задача.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3124200"/>
            <a:ext cx="8534400" cy="35814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TurbulenzEngine.onload</a:t>
            </a:r>
            <a:r>
              <a:rPr lang="en-US" dirty="0">
                <a:solidFill>
                  <a:schemeClr val="tx1"/>
                </a:solidFill>
              </a:rPr>
              <a:t> = function </a:t>
            </a:r>
            <a:r>
              <a:rPr lang="en-US" dirty="0" err="1">
                <a:solidFill>
                  <a:srgbClr val="00B0F0"/>
                </a:solidFill>
              </a:rPr>
              <a:t>onloadFn</a:t>
            </a:r>
            <a:r>
              <a:rPr lang="en-US" dirty="0">
                <a:solidFill>
                  <a:srgbClr val="00B0F0"/>
                </a:solidFill>
              </a:rPr>
              <a:t>()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intervalID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gd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TurbulenzEngine.createGraphicsDevice</a:t>
            </a:r>
            <a:r>
              <a:rPr lang="en-US" dirty="0">
                <a:solidFill>
                  <a:srgbClr val="00B0F0"/>
                </a:solidFill>
              </a:rPr>
              <a:t>({});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function update()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if (</a:t>
            </a:r>
            <a:r>
              <a:rPr lang="en-US" dirty="0" err="1">
                <a:solidFill>
                  <a:srgbClr val="00B0F0"/>
                </a:solidFill>
              </a:rPr>
              <a:t>gd.beginFrame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{</a:t>
            </a:r>
            <a:r>
              <a:rPr lang="en-US" dirty="0" err="1">
                <a:solidFill>
                  <a:srgbClr val="00B0F0"/>
                </a:solidFill>
              </a:rPr>
              <a:t>gd.clear</a:t>
            </a:r>
            <a:r>
              <a:rPr lang="en-US" dirty="0">
                <a:solidFill>
                  <a:srgbClr val="00B0F0"/>
                </a:solidFill>
              </a:rPr>
              <a:t>([1.0, 1.0, 0.0, 1.0]);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     </a:t>
            </a:r>
            <a:r>
              <a:rPr lang="en-US" dirty="0" err="1">
                <a:solidFill>
                  <a:srgbClr val="00B0F0"/>
                </a:solidFill>
              </a:rPr>
              <a:t>gd.endFrame</a:t>
            </a:r>
            <a:r>
              <a:rPr lang="en-US" dirty="0">
                <a:solidFill>
                  <a:srgbClr val="00B0F0"/>
                </a:solidFill>
              </a:rPr>
              <a:t>()</a:t>
            </a:r>
            <a:r>
              <a:rPr lang="en-US" dirty="0">
                <a:solidFill>
                  <a:schemeClr val="tx1"/>
                </a:solidFill>
              </a:rPr>
              <a:t>;}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}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err="1">
                <a:solidFill>
                  <a:schemeClr val="tx1"/>
                </a:solidFill>
              </a:rPr>
              <a:t>intervalID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TurbulenzEngine.setInterval</a:t>
            </a:r>
            <a:r>
              <a:rPr lang="en-US" dirty="0">
                <a:solidFill>
                  <a:srgbClr val="00B0F0"/>
                </a:solidFill>
              </a:rPr>
              <a:t>(update, 1000/60);</a:t>
            </a:r>
            <a:r>
              <a:rPr lang="bg-BG" dirty="0">
                <a:solidFill>
                  <a:srgbClr val="00B0F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30862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сървъра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/>
          <a:lstStyle/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Пускаме сървъра</a:t>
            </a:r>
            <a:br>
              <a:rPr lang="bg-BG" dirty="0"/>
            </a:br>
            <a:r>
              <a:rPr lang="bg-BG" sz="2000" b="0" dirty="0"/>
              <a:t>... От </a:t>
            </a:r>
            <a:r>
              <a:rPr lang="en-US" sz="2000" b="0" dirty="0"/>
              <a:t>Start -&gt; Applications -&gt; </a:t>
            </a:r>
            <a:r>
              <a:rPr lang="en-US" sz="2000" b="0" dirty="0" err="1"/>
              <a:t>Turbulenz</a:t>
            </a:r>
            <a:r>
              <a:rPr lang="en-US" sz="2000" b="0" dirty="0"/>
              <a:t> -&gt; SDK X.X.X(</a:t>
            </a:r>
            <a:r>
              <a:rPr lang="bg-BG" sz="2000" b="0" dirty="0"/>
              <a:t>версия) </a:t>
            </a:r>
            <a:r>
              <a:rPr lang="en-US" sz="2000" b="0" dirty="0"/>
              <a:t>-&gt; Run Local Server</a:t>
            </a:r>
            <a:endParaRPr lang="en-US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Влизаме в сървъра</a:t>
            </a:r>
            <a:br>
              <a:rPr lang="bg-BG" dirty="0"/>
            </a:br>
            <a:r>
              <a:rPr lang="bg-BG" sz="2000" b="0" dirty="0"/>
              <a:t>...Чрез браузъра на адрес 127.0.0.1:8070</a:t>
            </a:r>
            <a:endParaRPr lang="en-US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Указваме, че ще добавяме нова игра</a:t>
            </a:r>
            <a:br>
              <a:rPr lang="bg-BG" sz="2000" b="0" dirty="0"/>
            </a:br>
            <a:r>
              <a:rPr lang="bg-BG" sz="2000" b="0" dirty="0"/>
              <a:t>... Със знака плюс на главната страница. </a:t>
            </a:r>
            <a:endParaRPr lang="en-US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Указваме пътя до играта и я кръщаваме</a:t>
            </a:r>
            <a:br>
              <a:rPr lang="bg-BG" dirty="0"/>
            </a:br>
            <a:r>
              <a:rPr lang="bg-BG" sz="2000" b="0" dirty="0"/>
              <a:t>...и кликаме на </a:t>
            </a:r>
            <a:r>
              <a:rPr lang="en-US" sz="2000" b="0" dirty="0"/>
              <a:t>Save Game</a:t>
            </a:r>
            <a:endParaRPr lang="bg-BG" sz="2000" b="0" dirty="0"/>
          </a:p>
          <a:p>
            <a:pPr marL="525780" indent="-457200">
              <a:buFont typeface="Arial" pitchFamily="34" charset="0"/>
              <a:buChar char="•"/>
            </a:pPr>
            <a:endParaRPr lang="bg-BG" sz="2000" b="0" dirty="0"/>
          </a:p>
          <a:p>
            <a:r>
              <a:rPr lang="bg-BG" sz="2000" b="0" dirty="0"/>
              <a:t>До тук трябва да се е появил файла </a:t>
            </a:r>
            <a:r>
              <a:rPr lang="en-US" sz="2000" b="0" dirty="0" err="1"/>
              <a:t>manifest.yaml</a:t>
            </a:r>
            <a:r>
              <a:rPr lang="en-US" sz="2000" b="0" dirty="0"/>
              <a:t> </a:t>
            </a:r>
            <a:r>
              <a:rPr lang="bg-BG" sz="2000" b="0" dirty="0"/>
              <a:t>в директорията на </a:t>
            </a:r>
            <a:r>
              <a:rPr lang="en-US" sz="2000" b="0" dirty="0"/>
              <a:t>myfirstapp.js.</a:t>
            </a:r>
          </a:p>
          <a:p>
            <a:pPr marL="525780" indent="-457200">
              <a:buFont typeface="Arial" pitchFamily="34" charset="0"/>
              <a:buChar char="•"/>
            </a:pPr>
            <a:endParaRPr lang="bg-BG" sz="2000" b="0" dirty="0"/>
          </a:p>
        </p:txBody>
      </p:sp>
    </p:spTree>
    <p:extLst>
      <p:ext uri="{BB962C8B-B14F-4D97-AF65-F5344CB8AC3E}">
        <p14:creationId xmlns:p14="http://schemas.microsoft.com/office/powerpoint/2010/main" val="3962743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сървъра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 lnSpcReduction="10000"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Пускаме </a:t>
            </a:r>
            <a:r>
              <a:rPr lang="en-US" dirty="0" err="1"/>
              <a:t>Turbulenz</a:t>
            </a:r>
            <a:r>
              <a:rPr lang="en-US" dirty="0"/>
              <a:t> </a:t>
            </a:r>
            <a:r>
              <a:rPr lang="bg-BG" dirty="0"/>
              <a:t>средата</a:t>
            </a:r>
            <a:br>
              <a:rPr lang="bg-BG" dirty="0"/>
            </a:br>
            <a:r>
              <a:rPr lang="bg-BG" sz="2000" b="0" dirty="0"/>
              <a:t>... От </a:t>
            </a:r>
            <a:r>
              <a:rPr lang="en-US" sz="2000" b="0" dirty="0"/>
              <a:t>Start -&gt; Applications -&gt; </a:t>
            </a:r>
            <a:r>
              <a:rPr lang="en-US" sz="2000" b="0" dirty="0" err="1"/>
              <a:t>Turbulenz</a:t>
            </a:r>
            <a:r>
              <a:rPr lang="en-US" sz="2000" b="0" dirty="0"/>
              <a:t> -&gt; SDK X.X.X(</a:t>
            </a:r>
            <a:r>
              <a:rPr lang="bg-BG" sz="2000" b="0" dirty="0"/>
              <a:t>версия) </a:t>
            </a:r>
            <a:r>
              <a:rPr lang="en-US" sz="2000" b="0" dirty="0"/>
              <a:t>-&gt; Run Environment X.X.X</a:t>
            </a:r>
            <a:endParaRPr lang="en-US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В </a:t>
            </a:r>
            <a:r>
              <a:rPr lang="en-US" dirty="0"/>
              <a:t>command prompt </a:t>
            </a:r>
            <a:r>
              <a:rPr lang="bg-BG" dirty="0"/>
              <a:t>прозореца се преместваме до работната директория</a:t>
            </a:r>
            <a:br>
              <a:rPr lang="bg-BG" dirty="0"/>
            </a:br>
            <a:r>
              <a:rPr lang="bg-BG" sz="2000" b="0" dirty="0"/>
              <a:t>...например с </a:t>
            </a:r>
            <a:r>
              <a:rPr lang="en-US" sz="2000" b="0" dirty="0"/>
              <a:t>“CD C:\WebGL-28. </a:t>
            </a:r>
            <a:r>
              <a:rPr lang="en-US" sz="2000" b="0" dirty="0" err="1"/>
              <a:t>Turbulenz</a:t>
            </a:r>
            <a:r>
              <a:rPr lang="en-US" sz="2000" b="0" dirty="0"/>
              <a:t> SDK\02.FirstApp”</a:t>
            </a:r>
            <a:endParaRPr lang="en-US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Създаваме дебъг файл</a:t>
            </a:r>
            <a:br>
              <a:rPr lang="bg-BG" dirty="0"/>
            </a:br>
            <a:r>
              <a:rPr lang="bg-BG" sz="2000" b="0" dirty="0"/>
              <a:t>... Като за целта пишем в </a:t>
            </a:r>
            <a:r>
              <a:rPr lang="en-US" sz="2000" b="0" dirty="0" err="1"/>
              <a:t>cmd</a:t>
            </a:r>
            <a:r>
              <a:rPr lang="en-US" sz="2000" b="0" dirty="0"/>
              <a:t> </a:t>
            </a:r>
            <a:r>
              <a:rPr lang="en-US" sz="2000" dirty="0" err="1"/>
              <a:t>makehtml</a:t>
            </a:r>
            <a:r>
              <a:rPr lang="en-US" sz="2000" dirty="0"/>
              <a:t> </a:t>
            </a:r>
            <a:r>
              <a:rPr lang="en-US" sz="2000" dirty="0">
                <a:effectLst/>
              </a:rPr>
              <a:t>--</a:t>
            </a:r>
            <a:r>
              <a:rPr lang="en-US" sz="2000" dirty="0"/>
              <a:t>mode canvas</a:t>
            </a:r>
            <a:r>
              <a:rPr lang="en-US" sz="2000" dirty="0">
                <a:effectLst/>
              </a:rPr>
              <a:t>-</a:t>
            </a:r>
            <a:r>
              <a:rPr lang="en-US" sz="2000" dirty="0"/>
              <a:t>debug </a:t>
            </a:r>
            <a:r>
              <a:rPr lang="en-US" sz="2000" dirty="0">
                <a:effectLst/>
              </a:rPr>
              <a:t>-</a:t>
            </a:r>
            <a:r>
              <a:rPr lang="en-US" sz="2000" dirty="0"/>
              <a:t>t . myfirstapp.js </a:t>
            </a:r>
            <a:r>
              <a:rPr lang="en-US" sz="2000" dirty="0">
                <a:effectLst/>
              </a:rPr>
              <a:t>-</a:t>
            </a:r>
            <a:r>
              <a:rPr lang="en-US" sz="2000" dirty="0"/>
              <a:t>o myfirstapp.canvas.debug.html</a:t>
            </a:r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Гледаме го през сървъра</a:t>
            </a:r>
            <a:br>
              <a:rPr lang="bg-BG" sz="2000" b="0" dirty="0"/>
            </a:br>
            <a:r>
              <a:rPr lang="bg-BG" sz="2000" b="0" dirty="0"/>
              <a:t>...Като на заглавната страница изберем нашия проект и дадем </a:t>
            </a:r>
            <a:r>
              <a:rPr lang="en-US" sz="2000" b="0" dirty="0"/>
              <a:t>Play</a:t>
            </a:r>
            <a:r>
              <a:rPr lang="bg-BG" sz="2000" b="0" dirty="0"/>
              <a:t> – от файловете избираме </a:t>
            </a:r>
            <a:r>
              <a:rPr lang="en-US" sz="2000" dirty="0">
                <a:effectLst/>
              </a:rPr>
              <a:t>myfirstapp.canvas.debug.html</a:t>
            </a:r>
            <a:endParaRPr lang="bg-BG" sz="2000" dirty="0"/>
          </a:p>
          <a:p>
            <a:br>
              <a:rPr lang="bg-BG" b="0" dirty="0"/>
            </a:b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865815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до тук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7130002" cy="4900224"/>
          </a:xfrm>
          <a:prstGeom prst="rect">
            <a:avLst/>
          </a:prstGeom>
        </p:spPr>
      </p:pic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3810000" y="603885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42953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до тук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Имаме готов прозорец, в който върви нашата програма</a:t>
            </a:r>
          </a:p>
          <a:p>
            <a:pPr marL="411480" indent="-342900">
              <a:buFont typeface="Arial" pitchFamily="34" charset="0"/>
              <a:buChar char="•"/>
            </a:pPr>
            <a:endParaRPr lang="bg-BG" sz="2000" b="0" dirty="0"/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Не можем да гледаме </a:t>
            </a:r>
            <a:r>
              <a:rPr lang="en-US" sz="2000" b="0" dirty="0"/>
              <a:t>html</a:t>
            </a:r>
            <a:r>
              <a:rPr lang="bg-BG" sz="2000" b="0" dirty="0"/>
              <a:t> файла, освен ако не е през сървъра</a:t>
            </a:r>
          </a:p>
          <a:p>
            <a:endParaRPr lang="bg-BG" sz="2000" b="0" dirty="0"/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Сивото поле ни е оставено, за да показва информация, бутони, слайдъри и т.н. </a:t>
            </a:r>
          </a:p>
          <a:p>
            <a:pPr marL="411480" indent="-342900">
              <a:buFont typeface="Arial" pitchFamily="34" charset="0"/>
              <a:buChar char="•"/>
            </a:pPr>
            <a:endParaRPr lang="en-US" sz="2000" b="0" dirty="0"/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>
                <a:solidFill>
                  <a:schemeClr val="accent3"/>
                </a:solidFill>
              </a:rPr>
              <a:t>Ако променяме оригиналния </a:t>
            </a:r>
            <a:r>
              <a:rPr lang="en-US" sz="2000" b="0" dirty="0">
                <a:solidFill>
                  <a:schemeClr val="accent3"/>
                </a:solidFill>
              </a:rPr>
              <a:t>JavaScript </a:t>
            </a:r>
            <a:r>
              <a:rPr lang="bg-BG" sz="2000" b="0" dirty="0">
                <a:solidFill>
                  <a:schemeClr val="accent3"/>
                </a:solidFill>
              </a:rPr>
              <a:t>файл</a:t>
            </a:r>
            <a:r>
              <a:rPr lang="en-US" sz="2000" b="0" dirty="0">
                <a:solidFill>
                  <a:schemeClr val="accent3"/>
                </a:solidFill>
              </a:rPr>
              <a:t> (myfirstapp.js)</a:t>
            </a:r>
            <a:r>
              <a:rPr lang="bg-BG" sz="2000" b="0" dirty="0">
                <a:solidFill>
                  <a:schemeClr val="accent3"/>
                </a:solidFill>
              </a:rPr>
              <a:t>, </a:t>
            </a:r>
            <a:r>
              <a:rPr lang="bg-BG" sz="2000" dirty="0">
                <a:solidFill>
                  <a:schemeClr val="accent3"/>
                </a:solidFill>
              </a:rPr>
              <a:t>трябва</a:t>
            </a:r>
            <a:r>
              <a:rPr lang="bg-BG" sz="2000" b="0" dirty="0">
                <a:solidFill>
                  <a:schemeClr val="accent3"/>
                </a:solidFill>
              </a:rPr>
              <a:t> отново да създадем</a:t>
            </a:r>
            <a:r>
              <a:rPr lang="en-US" sz="2000" b="0" dirty="0">
                <a:solidFill>
                  <a:schemeClr val="accent3"/>
                </a:solidFill>
              </a:rPr>
              <a:t> </a:t>
            </a:r>
            <a:r>
              <a:rPr lang="bg-BG" sz="2000" b="0" dirty="0">
                <a:solidFill>
                  <a:schemeClr val="accent3"/>
                </a:solidFill>
              </a:rPr>
              <a:t>файла </a:t>
            </a:r>
            <a:r>
              <a:rPr lang="en-US" sz="2000" b="0" dirty="0" err="1">
                <a:solidFill>
                  <a:schemeClr val="accent3"/>
                </a:solidFill>
              </a:rPr>
              <a:t>myfirstapp.canvas.debug</a:t>
            </a:r>
            <a:r>
              <a:rPr lang="en-US" sz="2000" b="0" dirty="0">
                <a:solidFill>
                  <a:schemeClr val="accent3"/>
                </a:solidFill>
              </a:rPr>
              <a:t> .html </a:t>
            </a:r>
            <a:r>
              <a:rPr lang="bg-BG" sz="2000" b="0" dirty="0">
                <a:solidFill>
                  <a:schemeClr val="accent3"/>
                </a:solidFill>
              </a:rPr>
              <a:t>от конзолата</a:t>
            </a:r>
          </a:p>
          <a:p>
            <a:pPr marL="411480" indent="-342900">
              <a:buFont typeface="Arial" pitchFamily="34" charset="0"/>
              <a:buChar char="•"/>
            </a:pPr>
            <a:endParaRPr lang="bg-BG" sz="2000" b="0" dirty="0"/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Тъй като тези операции бавят процеса на работа, в тази лекция няма да качваме примерите на сървъра</a:t>
            </a:r>
            <a:r>
              <a:rPr lang="en-US" sz="2000" b="0" dirty="0"/>
              <a:t> – </a:t>
            </a:r>
            <a:r>
              <a:rPr lang="bg-BG" sz="2000" b="0" dirty="0"/>
              <a:t>изключение прави само следващия</a:t>
            </a:r>
            <a:endParaRPr lang="bg-BG" b="0" dirty="0"/>
          </a:p>
        </p:txBody>
      </p:sp>
    </p:spTree>
    <p:extLst>
      <p:ext uri="{BB962C8B-B14F-4D97-AF65-F5344CB8AC3E}">
        <p14:creationId xmlns:p14="http://schemas.microsoft.com/office/powerpoint/2010/main" val="3351915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Пет куба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86400"/>
          </a:xfrm>
        </p:spPr>
        <p:txBody>
          <a:bodyPr>
            <a:normAutofit/>
          </a:bodyPr>
          <a:lstStyle/>
          <a:p>
            <a:pPr marL="411480" indent="-342900">
              <a:buFont typeface="Arial" pitchFamily="34" charset="0"/>
              <a:buChar char="•"/>
            </a:pPr>
            <a:r>
              <a:rPr lang="bg-BG" dirty="0"/>
              <a:t>Да напишем задачата с петте куба и да я пуснем през сървъра</a:t>
            </a:r>
            <a:br>
              <a:rPr lang="bg-BG" dirty="0"/>
            </a:br>
            <a:r>
              <a:rPr lang="bg-BG" sz="2000" b="0" dirty="0"/>
              <a:t>По същият начин като на предния пример – може да променяме кода от него или да си направим нов</a:t>
            </a:r>
            <a:endParaRPr lang="en-US" dirty="0"/>
          </a:p>
          <a:p>
            <a:pPr marL="411480" indent="-342900">
              <a:buFont typeface="Arial" pitchFamily="34" charset="0"/>
              <a:buChar char="•"/>
            </a:pPr>
            <a:r>
              <a:rPr lang="bg-BG" dirty="0"/>
              <a:t>Да използва външен шейдър</a:t>
            </a:r>
          </a:p>
          <a:p>
            <a:pPr marL="411480" indent="-342900">
              <a:buFont typeface="Arial" pitchFamily="34" charset="0"/>
              <a:buChar char="•"/>
            </a:pPr>
            <a:r>
              <a:rPr lang="en-US" sz="2000" b="0" dirty="0" err="1"/>
              <a:t>Turbulenz</a:t>
            </a:r>
            <a:r>
              <a:rPr lang="en-US" sz="2000" b="0" dirty="0"/>
              <a:t> </a:t>
            </a:r>
            <a:r>
              <a:rPr lang="bg-BG" sz="2000" b="0" dirty="0"/>
              <a:t>предлага опцията  да използваме техен шейдър на готово</a:t>
            </a:r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Много са на брой – за </a:t>
            </a:r>
            <a:r>
              <a:rPr lang="en-US" sz="2000" b="0" dirty="0"/>
              <a:t>2D, 3D</a:t>
            </a:r>
            <a:r>
              <a:rPr lang="bg-BG" sz="2000" b="0" dirty="0"/>
              <a:t>, със и без текстури, за изобразяване на текст и т.н.</a:t>
            </a:r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Всеки шейдър включва в себе си различни техники на обработка на графичните данни – този за обработка на светлина например включва </a:t>
            </a:r>
            <a:r>
              <a:rPr lang="en-US" sz="2000" b="0" dirty="0" err="1"/>
              <a:t>Phong</a:t>
            </a:r>
            <a:r>
              <a:rPr lang="bg-BG" sz="2000" b="0" dirty="0"/>
              <a:t>, </a:t>
            </a:r>
            <a:r>
              <a:rPr lang="en-US" sz="2000" b="0" dirty="0" err="1"/>
              <a:t>Goraud</a:t>
            </a:r>
            <a:r>
              <a:rPr lang="bg-BG" sz="2000" b="0" dirty="0"/>
              <a:t> и няколко други</a:t>
            </a:r>
          </a:p>
        </p:txBody>
      </p:sp>
    </p:spTree>
    <p:extLst>
      <p:ext uri="{BB962C8B-B14F-4D97-AF65-F5344CB8AC3E}">
        <p14:creationId xmlns:p14="http://schemas.microsoft.com/office/powerpoint/2010/main" val="380459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Външен шейдър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1371600"/>
            <a:ext cx="8610600" cy="5486400"/>
          </a:xfrm>
        </p:spPr>
        <p:txBody>
          <a:bodyPr>
            <a:normAutofit/>
          </a:bodyPr>
          <a:lstStyle/>
          <a:p>
            <a:pPr marL="411480" indent="-342900">
              <a:buFont typeface="Arial" pitchFamily="34" charset="0"/>
              <a:buChar char="•"/>
            </a:pPr>
            <a:r>
              <a:rPr lang="bg-BG" dirty="0"/>
              <a:t>За нашата задача е достатъчен шейдъра </a:t>
            </a:r>
            <a:r>
              <a:rPr lang="en-US" dirty="0"/>
              <a:t>generic3D.cgfx</a:t>
            </a:r>
            <a:br>
              <a:rPr lang="en-US" dirty="0"/>
            </a:br>
            <a:r>
              <a:rPr lang="bg-BG" sz="2000" b="0" dirty="0"/>
              <a:t>Намира се в </a:t>
            </a:r>
            <a:r>
              <a:rPr lang="en-US" sz="2000" b="0" dirty="0"/>
              <a:t>/assets/</a:t>
            </a:r>
            <a:r>
              <a:rPr lang="en-US" sz="2000" b="0" dirty="0" err="1"/>
              <a:t>shaders</a:t>
            </a:r>
            <a:r>
              <a:rPr lang="en-US" sz="2000" b="0" dirty="0"/>
              <a:t> </a:t>
            </a:r>
            <a:r>
              <a:rPr lang="bg-BG" sz="2000" b="0" dirty="0"/>
              <a:t>в инсталационната директория</a:t>
            </a:r>
          </a:p>
          <a:p>
            <a:pPr marL="411480" indent="-342900">
              <a:buFont typeface="Arial" pitchFamily="34" charset="0"/>
              <a:buChar char="•"/>
            </a:pPr>
            <a:r>
              <a:rPr lang="bg-BG" dirty="0"/>
              <a:t>За да използваме някой</a:t>
            </a:r>
            <a:r>
              <a:rPr lang="en-US" dirty="0"/>
              <a:t> </a:t>
            </a:r>
            <a:r>
              <a:rPr lang="bg-BG" dirty="0"/>
              <a:t>шейдър трябва да го </a:t>
            </a:r>
            <a:r>
              <a:rPr lang="en-US" dirty="0"/>
              <a:t>“</a:t>
            </a:r>
            <a:r>
              <a:rPr lang="bg-BG" dirty="0"/>
              <a:t>преведем</a:t>
            </a:r>
            <a:r>
              <a:rPr lang="en-US" dirty="0"/>
              <a:t>”</a:t>
            </a:r>
            <a:r>
              <a:rPr lang="bg-BG" dirty="0"/>
              <a:t> във формат </a:t>
            </a:r>
            <a:r>
              <a:rPr lang="en-US" dirty="0" err="1"/>
              <a:t>json</a:t>
            </a:r>
            <a:r>
              <a:rPr lang="en-US" dirty="0"/>
              <a:t>. </a:t>
            </a:r>
            <a:r>
              <a:rPr lang="bg-BG" dirty="0"/>
              <a:t>За целта</a:t>
            </a:r>
            <a:r>
              <a:rPr lang="en-US" dirty="0"/>
              <a:t>:</a:t>
            </a:r>
            <a:br>
              <a:rPr lang="en-US" dirty="0"/>
            </a:br>
            <a:r>
              <a:rPr lang="en-US" sz="2000" b="0" dirty="0"/>
              <a:t>1. </a:t>
            </a:r>
            <a:r>
              <a:rPr lang="bg-BG" sz="2000" b="0" dirty="0"/>
              <a:t>Отваряме </a:t>
            </a:r>
            <a:r>
              <a:rPr lang="en-US" sz="2000" b="0" dirty="0" err="1"/>
              <a:t>Turbulenz</a:t>
            </a:r>
            <a:r>
              <a:rPr lang="en-US" sz="2000" b="0" dirty="0"/>
              <a:t> </a:t>
            </a:r>
            <a:r>
              <a:rPr lang="bg-BG" sz="2000" b="0" dirty="0"/>
              <a:t>средата и отиваме в </a:t>
            </a:r>
            <a:r>
              <a:rPr lang="en-US" sz="2000" b="0" dirty="0"/>
              <a:t>*INSTALL*/tools/bin/win32</a:t>
            </a:r>
            <a:r>
              <a:rPr lang="bg-BG" sz="2000" b="0" dirty="0"/>
              <a:t>, където </a:t>
            </a:r>
            <a:r>
              <a:rPr lang="en-US" sz="2000" b="0" dirty="0"/>
              <a:t>*INSTALL* </a:t>
            </a:r>
            <a:r>
              <a:rPr lang="bg-BG" sz="2000" b="0" dirty="0"/>
              <a:t>е инсталационната директория на </a:t>
            </a:r>
            <a:r>
              <a:rPr lang="en-US" sz="2000" b="0" dirty="0" err="1"/>
              <a:t>Turbulenz</a:t>
            </a:r>
            <a:br>
              <a:rPr lang="en-US" sz="2000" b="0" dirty="0"/>
            </a:br>
            <a:r>
              <a:rPr lang="en-US" sz="2000" b="0" dirty="0"/>
              <a:t>2. </a:t>
            </a:r>
            <a:r>
              <a:rPr lang="bg-BG" sz="2000" b="0" dirty="0"/>
              <a:t>Изпълняваме </a:t>
            </a:r>
            <a:br>
              <a:rPr lang="en-US" sz="2000" b="0" dirty="0"/>
            </a:br>
            <a:r>
              <a:rPr lang="en-US" sz="2000" i="1" dirty="0"/>
              <a:t>cgfx2json -</a:t>
            </a:r>
            <a:r>
              <a:rPr lang="en-US" sz="2000" i="1" dirty="0" err="1"/>
              <a:t>i</a:t>
            </a:r>
            <a:r>
              <a:rPr lang="en-US" sz="2000" i="1" dirty="0"/>
              <a:t> *INSTALL*/assets/</a:t>
            </a:r>
            <a:r>
              <a:rPr lang="en-US" sz="2000" i="1" dirty="0" err="1"/>
              <a:t>shaders</a:t>
            </a:r>
            <a:r>
              <a:rPr lang="en-US" sz="2000" i="1" dirty="0"/>
              <a:t>/generic3D.cgfx</a:t>
            </a:r>
            <a:br>
              <a:rPr lang="en-US" sz="2000" i="1" dirty="0"/>
            </a:br>
            <a:r>
              <a:rPr lang="en-US" sz="2000" i="1" dirty="0"/>
              <a:t>-o generic3D.cgfx.json</a:t>
            </a:r>
            <a:br>
              <a:rPr lang="en-US" sz="2000" i="1" dirty="0"/>
            </a:br>
            <a:r>
              <a:rPr lang="en-US" sz="2000" b="0" i="1" dirty="0"/>
              <a:t>3. </a:t>
            </a:r>
            <a:r>
              <a:rPr lang="bg-BG" sz="2000" b="0" i="1" dirty="0"/>
              <a:t>Появява се новия файл</a:t>
            </a:r>
            <a:r>
              <a:rPr lang="en-US" sz="2000" b="0" i="1" dirty="0"/>
              <a:t> generic3D.cgfx.json </a:t>
            </a:r>
            <a:r>
              <a:rPr lang="bg-BG" sz="2000" b="0" i="1" dirty="0"/>
              <a:t>в папката</a:t>
            </a:r>
            <a:br>
              <a:rPr lang="bg-BG" sz="2000" b="0" i="1" dirty="0"/>
            </a:br>
            <a:r>
              <a:rPr lang="en-US" sz="2000" b="0" i="1" dirty="0"/>
              <a:t>*INSTALL*/tools/bin/win32</a:t>
            </a:r>
            <a:br>
              <a:rPr lang="bg-BG" sz="2000" b="0" i="1" dirty="0"/>
            </a:br>
            <a:r>
              <a:rPr lang="bg-BG" sz="2000" b="0" dirty="0"/>
              <a:t>4. За по-лесно използване</a:t>
            </a:r>
            <a:r>
              <a:rPr lang="en-US" sz="2000" b="0" dirty="0"/>
              <a:t> </a:t>
            </a:r>
            <a:r>
              <a:rPr lang="bg-BG" sz="2000" b="0" dirty="0"/>
              <a:t>го копираме в папката на задачата заедно с </a:t>
            </a:r>
            <a:r>
              <a:rPr lang="en-US" sz="2000" b="0" dirty="0" err="1"/>
              <a:t>jslib</a:t>
            </a:r>
            <a:endParaRPr lang="bg-BG" b="0" dirty="0"/>
          </a:p>
        </p:txBody>
      </p:sp>
    </p:spTree>
    <p:extLst>
      <p:ext uri="{BB962C8B-B14F-4D97-AF65-F5344CB8AC3E}">
        <p14:creationId xmlns:p14="http://schemas.microsoft.com/office/powerpoint/2010/main" val="3802304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6165" y="2362200"/>
            <a:ext cx="8534400" cy="43434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/*{{ </a:t>
            </a:r>
            <a:r>
              <a:rPr lang="en-US" dirty="0" err="1">
                <a:solidFill>
                  <a:schemeClr val="tx1"/>
                </a:solidFill>
              </a:rPr>
              <a:t>javascript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jslib</a:t>
            </a:r>
            <a:r>
              <a:rPr lang="en-US" dirty="0">
                <a:solidFill>
                  <a:schemeClr val="tx1"/>
                </a:solidFill>
              </a:rPr>
              <a:t>/camera.js") }}*/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/*{{ </a:t>
            </a:r>
            <a:r>
              <a:rPr lang="en-US" dirty="0" err="1">
                <a:solidFill>
                  <a:schemeClr val="tx1"/>
                </a:solidFill>
              </a:rPr>
              <a:t>javascript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jslib</a:t>
            </a:r>
            <a:r>
              <a:rPr lang="en-US" dirty="0">
                <a:solidFill>
                  <a:schemeClr val="tx1"/>
                </a:solidFill>
              </a:rPr>
              <a:t>/floor.js") }}*/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/*{{ </a:t>
            </a:r>
            <a:r>
              <a:rPr lang="en-US" dirty="0" err="1">
                <a:solidFill>
                  <a:srgbClr val="00B0F0"/>
                </a:solidFill>
              </a:rPr>
              <a:t>javascript</a:t>
            </a:r>
            <a:r>
              <a:rPr lang="en-US" dirty="0">
                <a:solidFill>
                  <a:srgbClr val="00B0F0"/>
                </a:solidFill>
              </a:rPr>
              <a:t>("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/requesthandler.js") }}*/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requestHandler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RequestHandler.create</a:t>
            </a:r>
            <a:r>
              <a:rPr lang="en-US" dirty="0">
                <a:solidFill>
                  <a:srgbClr val="00B0F0"/>
                </a:solidFill>
              </a:rPr>
              <a:t>({});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requestHandler.request</a:t>
            </a:r>
            <a:r>
              <a:rPr lang="en-US" dirty="0">
                <a:solidFill>
                  <a:schemeClr val="tx1"/>
                </a:solidFill>
              </a:rPr>
              <a:t>({</a:t>
            </a:r>
            <a:r>
              <a:rPr lang="bg-BG" dirty="0">
                <a:solidFill>
                  <a:schemeClr val="tx1"/>
                </a:solidFill>
              </a:rPr>
              <a:t>		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: 'generic3D.cgfx.json'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onload</a:t>
            </a:r>
            <a:r>
              <a:rPr lang="en-US" dirty="0">
                <a:solidFill>
                  <a:schemeClr val="tx1"/>
                </a:solidFill>
              </a:rPr>
              <a:t>: function (</a:t>
            </a:r>
            <a:r>
              <a:rPr lang="en-US" dirty="0" err="1">
                <a:solidFill>
                  <a:schemeClr val="tx1"/>
                </a:solidFill>
              </a:rPr>
              <a:t>shaderJSON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shaderParameters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JSON.parse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shaderJSON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shader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gd.createShader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shaderParameters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technique = </a:t>
            </a:r>
            <a:r>
              <a:rPr lang="en-US" dirty="0" err="1">
                <a:solidFill>
                  <a:srgbClr val="00B0F0"/>
                </a:solidFill>
              </a:rPr>
              <a:t>shader.getTechnique</a:t>
            </a:r>
            <a:r>
              <a:rPr lang="en-US" dirty="0">
                <a:solidFill>
                  <a:srgbClr val="00B0F0"/>
                </a:solidFill>
              </a:rPr>
              <a:t>('vertexColor3D'); </a:t>
            </a:r>
            <a:r>
              <a:rPr lang="bg-BG" dirty="0">
                <a:solidFill>
                  <a:schemeClr val="tx1"/>
                </a:solidFill>
              </a:rPr>
              <a:t>}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61288" cy="2057400"/>
          </a:xfrm>
        </p:spPr>
        <p:txBody>
          <a:bodyPr/>
          <a:lstStyle/>
          <a:p>
            <a:r>
              <a:rPr lang="bg-BG" sz="2000" b="0" dirty="0"/>
              <a:t>За да заредим шейдъра ще ни трябва библиотеката </a:t>
            </a:r>
            <a:r>
              <a:rPr lang="en-US" sz="2000" b="0" dirty="0">
                <a:solidFill>
                  <a:srgbClr val="00B0F0"/>
                </a:solidFill>
              </a:rPr>
              <a:t>requesthandler.js</a:t>
            </a:r>
            <a:r>
              <a:rPr lang="en-US" sz="2000" b="0" dirty="0"/>
              <a:t> </a:t>
            </a:r>
            <a:r>
              <a:rPr lang="bg-BG" sz="2000" b="0" dirty="0"/>
              <a:t>, която се занимава с</a:t>
            </a:r>
            <a:r>
              <a:rPr lang="en-US" sz="2000" b="0" dirty="0"/>
              <a:t> HTTP </a:t>
            </a:r>
            <a:r>
              <a:rPr lang="bg-BG" sz="2000" b="0" dirty="0"/>
              <a:t>заявки към сървъра. Построяваме инстанция и подаваме заявка чрез </a:t>
            </a:r>
            <a:r>
              <a:rPr lang="en-US" sz="2000" b="0" dirty="0" err="1">
                <a:solidFill>
                  <a:srgbClr val="00B0F0"/>
                </a:solidFill>
              </a:rPr>
              <a:t>requestHandler.request</a:t>
            </a:r>
            <a:r>
              <a:rPr lang="bg-BG" sz="2000" b="0" dirty="0"/>
              <a:t>,</a:t>
            </a:r>
            <a:r>
              <a:rPr lang="bg-BG" sz="2000" b="0" dirty="0">
                <a:solidFill>
                  <a:srgbClr val="00B0F0"/>
                </a:solidFill>
              </a:rPr>
              <a:t> </a:t>
            </a:r>
            <a:r>
              <a:rPr lang="bg-BG" sz="2000" b="0" dirty="0"/>
              <a:t>чиито синтаксис е показан по-долу. Със </a:t>
            </a:r>
            <a:r>
              <a:rPr lang="en-US" sz="2000" b="0" dirty="0" err="1">
                <a:solidFill>
                  <a:srgbClr val="00B0F0"/>
                </a:solidFill>
              </a:rPr>
              <a:t>shader.getTechnique</a:t>
            </a:r>
            <a:r>
              <a:rPr lang="en-US" sz="2000" b="0" dirty="0">
                <a:solidFill>
                  <a:srgbClr val="00B0F0"/>
                </a:solidFill>
              </a:rPr>
              <a:t>('vertexColor3D')</a:t>
            </a:r>
            <a:r>
              <a:rPr lang="bg-BG" sz="2000" b="0" dirty="0">
                <a:solidFill>
                  <a:srgbClr val="00B0F0"/>
                </a:solidFill>
              </a:rPr>
              <a:t> </a:t>
            </a:r>
            <a:r>
              <a:rPr lang="bg-BG" sz="2000" b="0" dirty="0"/>
              <a:t>избираме техниката на рисуване – фигурите да се оцветяват според цветовете на върховете си </a:t>
            </a:r>
          </a:p>
        </p:txBody>
      </p:sp>
    </p:spTree>
    <p:extLst>
      <p:ext uri="{BB962C8B-B14F-4D97-AF65-F5344CB8AC3E}">
        <p14:creationId xmlns:p14="http://schemas.microsoft.com/office/powerpoint/2010/main" val="513780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5605" y="3581400"/>
            <a:ext cx="8534400" cy="3124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md = </a:t>
            </a:r>
            <a:r>
              <a:rPr lang="en-US" dirty="0" err="1">
                <a:solidFill>
                  <a:srgbClr val="00B0F0"/>
                </a:solidFill>
              </a:rPr>
              <a:t>TurbulenzEngine.createMathDevice</a:t>
            </a:r>
            <a:r>
              <a:rPr lang="en-US" dirty="0">
                <a:solidFill>
                  <a:srgbClr val="00B0F0"/>
                </a:solidFill>
              </a:rPr>
              <a:t>({})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vertexBuffer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gd.createVertexBuffer</a:t>
            </a:r>
            <a:r>
              <a:rPr lang="en-US" dirty="0">
                <a:solidFill>
                  <a:schemeClr val="tx1"/>
                </a:solidFill>
              </a:rPr>
              <a:t>({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numVertices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rgbClr val="00B0F0"/>
                </a:solidFill>
              </a:rPr>
              <a:t>vertData.length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attributes: [gd.VERTEXFORMAT_FLOAT3, gd.VERTEXFORMAT_UBYTE4N],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data: </a:t>
            </a:r>
            <a:r>
              <a:rPr lang="en-US" dirty="0" err="1">
                <a:solidFill>
                  <a:srgbClr val="00B0F0"/>
                </a:solidFill>
              </a:rPr>
              <a:t>vertData</a:t>
            </a:r>
            <a:r>
              <a:rPr lang="en-US" dirty="0">
                <a:solidFill>
                  <a:schemeClr val="tx1"/>
                </a:solidFill>
              </a:rPr>
              <a:t>,</a:t>
            </a:r>
            <a:r>
              <a:rPr lang="bg-BG" dirty="0">
                <a:solidFill>
                  <a:schemeClr val="tx1"/>
                </a:solidFill>
              </a:rPr>
              <a:t>	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semantics = </a:t>
            </a:r>
            <a:r>
              <a:rPr lang="en-US" dirty="0" err="1">
                <a:solidFill>
                  <a:schemeClr val="tx1"/>
                </a:solidFill>
              </a:rPr>
              <a:t>gd.createSemantics</a:t>
            </a:r>
            <a:r>
              <a:rPr lang="en-US" dirty="0">
                <a:solidFill>
                  <a:schemeClr val="tx1"/>
                </a:solidFill>
              </a:rPr>
              <a:t>([ </a:t>
            </a:r>
            <a:r>
              <a:rPr lang="en-US" dirty="0" err="1">
                <a:solidFill>
                  <a:schemeClr val="tx1"/>
                </a:solidFill>
              </a:rPr>
              <a:t>gd.SEMANTIC_POSITION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gd.SEMANTIC_COLOR</a:t>
            </a:r>
            <a:r>
              <a:rPr lang="en-US" dirty="0">
                <a:solidFill>
                  <a:schemeClr val="tx1"/>
                </a:solidFill>
              </a:rPr>
              <a:t> ]);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61288" cy="3352800"/>
          </a:xfrm>
        </p:spPr>
        <p:txBody>
          <a:bodyPr/>
          <a:lstStyle/>
          <a:p>
            <a:r>
              <a:rPr lang="bg-BG" sz="2000" b="0" dirty="0"/>
              <a:t>Създаваме си инстанция на математическо устройство чрез </a:t>
            </a:r>
            <a:r>
              <a:rPr lang="en-US" sz="2000" b="0" dirty="0" err="1">
                <a:solidFill>
                  <a:srgbClr val="00B0F0"/>
                </a:solidFill>
              </a:rPr>
              <a:t>createMathDevice</a:t>
            </a:r>
            <a:r>
              <a:rPr lang="bg-BG" sz="2000" b="0" dirty="0">
                <a:solidFill>
                  <a:srgbClr val="00B0F0"/>
                </a:solidFill>
              </a:rPr>
              <a:t> </a:t>
            </a:r>
            <a:r>
              <a:rPr lang="bg-BG" sz="2000" b="0" dirty="0"/>
              <a:t>– с него се строят и умножават вектори и матрици</a:t>
            </a:r>
            <a:br>
              <a:rPr lang="en-US" sz="2000" b="0" dirty="0"/>
            </a:br>
            <a:br>
              <a:rPr lang="bg-BG" sz="2000" b="0" dirty="0"/>
            </a:br>
            <a:r>
              <a:rPr lang="bg-BG" sz="2000" b="0" dirty="0"/>
              <a:t>За рисуването - пълним масива </a:t>
            </a:r>
            <a:r>
              <a:rPr lang="en-US" sz="2000" b="0" dirty="0" err="1">
                <a:solidFill>
                  <a:srgbClr val="00B0F0"/>
                </a:solidFill>
              </a:rPr>
              <a:t>vertData</a:t>
            </a:r>
            <a:r>
              <a:rPr lang="en-US" sz="2000" b="0" dirty="0"/>
              <a:t> </a:t>
            </a:r>
            <a:r>
              <a:rPr lang="bg-BG" sz="2000" b="0" dirty="0"/>
              <a:t>със върховете на триъгълниците, образуващи куб – използваме функцията </a:t>
            </a:r>
            <a:r>
              <a:rPr lang="en-US" sz="2000" b="0" dirty="0" err="1">
                <a:solidFill>
                  <a:srgbClr val="00B0F0"/>
                </a:solidFill>
              </a:rPr>
              <a:t>addVerts</a:t>
            </a:r>
            <a:r>
              <a:rPr lang="en-US" sz="2000" b="0" dirty="0"/>
              <a:t>, </a:t>
            </a:r>
            <a:r>
              <a:rPr lang="bg-BG" sz="2000" b="0" dirty="0"/>
              <a:t>описана в примера. </a:t>
            </a:r>
            <a:br>
              <a:rPr lang="bg-BG" sz="2000" b="0" dirty="0"/>
            </a:br>
            <a:br>
              <a:rPr lang="bg-BG" sz="2000" b="0" dirty="0"/>
            </a:br>
            <a:r>
              <a:rPr lang="bg-BG" sz="2000" b="0" dirty="0"/>
              <a:t>В </a:t>
            </a:r>
            <a:r>
              <a:rPr lang="en-US" sz="2000" b="0" dirty="0">
                <a:solidFill>
                  <a:srgbClr val="00B0F0"/>
                </a:solidFill>
              </a:rPr>
              <a:t>semantics</a:t>
            </a:r>
            <a:r>
              <a:rPr lang="en-US" sz="2000" b="0" dirty="0"/>
              <a:t> </a:t>
            </a:r>
            <a:r>
              <a:rPr lang="bg-BG" sz="2000" b="0" dirty="0"/>
              <a:t>указваме в какъв формат са върховете, а именно – позиция на върха и после цвят на върха</a:t>
            </a:r>
            <a:br>
              <a:rPr lang="bg-BG" sz="2000" b="0" dirty="0"/>
            </a:br>
            <a:endParaRPr lang="bg-BG" sz="2000" b="0" dirty="0"/>
          </a:p>
        </p:txBody>
      </p:sp>
    </p:spTree>
    <p:extLst>
      <p:ext uri="{BB962C8B-B14F-4D97-AF65-F5344CB8AC3E}">
        <p14:creationId xmlns:p14="http://schemas.microsoft.com/office/powerpoint/2010/main" val="4618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5605" y="3200400"/>
            <a:ext cx="8534400" cy="34290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/*{{ </a:t>
            </a:r>
            <a:r>
              <a:rPr lang="en-US" dirty="0" err="1">
                <a:solidFill>
                  <a:srgbClr val="00B0F0"/>
                </a:solidFill>
              </a:rPr>
              <a:t>javascript</a:t>
            </a:r>
            <a:r>
              <a:rPr lang="en-US" dirty="0">
                <a:solidFill>
                  <a:srgbClr val="00B0F0"/>
                </a:solidFill>
              </a:rPr>
              <a:t>("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/camera.js") }}*/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/*{{ </a:t>
            </a:r>
            <a:r>
              <a:rPr lang="en-US" dirty="0" err="1">
                <a:solidFill>
                  <a:srgbClr val="00B0F0"/>
                </a:solidFill>
              </a:rPr>
              <a:t>javascript</a:t>
            </a:r>
            <a:r>
              <a:rPr lang="en-US" dirty="0">
                <a:solidFill>
                  <a:srgbClr val="00B0F0"/>
                </a:solidFill>
              </a:rPr>
              <a:t>("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/floor.js") }}*/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camera = </a:t>
            </a:r>
            <a:r>
              <a:rPr lang="en-US" dirty="0" err="1">
                <a:solidFill>
                  <a:srgbClr val="00B0F0"/>
                </a:solidFill>
              </a:rPr>
              <a:t>Camera.create</a:t>
            </a:r>
            <a:r>
              <a:rPr lang="en-US" dirty="0">
                <a:solidFill>
                  <a:srgbClr val="00B0F0"/>
                </a:solidFill>
              </a:rPr>
              <a:t>(md)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floor = </a:t>
            </a:r>
            <a:r>
              <a:rPr lang="en-US" dirty="0" err="1">
                <a:solidFill>
                  <a:srgbClr val="00B0F0"/>
                </a:solidFill>
              </a:rPr>
              <a:t>Floor.create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gd</a:t>
            </a:r>
            <a:r>
              <a:rPr lang="en-US" dirty="0">
                <a:solidFill>
                  <a:srgbClr val="00B0F0"/>
                </a:solidFill>
              </a:rPr>
              <a:t>, md)</a:t>
            </a:r>
            <a:r>
              <a:rPr lang="en-US" dirty="0">
                <a:solidFill>
                  <a:schemeClr val="tx1"/>
                </a:solidFill>
              </a:rPr>
              <a:t>;</a:t>
            </a:r>
            <a:r>
              <a:rPr lang="bg-BG" dirty="0">
                <a:solidFill>
                  <a:schemeClr val="tx1"/>
                </a:solidFill>
              </a:rPr>
              <a:t> 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  <a:r>
              <a:rPr lang="bg-BG" dirty="0">
                <a:solidFill>
                  <a:schemeClr val="tx1"/>
                </a:solidFill>
              </a:rPr>
              <a:t> 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camera.lookAt</a:t>
            </a:r>
            <a:r>
              <a:rPr lang="en-US" dirty="0">
                <a:solidFill>
                  <a:schemeClr val="tx1"/>
                </a:solidFill>
              </a:rPr>
              <a:t>(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md.v3BuildZero(),  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md.v3Build(0, 1, 0), 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md.v3Build(15*</a:t>
            </a:r>
            <a:r>
              <a:rPr lang="en-US" dirty="0" err="1">
                <a:solidFill>
                  <a:srgbClr val="00B0F0"/>
                </a:solidFill>
              </a:rPr>
              <a:t>Math.cos</a:t>
            </a:r>
            <a:r>
              <a:rPr lang="en-US" dirty="0">
                <a:solidFill>
                  <a:srgbClr val="00B0F0"/>
                </a:solidFill>
              </a:rPr>
              <a:t>(angle), 10, 15*</a:t>
            </a:r>
            <a:r>
              <a:rPr lang="en-US" dirty="0" err="1">
                <a:solidFill>
                  <a:srgbClr val="00B0F0"/>
                </a:solidFill>
              </a:rPr>
              <a:t>Math.sin</a:t>
            </a:r>
            <a:r>
              <a:rPr lang="en-US" dirty="0">
                <a:solidFill>
                  <a:srgbClr val="00B0F0"/>
                </a:solidFill>
              </a:rPr>
              <a:t>(angle)))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floor.render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gd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rgbClr val="00B0F0"/>
                </a:solidFill>
              </a:rPr>
              <a:t>camera</a:t>
            </a:r>
            <a:r>
              <a:rPr lang="en-US" dirty="0">
                <a:solidFill>
                  <a:schemeClr val="tx1"/>
                </a:solidFill>
              </a:rPr>
              <a:t>);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61288" cy="3352800"/>
          </a:xfrm>
        </p:spPr>
        <p:txBody>
          <a:bodyPr/>
          <a:lstStyle/>
          <a:p>
            <a:r>
              <a:rPr lang="bg-BG" sz="2000" b="0" dirty="0"/>
              <a:t>За да използваме камера я добавяме като библиотека, създаваме я и чрез трите аргумента на </a:t>
            </a:r>
            <a:r>
              <a:rPr lang="en-US" sz="2000" b="0" dirty="0" err="1">
                <a:solidFill>
                  <a:srgbClr val="00B0F0"/>
                </a:solidFill>
              </a:rPr>
              <a:t>camera.lookAt</a:t>
            </a:r>
            <a:r>
              <a:rPr lang="bg-BG" sz="2000" b="0" dirty="0">
                <a:solidFill>
                  <a:srgbClr val="00B0F0"/>
                </a:solidFill>
              </a:rPr>
              <a:t> </a:t>
            </a:r>
            <a:r>
              <a:rPr lang="bg-BG" sz="2000" b="0" dirty="0"/>
              <a:t>задаваме</a:t>
            </a:r>
            <a:r>
              <a:rPr lang="en-US" sz="2000" b="0" dirty="0">
                <a:solidFill>
                  <a:srgbClr val="00B0F0"/>
                </a:solidFill>
              </a:rPr>
              <a:t> </a:t>
            </a:r>
            <a:br>
              <a:rPr lang="bg-BG" sz="2000" b="0" dirty="0">
                <a:solidFill>
                  <a:srgbClr val="00B0F0"/>
                </a:solidFill>
              </a:rPr>
            </a:br>
            <a:r>
              <a:rPr lang="bg-BG" sz="2000" b="0" dirty="0"/>
              <a:t>съответно посоката в която гледа, посоката нагоре за камерата и положението на камерата</a:t>
            </a:r>
            <a:br>
              <a:rPr lang="bg-BG" sz="2000" b="0" dirty="0"/>
            </a:br>
            <a:br>
              <a:rPr lang="bg-BG" sz="2000" b="0" dirty="0"/>
            </a:br>
            <a:r>
              <a:rPr lang="bg-BG" sz="2000" b="0" dirty="0"/>
              <a:t>За да създадем „под“ в равнината </a:t>
            </a:r>
            <a:r>
              <a:rPr lang="en-US" sz="2000" b="0" dirty="0"/>
              <a:t>XY </a:t>
            </a:r>
            <a:r>
              <a:rPr lang="bg-BG" sz="2000" b="0" dirty="0"/>
              <a:t>добавяме библиотеката </a:t>
            </a:r>
            <a:r>
              <a:rPr lang="en-US" sz="2000" b="0" dirty="0">
                <a:solidFill>
                  <a:srgbClr val="00B0F0"/>
                </a:solidFill>
              </a:rPr>
              <a:t>floor.js</a:t>
            </a:r>
            <a:r>
              <a:rPr lang="bg-BG" sz="2000" b="0" dirty="0"/>
              <a:t>, създаваме инстанция с </a:t>
            </a:r>
            <a:r>
              <a:rPr lang="en-US" sz="2000" b="0" dirty="0" err="1">
                <a:solidFill>
                  <a:srgbClr val="00B0F0"/>
                </a:solidFill>
              </a:rPr>
              <a:t>Floor.create</a:t>
            </a:r>
            <a:r>
              <a:rPr lang="en-US" sz="2000" b="0" dirty="0">
                <a:solidFill>
                  <a:srgbClr val="00B0F0"/>
                </a:solidFill>
              </a:rPr>
              <a:t>(</a:t>
            </a:r>
            <a:r>
              <a:rPr lang="en-US" sz="2000" b="0" dirty="0" err="1">
                <a:solidFill>
                  <a:srgbClr val="00B0F0"/>
                </a:solidFill>
              </a:rPr>
              <a:t>gd</a:t>
            </a:r>
            <a:r>
              <a:rPr lang="en-US" sz="2000" b="0" dirty="0">
                <a:solidFill>
                  <a:srgbClr val="00B0F0"/>
                </a:solidFill>
              </a:rPr>
              <a:t>, md) </a:t>
            </a:r>
            <a:r>
              <a:rPr lang="bg-BG" sz="2000" b="0" dirty="0"/>
              <a:t>и му задаваме да се рисува в цикъла на програмата с</a:t>
            </a:r>
            <a:r>
              <a:rPr lang="en-US" sz="2000" b="0" dirty="0"/>
              <a:t> </a:t>
            </a:r>
            <a:r>
              <a:rPr lang="en-US" sz="2000" b="0" dirty="0" err="1"/>
              <a:t>floor.render</a:t>
            </a:r>
            <a:r>
              <a:rPr lang="en-US" sz="2000" b="0" dirty="0"/>
              <a:t>(</a:t>
            </a:r>
            <a:r>
              <a:rPr lang="en-US" sz="2000" b="0" dirty="0" err="1"/>
              <a:t>gd</a:t>
            </a:r>
            <a:r>
              <a:rPr lang="en-US" sz="2000" b="0" dirty="0"/>
              <a:t>, </a:t>
            </a:r>
            <a:r>
              <a:rPr lang="en-US" sz="2000" b="0" dirty="0">
                <a:solidFill>
                  <a:srgbClr val="00B0F0"/>
                </a:solidFill>
              </a:rPr>
              <a:t>camera</a:t>
            </a:r>
            <a:r>
              <a:rPr lang="en-US" sz="2000" b="0" dirty="0"/>
              <a:t>)</a:t>
            </a:r>
            <a:r>
              <a:rPr lang="bg-BG" sz="2000" b="0" dirty="0"/>
              <a:t>, използвайки текущата камера.</a:t>
            </a:r>
            <a:br>
              <a:rPr lang="bg-BG" sz="2000" b="0" dirty="0"/>
            </a:br>
            <a:endParaRPr lang="bg-BG" sz="2000" b="0" dirty="0"/>
          </a:p>
        </p:txBody>
      </p:sp>
    </p:spTree>
    <p:extLst>
      <p:ext uri="{BB962C8B-B14F-4D97-AF65-F5344CB8AC3E}">
        <p14:creationId xmlns:p14="http://schemas.microsoft.com/office/powerpoint/2010/main" val="323508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>
            <a:off x="465605" y="3429000"/>
            <a:ext cx="8534400" cy="3124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techniqueParameters.</a:t>
            </a:r>
            <a:r>
              <a:rPr lang="en-US" dirty="0" err="1">
                <a:solidFill>
                  <a:srgbClr val="00B0F0"/>
                </a:solidFill>
              </a:rPr>
              <a:t>worldViewProjection</a:t>
            </a:r>
            <a:r>
              <a:rPr lang="en-US" dirty="0">
                <a:solidFill>
                  <a:schemeClr val="tx1"/>
                </a:solidFill>
              </a:rPr>
              <a:t> =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camera.</a:t>
            </a:r>
            <a:r>
              <a:rPr lang="en-US" dirty="0" err="1">
                <a:solidFill>
                  <a:srgbClr val="00B0F0"/>
                </a:solidFill>
              </a:rPr>
              <a:t>viewProjectionMatrix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gd.setTechnique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>
                <a:solidFill>
                  <a:srgbClr val="00B0F0"/>
                </a:solidFill>
              </a:rPr>
              <a:t>technique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gd.setTechniqueParameters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techniqueParameters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gd.setStream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vertexBuffer</a:t>
            </a:r>
            <a:r>
              <a:rPr lang="en-US" dirty="0">
                <a:solidFill>
                  <a:schemeClr val="tx1"/>
                </a:solidFill>
              </a:rPr>
              <a:t>, semantics);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gd.draw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gd.PRIMITIVE_TRIANGLES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numVerts</a:t>
            </a:r>
            <a:r>
              <a:rPr lang="en-US" dirty="0">
                <a:solidFill>
                  <a:schemeClr val="tx1"/>
                </a:solidFill>
              </a:rPr>
              <a:t>, 0);</a:t>
            </a:r>
            <a:endParaRPr lang="bg-BG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661288" cy="3352800"/>
          </a:xfrm>
        </p:spPr>
        <p:txBody>
          <a:bodyPr/>
          <a:lstStyle/>
          <a:p>
            <a:br>
              <a:rPr lang="bg-BG" sz="2000" b="0" dirty="0"/>
            </a:br>
            <a:br>
              <a:rPr lang="bg-BG" sz="2000" b="0" dirty="0"/>
            </a:br>
            <a:r>
              <a:rPr lang="bg-BG" sz="2000" b="0" dirty="0"/>
              <a:t>Запомняме проекционната матрица на камерата в </a:t>
            </a:r>
            <a:r>
              <a:rPr lang="en-US" sz="2000" b="0" dirty="0" err="1"/>
              <a:t>techniqueParameters.</a:t>
            </a:r>
            <a:r>
              <a:rPr lang="en-US" sz="2000" b="0" dirty="0" err="1">
                <a:solidFill>
                  <a:srgbClr val="00B0F0"/>
                </a:solidFill>
              </a:rPr>
              <a:t>worldViewProjection</a:t>
            </a:r>
            <a:r>
              <a:rPr lang="en-US" sz="2000" dirty="0"/>
              <a:t> </a:t>
            </a:r>
            <a:r>
              <a:rPr lang="bg-BG" sz="2000" b="0" dirty="0"/>
              <a:t>и после я задаваме на шейдъра чрез </a:t>
            </a:r>
            <a:r>
              <a:rPr lang="en-US" sz="2000" b="0" dirty="0" err="1"/>
              <a:t>gd.setTechniqueParameters</a:t>
            </a:r>
            <a:br>
              <a:rPr lang="bg-BG" sz="2000" dirty="0"/>
            </a:br>
            <a:r>
              <a:rPr lang="bg-BG" sz="2000" b="0" dirty="0"/>
              <a:t>Задаваме техниката чрез </a:t>
            </a:r>
            <a:r>
              <a:rPr lang="en-US" sz="2000" b="0" dirty="0" err="1">
                <a:solidFill>
                  <a:srgbClr val="00B0F0"/>
                </a:solidFill>
              </a:rPr>
              <a:t>gd.setTechnique</a:t>
            </a:r>
            <a:br>
              <a:rPr lang="bg-BG" sz="2000" b="0" dirty="0">
                <a:solidFill>
                  <a:srgbClr val="00B0F0"/>
                </a:solidFill>
              </a:rPr>
            </a:br>
            <a:r>
              <a:rPr lang="bg-BG" sz="2000" b="0" dirty="0"/>
              <a:t>Задаваме потока с върхове и семантиката им чрез </a:t>
            </a:r>
            <a:r>
              <a:rPr lang="en-US" sz="2000" b="0" dirty="0" err="1"/>
              <a:t>gd.setStream</a:t>
            </a:r>
            <a:br>
              <a:rPr lang="bg-BG" sz="2000" b="0" dirty="0"/>
            </a:br>
            <a:r>
              <a:rPr lang="bg-BG" sz="2000" b="0" dirty="0"/>
              <a:t>Указваме на графичното устройство да започне да рисува триъгълници чрез </a:t>
            </a:r>
            <a:r>
              <a:rPr lang="en-US" sz="2000" b="0" dirty="0" err="1"/>
              <a:t>gd.draw</a:t>
            </a:r>
            <a:br>
              <a:rPr lang="bg-BG" sz="2000" b="0" dirty="0">
                <a:solidFill>
                  <a:srgbClr val="00B0F0"/>
                </a:solidFill>
              </a:rPr>
            </a:br>
            <a:br>
              <a:rPr lang="bg-BG" sz="2000" b="0" dirty="0">
                <a:solidFill>
                  <a:srgbClr val="00B0F0"/>
                </a:solidFill>
              </a:rPr>
            </a:br>
            <a:br>
              <a:rPr lang="bg-BG" sz="2000" b="0" dirty="0"/>
            </a:br>
            <a:br>
              <a:rPr lang="bg-BG" sz="2000" b="0" dirty="0"/>
            </a:br>
            <a:endParaRPr lang="bg-BG" sz="2000" b="0" dirty="0"/>
          </a:p>
        </p:txBody>
      </p:sp>
    </p:spTree>
    <p:extLst>
      <p:ext uri="{BB962C8B-B14F-4D97-AF65-F5344CB8AC3E}">
        <p14:creationId xmlns:p14="http://schemas.microsoft.com/office/powerpoint/2010/main" val="82541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</a:t>
            </a:r>
          </a:p>
        </p:txBody>
      </p:sp>
      <p:sp>
        <p:nvSpPr>
          <p:cNvPr id="5" name="Rectangle 4">
            <a:hlinkClick r:id="rId2" action="ppaction://hlinkfile"/>
          </p:cNvPr>
          <p:cNvSpPr/>
          <p:nvPr/>
        </p:nvSpPr>
        <p:spPr>
          <a:xfrm>
            <a:off x="3913100" y="60579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99" y="1047750"/>
            <a:ext cx="7696200" cy="479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268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си направим квадратче в центъра  на екрана</a:t>
            </a:r>
            <a:br>
              <a:rPr lang="bg-BG" dirty="0"/>
            </a:br>
            <a:r>
              <a:rPr lang="bg-BG" sz="2000" b="0" dirty="0"/>
              <a:t>За да се научим да създаваме обекти от тип </a:t>
            </a:r>
            <a:r>
              <a:rPr lang="en-US" sz="2000" b="0" dirty="0"/>
              <a:t>sprite – </a:t>
            </a:r>
            <a:r>
              <a:rPr lang="bg-BG" sz="2000" b="0" dirty="0"/>
              <a:t>основен графичен обект в игрите</a:t>
            </a:r>
            <a:r>
              <a:rPr lang="en-US" sz="2000" b="0" dirty="0"/>
              <a:t>; </a:t>
            </a:r>
            <a:r>
              <a:rPr lang="bg-BG" sz="2000" b="0" dirty="0"/>
              <a:t>това е абстрактна идея, обект върху фона на играта – човече, цвете, кутия, куршум и т.н.</a:t>
            </a: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се върти с променлива, синусоидна скорост и в двете посоки</a:t>
            </a:r>
            <a:br>
              <a:rPr lang="bg-BG" dirty="0"/>
            </a:br>
            <a:r>
              <a:rPr lang="bg-BG" sz="2000" b="0" dirty="0"/>
              <a:t>За да се научим да движим спрайтове в </a:t>
            </a:r>
            <a:r>
              <a:rPr lang="en-US" sz="2000" b="0" dirty="0" err="1"/>
              <a:t>turbulenz</a:t>
            </a:r>
            <a:r>
              <a:rPr lang="en-US" sz="2000" b="0" dirty="0"/>
              <a:t> engine</a:t>
            </a:r>
          </a:p>
          <a:p>
            <a:pPr marL="525780" indent="-457200">
              <a:buFont typeface="Arial" pitchFamily="34" charset="0"/>
              <a:buChar char="•"/>
            </a:pPr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5617424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 целта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/>
          <a:lstStyle/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Добавяме библиотека </a:t>
            </a:r>
            <a:r>
              <a:rPr lang="en-US" dirty="0"/>
              <a:t>draw2d.js </a:t>
            </a:r>
            <a:r>
              <a:rPr lang="bg-BG" dirty="0"/>
              <a:t>и създаваме инстанция на </a:t>
            </a:r>
            <a:r>
              <a:rPr lang="en-US" dirty="0"/>
              <a:t>draw2d </a:t>
            </a:r>
            <a:endParaRPr lang="bg-BG" sz="2000" b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2209800"/>
            <a:ext cx="8534400" cy="44958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/draw2d.js</a:t>
            </a:r>
            <a:r>
              <a:rPr lang="en-US" dirty="0">
                <a:solidFill>
                  <a:schemeClr val="tx1"/>
                </a:solidFill>
              </a:rPr>
              <a:t>"&gt;&lt;/script&gt;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…..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draw2D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rgbClr val="00B0F0"/>
                </a:solidFill>
              </a:rPr>
              <a:t>Draw2D.create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endParaRPr lang="en-US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sprite1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rgbClr val="00B0F0"/>
                </a:solidFill>
              </a:rPr>
              <a:t>Draw2DSprite.create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>
                <a:solidFill>
                  <a:srgbClr val="00B0F0"/>
                </a:solidFill>
              </a:rPr>
              <a:t>width</a:t>
            </a:r>
            <a:r>
              <a:rPr lang="en-US" dirty="0">
                <a:solidFill>
                  <a:schemeClr val="tx1"/>
                </a:solidFill>
              </a:rPr>
              <a:t>: 100,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>
                <a:solidFill>
                  <a:srgbClr val="00B0F0"/>
                </a:solidFill>
              </a:rPr>
              <a:t>height</a:t>
            </a:r>
            <a:r>
              <a:rPr lang="en-US" dirty="0">
                <a:solidFill>
                  <a:schemeClr val="tx1"/>
                </a:solidFill>
              </a:rPr>
              <a:t>: 100,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x: </a:t>
            </a:r>
            <a:r>
              <a:rPr lang="en-US" dirty="0" err="1">
                <a:solidFill>
                  <a:schemeClr val="tx1"/>
                </a:solidFill>
              </a:rPr>
              <a:t>graphicsDevice.width</a:t>
            </a:r>
            <a:r>
              <a:rPr lang="en-US" dirty="0">
                <a:solidFill>
                  <a:schemeClr val="tx1"/>
                </a:solidFill>
              </a:rPr>
              <a:t> / 2,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y: </a:t>
            </a:r>
            <a:r>
              <a:rPr lang="en-US" dirty="0" err="1">
                <a:solidFill>
                  <a:schemeClr val="tx1"/>
                </a:solidFill>
              </a:rPr>
              <a:t>graphicsDevice.height</a:t>
            </a:r>
            <a:r>
              <a:rPr lang="en-US" dirty="0">
                <a:solidFill>
                  <a:schemeClr val="tx1"/>
                </a:solidFill>
              </a:rPr>
              <a:t> / 2,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color: [1.0, 1.0, 1.0, 1.0],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rotation: 0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});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5765" y="2590800"/>
            <a:ext cx="7315200" cy="1600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263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 целта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sz="2400" dirty="0"/>
              <a:t>Създаваме </a:t>
            </a:r>
            <a:r>
              <a:rPr lang="en-US" sz="2400" dirty="0"/>
              <a:t>sprite</a:t>
            </a:r>
            <a:r>
              <a:rPr lang="bg-BG" sz="2400" dirty="0"/>
              <a:t> със зададена големина, позиция, цвят и завъртяност</a:t>
            </a:r>
            <a:endParaRPr lang="bg-BG" sz="1800" b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2133600"/>
            <a:ext cx="8534400" cy="45720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&lt;script </a:t>
            </a:r>
            <a:r>
              <a:rPr lang="en-US" dirty="0" err="1">
                <a:solidFill>
                  <a:srgbClr val="00B0F0"/>
                </a:solidFill>
              </a:rPr>
              <a:t>src</a:t>
            </a:r>
            <a:r>
              <a:rPr lang="en-US" dirty="0">
                <a:solidFill>
                  <a:srgbClr val="00B0F0"/>
                </a:solidFill>
              </a:rPr>
              <a:t>="</a:t>
            </a:r>
            <a:r>
              <a:rPr lang="en-US" dirty="0" err="1">
                <a:solidFill>
                  <a:srgbClr val="00B0F0"/>
                </a:solidFill>
              </a:rPr>
              <a:t>jslib</a:t>
            </a:r>
            <a:r>
              <a:rPr lang="en-US" dirty="0">
                <a:solidFill>
                  <a:srgbClr val="00B0F0"/>
                </a:solidFill>
              </a:rPr>
              <a:t>/draw2d.js</a:t>
            </a:r>
            <a:r>
              <a:rPr lang="en-US" dirty="0">
                <a:solidFill>
                  <a:schemeClr val="tx1"/>
                </a:solidFill>
              </a:rPr>
              <a:t>"&gt;&lt;/script&gt;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…..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draw2D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rgbClr val="00B0F0"/>
                </a:solidFill>
              </a:rPr>
              <a:t>Draw2D.create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graphicsDevice</a:t>
            </a:r>
            <a:endParaRPr lang="en-US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sprite1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rgbClr val="00B0F0"/>
                </a:solidFill>
              </a:rPr>
              <a:t>Draw2DSprite.create</a:t>
            </a:r>
            <a:r>
              <a:rPr lang="en-US" dirty="0">
                <a:solidFill>
                  <a:schemeClr val="tx1"/>
                </a:solidFill>
              </a:rPr>
              <a:t>({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>
                <a:solidFill>
                  <a:srgbClr val="00B0F0"/>
                </a:solidFill>
              </a:rPr>
              <a:t>width</a:t>
            </a:r>
            <a:r>
              <a:rPr lang="en-US" dirty="0">
                <a:solidFill>
                  <a:schemeClr val="tx1"/>
                </a:solidFill>
              </a:rPr>
              <a:t>: 100,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</a:t>
            </a:r>
            <a:r>
              <a:rPr lang="en-US" dirty="0">
                <a:solidFill>
                  <a:srgbClr val="00B0F0"/>
                </a:solidFill>
              </a:rPr>
              <a:t>height</a:t>
            </a:r>
            <a:r>
              <a:rPr lang="en-US" dirty="0">
                <a:solidFill>
                  <a:schemeClr val="tx1"/>
                </a:solidFill>
              </a:rPr>
              <a:t>: 100,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x: </a:t>
            </a:r>
            <a:r>
              <a:rPr lang="en-US" dirty="0" err="1">
                <a:solidFill>
                  <a:schemeClr val="tx1"/>
                </a:solidFill>
              </a:rPr>
              <a:t>graphicsDevice.width</a:t>
            </a:r>
            <a:r>
              <a:rPr lang="en-US" dirty="0">
                <a:solidFill>
                  <a:schemeClr val="tx1"/>
                </a:solidFill>
              </a:rPr>
              <a:t> / 2,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y: </a:t>
            </a:r>
            <a:r>
              <a:rPr lang="en-US" dirty="0" err="1">
                <a:solidFill>
                  <a:schemeClr val="tx1"/>
                </a:solidFill>
              </a:rPr>
              <a:t>graphicsDevice.height</a:t>
            </a:r>
            <a:r>
              <a:rPr lang="en-US" dirty="0">
                <a:solidFill>
                  <a:schemeClr val="tx1"/>
                </a:solidFill>
              </a:rPr>
              <a:t> / 2,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color: [1.0, 1.0, 1.0, 1.0],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rotation: 0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});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665" y="4267200"/>
            <a:ext cx="7391400" cy="2362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869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Въртене и показване на екрана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sz="2400" dirty="0"/>
              <a:t>Променливата </a:t>
            </a:r>
            <a:r>
              <a:rPr lang="en-US" sz="2400" dirty="0" err="1"/>
              <a:t>accel</a:t>
            </a:r>
            <a:r>
              <a:rPr lang="en-US" sz="2400" dirty="0"/>
              <a:t> </a:t>
            </a:r>
            <a:r>
              <a:rPr lang="bg-BG" sz="2400" dirty="0"/>
              <a:t>се увеличава постоянно и на нея ще прилагаме функцията синус, </a:t>
            </a:r>
            <a:r>
              <a:rPr lang="en-US" sz="2400" dirty="0"/>
              <a:t>rotation </a:t>
            </a:r>
            <a:r>
              <a:rPr lang="bg-BG" sz="2400" dirty="0"/>
              <a:t>се увеличава на всяка стъпка според синуса</a:t>
            </a:r>
            <a:endParaRPr lang="bg-BG" sz="1800" b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2362200"/>
            <a:ext cx="8534400" cy="43434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PI = </a:t>
            </a:r>
            <a:r>
              <a:rPr lang="en-US" dirty="0" err="1">
                <a:solidFill>
                  <a:schemeClr val="tx1"/>
                </a:solidFill>
              </a:rPr>
              <a:t>Math.PI</a:t>
            </a:r>
            <a:r>
              <a:rPr lang="en-US" dirty="0">
                <a:solidFill>
                  <a:schemeClr val="tx1"/>
                </a:solidFill>
              </a:rPr>
              <a:t>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accel</a:t>
            </a:r>
            <a:r>
              <a:rPr lang="en-US" dirty="0">
                <a:solidFill>
                  <a:schemeClr val="tx1"/>
                </a:solidFill>
              </a:rPr>
              <a:t> = 0 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rgbClr val="00B0F0"/>
                </a:solidFill>
              </a:rPr>
              <a:t>accel</a:t>
            </a:r>
            <a:r>
              <a:rPr lang="en-US" dirty="0">
                <a:solidFill>
                  <a:srgbClr val="00B0F0"/>
                </a:solidFill>
              </a:rPr>
              <a:t> +=PI / 120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sprite1.rotation += </a:t>
            </a:r>
            <a:r>
              <a:rPr lang="en-US" dirty="0" err="1">
                <a:solidFill>
                  <a:srgbClr val="00B0F0"/>
                </a:solidFill>
              </a:rPr>
              <a:t>Math.sin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accel</a:t>
            </a:r>
            <a:r>
              <a:rPr lang="en-US" dirty="0">
                <a:solidFill>
                  <a:srgbClr val="00B0F0"/>
                </a:solidFill>
              </a:rPr>
              <a:t>) * 0.2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sprite1.rotation %=  PI * 2;	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if (</a:t>
            </a:r>
            <a:r>
              <a:rPr lang="en-US" dirty="0" err="1">
                <a:solidFill>
                  <a:schemeClr val="tx1"/>
                </a:solidFill>
              </a:rPr>
              <a:t>graphicsDevice.beginFrame</a:t>
            </a:r>
            <a:r>
              <a:rPr lang="en-US" dirty="0">
                <a:solidFill>
                  <a:schemeClr val="tx1"/>
                </a:solidFill>
              </a:rPr>
              <a:t>())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{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 err="1">
                <a:solidFill>
                  <a:schemeClr val="tx1"/>
                </a:solidFill>
              </a:rPr>
              <a:t>graphicsDevice.clear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, 1.0);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</a:rPr>
              <a:t>draw2D.begin();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</a:rPr>
              <a:t>draw2D.drawSprite(sprite1);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</a:rPr>
              <a:t>draw2D.end();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 err="1">
                <a:solidFill>
                  <a:schemeClr val="tx1"/>
                </a:solidFill>
              </a:rPr>
              <a:t>graphicsDevice.endFrame</a:t>
            </a:r>
            <a:r>
              <a:rPr lang="en-US" dirty="0">
                <a:solidFill>
                  <a:schemeClr val="tx1"/>
                </a:solidFill>
              </a:rPr>
              <a:t>();} }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665" y="2362200"/>
            <a:ext cx="7391400" cy="1905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081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nip Diagonal Corner Rectangle 6"/>
          <p:cNvSpPr/>
          <p:nvPr/>
        </p:nvSpPr>
        <p:spPr>
          <a:xfrm>
            <a:off x="466165" y="2362200"/>
            <a:ext cx="8534400" cy="43434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…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PI = </a:t>
            </a:r>
            <a:r>
              <a:rPr lang="en-US" dirty="0" err="1">
                <a:solidFill>
                  <a:schemeClr val="tx1"/>
                </a:solidFill>
              </a:rPr>
              <a:t>Math.PI</a:t>
            </a:r>
            <a:r>
              <a:rPr lang="en-US" dirty="0">
                <a:solidFill>
                  <a:schemeClr val="tx1"/>
                </a:solidFill>
              </a:rPr>
              <a:t>;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accel</a:t>
            </a:r>
            <a:r>
              <a:rPr lang="en-US" dirty="0">
                <a:solidFill>
                  <a:schemeClr val="tx1"/>
                </a:solidFill>
              </a:rPr>
              <a:t> = 0 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update() 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rgbClr val="00B0F0"/>
                </a:solidFill>
              </a:rPr>
              <a:t>accel</a:t>
            </a:r>
            <a:r>
              <a:rPr lang="en-US" dirty="0">
                <a:solidFill>
                  <a:srgbClr val="00B0F0"/>
                </a:solidFill>
              </a:rPr>
              <a:t> +=PI / 120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sprite1.rotation += </a:t>
            </a:r>
            <a:r>
              <a:rPr lang="en-US" dirty="0" err="1">
                <a:solidFill>
                  <a:srgbClr val="00B0F0"/>
                </a:solidFill>
              </a:rPr>
              <a:t>Math.sin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accel</a:t>
            </a:r>
            <a:r>
              <a:rPr lang="en-US" dirty="0">
                <a:solidFill>
                  <a:srgbClr val="00B0F0"/>
                </a:solidFill>
              </a:rPr>
              <a:t>) * 0.2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sprite1.rotation %=  PI * 2;	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if (</a:t>
            </a:r>
            <a:r>
              <a:rPr lang="en-US" dirty="0" err="1">
                <a:solidFill>
                  <a:schemeClr val="tx1"/>
                </a:solidFill>
              </a:rPr>
              <a:t>graphicsDevice.beginFrame</a:t>
            </a:r>
            <a:r>
              <a:rPr lang="en-US" dirty="0">
                <a:solidFill>
                  <a:schemeClr val="tx1"/>
                </a:solidFill>
              </a:rPr>
              <a:t>())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{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 err="1">
                <a:solidFill>
                  <a:schemeClr val="tx1"/>
                </a:solidFill>
              </a:rPr>
              <a:t>graphicsDevice.clear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bgColor</a:t>
            </a:r>
            <a:r>
              <a:rPr lang="en-US" dirty="0">
                <a:solidFill>
                  <a:schemeClr val="tx1"/>
                </a:solidFill>
              </a:rPr>
              <a:t>, 1.0);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</a:rPr>
              <a:t>draw2D.begin();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</a:rPr>
              <a:t>draw2D.drawSprite(sprite1);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>
                <a:solidFill>
                  <a:srgbClr val="00B0F0"/>
                </a:solidFill>
              </a:rPr>
              <a:t>draw2D.end();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    </a:t>
            </a:r>
            <a:r>
              <a:rPr lang="en-US" dirty="0" err="1">
                <a:solidFill>
                  <a:schemeClr val="tx1"/>
                </a:solidFill>
              </a:rPr>
              <a:t>graphicsDevice.endFrame</a:t>
            </a:r>
            <a:r>
              <a:rPr lang="en-US" dirty="0">
                <a:solidFill>
                  <a:schemeClr val="tx1"/>
                </a:solidFill>
              </a:rPr>
              <a:t>();} }</a:t>
            </a:r>
          </a:p>
          <a:p>
            <a:pPr marL="1143000" lvl="2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Въртене и показване на екрана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sz="2400" dirty="0"/>
              <a:t>Нулираме ротацията на всеки 360 градуса и рисуваме </a:t>
            </a:r>
            <a:r>
              <a:rPr lang="en-US" sz="2400" dirty="0"/>
              <a:t>sprite1 </a:t>
            </a:r>
            <a:r>
              <a:rPr lang="bg-BG" sz="2400" dirty="0"/>
              <a:t>чрез инстанцията на </a:t>
            </a:r>
            <a:r>
              <a:rPr lang="en-US" sz="2400" dirty="0"/>
              <a:t>draw2d</a:t>
            </a:r>
            <a:r>
              <a:rPr lang="bg-BG" sz="2400" dirty="0"/>
              <a:t>–</a:t>
            </a:r>
            <a:r>
              <a:rPr lang="bg-BG" sz="2400" dirty="0">
                <a:solidFill>
                  <a:srgbClr val="FF0000"/>
                </a:solidFill>
              </a:rPr>
              <a:t>рисуваме между </a:t>
            </a:r>
            <a:r>
              <a:rPr lang="en-US" sz="2400" dirty="0">
                <a:solidFill>
                  <a:srgbClr val="FF0000"/>
                </a:solidFill>
              </a:rPr>
              <a:t>draw2d.begin() </a:t>
            </a:r>
            <a:r>
              <a:rPr lang="bg-BG" sz="2400" dirty="0">
                <a:solidFill>
                  <a:srgbClr val="FF0000"/>
                </a:solidFill>
              </a:rPr>
              <a:t>и </a:t>
            </a:r>
            <a:r>
              <a:rPr lang="en-US" sz="2400" dirty="0">
                <a:solidFill>
                  <a:srgbClr val="FF0000"/>
                </a:solidFill>
              </a:rPr>
              <a:t>draw2d.end()</a:t>
            </a:r>
            <a:r>
              <a:rPr lang="bg-BG" sz="2400" dirty="0">
                <a:solidFill>
                  <a:schemeClr val="accent3"/>
                </a:solidFill>
              </a:rPr>
              <a:t> </a:t>
            </a:r>
            <a:endParaRPr lang="bg-BG" sz="1800" b="0" dirty="0">
              <a:solidFill>
                <a:schemeClr val="accent3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37665" y="4276725"/>
            <a:ext cx="7391400" cy="22764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874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до тук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914400"/>
            <a:ext cx="7239000" cy="4999210"/>
          </a:xfrm>
          <a:prstGeom prst="rect">
            <a:avLst/>
          </a:prstGeom>
        </p:spPr>
      </p:pic>
      <p:sp>
        <p:nvSpPr>
          <p:cNvPr id="5" name="Rectangle 4">
            <a:hlinkClick r:id="rId3" action="ppaction://hlinkfile"/>
          </p:cNvPr>
          <p:cNvSpPr/>
          <p:nvPr/>
        </p:nvSpPr>
        <p:spPr>
          <a:xfrm>
            <a:off x="2819400" y="60198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6" name="Rectangle 5">
            <a:hlinkClick r:id="rId4" action="ppaction://hlinkfile"/>
          </p:cNvPr>
          <p:cNvSpPr/>
          <p:nvPr/>
        </p:nvSpPr>
        <p:spPr>
          <a:xfrm>
            <a:off x="5638800" y="60198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837258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</a:t>
            </a:r>
            <a:r>
              <a:rPr lang="en-US" dirty="0"/>
              <a:t>Hypnotic Squares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 генерираме много такива квадрати</a:t>
            </a:r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се уголемяват и смаляват</a:t>
            </a:r>
          </a:p>
          <a:p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се уголемяват, докато се въртят в едната посока, и да се смаляват в другата</a:t>
            </a:r>
          </a:p>
          <a:p>
            <a:pPr marL="525780" indent="-457200">
              <a:buFont typeface="Arial" pitchFamily="34" charset="0"/>
              <a:buChar char="•"/>
            </a:pPr>
            <a:endParaRPr lang="bg-BG" sz="2400" b="0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След като някой от квадратите се покаже, уголеми и смали, да не излиза повече на екрана</a:t>
            </a:r>
          </a:p>
        </p:txBody>
      </p:sp>
    </p:spTree>
    <p:extLst>
      <p:ext uri="{BB962C8B-B14F-4D97-AF65-F5344CB8AC3E}">
        <p14:creationId xmlns:p14="http://schemas.microsoft.com/office/powerpoint/2010/main" val="1906481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 </a:t>
            </a:r>
            <a:r>
              <a:rPr lang="en-US" dirty="0"/>
              <a:t>Hypnotic Squares</a:t>
            </a:r>
            <a:endParaRPr lang="bg-B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са на произволни места и да запълват по-голямата част от екрана, но не винаги целия екран</a:t>
            </a:r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Да не се „настъпват" един друг</a:t>
            </a:r>
          </a:p>
          <a:p>
            <a:pPr marL="525780" indent="-457200">
              <a:buFont typeface="Arial" pitchFamily="34" charset="0"/>
              <a:buChar char="•"/>
            </a:pPr>
            <a:endParaRPr lang="bg-BG" dirty="0"/>
          </a:p>
          <a:p>
            <a:pPr marL="525780" indent="-457200">
              <a:buFont typeface="Arial" pitchFamily="34" charset="0"/>
              <a:buChar char="•"/>
            </a:pPr>
            <a:r>
              <a:rPr lang="bg-BG" dirty="0"/>
              <a:t>Ръбовете им да не излизат от жълтия екран</a:t>
            </a:r>
          </a:p>
        </p:txBody>
      </p:sp>
    </p:spTree>
    <p:extLst>
      <p:ext uri="{BB962C8B-B14F-4D97-AF65-F5344CB8AC3E}">
        <p14:creationId xmlns:p14="http://schemas.microsoft.com/office/powerpoint/2010/main" val="29724037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Да ги рисуваме едновременно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indent="-457200">
              <a:buFont typeface="Arial" pitchFamily="34" charset="0"/>
              <a:buChar char="•"/>
            </a:pPr>
            <a:r>
              <a:rPr lang="bg-BG" sz="2000" b="0" dirty="0"/>
              <a:t>Правим си масив от спрайтове, масив от стойностите на синусоидните им функции и изкарваме конструктора на квадратчета в отделна функция</a:t>
            </a:r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2133600"/>
            <a:ext cx="8534400" cy="45720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squares = [];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accels</a:t>
            </a:r>
            <a:r>
              <a:rPr lang="en-US" dirty="0">
                <a:solidFill>
                  <a:srgbClr val="00B0F0"/>
                </a:solidFill>
              </a:rPr>
              <a:t> = [];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</a:t>
            </a:r>
            <a:r>
              <a:rPr lang="en-US" dirty="0" err="1">
                <a:solidFill>
                  <a:srgbClr val="00B0F0"/>
                </a:solidFill>
              </a:rPr>
              <a:t>generateSprite</a:t>
            </a:r>
            <a:r>
              <a:rPr lang="en-US" dirty="0">
                <a:solidFill>
                  <a:srgbClr val="00B0F0"/>
                </a:solidFill>
              </a:rPr>
              <a:t>(x1,y1)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{	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sprite1 = Draw2DSprite.create({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width: 100,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height: 100,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x: x1,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y: y1,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color: [1.0, 1.0, 1.0, 1.0],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         rotation: 0});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rgbClr val="00B0F0"/>
                </a:solidFill>
              </a:rPr>
              <a:t>accels.push</a:t>
            </a:r>
            <a:r>
              <a:rPr lang="en-US" dirty="0">
                <a:solidFill>
                  <a:srgbClr val="00B0F0"/>
                </a:solidFill>
              </a:rPr>
              <a:t>(0.1);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return sprite1;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7996870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bg-BG" dirty="0"/>
              <a:t>Да ги ъпдейтваме едновременно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411480" indent="-342900">
              <a:buSzPct val="75000"/>
              <a:buFont typeface="Arial" pitchFamily="34" charset="0"/>
              <a:buChar char="•"/>
            </a:pPr>
            <a:r>
              <a:rPr lang="en-US" sz="2000" b="0" dirty="0">
                <a:solidFill>
                  <a:srgbClr val="00B0F0"/>
                </a:solidFill>
              </a:rPr>
              <a:t>scale</a:t>
            </a:r>
            <a:r>
              <a:rPr lang="en-US" sz="2000" b="0" dirty="0"/>
              <a:t> </a:t>
            </a:r>
            <a:r>
              <a:rPr lang="bg-BG" sz="2000" b="0" dirty="0"/>
              <a:t>е променлива, която </a:t>
            </a:r>
            <a:r>
              <a:rPr lang="en-US" sz="2000" b="0" dirty="0" err="1"/>
              <a:t>turbulenz</a:t>
            </a:r>
            <a:r>
              <a:rPr lang="en-US" sz="2000" b="0" dirty="0"/>
              <a:t> </a:t>
            </a:r>
            <a:r>
              <a:rPr lang="bg-BG" sz="2000" b="0" dirty="0"/>
              <a:t>изисква – в нея пише колко „разпъваме“ по х и колко по </a:t>
            </a:r>
            <a:r>
              <a:rPr lang="en-US" sz="2000" b="0" dirty="0"/>
              <a:t>y – </a:t>
            </a:r>
            <a:r>
              <a:rPr lang="bg-BG" sz="2000" b="0" dirty="0"/>
              <a:t>за това отново ни трябва синусоидна функция и си взимаме </a:t>
            </a:r>
            <a:r>
              <a:rPr lang="en-US" sz="2000" b="0" dirty="0"/>
              <a:t>sin(</a:t>
            </a:r>
            <a:r>
              <a:rPr lang="en-US" sz="2000" b="0" dirty="0" err="1"/>
              <a:t>accels</a:t>
            </a:r>
            <a:r>
              <a:rPr lang="en-US" sz="2000" b="0" dirty="0"/>
              <a:t>[j]/2)</a:t>
            </a:r>
            <a:endParaRPr lang="bg-BG" sz="2000" b="0" dirty="0"/>
          </a:p>
          <a:p>
            <a:pPr marL="411480" indent="-342900">
              <a:buFont typeface="Arial" pitchFamily="34" charset="0"/>
              <a:buChar char="•"/>
            </a:pPr>
            <a:r>
              <a:rPr lang="bg-BG" sz="2000" b="0" dirty="0"/>
              <a:t>Защо </a:t>
            </a:r>
            <a:r>
              <a:rPr lang="en-US" sz="2000" b="0" dirty="0"/>
              <a:t>sin(</a:t>
            </a:r>
            <a:r>
              <a:rPr lang="en-US" sz="2000" b="0" dirty="0" err="1"/>
              <a:t>accels</a:t>
            </a:r>
            <a:r>
              <a:rPr lang="en-US" sz="2000" b="0" dirty="0"/>
              <a:t>[j]/2)</a:t>
            </a:r>
            <a:r>
              <a:rPr lang="en-US" sz="2000" dirty="0">
                <a:latin typeface="Adobe Myungjo Std M" pitchFamily="18" charset="-128"/>
                <a:ea typeface="Adobe Myungjo Std M" pitchFamily="18" charset="-128"/>
              </a:rPr>
              <a:t>?</a:t>
            </a:r>
            <a:r>
              <a:rPr lang="bg-BG" sz="2000" dirty="0">
                <a:latin typeface="Adobe Myungjo Std M" pitchFamily="18" charset="-128"/>
                <a:ea typeface="Adobe Myungjo Std M" pitchFamily="18" charset="-128"/>
              </a:rPr>
              <a:t> </a:t>
            </a:r>
            <a:br>
              <a:rPr lang="en-US" sz="2000" dirty="0">
                <a:latin typeface="Adobe Myungjo Std M" pitchFamily="18" charset="-128"/>
                <a:ea typeface="Adobe Myungjo Std M" pitchFamily="18" charset="-128"/>
              </a:rPr>
            </a:br>
            <a:r>
              <a:rPr lang="bg-BG" sz="2000" b="0" dirty="0"/>
              <a:t>Защото когато </a:t>
            </a:r>
            <a:r>
              <a:rPr lang="en-US" sz="2000" b="0" dirty="0" err="1"/>
              <a:t>accel</a:t>
            </a:r>
            <a:r>
              <a:rPr lang="bg-BG" sz="2000" b="0" dirty="0"/>
              <a:t> стане 180 градуса знака на </a:t>
            </a:r>
            <a:r>
              <a:rPr lang="en-US" sz="2000" b="0" dirty="0"/>
              <a:t>sin() </a:t>
            </a:r>
            <a:r>
              <a:rPr lang="bg-BG" sz="2000" b="0" dirty="0"/>
              <a:t>се обръща(съответно ротацията на квадрата се обръща) - точно тогава искаме </a:t>
            </a:r>
            <a:r>
              <a:rPr lang="en-US" sz="2000" b="0" dirty="0"/>
              <a:t>scale </a:t>
            </a:r>
            <a:r>
              <a:rPr lang="bg-BG" sz="2000" b="0" dirty="0"/>
              <a:t>да е 1 и да започва да намалява, а </a:t>
            </a:r>
            <a:r>
              <a:rPr lang="en-US" sz="2000" b="0" dirty="0"/>
              <a:t>sin() </a:t>
            </a:r>
            <a:r>
              <a:rPr lang="bg-BG" sz="2000" b="0" dirty="0"/>
              <a:t>намалява точно след 90 градуса</a:t>
            </a:r>
          </a:p>
          <a:p>
            <a:pPr marL="525780" indent="-457200">
              <a:buFont typeface="Arial" pitchFamily="34" charset="0"/>
              <a:buChar char="•"/>
            </a:pPr>
            <a:endParaRPr lang="bg-BG" sz="2000" b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3581400"/>
            <a:ext cx="8534400" cy="3124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scale = [1,1];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for( j = </a:t>
            </a:r>
            <a:r>
              <a:rPr lang="en-US" dirty="0" err="1">
                <a:solidFill>
                  <a:schemeClr val="tx1"/>
                </a:solidFill>
              </a:rPr>
              <a:t>squares.length</a:t>
            </a:r>
            <a:r>
              <a:rPr lang="en-US" dirty="0">
                <a:solidFill>
                  <a:schemeClr val="tx1"/>
                </a:solidFill>
              </a:rPr>
              <a:t> - 1; j &gt;= 0; j--)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 err="1">
                <a:solidFill>
                  <a:schemeClr val="tx1"/>
                </a:solidFill>
              </a:rPr>
              <a:t>accels</a:t>
            </a:r>
            <a:r>
              <a:rPr lang="en-US" dirty="0">
                <a:solidFill>
                  <a:schemeClr val="tx1"/>
                </a:solidFill>
              </a:rPr>
              <a:t>[j] += PI / 30 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scale[0] = scale[1] = </a:t>
            </a:r>
            <a:r>
              <a:rPr lang="en-US" dirty="0" err="1">
                <a:solidFill>
                  <a:srgbClr val="00B0F0"/>
                </a:solidFill>
              </a:rPr>
              <a:t>Math.sin</a:t>
            </a:r>
            <a:r>
              <a:rPr lang="en-US" dirty="0">
                <a:solidFill>
                  <a:srgbClr val="00B0F0"/>
                </a:solidFill>
              </a:rPr>
              <a:t>( </a:t>
            </a:r>
            <a:r>
              <a:rPr lang="en-US" dirty="0" err="1">
                <a:solidFill>
                  <a:srgbClr val="00B0F0"/>
                </a:solidFill>
              </a:rPr>
              <a:t>accels</a:t>
            </a:r>
            <a:r>
              <a:rPr lang="en-US" dirty="0">
                <a:solidFill>
                  <a:srgbClr val="00B0F0"/>
                </a:solidFill>
              </a:rPr>
              <a:t>[j] / 2 ) 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squares[j].rotation += </a:t>
            </a:r>
            <a:r>
              <a:rPr lang="en-US" dirty="0" err="1">
                <a:solidFill>
                  <a:schemeClr val="tx1"/>
                </a:solidFill>
              </a:rPr>
              <a:t>Math.sin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accels</a:t>
            </a:r>
            <a:r>
              <a:rPr lang="en-US" dirty="0">
                <a:solidFill>
                  <a:schemeClr val="tx1"/>
                </a:solidFill>
              </a:rPr>
              <a:t>[j]) * 0.2;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squares[j].rotation %= PI2;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rgbClr val="00B0F0"/>
                </a:solidFill>
              </a:rPr>
              <a:t>squares[j].</a:t>
            </a:r>
            <a:r>
              <a:rPr lang="en-US" dirty="0" err="1">
                <a:solidFill>
                  <a:srgbClr val="00B0F0"/>
                </a:solidFill>
              </a:rPr>
              <a:t>setScale</a:t>
            </a:r>
            <a:r>
              <a:rPr lang="en-US" dirty="0">
                <a:solidFill>
                  <a:srgbClr val="00B0F0"/>
                </a:solidFill>
              </a:rPr>
              <a:t>(scale);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	if(</a:t>
            </a:r>
            <a:r>
              <a:rPr lang="en-US" dirty="0" err="1">
                <a:solidFill>
                  <a:schemeClr val="tx1"/>
                </a:solidFill>
              </a:rPr>
              <a:t>accels</a:t>
            </a:r>
            <a:r>
              <a:rPr lang="en-US" dirty="0">
                <a:solidFill>
                  <a:schemeClr val="tx1"/>
                </a:solidFill>
              </a:rPr>
              <a:t>[j]&gt;=PI2){</a:t>
            </a:r>
            <a:r>
              <a:rPr lang="en-US" dirty="0" err="1">
                <a:solidFill>
                  <a:schemeClr val="tx1"/>
                </a:solidFill>
              </a:rPr>
              <a:t>squares.splice</a:t>
            </a:r>
            <a:r>
              <a:rPr lang="en-US" dirty="0">
                <a:solidFill>
                  <a:schemeClr val="tx1"/>
                </a:solidFill>
              </a:rPr>
              <a:t>( j , 1 );</a:t>
            </a:r>
            <a:r>
              <a:rPr lang="en-US" dirty="0" err="1">
                <a:solidFill>
                  <a:schemeClr val="tx1"/>
                </a:solidFill>
              </a:rPr>
              <a:t>accels.splice</a:t>
            </a:r>
            <a:r>
              <a:rPr lang="en-US" dirty="0">
                <a:solidFill>
                  <a:schemeClr val="tx1"/>
                </a:solidFill>
              </a:rPr>
              <a:t>(j,1);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4367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bg-BG" dirty="0"/>
              <a:t>Да не излизат от екрана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sz="2000" b="0" dirty="0"/>
              <a:t>За да не е сигурно, че ще се пълни целия екран</a:t>
            </a:r>
            <a:br>
              <a:rPr lang="bg-BG" sz="2000" b="0" dirty="0"/>
            </a:br>
            <a:r>
              <a:rPr lang="bg-BG" sz="2000" b="0" dirty="0"/>
              <a:t>Слагаме само 50% шанс да се появи квадратче на произволно място с </a:t>
            </a:r>
            <a:r>
              <a:rPr lang="en-US" dirty="0">
                <a:solidFill>
                  <a:srgbClr val="00B0F0"/>
                </a:solidFill>
              </a:rPr>
              <a:t>if(</a:t>
            </a:r>
            <a:r>
              <a:rPr lang="en-US" dirty="0" err="1">
                <a:solidFill>
                  <a:srgbClr val="00B0F0"/>
                </a:solidFill>
              </a:rPr>
              <a:t>Math.random</a:t>
            </a:r>
            <a:r>
              <a:rPr lang="en-US" dirty="0">
                <a:solidFill>
                  <a:srgbClr val="00B0F0"/>
                </a:solidFill>
              </a:rPr>
              <a:t>()&lt;=0.5) </a:t>
            </a:r>
            <a:endParaRPr lang="bg-BG" dirty="0">
              <a:solidFill>
                <a:srgbClr val="00B0F0"/>
              </a:solidFill>
            </a:endParaRP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dirty="0"/>
              <a:t>За да не излизат от очертанията на жълтия екран, центровете на квадратчетата трябва да са на разстояние по-малко от половината диагонал от ръбовете на жълтия екран</a:t>
            </a: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dirty="0"/>
              <a:t>Половината диагонал е </a:t>
            </a:r>
            <a:r>
              <a:rPr lang="en-US" dirty="0" err="1"/>
              <a:t>sqrt</a:t>
            </a:r>
            <a:r>
              <a:rPr lang="en-US" dirty="0"/>
              <a:t>(100^2 + 100^2)/2 =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70.71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 оцветените функции имат стойности точно между 70.71 и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width/height – 70.71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(Защо?)</a:t>
            </a:r>
            <a:endParaRPr lang="bg-BG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endParaRPr lang="bg-BG" sz="2000" b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3962400"/>
            <a:ext cx="8534400" cy="2743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if(</a:t>
            </a:r>
            <a:r>
              <a:rPr lang="en-US" dirty="0" err="1">
                <a:solidFill>
                  <a:srgbClr val="00B0F0"/>
                </a:solidFill>
              </a:rPr>
              <a:t>Math.random</a:t>
            </a:r>
            <a:r>
              <a:rPr lang="en-US" dirty="0">
                <a:solidFill>
                  <a:srgbClr val="00B0F0"/>
                </a:solidFill>
              </a:rPr>
              <a:t>()&lt;=0.5)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f=true;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x1 = 70.71+Math.random()*(graphicsDevice.width-141.42);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y1 = 70.71+Math.random()*(graphicsDevice.height-141.42);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for(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=0;i&lt;</a:t>
            </a:r>
            <a:r>
              <a:rPr lang="en-US" dirty="0" err="1">
                <a:solidFill>
                  <a:schemeClr val="tx1"/>
                </a:solidFill>
              </a:rPr>
              <a:t>squares.length;i</a:t>
            </a:r>
            <a:r>
              <a:rPr lang="en-US" dirty="0">
                <a:solidFill>
                  <a:schemeClr val="tx1"/>
                </a:solidFill>
              </a:rPr>
              <a:t>++)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if(distance(x1,y1,squares[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].</a:t>
            </a:r>
            <a:r>
              <a:rPr lang="en-US" dirty="0" err="1">
                <a:solidFill>
                  <a:schemeClr val="tx1"/>
                </a:solidFill>
              </a:rPr>
              <a:t>x,squares</a:t>
            </a:r>
            <a:r>
              <a:rPr lang="en-US" dirty="0">
                <a:solidFill>
                  <a:schemeClr val="tx1"/>
                </a:solidFill>
              </a:rPr>
              <a:t>[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].y)&lt;=141.42)f=false;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if(f==true)</a:t>
            </a:r>
            <a:r>
              <a:rPr lang="en-US" dirty="0" err="1">
                <a:solidFill>
                  <a:schemeClr val="tx1"/>
                </a:solidFill>
              </a:rPr>
              <a:t>squares.push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generateSprite</a:t>
            </a:r>
            <a:r>
              <a:rPr lang="en-US" dirty="0">
                <a:solidFill>
                  <a:schemeClr val="tx1"/>
                </a:solidFill>
              </a:rPr>
              <a:t>(x1,y1));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718049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bg-BG" dirty="0"/>
              <a:t>Да не се настъпват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dirty="0"/>
              <a:t>За да не се настъпват проверяваме дали мястото не е опасно близо до другите квадратчета</a:t>
            </a:r>
            <a:r>
              <a:rPr lang="en-US" dirty="0"/>
              <a:t> – </a:t>
            </a:r>
            <a:r>
              <a:rPr lang="bg-BG" dirty="0"/>
              <a:t>Използваме функцията </a:t>
            </a:r>
            <a:r>
              <a:rPr lang="en-US" dirty="0"/>
              <a:t>distance</a:t>
            </a:r>
            <a:r>
              <a:rPr lang="bg-BG" dirty="0"/>
              <a:t>, връщаща дистанция между две точки</a:t>
            </a:r>
            <a:endParaRPr lang="en-US" dirty="0"/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endParaRPr lang="en-US" dirty="0"/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dirty="0"/>
              <a:t>Ако центровете на две квадратчета са на разстояние по-малко от 14</a:t>
            </a:r>
            <a:r>
              <a:rPr lang="en-US" dirty="0"/>
              <a:t>1.42</a:t>
            </a:r>
            <a:r>
              <a:rPr lang="bg-BG" dirty="0"/>
              <a:t> не добавяме квадратчето в масива ( защо 14</a:t>
            </a:r>
            <a:r>
              <a:rPr lang="en-US" dirty="0"/>
              <a:t>1.42</a:t>
            </a:r>
            <a:r>
              <a:rPr lang="bg-BG" b="1" dirty="0">
                <a:latin typeface="Adobe Myungjo Std M" pitchFamily="18" charset="-128"/>
                <a:ea typeface="Adobe Myungjo Std M" pitchFamily="18" charset="-128"/>
              </a:rPr>
              <a:t>? </a:t>
            </a:r>
            <a:r>
              <a:rPr lang="bg-BG" dirty="0"/>
              <a:t>)</a:t>
            </a:r>
            <a:endParaRPr lang="bg-BG" sz="2000" b="0" dirty="0"/>
          </a:p>
        </p:txBody>
      </p:sp>
      <p:sp>
        <p:nvSpPr>
          <p:cNvPr id="6" name="Snip Diagonal Corner Rectangle 5"/>
          <p:cNvSpPr/>
          <p:nvPr/>
        </p:nvSpPr>
        <p:spPr>
          <a:xfrm>
            <a:off x="466165" y="3505200"/>
            <a:ext cx="8534400" cy="32004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if(</a:t>
            </a:r>
            <a:r>
              <a:rPr lang="en-US" dirty="0" err="1">
                <a:solidFill>
                  <a:schemeClr val="tx1"/>
                </a:solidFill>
              </a:rPr>
              <a:t>Math.random</a:t>
            </a:r>
            <a:r>
              <a:rPr lang="en-US" dirty="0">
                <a:solidFill>
                  <a:schemeClr val="tx1"/>
                </a:solidFill>
              </a:rPr>
              <a:t>()&lt;=0.5)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f=true;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x1 = </a:t>
            </a:r>
            <a:r>
              <a:rPr lang="bg-BG" dirty="0">
                <a:solidFill>
                  <a:schemeClr val="tx1"/>
                </a:solidFill>
              </a:rPr>
              <a:t>70.71</a:t>
            </a:r>
            <a:r>
              <a:rPr lang="en-US" dirty="0">
                <a:solidFill>
                  <a:schemeClr val="tx1"/>
                </a:solidFill>
              </a:rPr>
              <a:t>+</a:t>
            </a:r>
            <a:r>
              <a:rPr lang="en-US" dirty="0" err="1">
                <a:solidFill>
                  <a:schemeClr val="tx1"/>
                </a:solidFill>
              </a:rPr>
              <a:t>Math.random</a:t>
            </a:r>
            <a:r>
              <a:rPr lang="en-US" dirty="0">
                <a:solidFill>
                  <a:schemeClr val="tx1"/>
                </a:solidFill>
              </a:rPr>
              <a:t>()*(graphicsDevice.width-1</a:t>
            </a:r>
            <a:r>
              <a:rPr lang="bg-BG" dirty="0">
                <a:solidFill>
                  <a:schemeClr val="tx1"/>
                </a:solidFill>
              </a:rPr>
              <a:t>41.42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y1 = 7</a:t>
            </a:r>
            <a:r>
              <a:rPr lang="bg-BG" dirty="0">
                <a:solidFill>
                  <a:schemeClr val="tx1"/>
                </a:solidFill>
              </a:rPr>
              <a:t>0.71</a:t>
            </a:r>
            <a:r>
              <a:rPr lang="en-US" dirty="0">
                <a:solidFill>
                  <a:schemeClr val="tx1"/>
                </a:solidFill>
              </a:rPr>
              <a:t>+</a:t>
            </a:r>
            <a:r>
              <a:rPr lang="en-US" dirty="0" err="1">
                <a:solidFill>
                  <a:schemeClr val="tx1"/>
                </a:solidFill>
              </a:rPr>
              <a:t>Math.random</a:t>
            </a:r>
            <a:r>
              <a:rPr lang="en-US" dirty="0">
                <a:solidFill>
                  <a:schemeClr val="tx1"/>
                </a:solidFill>
              </a:rPr>
              <a:t>()*(graphicsDevice.height-1</a:t>
            </a:r>
            <a:r>
              <a:rPr lang="bg-BG" dirty="0">
                <a:solidFill>
                  <a:schemeClr val="tx1"/>
                </a:solidFill>
              </a:rPr>
              <a:t>41.42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for(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r>
              <a:rPr lang="en-US" dirty="0">
                <a:solidFill>
                  <a:schemeClr val="tx1"/>
                </a:solidFill>
              </a:rPr>
              <a:t>=0;i&lt;</a:t>
            </a:r>
            <a:r>
              <a:rPr lang="en-US" dirty="0" err="1">
                <a:solidFill>
                  <a:schemeClr val="tx1"/>
                </a:solidFill>
              </a:rPr>
              <a:t>squares.length;i</a:t>
            </a:r>
            <a:r>
              <a:rPr lang="en-US" dirty="0">
                <a:solidFill>
                  <a:schemeClr val="tx1"/>
                </a:solidFill>
              </a:rPr>
              <a:t>++)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if(distance(x1,y1,squares[</a:t>
            </a:r>
            <a:r>
              <a:rPr lang="en-US" dirty="0" err="1">
                <a:solidFill>
                  <a:srgbClr val="00B0F0"/>
                </a:solidFill>
              </a:rPr>
              <a:t>i</a:t>
            </a:r>
            <a:r>
              <a:rPr lang="en-US" dirty="0">
                <a:solidFill>
                  <a:srgbClr val="00B0F0"/>
                </a:solidFill>
              </a:rPr>
              <a:t>].</a:t>
            </a:r>
            <a:r>
              <a:rPr lang="en-US" dirty="0" err="1">
                <a:solidFill>
                  <a:srgbClr val="00B0F0"/>
                </a:solidFill>
              </a:rPr>
              <a:t>x,squares</a:t>
            </a:r>
            <a:r>
              <a:rPr lang="en-US" dirty="0">
                <a:solidFill>
                  <a:srgbClr val="00B0F0"/>
                </a:solidFill>
              </a:rPr>
              <a:t>[</a:t>
            </a:r>
            <a:r>
              <a:rPr lang="en-US" dirty="0" err="1">
                <a:solidFill>
                  <a:srgbClr val="00B0F0"/>
                </a:solidFill>
              </a:rPr>
              <a:t>i</a:t>
            </a:r>
            <a:r>
              <a:rPr lang="en-US" dirty="0">
                <a:solidFill>
                  <a:srgbClr val="00B0F0"/>
                </a:solidFill>
              </a:rPr>
              <a:t>].y)&lt;=141.42)f=false;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if(f==true)</a:t>
            </a:r>
            <a:r>
              <a:rPr lang="en-US" dirty="0" err="1">
                <a:solidFill>
                  <a:srgbClr val="00B0F0"/>
                </a:solidFill>
              </a:rPr>
              <a:t>squares.push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generateSprite</a:t>
            </a:r>
            <a:r>
              <a:rPr lang="en-US" dirty="0">
                <a:solidFill>
                  <a:srgbClr val="00B0F0"/>
                </a:solidFill>
              </a:rPr>
              <a:t>(x1,y1));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11637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до тук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8" y="952500"/>
            <a:ext cx="6553202" cy="491664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8198" y="914400"/>
            <a:ext cx="7467602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bg1"/>
              </a:solidFill>
            </a:endParaRPr>
          </a:p>
        </p:txBody>
      </p:sp>
      <p:sp>
        <p:nvSpPr>
          <p:cNvPr id="6" name="Rectangle 5">
            <a:hlinkClick r:id="rId3" action="ppaction://hlinkfile"/>
          </p:cNvPr>
          <p:cNvSpPr/>
          <p:nvPr/>
        </p:nvSpPr>
        <p:spPr>
          <a:xfrm>
            <a:off x="2819400" y="6162675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7" name="Rectangle 6">
            <a:hlinkClick r:id="rId4" action="ppaction://hlinkfile"/>
          </p:cNvPr>
          <p:cNvSpPr/>
          <p:nvPr/>
        </p:nvSpPr>
        <p:spPr>
          <a:xfrm>
            <a:off x="5638800" y="6162675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065421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Hypno</a:t>
            </a:r>
            <a:r>
              <a:rPr lang="en-US" dirty="0"/>
              <a:t> Squares - </a:t>
            </a:r>
            <a:r>
              <a:rPr lang="bg-BG" dirty="0"/>
              <a:t>игра</a:t>
            </a:r>
          </a:p>
        </p:txBody>
      </p:sp>
    </p:spTree>
    <p:extLst>
      <p:ext uri="{BB962C8B-B14F-4D97-AF65-F5344CB8AC3E}">
        <p14:creationId xmlns:p14="http://schemas.microsoft.com/office/powerpoint/2010/main" val="14197412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en-US" dirty="0" err="1"/>
              <a:t>Hypno</a:t>
            </a:r>
            <a:r>
              <a:rPr lang="en-US" dirty="0"/>
              <a:t> Squares - </a:t>
            </a:r>
            <a:r>
              <a:rPr lang="bg-BG" dirty="0"/>
              <a:t>игра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sz="2800" b="1" dirty="0"/>
              <a:t>Тъй като това е библиотека за игри – да си направим игра </a:t>
            </a: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sz="2800" b="1" dirty="0"/>
              <a:t>Трябват ни три основни неща</a:t>
            </a:r>
            <a:r>
              <a:rPr lang="en-US" sz="2800" b="1" dirty="0"/>
              <a:t>:</a:t>
            </a: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sz="2800" b="1" dirty="0"/>
              <a:t>1. Цел на играта </a:t>
            </a:r>
            <a:br>
              <a:rPr lang="bg-BG" sz="2800" b="1" dirty="0"/>
            </a:br>
            <a:r>
              <a:rPr lang="bg-BG" dirty="0"/>
              <a:t>Да можем да унищожаваме квадратчетата с мишката – това може да ни носи точки</a:t>
            </a:r>
            <a:r>
              <a:rPr lang="en-US" dirty="0"/>
              <a:t>/</a:t>
            </a:r>
            <a:r>
              <a:rPr lang="bg-BG" dirty="0"/>
              <a:t>да печелим при определен брой унищожени квадратчета</a:t>
            </a:r>
            <a:r>
              <a:rPr lang="en-US" dirty="0"/>
              <a:t>/</a:t>
            </a:r>
            <a:r>
              <a:rPr lang="bg-BG" dirty="0"/>
              <a:t>да се увеличава скоростта на квадратчетата със всяко унищожено и т.н.</a:t>
            </a: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endParaRPr lang="bg-BG" sz="2800" b="1" dirty="0"/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r>
              <a:rPr lang="bg-BG" sz="2800" b="1" dirty="0"/>
              <a:t>2. Край на играта</a:t>
            </a:r>
            <a:br>
              <a:rPr lang="bg-BG" sz="2800" b="1" dirty="0"/>
            </a:br>
            <a:r>
              <a:rPr lang="bg-BG" dirty="0"/>
              <a:t>Да си сложим черни, „лоши“ квадратчета и да не трябва да ги унищожаваме – те ще дават края на играта</a:t>
            </a: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endParaRPr lang="bg-BG" dirty="0"/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925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en-US" dirty="0" err="1"/>
              <a:t>Hypno</a:t>
            </a:r>
            <a:r>
              <a:rPr lang="en-US" dirty="0"/>
              <a:t> Squares - </a:t>
            </a:r>
            <a:r>
              <a:rPr lang="bg-BG" dirty="0"/>
              <a:t>игра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3. Стратегическа част на играта</a:t>
            </a:r>
            <a:endParaRPr lang="en-US" sz="2800" b="1" dirty="0"/>
          </a:p>
          <a:p>
            <a:pPr marL="525780" lvl="1" indent="-457200">
              <a:buClr>
                <a:schemeClr val="accent1"/>
              </a:buClr>
              <a:buSzPct val="76000"/>
            </a:pPr>
            <a:endParaRPr lang="en-US" sz="2800" b="1" dirty="0"/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b="1" dirty="0"/>
              <a:t>Идея – при всяко кликване мишката да оставя „следа“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Така през половината време играча се грижи да унищожава белите квадратчета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Тъй като не през цялото време на екрана има бели квадратчета, през другото време се грижи да не се появи ново черно квадратче на мястото, където последно е кликнал. 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Иначе казано – през половината време кликаме белите, а през другата половина бягаме от черните квадратчета</a:t>
            </a:r>
          </a:p>
          <a:p>
            <a:pPr marL="411480" lvl="1" indent="-342900">
              <a:buClr>
                <a:schemeClr val="accent1"/>
              </a:buClr>
              <a:buSzPct val="76000"/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95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bg-BG" dirty="0"/>
              <a:t>Игра – първа част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Да можем да кликаме квадратчетата</a:t>
            </a:r>
            <a:br>
              <a:rPr lang="bg-BG" sz="2800" b="1" dirty="0"/>
            </a:br>
            <a:r>
              <a:rPr lang="bg-BG" dirty="0"/>
              <a:t>Това се прави с т.нар. </a:t>
            </a:r>
            <a:r>
              <a:rPr lang="en-US" dirty="0" err="1">
                <a:solidFill>
                  <a:srgbClr val="00B0F0"/>
                </a:solidFill>
              </a:rPr>
              <a:t>eventListener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bg-BG" dirty="0">
                <a:solidFill>
                  <a:srgbClr val="00B0F0"/>
                </a:solidFill>
              </a:rPr>
              <a:t> </a:t>
            </a:r>
            <a:r>
              <a:rPr lang="bg-BG" dirty="0"/>
              <a:t>на инстанцията </a:t>
            </a:r>
            <a:r>
              <a:rPr lang="en-US" dirty="0" err="1">
                <a:solidFill>
                  <a:srgbClr val="00B0F0"/>
                </a:solidFill>
              </a:rPr>
              <a:t>inputDevice</a:t>
            </a:r>
            <a:r>
              <a:rPr lang="en-US" dirty="0"/>
              <a:t> – </a:t>
            </a:r>
            <a:r>
              <a:rPr lang="bg-BG" dirty="0"/>
              <a:t>той е функция, която се закача за определено събитие(например клик на мишката) и „слуша“ за него – </a:t>
            </a:r>
            <a:r>
              <a:rPr lang="en-US" dirty="0" err="1">
                <a:solidFill>
                  <a:srgbClr val="00B0F0"/>
                </a:solidFill>
              </a:rPr>
              <a:t>eventListener</a:t>
            </a:r>
            <a:r>
              <a:rPr lang="bg-BG" dirty="0"/>
              <a:t>-а</a:t>
            </a:r>
            <a:r>
              <a:rPr lang="en-US" dirty="0"/>
              <a:t> </a:t>
            </a:r>
            <a:r>
              <a:rPr lang="bg-BG" dirty="0"/>
              <a:t>обработва информация </a:t>
            </a:r>
            <a:r>
              <a:rPr lang="bg-BG" b="1" dirty="0"/>
              <a:t>между </a:t>
            </a:r>
            <a:r>
              <a:rPr lang="bg-BG" dirty="0"/>
              <a:t>отделните викания на </a:t>
            </a:r>
            <a:r>
              <a:rPr lang="en-US" dirty="0"/>
              <a:t>update </a:t>
            </a:r>
            <a:r>
              <a:rPr lang="bg-BG" dirty="0"/>
              <a:t>функцията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en-US" dirty="0" err="1">
                <a:solidFill>
                  <a:srgbClr val="00B0F0"/>
                </a:solidFill>
              </a:rPr>
              <a:t>eventListener</a:t>
            </a:r>
            <a:r>
              <a:rPr lang="en-US" dirty="0"/>
              <a:t> </a:t>
            </a:r>
            <a:r>
              <a:rPr lang="bg-BG" dirty="0"/>
              <a:t>приема като аргументи тип на събитието – нашето е </a:t>
            </a:r>
            <a:r>
              <a:rPr lang="en-US" dirty="0">
                <a:solidFill>
                  <a:srgbClr val="00B0F0"/>
                </a:solidFill>
              </a:rPr>
              <a:t>‘</a:t>
            </a:r>
            <a:r>
              <a:rPr lang="en-US" dirty="0" err="1">
                <a:solidFill>
                  <a:srgbClr val="00B0F0"/>
                </a:solidFill>
              </a:rPr>
              <a:t>mousedown</a:t>
            </a:r>
            <a:r>
              <a:rPr lang="en-US" dirty="0">
                <a:solidFill>
                  <a:srgbClr val="00B0F0"/>
                </a:solidFill>
              </a:rPr>
              <a:t>’ </a:t>
            </a:r>
            <a:r>
              <a:rPr lang="bg-BG" dirty="0"/>
              <a:t>и функция, която да изпълнява при случване на събитието</a:t>
            </a:r>
            <a:r>
              <a:rPr lang="en-US" dirty="0"/>
              <a:t> – function </a:t>
            </a:r>
            <a:r>
              <a:rPr lang="en-US" dirty="0" err="1">
                <a:solidFill>
                  <a:srgbClr val="00B0F0"/>
                </a:solidFill>
              </a:rPr>
              <a:t>onMouseDown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466165" y="3962400"/>
            <a:ext cx="8534400" cy="2743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eventPositionX</a:t>
            </a:r>
            <a:r>
              <a:rPr lang="en-US" dirty="0">
                <a:solidFill>
                  <a:schemeClr val="tx1"/>
                </a:solidFill>
              </a:rPr>
              <a:t> = 0;</a:t>
            </a:r>
            <a:r>
              <a:rPr lang="bg-BG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eventPositionY</a:t>
            </a:r>
            <a:r>
              <a:rPr lang="en-US" dirty="0">
                <a:solidFill>
                  <a:schemeClr val="tx1"/>
                </a:solidFill>
              </a:rPr>
              <a:t> = 0; 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hit = false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inputDevice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TurbulenzEngine.createInputDevice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mouseCodes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inputDevice.mouseCodes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onMouseDown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>
                <a:solidFill>
                  <a:srgbClr val="00B0F0"/>
                </a:solidFill>
              </a:rPr>
              <a:t>function </a:t>
            </a:r>
            <a:r>
              <a:rPr lang="en-US" dirty="0" err="1">
                <a:solidFill>
                  <a:srgbClr val="00B0F0"/>
                </a:solidFill>
              </a:rPr>
              <a:t>onMouseDownFn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mouseCode</a:t>
            </a:r>
            <a:r>
              <a:rPr lang="en-US" dirty="0">
                <a:solidFill>
                  <a:schemeClr val="tx1"/>
                </a:solidFill>
              </a:rPr>
              <a:t>, x, y)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if (</a:t>
            </a:r>
            <a:r>
              <a:rPr lang="en-US" dirty="0" err="1">
                <a:solidFill>
                  <a:schemeClr val="tx1"/>
                </a:solidFill>
              </a:rPr>
              <a:t>mouseCode</a:t>
            </a:r>
            <a:r>
              <a:rPr lang="en-US" dirty="0">
                <a:solidFill>
                  <a:schemeClr val="tx1"/>
                </a:solidFill>
              </a:rPr>
              <a:t> == mouseCodes.BUTTON_0)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	</a:t>
            </a:r>
            <a:r>
              <a:rPr lang="en-US" dirty="0">
                <a:solidFill>
                  <a:schemeClr val="tx1"/>
                </a:solidFill>
              </a:rPr>
              <a:t>{</a:t>
            </a:r>
            <a:r>
              <a:rPr lang="en-US" dirty="0" err="1">
                <a:solidFill>
                  <a:schemeClr val="tx1"/>
                </a:solidFill>
              </a:rPr>
              <a:t>eventPositionX</a:t>
            </a:r>
            <a:r>
              <a:rPr lang="en-US" dirty="0">
                <a:solidFill>
                  <a:schemeClr val="tx1"/>
                </a:solidFill>
              </a:rPr>
              <a:t> = x;</a:t>
            </a:r>
            <a:r>
              <a:rPr lang="bg-BG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eventPositionY</a:t>
            </a:r>
            <a:r>
              <a:rPr lang="en-US" dirty="0">
                <a:solidFill>
                  <a:schemeClr val="tx1"/>
                </a:solidFill>
              </a:rPr>
              <a:t> = y;}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inputDevice.addEventListener</a:t>
            </a:r>
            <a:r>
              <a:rPr lang="en-US" dirty="0">
                <a:solidFill>
                  <a:srgbClr val="00B0F0"/>
                </a:solidFill>
              </a:rPr>
              <a:t>('</a:t>
            </a:r>
            <a:r>
              <a:rPr lang="en-US" dirty="0" err="1">
                <a:solidFill>
                  <a:srgbClr val="00B0F0"/>
                </a:solidFill>
              </a:rPr>
              <a:t>mousedown</a:t>
            </a:r>
            <a:r>
              <a:rPr lang="en-US" dirty="0">
                <a:solidFill>
                  <a:srgbClr val="00B0F0"/>
                </a:solidFill>
              </a:rPr>
              <a:t>', </a:t>
            </a:r>
            <a:r>
              <a:rPr lang="en-US" dirty="0" err="1">
                <a:solidFill>
                  <a:srgbClr val="00B0F0"/>
                </a:solidFill>
              </a:rPr>
              <a:t>onMouseDown</a:t>
            </a:r>
            <a:r>
              <a:rPr lang="en-US" dirty="0">
                <a:solidFill>
                  <a:srgbClr val="00B0F0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961288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bg-BG" dirty="0"/>
              <a:t>Игра – първа част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54102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Инициализираме </a:t>
            </a:r>
            <a:r>
              <a:rPr lang="en-US" dirty="0" err="1">
                <a:solidFill>
                  <a:srgbClr val="00B0F0"/>
                </a:solidFill>
              </a:rPr>
              <a:t>inputDevice</a:t>
            </a:r>
            <a:endParaRPr lang="bg-BG" dirty="0">
              <a:solidFill>
                <a:srgbClr val="00B0F0"/>
              </a:solidFill>
            </a:endParaRP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en-US" dirty="0" err="1">
                <a:solidFill>
                  <a:srgbClr val="00B0F0"/>
                </a:solidFill>
              </a:rPr>
              <a:t>inputDevice.mouseCodes</a:t>
            </a:r>
            <a:r>
              <a:rPr lang="en-US" dirty="0"/>
              <a:t> </a:t>
            </a:r>
            <a:r>
              <a:rPr lang="bg-BG" dirty="0"/>
              <a:t>съдържа кодове за всички бутони на мишката, като левият бутон е </a:t>
            </a:r>
            <a:r>
              <a:rPr lang="en-US" dirty="0"/>
              <a:t>BUTTON_0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За това в нашата функция </a:t>
            </a:r>
            <a:r>
              <a:rPr lang="en-US" dirty="0" err="1">
                <a:solidFill>
                  <a:srgbClr val="00B0F0"/>
                </a:solidFill>
              </a:rPr>
              <a:t>onMouseDownFn</a:t>
            </a:r>
            <a:r>
              <a:rPr lang="en-US" dirty="0"/>
              <a:t> </a:t>
            </a:r>
            <a:r>
              <a:rPr lang="bg-BG" dirty="0"/>
              <a:t>проверяваме дали кода на натиснатия бутон е същия с </a:t>
            </a:r>
            <a:r>
              <a:rPr lang="en-US" dirty="0"/>
              <a:t>BUTTON_0 </a:t>
            </a:r>
            <a:r>
              <a:rPr lang="bg-BG" dirty="0"/>
              <a:t>и ако е – записваме координатите в </a:t>
            </a:r>
            <a:r>
              <a:rPr lang="en-US" dirty="0" err="1">
                <a:solidFill>
                  <a:srgbClr val="00B0F0"/>
                </a:solidFill>
              </a:rPr>
              <a:t>eventPositionX</a:t>
            </a:r>
            <a:r>
              <a:rPr lang="en-US" dirty="0"/>
              <a:t> </a:t>
            </a:r>
            <a:r>
              <a:rPr lang="bg-BG" dirty="0"/>
              <a:t>и </a:t>
            </a:r>
            <a:r>
              <a:rPr lang="en-US" dirty="0" err="1">
                <a:solidFill>
                  <a:srgbClr val="00B0F0"/>
                </a:solidFill>
              </a:rPr>
              <a:t>eventPositionY</a:t>
            </a:r>
            <a:r>
              <a:rPr lang="en-US" dirty="0"/>
              <a:t> </a:t>
            </a:r>
            <a:r>
              <a:rPr lang="bg-BG" dirty="0"/>
              <a:t>съответно 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Създаваме си булева променлива </a:t>
            </a:r>
            <a:r>
              <a:rPr lang="en-US" dirty="0">
                <a:solidFill>
                  <a:srgbClr val="00B0F0"/>
                </a:solidFill>
              </a:rPr>
              <a:t>hit</a:t>
            </a:r>
            <a:r>
              <a:rPr lang="bg-BG" dirty="0"/>
              <a:t> – дали сме уцелили</a:t>
            </a:r>
            <a:endParaRPr lang="en-US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466165" y="3657600"/>
            <a:ext cx="8534400" cy="30480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eventPositionX</a:t>
            </a:r>
            <a:r>
              <a:rPr lang="en-US" dirty="0">
                <a:solidFill>
                  <a:srgbClr val="00B0F0"/>
                </a:solidFill>
              </a:rPr>
              <a:t> = 0;</a:t>
            </a:r>
            <a:r>
              <a:rPr lang="bg-BG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eventPositionY</a:t>
            </a:r>
            <a:r>
              <a:rPr lang="en-US" dirty="0">
                <a:solidFill>
                  <a:srgbClr val="00B0F0"/>
                </a:solidFill>
              </a:rPr>
              <a:t> = 0; </a:t>
            </a: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hit = false;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inputDevice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TurbulenzEngine.createInputDevice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mouseCodes</a:t>
            </a:r>
            <a:r>
              <a:rPr lang="en-US" dirty="0">
                <a:solidFill>
                  <a:srgbClr val="00B0F0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inputDevice.mouseCodes</a:t>
            </a:r>
            <a:r>
              <a:rPr lang="en-US" dirty="0">
                <a:solidFill>
                  <a:srgbClr val="00B0F0"/>
                </a:solidFill>
              </a:rPr>
              <a:t>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onMouseDown</a:t>
            </a:r>
            <a:r>
              <a:rPr lang="en-US" dirty="0">
                <a:solidFill>
                  <a:schemeClr val="tx1"/>
                </a:solidFill>
              </a:rPr>
              <a:t> = function </a:t>
            </a:r>
            <a:r>
              <a:rPr lang="en-US" dirty="0" err="1">
                <a:solidFill>
                  <a:schemeClr val="tx1"/>
                </a:solidFill>
              </a:rPr>
              <a:t>onMouseDownFn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mouseCode</a:t>
            </a:r>
            <a:r>
              <a:rPr lang="en-US" dirty="0">
                <a:solidFill>
                  <a:schemeClr val="tx1"/>
                </a:solidFill>
              </a:rPr>
              <a:t>, x, y)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if (</a:t>
            </a:r>
            <a:r>
              <a:rPr lang="en-US" dirty="0" err="1">
                <a:solidFill>
                  <a:srgbClr val="00B0F0"/>
                </a:solidFill>
              </a:rPr>
              <a:t>mouseCode</a:t>
            </a:r>
            <a:r>
              <a:rPr lang="en-US" dirty="0">
                <a:solidFill>
                  <a:srgbClr val="00B0F0"/>
                </a:solidFill>
              </a:rPr>
              <a:t> == mouseCodes.BUTTON_0)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rgbClr val="00B0F0"/>
                </a:solidFill>
              </a:rPr>
              <a:t>	</a:t>
            </a:r>
            <a:r>
              <a:rPr lang="en-US" dirty="0">
                <a:solidFill>
                  <a:srgbClr val="00B0F0"/>
                </a:solidFill>
              </a:rPr>
              <a:t>{</a:t>
            </a:r>
            <a:r>
              <a:rPr lang="en-US" dirty="0" err="1">
                <a:solidFill>
                  <a:srgbClr val="00B0F0"/>
                </a:solidFill>
              </a:rPr>
              <a:t>eventPositionX</a:t>
            </a:r>
            <a:r>
              <a:rPr lang="en-US" dirty="0">
                <a:solidFill>
                  <a:srgbClr val="00B0F0"/>
                </a:solidFill>
              </a:rPr>
              <a:t> = x;</a:t>
            </a:r>
            <a:r>
              <a:rPr lang="bg-BG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eventPositionY</a:t>
            </a:r>
            <a:r>
              <a:rPr lang="en-US" dirty="0">
                <a:solidFill>
                  <a:srgbClr val="00B0F0"/>
                </a:solidFill>
              </a:rPr>
              <a:t> = y;}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inputDevice.addEventListener</a:t>
            </a:r>
            <a:r>
              <a:rPr lang="en-US" dirty="0">
                <a:solidFill>
                  <a:schemeClr val="tx1"/>
                </a:solidFill>
              </a:rPr>
              <a:t>('</a:t>
            </a:r>
            <a:r>
              <a:rPr lang="en-US" dirty="0" err="1">
                <a:solidFill>
                  <a:schemeClr val="tx1"/>
                </a:solidFill>
              </a:rPr>
              <a:t>mousedown</a:t>
            </a:r>
            <a:r>
              <a:rPr lang="en-US" dirty="0">
                <a:solidFill>
                  <a:schemeClr val="tx1"/>
                </a:solidFill>
              </a:rPr>
              <a:t>', </a:t>
            </a:r>
            <a:r>
              <a:rPr lang="en-US" dirty="0" err="1">
                <a:solidFill>
                  <a:schemeClr val="tx1"/>
                </a:solidFill>
              </a:rPr>
              <a:t>onMouseDown</a:t>
            </a:r>
            <a:r>
              <a:rPr lang="en-US" dirty="0">
                <a:solidFill>
                  <a:schemeClr val="tx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82334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990600"/>
          </a:xfrm>
        </p:spPr>
        <p:txBody>
          <a:bodyPr/>
          <a:lstStyle/>
          <a:p>
            <a:r>
              <a:rPr lang="bg-BG" dirty="0"/>
              <a:t>Как да разберем дали има попадение на квадратче?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1371600"/>
            <a:ext cx="8610600" cy="5029200"/>
          </a:xfrm>
        </p:spPr>
        <p:txBody>
          <a:bodyPr>
            <a:normAutofit fontScale="92500" lnSpcReduction="20000"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Проблем </a:t>
            </a:r>
            <a:br>
              <a:rPr lang="bg-BG" sz="2800" b="1" dirty="0"/>
            </a:br>
            <a:r>
              <a:rPr lang="bg-BG" sz="2200" dirty="0"/>
              <a:t>Квадратчето е завъртяно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Начин №1. Да проверим дали сме кликнали някъде в радиуса на въртене на квадратчетата</a:t>
            </a:r>
            <a:br>
              <a:rPr lang="en-US" sz="2800" b="1" dirty="0"/>
            </a:br>
            <a:r>
              <a:rPr lang="bg-BG" sz="2200" dirty="0"/>
              <a:t>Те се въртят бързо - никой няма да забележи, нали? </a:t>
            </a:r>
            <a:br>
              <a:rPr lang="bg-BG" sz="2200" dirty="0"/>
            </a:br>
            <a:r>
              <a:rPr lang="bg-BG" sz="2200" dirty="0"/>
              <a:t>За жалост се забелязва, неточно е и в момента, разбира се, ще го пропуснем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№2. Да проверим дали на екрана има бял(черен) пиксел на тези координати</a:t>
            </a:r>
            <a:br>
              <a:rPr lang="bg-BG" sz="2800" b="1" dirty="0"/>
            </a:br>
            <a:r>
              <a:rPr lang="bg-BG" sz="2200" dirty="0"/>
              <a:t>Колкото и да е „гениален“ този начин, изисква копиране и</a:t>
            </a:r>
            <a:r>
              <a:rPr lang="en-US" sz="2200" dirty="0"/>
              <a:t>/</a:t>
            </a:r>
            <a:r>
              <a:rPr lang="bg-BG" sz="2200" dirty="0"/>
              <a:t>или претърсване на целия графичен</a:t>
            </a:r>
            <a:r>
              <a:rPr lang="en-US" sz="2200" dirty="0"/>
              <a:t> </a:t>
            </a:r>
            <a:r>
              <a:rPr lang="bg-BG" sz="2200" dirty="0"/>
              <a:t>буфер, а това се оказва изключително бавно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600" b="1" dirty="0"/>
              <a:t>№3. Да използваме геометрия</a:t>
            </a:r>
            <a:br>
              <a:rPr lang="bg-BG" sz="2600" b="1" dirty="0"/>
            </a:br>
            <a:br>
              <a:rPr lang="bg-BG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60952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48736"/>
          </a:xfrm>
        </p:spPr>
        <p:txBody>
          <a:bodyPr/>
          <a:lstStyle/>
          <a:p>
            <a:r>
              <a:rPr lang="bg-BG" dirty="0">
                <a:solidFill>
                  <a:srgbClr val="FF0000"/>
                </a:solidFill>
              </a:rPr>
              <a:t>Внимание, геометрия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57200" y="990600"/>
            <a:ext cx="8610600" cy="32004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Как да разберем дали има попадение?</a:t>
            </a:r>
            <a:br>
              <a:rPr lang="bg-BG" sz="2800" b="1" dirty="0"/>
            </a:br>
            <a:r>
              <a:rPr lang="bg-BG" dirty="0"/>
              <a:t>Идея – завъртаме координатите на мишката около центъра на квадратчето в посока обратна на завъртането му. Ако сега координатите са в незавъртяното квадратче, значи „завъртяните“ координати ще попадат в „завъртяното“ квадратче. 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Трябва ни транслация до началната точка на екрана (0,0), ротация около нея и връщане на точката до старото й място, което и прави долната </a:t>
            </a:r>
            <a:r>
              <a:rPr lang="bg-BG" dirty="0">
                <a:solidFill>
                  <a:srgbClr val="00B0F0"/>
                </a:solidFill>
              </a:rPr>
              <a:t>функция</a:t>
            </a:r>
          </a:p>
        </p:txBody>
      </p:sp>
      <p:sp>
        <p:nvSpPr>
          <p:cNvPr id="39" name="Snip Diagonal Corner Rectangle 38"/>
          <p:cNvSpPr/>
          <p:nvPr/>
        </p:nvSpPr>
        <p:spPr>
          <a:xfrm>
            <a:off x="466165" y="4343400"/>
            <a:ext cx="8534400" cy="2362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</a:t>
            </a:r>
            <a:r>
              <a:rPr lang="en-US" dirty="0" err="1">
                <a:solidFill>
                  <a:srgbClr val="00B0F0"/>
                </a:solidFill>
              </a:rPr>
              <a:t>rotatePoint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pointX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pointY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originX</a:t>
            </a:r>
            <a:r>
              <a:rPr lang="en-US" dirty="0">
                <a:solidFill>
                  <a:schemeClr val="tx1"/>
                </a:solidFill>
              </a:rPr>
              <a:t>, </a:t>
            </a:r>
            <a:r>
              <a:rPr lang="en-US" dirty="0" err="1">
                <a:solidFill>
                  <a:schemeClr val="tx1"/>
                </a:solidFill>
              </a:rPr>
              <a:t>originY</a:t>
            </a:r>
            <a:r>
              <a:rPr lang="en-US" dirty="0">
                <a:solidFill>
                  <a:schemeClr val="tx1"/>
                </a:solidFill>
              </a:rPr>
              <a:t>, angle) 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array = [];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array.push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Math.cos</a:t>
            </a:r>
            <a:r>
              <a:rPr lang="en-US" dirty="0">
                <a:solidFill>
                  <a:srgbClr val="00B0F0"/>
                </a:solidFill>
              </a:rPr>
              <a:t>(angle) * (</a:t>
            </a:r>
            <a:r>
              <a:rPr lang="en-US" dirty="0" err="1">
                <a:solidFill>
                  <a:srgbClr val="00B0F0"/>
                </a:solidFill>
              </a:rPr>
              <a:t>pointX-originX</a:t>
            </a:r>
            <a:r>
              <a:rPr lang="en-US" dirty="0">
                <a:solidFill>
                  <a:srgbClr val="00B0F0"/>
                </a:solidFill>
              </a:rPr>
              <a:t>)</a:t>
            </a:r>
            <a:r>
              <a:rPr lang="en-US" dirty="0">
                <a:solidFill>
                  <a:schemeClr val="tx1"/>
                </a:solidFill>
              </a:rPr>
              <a:t> – 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Math.sin</a:t>
            </a:r>
            <a:r>
              <a:rPr lang="en-US" dirty="0">
                <a:solidFill>
                  <a:srgbClr val="00B0F0"/>
                </a:solidFill>
              </a:rPr>
              <a:t>(angle) * (</a:t>
            </a:r>
            <a:r>
              <a:rPr lang="en-US" dirty="0" err="1">
                <a:solidFill>
                  <a:srgbClr val="00B0F0"/>
                </a:solidFill>
              </a:rPr>
              <a:t>pointY-originY</a:t>
            </a:r>
            <a:r>
              <a:rPr lang="en-US" dirty="0">
                <a:solidFill>
                  <a:srgbClr val="00B0F0"/>
                </a:solidFill>
              </a:rPr>
              <a:t>) + </a:t>
            </a:r>
            <a:r>
              <a:rPr lang="en-US" dirty="0" err="1">
                <a:solidFill>
                  <a:srgbClr val="00B0F0"/>
                </a:solidFill>
              </a:rPr>
              <a:t>originX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array.push</a:t>
            </a:r>
            <a:r>
              <a:rPr lang="en-US" dirty="0">
                <a:solidFill>
                  <a:srgbClr val="00B0F0"/>
                </a:solidFill>
              </a:rPr>
              <a:t>(</a:t>
            </a:r>
            <a:r>
              <a:rPr lang="en-US" dirty="0" err="1">
                <a:solidFill>
                  <a:srgbClr val="00B0F0"/>
                </a:solidFill>
              </a:rPr>
              <a:t>Math.sin</a:t>
            </a:r>
            <a:r>
              <a:rPr lang="en-US" dirty="0">
                <a:solidFill>
                  <a:srgbClr val="00B0F0"/>
                </a:solidFill>
              </a:rPr>
              <a:t>(angle) * (</a:t>
            </a:r>
            <a:r>
              <a:rPr lang="en-US" dirty="0" err="1">
                <a:solidFill>
                  <a:srgbClr val="00B0F0"/>
                </a:solidFill>
              </a:rPr>
              <a:t>pointX-originX</a:t>
            </a:r>
            <a:r>
              <a:rPr lang="en-US" dirty="0">
                <a:solidFill>
                  <a:srgbClr val="00B0F0"/>
                </a:solidFill>
              </a:rPr>
              <a:t>) + 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Math.cos</a:t>
            </a:r>
            <a:r>
              <a:rPr lang="en-US" dirty="0">
                <a:solidFill>
                  <a:srgbClr val="00B0F0"/>
                </a:solidFill>
              </a:rPr>
              <a:t>(angle) * (</a:t>
            </a:r>
            <a:r>
              <a:rPr lang="en-US" dirty="0" err="1">
                <a:solidFill>
                  <a:srgbClr val="00B0F0"/>
                </a:solidFill>
              </a:rPr>
              <a:t>pointY-originY</a:t>
            </a:r>
            <a:r>
              <a:rPr lang="en-US" dirty="0">
                <a:solidFill>
                  <a:srgbClr val="00B0F0"/>
                </a:solidFill>
              </a:rPr>
              <a:t>) + </a:t>
            </a:r>
            <a:r>
              <a:rPr lang="en-US" dirty="0" err="1">
                <a:solidFill>
                  <a:srgbClr val="00B0F0"/>
                </a:solidFill>
              </a:rPr>
              <a:t>originY</a:t>
            </a:r>
            <a:r>
              <a:rPr lang="en-US" dirty="0">
                <a:solidFill>
                  <a:srgbClr val="00B0F0"/>
                </a:solidFill>
              </a:rPr>
              <a:t>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return array;}</a:t>
            </a:r>
            <a:endParaRPr lang="bg-B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952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85800"/>
          </a:xfrm>
        </p:spPr>
        <p:txBody>
          <a:bodyPr/>
          <a:lstStyle/>
          <a:p>
            <a:r>
              <a:rPr lang="bg-BG" dirty="0"/>
              <a:t>Попадение на квадратче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914400"/>
            <a:ext cx="8610600" cy="54864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Въртим точката на ъгъл </a:t>
            </a:r>
            <a:r>
              <a:rPr lang="en-US" dirty="0"/>
              <a:t>- </a:t>
            </a:r>
            <a:r>
              <a:rPr lang="en-US" dirty="0">
                <a:solidFill>
                  <a:srgbClr val="00B0F0"/>
                </a:solidFill>
              </a:rPr>
              <a:t>squares[j].rotation</a:t>
            </a:r>
            <a:r>
              <a:rPr lang="bg-BG" dirty="0"/>
              <a:t>, за да я върнем там, където би стояла ако се беше въртяла с квадратчето.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Проверяваме дали точката е на разстояние </a:t>
            </a:r>
            <a:r>
              <a:rPr lang="en-US" dirty="0"/>
              <a:t>|50|* scale </a:t>
            </a:r>
            <a:r>
              <a:rPr lang="bg-BG" dirty="0"/>
              <a:t>от центъра по </a:t>
            </a:r>
            <a:r>
              <a:rPr lang="en-US" dirty="0"/>
              <a:t>X </a:t>
            </a:r>
            <a:r>
              <a:rPr lang="bg-BG" dirty="0"/>
              <a:t>или </a:t>
            </a:r>
            <a:r>
              <a:rPr lang="en-US" dirty="0"/>
              <a:t>Y  - </a:t>
            </a:r>
            <a:r>
              <a:rPr lang="bg-BG" dirty="0"/>
              <a:t>така разбираме дали попада в първоначалното положение на квадратчето</a:t>
            </a:r>
            <a:r>
              <a:rPr lang="en-US" dirty="0"/>
              <a:t> </a:t>
            </a:r>
            <a:r>
              <a:rPr lang="bg-BG" dirty="0"/>
              <a:t>(Защо?)</a:t>
            </a:r>
            <a:endParaRPr lang="bg-BG" dirty="0">
              <a:solidFill>
                <a:schemeClr val="tx2"/>
              </a:solidFill>
            </a:endParaRP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Ако попада в него,махаме квадратчето от масива и записваме в променливата </a:t>
            </a:r>
            <a:r>
              <a:rPr lang="en-US" dirty="0"/>
              <a:t>hit</a:t>
            </a:r>
            <a:r>
              <a:rPr lang="bg-BG" dirty="0"/>
              <a:t>, че сме  го уцелили</a:t>
            </a:r>
            <a:br>
              <a:rPr lang="bg-BG" dirty="0">
                <a:solidFill>
                  <a:srgbClr val="00B0F0"/>
                </a:solidFill>
              </a:rPr>
            </a:br>
            <a:endParaRPr lang="en-US" sz="2800" dirty="0">
              <a:solidFill>
                <a:srgbClr val="00B0F0"/>
              </a:solidFill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152400" y="3733800"/>
            <a:ext cx="8839200" cy="29718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if(distance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eventPositionX,eventPositionY,squares</a:t>
            </a:r>
            <a:r>
              <a:rPr lang="en-US" dirty="0">
                <a:solidFill>
                  <a:schemeClr val="tx1"/>
                </a:solidFill>
              </a:rPr>
              <a:t>[j].</a:t>
            </a:r>
            <a:r>
              <a:rPr lang="en-US" dirty="0" err="1">
                <a:solidFill>
                  <a:schemeClr val="tx1"/>
                </a:solidFill>
              </a:rPr>
              <a:t>x,squares</a:t>
            </a:r>
            <a:r>
              <a:rPr lang="en-US" dirty="0">
                <a:solidFill>
                  <a:schemeClr val="tx1"/>
                </a:solidFill>
              </a:rPr>
              <a:t>[j].y)&lt;= 70.71)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newpoint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rgbClr val="00B0F0"/>
                </a:solidFill>
              </a:rPr>
              <a:t>rotatePoint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eventPositionX,eventPositionY</a:t>
            </a:r>
            <a:r>
              <a:rPr lang="en-US" dirty="0">
                <a:solidFill>
                  <a:schemeClr val="tx1"/>
                </a:solidFill>
              </a:rPr>
              <a:t>,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squares[j].</a:t>
            </a:r>
            <a:r>
              <a:rPr lang="en-US" dirty="0" err="1">
                <a:solidFill>
                  <a:schemeClr val="tx1"/>
                </a:solidFill>
              </a:rPr>
              <a:t>x,squares</a:t>
            </a:r>
            <a:r>
              <a:rPr lang="en-US" dirty="0">
                <a:solidFill>
                  <a:schemeClr val="tx1"/>
                </a:solidFill>
              </a:rPr>
              <a:t>[j].y, </a:t>
            </a:r>
            <a:r>
              <a:rPr lang="en-US" dirty="0">
                <a:solidFill>
                  <a:srgbClr val="00B0F0"/>
                </a:solidFill>
              </a:rPr>
              <a:t>- squares[j].rotation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if( </a:t>
            </a:r>
            <a:r>
              <a:rPr lang="en-US" dirty="0" err="1">
                <a:solidFill>
                  <a:srgbClr val="00B0F0"/>
                </a:solidFill>
              </a:rPr>
              <a:t>Math.abs</a:t>
            </a:r>
            <a:r>
              <a:rPr lang="en-US" dirty="0">
                <a:solidFill>
                  <a:srgbClr val="00B0F0"/>
                </a:solidFill>
              </a:rPr>
              <a:t>( </a:t>
            </a:r>
            <a:r>
              <a:rPr lang="en-US" dirty="0" err="1">
                <a:solidFill>
                  <a:srgbClr val="00B0F0"/>
                </a:solidFill>
              </a:rPr>
              <a:t>newpoint</a:t>
            </a:r>
            <a:r>
              <a:rPr lang="en-US" dirty="0">
                <a:solidFill>
                  <a:srgbClr val="00B0F0"/>
                </a:solidFill>
              </a:rPr>
              <a:t>[0] - squares[j].x ) &lt;= 50*scale[0] 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&amp;&amp;  </a:t>
            </a:r>
            <a:r>
              <a:rPr lang="en-US" dirty="0" err="1">
                <a:solidFill>
                  <a:srgbClr val="00B0F0"/>
                </a:solidFill>
              </a:rPr>
              <a:t>Math.abs</a:t>
            </a:r>
            <a:r>
              <a:rPr lang="en-US" dirty="0">
                <a:solidFill>
                  <a:srgbClr val="00B0F0"/>
                </a:solidFill>
              </a:rPr>
              <a:t>( </a:t>
            </a:r>
            <a:r>
              <a:rPr lang="en-US" dirty="0" err="1">
                <a:solidFill>
                  <a:srgbClr val="00B0F0"/>
                </a:solidFill>
              </a:rPr>
              <a:t>newpoint</a:t>
            </a:r>
            <a:r>
              <a:rPr lang="en-US" dirty="0">
                <a:solidFill>
                  <a:srgbClr val="00B0F0"/>
                </a:solidFill>
              </a:rPr>
              <a:t>[1] - squares[j].y ) &lt;= 50*scale[1])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{hit=</a:t>
            </a:r>
            <a:r>
              <a:rPr lang="en-US" dirty="0" err="1">
                <a:solidFill>
                  <a:srgbClr val="00B0F0"/>
                </a:solidFill>
              </a:rPr>
              <a:t>true;squares.splice</a:t>
            </a:r>
            <a:r>
              <a:rPr lang="en-US" dirty="0">
                <a:solidFill>
                  <a:srgbClr val="00B0F0"/>
                </a:solidFill>
              </a:rPr>
              <a:t>( j , 1 );</a:t>
            </a:r>
            <a:r>
              <a:rPr lang="en-US" dirty="0" err="1">
                <a:solidFill>
                  <a:srgbClr val="00B0F0"/>
                </a:solidFill>
              </a:rPr>
              <a:t>accels.splice</a:t>
            </a:r>
            <a:r>
              <a:rPr lang="en-US" dirty="0">
                <a:solidFill>
                  <a:srgbClr val="00B0F0"/>
                </a:solidFill>
              </a:rPr>
              <a:t>(j,1);}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else </a:t>
            </a:r>
            <a:r>
              <a:rPr lang="en-US" dirty="0" err="1">
                <a:solidFill>
                  <a:schemeClr val="tx1"/>
                </a:solidFill>
              </a:rPr>
              <a:t>newpoint</a:t>
            </a:r>
            <a:r>
              <a:rPr lang="en-US" dirty="0">
                <a:solidFill>
                  <a:schemeClr val="tx1"/>
                </a:solidFill>
              </a:rPr>
              <a:t> = [];	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	</a:t>
            </a:r>
          </a:p>
        </p:txBody>
      </p:sp>
    </p:spTree>
    <p:extLst>
      <p:ext uri="{BB962C8B-B14F-4D97-AF65-F5344CB8AC3E}">
        <p14:creationId xmlns:p14="http://schemas.microsoft.com/office/powerpoint/2010/main" val="34566713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85800"/>
          </a:xfrm>
        </p:spPr>
        <p:txBody>
          <a:bodyPr/>
          <a:lstStyle/>
          <a:p>
            <a:r>
              <a:rPr lang="bg-BG" dirty="0"/>
              <a:t>Да забързваме скоростта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914400"/>
            <a:ext cx="8610600" cy="5486400"/>
          </a:xfrm>
        </p:spPr>
        <p:txBody>
          <a:bodyPr>
            <a:normAutofit/>
          </a:bodyPr>
          <a:lstStyle/>
          <a:p>
            <a:pPr marL="411480" lvl="1" indent="-342900">
              <a:buClr>
                <a:schemeClr val="accent1"/>
              </a:buClr>
              <a:buSzPct val="76000"/>
            </a:pPr>
            <a:r>
              <a:rPr lang="bg-BG" dirty="0"/>
              <a:t>Вече не увеличаваме </a:t>
            </a:r>
            <a:r>
              <a:rPr lang="en-US" dirty="0" err="1"/>
              <a:t>accel</a:t>
            </a:r>
            <a:r>
              <a:rPr lang="en-US" dirty="0"/>
              <a:t> </a:t>
            </a:r>
            <a:r>
              <a:rPr lang="bg-BG" dirty="0"/>
              <a:t>с постоянна величина (до сега беше </a:t>
            </a:r>
            <a:r>
              <a:rPr lang="en-US" dirty="0"/>
              <a:t>PI/30</a:t>
            </a:r>
            <a:r>
              <a:rPr lang="bg-BG" dirty="0"/>
              <a:t>), а въвеждаме променлива </a:t>
            </a:r>
            <a:r>
              <a:rPr lang="en-US" dirty="0"/>
              <a:t>speed</a:t>
            </a:r>
            <a:r>
              <a:rPr lang="bg-BG" dirty="0"/>
              <a:t> </a:t>
            </a:r>
            <a:r>
              <a:rPr lang="en-US" dirty="0"/>
              <a:t>= PI / </a:t>
            </a:r>
            <a:r>
              <a:rPr lang="bg-BG" dirty="0"/>
              <a:t>360</a:t>
            </a:r>
          </a:p>
          <a:p>
            <a:pPr marL="411480" lvl="1" indent="-342900">
              <a:buClr>
                <a:schemeClr val="accent1"/>
              </a:buClr>
              <a:buSzPct val="76000"/>
            </a:pPr>
            <a:r>
              <a:rPr lang="bg-BG" dirty="0"/>
              <a:t>Когато обновяваме квадратчетата вече увеличаваме </a:t>
            </a:r>
            <a:r>
              <a:rPr lang="en-US" dirty="0" err="1"/>
              <a:t>accel</a:t>
            </a:r>
            <a:r>
              <a:rPr lang="en-US" dirty="0"/>
              <a:t>[j] </a:t>
            </a:r>
            <a:r>
              <a:rPr lang="bg-BG" dirty="0"/>
              <a:t>със </a:t>
            </a:r>
            <a:r>
              <a:rPr lang="en-US" dirty="0"/>
              <a:t>speed, </a:t>
            </a:r>
            <a:r>
              <a:rPr lang="bg-BG" dirty="0"/>
              <a:t>а не с постоянна величина</a:t>
            </a:r>
          </a:p>
          <a:p>
            <a:pPr marL="411480" lvl="1" indent="-342900">
              <a:buClr>
                <a:schemeClr val="accent1"/>
              </a:buClr>
              <a:buSzPct val="76000"/>
            </a:pPr>
            <a:r>
              <a:rPr lang="bg-BG" dirty="0"/>
              <a:t>Добавяме си спрайт за „следата“ на мишката във формата на червено квадратче 5х5 и го показваме след клик на мишката(има го в кода на примера)</a:t>
            </a:r>
          </a:p>
          <a:p>
            <a:pPr marL="411480" lvl="1" indent="-342900">
              <a:buClr>
                <a:schemeClr val="accent1"/>
              </a:buClr>
              <a:buSzPct val="76000"/>
            </a:pPr>
            <a:r>
              <a:rPr lang="bg-BG" dirty="0"/>
              <a:t>Ако имаме </a:t>
            </a:r>
            <a:r>
              <a:rPr lang="en-US" dirty="0">
                <a:solidFill>
                  <a:srgbClr val="00B0F0"/>
                </a:solidFill>
              </a:rPr>
              <a:t>hit</a:t>
            </a:r>
            <a:r>
              <a:rPr lang="bg-BG" dirty="0"/>
              <a:t> правим екрана зелен за един кадър и увеличаваме </a:t>
            </a:r>
            <a:r>
              <a:rPr lang="en-US" dirty="0"/>
              <a:t>speed </a:t>
            </a:r>
            <a:r>
              <a:rPr lang="bg-BG" dirty="0"/>
              <a:t>с някаква съвсем малка стойност ( за сега избираме  </a:t>
            </a:r>
            <a:r>
              <a:rPr lang="en-US" dirty="0"/>
              <a:t>PI/2056</a:t>
            </a:r>
            <a:r>
              <a:rPr lang="bg-BG" dirty="0"/>
              <a:t>) – така играта ще забързва с всеки ударен  бял квадрат.</a:t>
            </a:r>
          </a:p>
          <a:p>
            <a:pPr marL="411480" lvl="1" indent="-342900">
              <a:buClr>
                <a:schemeClr val="accent1"/>
              </a:buClr>
              <a:buSzPct val="76000"/>
            </a:pPr>
            <a:endParaRPr lang="bg-BG" dirty="0">
              <a:solidFill>
                <a:schemeClr val="tx2"/>
              </a:solidFill>
            </a:endParaRPr>
          </a:p>
        </p:txBody>
      </p:sp>
      <p:sp>
        <p:nvSpPr>
          <p:cNvPr id="4" name="Snip Diagonal Corner Rectangle 3"/>
          <p:cNvSpPr/>
          <p:nvPr/>
        </p:nvSpPr>
        <p:spPr>
          <a:xfrm>
            <a:off x="142875" y="4648200"/>
            <a:ext cx="8839200" cy="20574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speed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Math.PI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bg-BG" dirty="0">
                <a:solidFill>
                  <a:schemeClr val="tx1"/>
                </a:solidFill>
              </a:rPr>
              <a:t>360</a:t>
            </a:r>
            <a:r>
              <a:rPr lang="en-US" dirty="0">
                <a:solidFill>
                  <a:schemeClr val="tx1"/>
                </a:solidFill>
              </a:rPr>
              <a:t>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accels</a:t>
            </a:r>
            <a:r>
              <a:rPr lang="en-US" dirty="0">
                <a:solidFill>
                  <a:schemeClr val="tx1"/>
                </a:solidFill>
              </a:rPr>
              <a:t>[j] += </a:t>
            </a:r>
            <a:r>
              <a:rPr lang="en-US" dirty="0">
                <a:solidFill>
                  <a:srgbClr val="00B0F0"/>
                </a:solidFill>
              </a:rPr>
              <a:t>speed</a:t>
            </a:r>
            <a:r>
              <a:rPr lang="en-US" dirty="0">
                <a:solidFill>
                  <a:schemeClr val="tx1"/>
                </a:solidFill>
              </a:rPr>
              <a:t> ;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  <a:endParaRPr lang="bg-BG" dirty="0">
              <a:solidFill>
                <a:schemeClr val="tx2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2"/>
                </a:solidFill>
              </a:rPr>
              <a:t>if(hit)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2"/>
                </a:solidFill>
              </a:rPr>
              <a:t>{</a:t>
            </a:r>
            <a:r>
              <a:rPr lang="en-US" dirty="0" err="1">
                <a:solidFill>
                  <a:srgbClr val="00B0F0"/>
                </a:solidFill>
              </a:rPr>
              <a:t>graphicsDevice.clear</a:t>
            </a:r>
            <a:r>
              <a:rPr lang="en-US" dirty="0">
                <a:solidFill>
                  <a:srgbClr val="00B0F0"/>
                </a:solidFill>
              </a:rPr>
              <a:t>([0.0, 1.0, 0.0, 1.0],1.0);hit=</a:t>
            </a:r>
            <a:r>
              <a:rPr lang="en-US" dirty="0" err="1">
                <a:solidFill>
                  <a:srgbClr val="00B0F0"/>
                </a:solidFill>
              </a:rPr>
              <a:t>false;speed</a:t>
            </a:r>
            <a:r>
              <a:rPr lang="en-US" dirty="0">
                <a:solidFill>
                  <a:srgbClr val="00B0F0"/>
                </a:solidFill>
              </a:rPr>
              <a:t>+=PI/2056</a:t>
            </a:r>
            <a:r>
              <a:rPr lang="en-US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12328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Резултат до тук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198" y="914400"/>
            <a:ext cx="7467602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136" y="952500"/>
            <a:ext cx="6651725" cy="5067300"/>
          </a:xfrm>
          <a:prstGeom prst="rect">
            <a:avLst/>
          </a:prstGeom>
        </p:spPr>
      </p:pic>
      <p:sp>
        <p:nvSpPr>
          <p:cNvPr id="6" name="Rectangle 5">
            <a:hlinkClick r:id="rId3" action="ppaction://hlinkfile"/>
          </p:cNvPr>
          <p:cNvSpPr/>
          <p:nvPr/>
        </p:nvSpPr>
        <p:spPr>
          <a:xfrm>
            <a:off x="2590800" y="6219825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7" name="Rectangle 6">
            <a:hlinkClick r:id="rId4" action="ppaction://hlinkfile"/>
          </p:cNvPr>
          <p:cNvSpPr/>
          <p:nvPr/>
        </p:nvSpPr>
        <p:spPr>
          <a:xfrm>
            <a:off x="5410200" y="6219825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403234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85800"/>
          </a:xfrm>
        </p:spPr>
        <p:txBody>
          <a:bodyPr/>
          <a:lstStyle/>
          <a:p>
            <a:r>
              <a:rPr lang="bg-BG" dirty="0"/>
              <a:t>Игра – втора част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914400"/>
            <a:ext cx="8610600" cy="5486400"/>
          </a:xfrm>
        </p:spPr>
        <p:txBody>
          <a:bodyPr>
            <a:normAutofit/>
          </a:bodyPr>
          <a:lstStyle/>
          <a:p>
            <a:pPr marL="411480" lvl="1" indent="-342900">
              <a:buClr>
                <a:schemeClr val="accent1"/>
              </a:buClr>
              <a:buSzPct val="76000"/>
            </a:pPr>
            <a:r>
              <a:rPr lang="bg-BG" sz="2800" b="1" dirty="0"/>
              <a:t>Да започнем да рисуваме черни квадратчета</a:t>
            </a:r>
            <a:br>
              <a:rPr lang="bg-BG" sz="2800" b="1" dirty="0"/>
            </a:br>
            <a:r>
              <a:rPr lang="bg-BG" dirty="0"/>
              <a:t>С голяма честота, така че на екрана в даден момент да има около 80% черни и 20% бели квадратчета</a:t>
            </a:r>
          </a:p>
          <a:p>
            <a:pPr marL="411480" lvl="1" indent="-342900">
              <a:buClr>
                <a:schemeClr val="accent1"/>
              </a:buClr>
              <a:buSzPct val="76000"/>
            </a:pPr>
            <a:endParaRPr lang="bg-BG" sz="2800" b="1" dirty="0"/>
          </a:p>
          <a:p>
            <a:pPr marL="411480" lvl="1" indent="-342900">
              <a:buClr>
                <a:schemeClr val="accent1"/>
              </a:buClr>
              <a:buSzPct val="76000"/>
            </a:pPr>
            <a:endParaRPr lang="bg-BG" sz="2800" b="1" dirty="0"/>
          </a:p>
          <a:p>
            <a:pPr marL="411480" lvl="1" indent="-342900">
              <a:buClr>
                <a:schemeClr val="accent1"/>
              </a:buClr>
              <a:buSzPct val="76000"/>
            </a:pPr>
            <a:r>
              <a:rPr lang="bg-BG" sz="2800" b="1" dirty="0"/>
              <a:t>Ако ги уцелим играта да приключва</a:t>
            </a:r>
            <a:br>
              <a:rPr lang="en-US" sz="2800" b="1" dirty="0"/>
            </a:br>
            <a:r>
              <a:rPr lang="bg-BG" dirty="0"/>
              <a:t>Когато това се случи – екрана да става червен, квадратчетата да замръзват на място и да се показва къде и кога биха се появили следващите квадратчета до запълване на екрана</a:t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8797514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85800"/>
          </a:xfrm>
        </p:spPr>
        <p:txBody>
          <a:bodyPr/>
          <a:lstStyle/>
          <a:p>
            <a:r>
              <a:rPr lang="bg-BG" dirty="0"/>
              <a:t>Черни квадратчета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914400"/>
            <a:ext cx="8610600" cy="54864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Изменяме </a:t>
            </a:r>
            <a:r>
              <a:rPr lang="en-US" sz="2800" b="1" dirty="0" err="1"/>
              <a:t>generateSprite</a:t>
            </a:r>
            <a:r>
              <a:rPr lang="bg-BG" sz="2800" b="1" dirty="0"/>
              <a:t>,</a:t>
            </a:r>
            <a:r>
              <a:rPr lang="en-US" sz="2800" b="1" dirty="0"/>
              <a:t> </a:t>
            </a:r>
            <a:r>
              <a:rPr lang="bg-BG" sz="2800" b="1" dirty="0"/>
              <a:t>така че да прави и черни квадратчета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sz="2800" b="1" dirty="0"/>
              <a:t>Слагаме шанс 30% квадратчето да е бяло – искаме в общия случай екрана да е пълен с черни квадратчета</a:t>
            </a:r>
            <a:endParaRPr lang="en-US" sz="2800" b="1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152400" y="3276600"/>
            <a:ext cx="8839200" cy="34290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function </a:t>
            </a:r>
            <a:r>
              <a:rPr lang="en-US" dirty="0" err="1">
                <a:solidFill>
                  <a:schemeClr val="tx1"/>
                </a:solidFill>
              </a:rPr>
              <a:t>generateSprite</a:t>
            </a:r>
            <a:r>
              <a:rPr lang="en-US" dirty="0">
                <a:solidFill>
                  <a:schemeClr val="tx1"/>
                </a:solidFill>
              </a:rPr>
              <a:t>(x1,y1)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type = []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if(</a:t>
            </a:r>
            <a:r>
              <a:rPr lang="en-US" dirty="0" err="1">
                <a:solidFill>
                  <a:srgbClr val="00B0F0"/>
                </a:solidFill>
              </a:rPr>
              <a:t>Math.random</a:t>
            </a:r>
            <a:r>
              <a:rPr lang="en-US" dirty="0">
                <a:solidFill>
                  <a:srgbClr val="00B0F0"/>
                </a:solidFill>
              </a:rPr>
              <a:t>() &lt;= 0.3) </a:t>
            </a:r>
            <a:r>
              <a:rPr lang="en-US" dirty="0">
                <a:solidFill>
                  <a:schemeClr val="tx1"/>
                </a:solidFill>
              </a:rPr>
              <a:t>type = [1.0, 1.0, 1.0, 1.0];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else type = [0.0, 0.0, 0.0, 1.0];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sprite1 = Draw2DSprite.create({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 width: 100,height: 100,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x: x1,y: y1,</a:t>
            </a:r>
            <a:endParaRPr lang="bg-BG" dirty="0">
              <a:solidFill>
                <a:schemeClr val="tx1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color: type,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rotation: 0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chemeClr val="tx1"/>
                </a:solidFill>
              </a:rPr>
              <a:t>accels.push</a:t>
            </a:r>
            <a:r>
              <a:rPr lang="en-US" dirty="0">
                <a:solidFill>
                  <a:schemeClr val="tx1"/>
                </a:solidFill>
              </a:rPr>
              <a:t>(0.1);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return sprite1;}</a:t>
            </a:r>
          </a:p>
        </p:txBody>
      </p:sp>
    </p:spTree>
    <p:extLst>
      <p:ext uri="{BB962C8B-B14F-4D97-AF65-F5344CB8AC3E}">
        <p14:creationId xmlns:p14="http://schemas.microsoft.com/office/powerpoint/2010/main" val="38217361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911" y="228600"/>
            <a:ext cx="8966089" cy="685800"/>
          </a:xfrm>
        </p:spPr>
        <p:txBody>
          <a:bodyPr/>
          <a:lstStyle/>
          <a:p>
            <a:r>
              <a:rPr lang="bg-BG" dirty="0"/>
              <a:t>Край на играта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04800" y="914400"/>
            <a:ext cx="8610600" cy="5486400"/>
          </a:xfrm>
        </p:spPr>
        <p:txBody>
          <a:bodyPr>
            <a:normAutofit/>
          </a:bodyPr>
          <a:lstStyle/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В променливата</a:t>
            </a:r>
            <a:r>
              <a:rPr lang="bg-BG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gameover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bg-BG" dirty="0"/>
              <a:t>пазим дали играта е свършила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Слагаме „спирачки“ </a:t>
            </a:r>
            <a:r>
              <a:rPr lang="en-US" dirty="0">
                <a:solidFill>
                  <a:srgbClr val="00B0F0"/>
                </a:solidFill>
              </a:rPr>
              <a:t>if(!</a:t>
            </a:r>
            <a:r>
              <a:rPr lang="en-US" dirty="0" err="1">
                <a:solidFill>
                  <a:srgbClr val="00B0F0"/>
                </a:solidFill>
              </a:rPr>
              <a:t>gameover</a:t>
            </a:r>
            <a:r>
              <a:rPr lang="en-US" dirty="0">
                <a:solidFill>
                  <a:srgbClr val="00B0F0"/>
                </a:solidFill>
              </a:rPr>
              <a:t>)</a:t>
            </a:r>
            <a:r>
              <a:rPr lang="bg-BG" dirty="0">
                <a:solidFill>
                  <a:srgbClr val="00B0F0"/>
                </a:solidFill>
              </a:rPr>
              <a:t> </a:t>
            </a:r>
            <a:r>
              <a:rPr lang="bg-BG" dirty="0"/>
              <a:t>пред </a:t>
            </a:r>
            <a:br>
              <a:rPr lang="bg-BG" dirty="0"/>
            </a:br>
            <a:r>
              <a:rPr lang="bg-BG" dirty="0"/>
              <a:t>1. Ъпдейта на мишката(има го в решението)</a:t>
            </a:r>
            <a:br>
              <a:rPr lang="bg-BG" dirty="0"/>
            </a:br>
            <a:r>
              <a:rPr lang="bg-BG" dirty="0"/>
              <a:t>2. Ъпдейта на квадратчетата(има го в решението)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НЕ спираме добавянето на квадратчета, за да се види къде биха излезли новите ако играта не беше свършила</a:t>
            </a:r>
          </a:p>
          <a:p>
            <a:pPr marL="525780" lvl="1" indent="-457200">
              <a:buClr>
                <a:schemeClr val="accent1"/>
              </a:buClr>
              <a:buSzPct val="76000"/>
            </a:pPr>
            <a:r>
              <a:rPr lang="bg-BG" dirty="0"/>
              <a:t>На мястото, където преди отбелязвахме </a:t>
            </a:r>
            <a:r>
              <a:rPr lang="en-US" dirty="0">
                <a:solidFill>
                  <a:srgbClr val="00B0F0"/>
                </a:solidFill>
              </a:rPr>
              <a:t>hit</a:t>
            </a:r>
            <a:r>
              <a:rPr lang="bg-BG" dirty="0"/>
              <a:t>,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bg-BG" dirty="0"/>
              <a:t>сега първо проверяваме дали червената компонента на цвета е 1.0 или 0.0(може и някоя от другите), и ако е 1 вдигаме флага </a:t>
            </a:r>
            <a:r>
              <a:rPr lang="en-US" dirty="0" err="1">
                <a:solidFill>
                  <a:srgbClr val="00B0F0"/>
                </a:solidFill>
              </a:rPr>
              <a:t>gameover</a:t>
            </a:r>
            <a:r>
              <a:rPr lang="en-US" dirty="0"/>
              <a:t> </a:t>
            </a:r>
            <a:r>
              <a:rPr lang="bg-BG" dirty="0"/>
              <a:t>и преместваме координатите на мишката</a:t>
            </a:r>
            <a:r>
              <a:rPr lang="en-US" dirty="0"/>
              <a:t> </a:t>
            </a:r>
            <a:r>
              <a:rPr lang="bg-BG" dirty="0"/>
              <a:t>в (0,0</a:t>
            </a:r>
            <a:r>
              <a:rPr lang="en-US" dirty="0"/>
              <a:t>)</a:t>
            </a:r>
            <a:br>
              <a:rPr lang="bg-BG" dirty="0"/>
            </a:br>
            <a:br>
              <a:rPr lang="bg-BG" dirty="0"/>
            </a:br>
            <a:endParaRPr lang="bg-BG" dirty="0"/>
          </a:p>
        </p:txBody>
      </p:sp>
      <p:sp>
        <p:nvSpPr>
          <p:cNvPr id="4" name="Snip Diagonal Corner Rectangle 3"/>
          <p:cNvSpPr/>
          <p:nvPr/>
        </p:nvSpPr>
        <p:spPr>
          <a:xfrm>
            <a:off x="152400" y="4343400"/>
            <a:ext cx="8839200" cy="2362200"/>
          </a:xfrm>
          <a:prstGeom prst="snip2DiagRect">
            <a:avLst>
              <a:gd name="adj1" fmla="val 0"/>
              <a:gd name="adj2" fmla="val 10049"/>
            </a:avLst>
          </a:prstGeom>
          <a:solidFill>
            <a:schemeClr val="bg2">
              <a:lumMod val="20000"/>
              <a:lumOff val="80000"/>
            </a:schemeClr>
          </a:solidFill>
          <a:effectLst>
            <a:outerShdw blurRad="127000" dir="2700000" algn="tl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 err="1">
                <a:solidFill>
                  <a:srgbClr val="00B0F0"/>
                </a:solidFill>
              </a:rPr>
              <a:t>var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gameover</a:t>
            </a:r>
            <a:r>
              <a:rPr lang="en-US" dirty="0">
                <a:solidFill>
                  <a:srgbClr val="00B0F0"/>
                </a:solidFill>
              </a:rPr>
              <a:t>=false;</a:t>
            </a:r>
            <a:endParaRPr lang="bg-BG" dirty="0">
              <a:solidFill>
                <a:srgbClr val="00B0F0"/>
              </a:solidFill>
            </a:endParaRP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bg-BG" dirty="0">
                <a:solidFill>
                  <a:schemeClr val="tx1"/>
                </a:solidFill>
              </a:rPr>
              <a:t>...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{</a:t>
            </a:r>
            <a:r>
              <a:rPr lang="en-US" dirty="0" err="1">
                <a:solidFill>
                  <a:schemeClr val="tx1"/>
                </a:solidFill>
              </a:rPr>
              <a:t>var</a:t>
            </a:r>
            <a:r>
              <a:rPr lang="en-US" dirty="0">
                <a:solidFill>
                  <a:schemeClr val="tx1"/>
                </a:solidFill>
              </a:rPr>
              <a:t> color1 = squares[j].</a:t>
            </a:r>
            <a:r>
              <a:rPr lang="en-US" dirty="0" err="1">
                <a:solidFill>
                  <a:schemeClr val="tx1"/>
                </a:solidFill>
              </a:rPr>
              <a:t>getColor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rgbClr val="00B0F0"/>
                </a:solidFill>
              </a:rPr>
              <a:t>if(color1[0]==0.0){</a:t>
            </a:r>
            <a:r>
              <a:rPr lang="en-US" dirty="0" err="1">
                <a:solidFill>
                  <a:srgbClr val="00B0F0"/>
                </a:solidFill>
              </a:rPr>
              <a:t>gameover</a:t>
            </a:r>
            <a:r>
              <a:rPr lang="en-US" dirty="0">
                <a:solidFill>
                  <a:srgbClr val="00B0F0"/>
                </a:solidFill>
              </a:rPr>
              <a:t>=</a:t>
            </a:r>
            <a:r>
              <a:rPr lang="en-US" dirty="0" err="1">
                <a:solidFill>
                  <a:srgbClr val="00B0F0"/>
                </a:solidFill>
              </a:rPr>
              <a:t>true;eventPositionX</a:t>
            </a:r>
            <a:r>
              <a:rPr lang="en-US" dirty="0">
                <a:solidFill>
                  <a:srgbClr val="00B0F0"/>
                </a:solidFill>
              </a:rPr>
              <a:t>=0;eventPositionY =0;}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else {hit=</a:t>
            </a:r>
            <a:r>
              <a:rPr lang="en-US" dirty="0" err="1">
                <a:solidFill>
                  <a:schemeClr val="tx1"/>
                </a:solidFill>
              </a:rPr>
              <a:t>true;squares.splice</a:t>
            </a:r>
            <a:r>
              <a:rPr lang="en-US" dirty="0">
                <a:solidFill>
                  <a:schemeClr val="tx1"/>
                </a:solidFill>
              </a:rPr>
              <a:t>( j , 1 );</a:t>
            </a:r>
            <a:r>
              <a:rPr lang="en-US" dirty="0" err="1">
                <a:solidFill>
                  <a:schemeClr val="tx1"/>
                </a:solidFill>
              </a:rPr>
              <a:t>accels.splice</a:t>
            </a:r>
            <a:r>
              <a:rPr lang="en-US" dirty="0">
                <a:solidFill>
                  <a:schemeClr val="tx1"/>
                </a:solidFill>
              </a:rPr>
              <a:t>(j,1);}</a:t>
            </a:r>
          </a:p>
          <a:p>
            <a:pPr marL="685800" lvl="1">
              <a:tabLst>
                <a:tab pos="577850" algn="l"/>
                <a:tab pos="914400" algn="l"/>
              </a:tabLst>
            </a:pPr>
            <a:r>
              <a:rPr lang="en-US" dirty="0">
                <a:solidFill>
                  <a:schemeClr val="tx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22329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Финален резултат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198" y="914400"/>
            <a:ext cx="7467602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491" y="866775"/>
            <a:ext cx="6363015" cy="4805963"/>
          </a:xfrm>
          <a:prstGeom prst="rect">
            <a:avLst/>
          </a:prstGeom>
        </p:spPr>
      </p:pic>
      <p:sp>
        <p:nvSpPr>
          <p:cNvPr id="6" name="Rectangle 5">
            <a:hlinkClick r:id="rId3" action="ppaction://hlinkfile"/>
          </p:cNvPr>
          <p:cNvSpPr/>
          <p:nvPr/>
        </p:nvSpPr>
        <p:spPr>
          <a:xfrm>
            <a:off x="2743200" y="59436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Тест</a:t>
            </a:r>
            <a:endParaRPr lang="en-US" sz="1600" dirty="0"/>
          </a:p>
        </p:txBody>
      </p:sp>
      <p:sp>
        <p:nvSpPr>
          <p:cNvPr id="7" name="Rectangle 6">
            <a:hlinkClick r:id="rId4" action="ppaction://hlinkfile"/>
          </p:cNvPr>
          <p:cNvSpPr/>
          <p:nvPr/>
        </p:nvSpPr>
        <p:spPr>
          <a:xfrm>
            <a:off x="5562600" y="5943600"/>
            <a:ext cx="1219199" cy="30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bg-BG" sz="1600" dirty="0"/>
              <a:t>Файлове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785747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Turbulenz</a:t>
            </a:r>
            <a:r>
              <a:rPr lang="en-US" dirty="0"/>
              <a:t> Engine</a:t>
            </a:r>
            <a:endParaRPr lang="bg-B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241933"/>
              </p:ext>
            </p:extLst>
          </p:nvPr>
        </p:nvGraphicFramePr>
        <p:xfrm>
          <a:off x="609600" y="1971040"/>
          <a:ext cx="8077200" cy="375412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Graphics</a:t>
                      </a:r>
                      <a:r>
                        <a:rPr lang="en-US" sz="1800" b="1" kern="1200" baseline="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 Device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Обектът, който се занимава със създаването и показването на обекти по екрана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TurbulenzEngine.onload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Първата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функция, която кода извиква при отваряне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draw2D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Обект за рисуване на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2D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фигури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draw2D</a:t>
                      </a:r>
                      <a:r>
                        <a:rPr lang="en-US" b="1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sprite.create()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Функция за създаване на спрайт обекти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draw2D.drawSprite()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Функция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за рисуване на спрайт на екрана</a:t>
                      </a:r>
                      <a:endParaRPr lang="bg-BG" sz="1600" b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Request</a:t>
                      </a:r>
                      <a:r>
                        <a:rPr lang="en-US" b="1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Handler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b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Обект за </a:t>
                      </a:r>
                      <a:r>
                        <a:rPr lang="en-US" sz="1600" b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HTTP</a:t>
                      </a:r>
                      <a:r>
                        <a:rPr lang="en-US" sz="1600" b="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b="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заявки към сървъра</a:t>
                      </a:r>
                      <a:endParaRPr lang="bg-BG" sz="1600" b="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9674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Речник на новите неща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Device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bg-BG" dirty="0"/>
              <a:t>Стари неща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246271"/>
              </p:ext>
            </p:extLst>
          </p:nvPr>
        </p:nvGraphicFramePr>
        <p:xfrm>
          <a:off x="609600" y="1971040"/>
          <a:ext cx="8077200" cy="210820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InputDevice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Обект, занимаващ се с обработка на входните данни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inputDevice.mouseCodes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Списък с кодове,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отговарящи на бутоните на мишката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Mousecodes.BUTTON_0</a:t>
                      </a:r>
                      <a:endParaRPr lang="bg-BG" sz="1800" b="1" kern="1200" dirty="0">
                        <a:solidFill>
                          <a:schemeClr val="tx1"/>
                        </a:solidFill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Ляв бутон на мишката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addEventListener</a:t>
                      </a: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()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Функция, създаваща „слушащо“ устройство за определено събитие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082144"/>
              </p:ext>
            </p:extLst>
          </p:nvPr>
        </p:nvGraphicFramePr>
        <p:xfrm>
          <a:off x="685800" y="5029200"/>
          <a:ext cx="8077200" cy="1158240"/>
        </p:xfrm>
        <a:graphic>
          <a:graphicData uri="http://schemas.openxmlformats.org/drawingml/2006/table">
            <a:tbl>
              <a:tblPr bandCol="1">
                <a:tableStyleId>{BC89EF96-8CEA-46FF-86C4-4CE0E7609802}</a:tableStyleId>
              </a:tblPr>
              <a:tblGrid>
                <a:gridCol w="403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.splice(</a:t>
                      </a:r>
                      <a:r>
                        <a:rPr lang="en-US" b="1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x,y</a:t>
                      </a: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)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JavaScript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функция, премахваща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y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 елемента от </a:t>
                      </a:r>
                      <a:r>
                        <a:rPr lang="en-US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x-</a:t>
                      </a:r>
                      <a:r>
                        <a:rPr lang="bg-BG" sz="1600" baseline="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тото място в масив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Math.random</a:t>
                      </a:r>
                      <a:r>
                        <a:rPr lang="en-US" b="1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()</a:t>
                      </a:r>
                      <a:endParaRPr lang="bg-BG" b="1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Функция, връщаща произволно число в интервала </a:t>
                      </a:r>
                      <a:r>
                        <a:rPr lang="en-US" sz="1600" dirty="0">
                          <a:effectLst>
                            <a:outerShdw blurRad="63500" algn="ctr" rotWithShape="0">
                              <a:prstClr val="black">
                                <a:alpha val="40000"/>
                              </a:prstClr>
                            </a:outerShdw>
                          </a:effectLst>
                        </a:rPr>
                        <a:t>[0,1)</a:t>
                      </a:r>
                      <a:endParaRPr lang="bg-BG" sz="1600" dirty="0">
                        <a:effectLst>
                          <a:outerShdw blurRad="63500" algn="ctr" rotWithShape="0">
                            <a:prstClr val="black">
                              <a:alpha val="40000"/>
                            </a:prst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455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Въпроси и коментари</a:t>
            </a:r>
          </a:p>
        </p:txBody>
      </p:sp>
    </p:spTree>
    <p:extLst>
      <p:ext uri="{BB962C8B-B14F-4D97-AF65-F5344CB8AC3E}">
        <p14:creationId xmlns:p14="http://schemas.microsoft.com/office/powerpoint/2010/main" val="16385441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Край</a:t>
            </a:r>
          </a:p>
        </p:txBody>
      </p:sp>
    </p:spTree>
    <p:extLst>
      <p:ext uri="{BB962C8B-B14F-4D97-AF65-F5344CB8AC3E}">
        <p14:creationId xmlns:p14="http://schemas.microsoft.com/office/powerpoint/2010/main" val="3766662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Custom 15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38342D"/>
      </a:hlink>
      <a:folHlink>
        <a:srgbClr val="38342D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5">
    <a:dk1>
      <a:sysClr val="windowText" lastClr="000000"/>
    </a:dk1>
    <a:lt1>
      <a:sysClr val="window" lastClr="FFFFFF"/>
    </a:lt1>
    <a:dk2>
      <a:srgbClr val="3E3D2D"/>
    </a:dk2>
    <a:lt2>
      <a:srgbClr val="CAF278"/>
    </a:lt2>
    <a:accent1>
      <a:srgbClr val="94C600"/>
    </a:accent1>
    <a:accent2>
      <a:srgbClr val="71685A"/>
    </a:accent2>
    <a:accent3>
      <a:srgbClr val="FF6700"/>
    </a:accent3>
    <a:accent4>
      <a:srgbClr val="909465"/>
    </a:accent4>
    <a:accent5>
      <a:srgbClr val="956B43"/>
    </a:accent5>
    <a:accent6>
      <a:srgbClr val="FEA022"/>
    </a:accent6>
    <a:hlink>
      <a:srgbClr val="38342D"/>
    </a:hlink>
    <a:folHlink>
      <a:srgbClr val="38342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6963</TotalTime>
  <Words>5485</Words>
  <Application>Microsoft Office PowerPoint</Application>
  <PresentationFormat>On-screen Show (4:3)</PresentationFormat>
  <Paragraphs>569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2" baseType="lpstr">
      <vt:lpstr>Adobe Myungjo Std M</vt:lpstr>
      <vt:lpstr>Arial</vt:lpstr>
      <vt:lpstr>Arial Black</vt:lpstr>
      <vt:lpstr>Calibri</vt:lpstr>
      <vt:lpstr>Century Gothic</vt:lpstr>
      <vt:lpstr>Times New Roman</vt:lpstr>
      <vt:lpstr>Wingdings 2</vt:lpstr>
      <vt:lpstr>Austin</vt:lpstr>
      <vt:lpstr>Turbulenz</vt:lpstr>
      <vt:lpstr>В тази лекция</vt:lpstr>
      <vt:lpstr>PowerPoint Presentation</vt:lpstr>
      <vt:lpstr>Turbulenz </vt:lpstr>
      <vt:lpstr>Игри, създадени с Turbulenz</vt:lpstr>
      <vt:lpstr>Игри, създадени с Turbulenz</vt:lpstr>
      <vt:lpstr>Игри, създадени с Turbulenz</vt:lpstr>
      <vt:lpstr>Съдържание на SDK</vt:lpstr>
      <vt:lpstr>Съдържание на SDK</vt:lpstr>
      <vt:lpstr>Положителни качества</vt:lpstr>
      <vt:lpstr>Положителни качества</vt:lpstr>
      <vt:lpstr>Неутрални качества</vt:lpstr>
      <vt:lpstr>PowerPoint Presentation</vt:lpstr>
      <vt:lpstr>Първа програма</vt:lpstr>
      <vt:lpstr>Задължително добавяме turbulenzengine.js във всяка програма, както и всяка друга библиотека, която ще използваме. Всички библиотеки се съдържат в  папката jslib в инсталационната директория на Turbulenz.</vt:lpstr>
      <vt:lpstr>Създаваме Canvas. Тъй като Turbulenz Engine работи по подобен начин на WebGL, ще работим само в него. </vt:lpstr>
      <vt:lpstr>Създаваме инстанция на TurbulenzEngine. С нея можем да създаваме повечето други основни обекти – в случая GraphicsDevice. </vt:lpstr>
      <vt:lpstr>Във функцията update() е цикъла на играта(game loop). С функциите beginFrame()/endFrame() проверяваме дали сме в началото или в края на кадъра, а с clear() рисуваме предварително създадения цвят bgColor на екрана. </vt:lpstr>
      <vt:lpstr>Чрез setInterval() викаме функцията update на всеки 1000/60 милисекунди – иначе казано 1/60 от секундата или 60 frames per second.</vt:lpstr>
      <vt:lpstr>Резултат</vt:lpstr>
      <vt:lpstr>PowerPoint Presentation</vt:lpstr>
      <vt:lpstr>Използване на сървъра</vt:lpstr>
      <vt:lpstr>Използване на сървъра</vt:lpstr>
      <vt:lpstr>Използване на сървъра</vt:lpstr>
      <vt:lpstr>Резултат до тук</vt:lpstr>
      <vt:lpstr>Резултат до тук</vt:lpstr>
      <vt:lpstr>Пет куба</vt:lpstr>
      <vt:lpstr>Външен шейдър</vt:lpstr>
      <vt:lpstr>За да заредим шейдъра ще ни трябва библиотеката requesthandler.js , която се занимава с HTTP заявки към сървъра. Построяваме инстанция и подаваме заявка чрез requestHandler.request, чиито синтаксис е показан по-долу. Със shader.getTechnique('vertexColor3D') избираме техниката на рисуване – фигурите да се оцветяват според цветовете на върховете си </vt:lpstr>
      <vt:lpstr>Създаваме си инстанция на математическо устройство чрез createMathDevice – с него се строят и умножават вектори и матрици  За рисуването - пълним масива vertData със върховете на триъгълниците, образуващи куб – използваме функцията addVerts, описана в примера.   В semantics указваме в какъв формат са върховете, а именно – позиция на върха и после цвят на върха </vt:lpstr>
      <vt:lpstr>За да използваме камера я добавяме като библиотека, създаваме я и чрез трите аргумента на camera.lookAt задаваме  съответно посоката в която гледа, посоката нагоре за камерата и положението на камерата  За да създадем „под“ в равнината XY добавяме библиотеката floor.js, създаваме инстанция с Floor.create(gd, md) и му задаваме да се рисува в цикъла на програмата с floor.render(gd, camera), използвайки текущата камера. </vt:lpstr>
      <vt:lpstr>  Запомняме проекционната матрица на камерата в techniqueParameters.worldViewProjection и после я задаваме на шейдъра чрез gd.setTechniqueParameters Задаваме техниката чрез gd.setTechnique Задаваме потока с върхове и семантиката им чрез gd.setStream Указваме на графичното устройство да започне да рисува триъгълници чрез gd.draw    </vt:lpstr>
      <vt:lpstr>Резултат</vt:lpstr>
      <vt:lpstr>Задача</vt:lpstr>
      <vt:lpstr>За целта</vt:lpstr>
      <vt:lpstr>За целта</vt:lpstr>
      <vt:lpstr>Въртене и показване на екрана</vt:lpstr>
      <vt:lpstr>Въртене и показване на екрана</vt:lpstr>
      <vt:lpstr>Резултат до тук</vt:lpstr>
      <vt:lpstr>Задача Hypnotic Squares</vt:lpstr>
      <vt:lpstr>Задача Hypnotic Squares</vt:lpstr>
      <vt:lpstr>Да ги рисуваме едновременно</vt:lpstr>
      <vt:lpstr>Да ги ъпдейтваме едновременно</vt:lpstr>
      <vt:lpstr>Да не излизат от екрана</vt:lpstr>
      <vt:lpstr>Да не се настъпват</vt:lpstr>
      <vt:lpstr>Резултат до тук</vt:lpstr>
      <vt:lpstr>PowerPoint Presentation</vt:lpstr>
      <vt:lpstr>Hypno Squares - игра</vt:lpstr>
      <vt:lpstr>Hypno Squares - игра</vt:lpstr>
      <vt:lpstr>Игра – първа част</vt:lpstr>
      <vt:lpstr>Игра – първа част</vt:lpstr>
      <vt:lpstr>Как да разберем дали има попадение на квадратче?</vt:lpstr>
      <vt:lpstr>Внимание, геометрия</vt:lpstr>
      <vt:lpstr>Попадение на квадратче</vt:lpstr>
      <vt:lpstr>Да забързваме скоростта</vt:lpstr>
      <vt:lpstr>Резултат до тук</vt:lpstr>
      <vt:lpstr>Игра – втора част</vt:lpstr>
      <vt:lpstr>Черни квадратчета</vt:lpstr>
      <vt:lpstr>Край на играта</vt:lpstr>
      <vt:lpstr>Финален резултат</vt:lpstr>
      <vt:lpstr>Речник на новите неща</vt:lpstr>
      <vt:lpstr>Речник на новите неща</vt:lpstr>
      <vt:lpstr>PowerPoint Presentation</vt:lpstr>
      <vt:lpstr>PowerPoint Presentation</vt:lpstr>
    </vt:vector>
  </TitlesOfParts>
  <Company>FMI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WebGL-28 Turbulenz SDK</dc:title>
  <dc:creator>Pavel Boytchev;Vladimir Bonchev</dc:creator>
  <cp:lastModifiedBy>Pavel Boytchev</cp:lastModifiedBy>
  <cp:revision>399</cp:revision>
  <dcterms:created xsi:type="dcterms:W3CDTF">2013-12-13T09:03:57Z</dcterms:created>
  <dcterms:modified xsi:type="dcterms:W3CDTF">2021-11-07T17:47:41Z</dcterms:modified>
</cp:coreProperties>
</file>