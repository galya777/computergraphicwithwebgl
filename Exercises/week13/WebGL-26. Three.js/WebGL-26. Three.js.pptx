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57"/>
  </p:notesMasterIdLst>
  <p:sldIdLst>
    <p:sldId id="256" r:id="rId2"/>
    <p:sldId id="297" r:id="rId3"/>
    <p:sldId id="681" r:id="rId4"/>
    <p:sldId id="730" r:id="rId5"/>
    <p:sldId id="879" r:id="rId6"/>
    <p:sldId id="880" r:id="rId7"/>
    <p:sldId id="838" r:id="rId8"/>
    <p:sldId id="786" r:id="rId9"/>
    <p:sldId id="787" r:id="rId10"/>
    <p:sldId id="788" r:id="rId11"/>
    <p:sldId id="734" r:id="rId12"/>
    <p:sldId id="839" r:id="rId13"/>
    <p:sldId id="789" r:id="rId14"/>
    <p:sldId id="790" r:id="rId15"/>
    <p:sldId id="852" r:id="rId16"/>
    <p:sldId id="851" r:id="rId17"/>
    <p:sldId id="791" r:id="rId18"/>
    <p:sldId id="739" r:id="rId19"/>
    <p:sldId id="881" r:id="rId20"/>
    <p:sldId id="792" r:id="rId21"/>
    <p:sldId id="840" r:id="rId22"/>
    <p:sldId id="794" r:id="rId23"/>
    <p:sldId id="793" r:id="rId24"/>
    <p:sldId id="841" r:id="rId25"/>
    <p:sldId id="853" r:id="rId26"/>
    <p:sldId id="854" r:id="rId27"/>
    <p:sldId id="798" r:id="rId28"/>
    <p:sldId id="855" r:id="rId29"/>
    <p:sldId id="856" r:id="rId30"/>
    <p:sldId id="858" r:id="rId31"/>
    <p:sldId id="859" r:id="rId32"/>
    <p:sldId id="860" r:id="rId33"/>
    <p:sldId id="861" r:id="rId34"/>
    <p:sldId id="862" r:id="rId35"/>
    <p:sldId id="882" r:id="rId36"/>
    <p:sldId id="863" r:id="rId37"/>
    <p:sldId id="864" r:id="rId38"/>
    <p:sldId id="865" r:id="rId39"/>
    <p:sldId id="867" r:id="rId40"/>
    <p:sldId id="866" r:id="rId41"/>
    <p:sldId id="869" r:id="rId42"/>
    <p:sldId id="883" r:id="rId43"/>
    <p:sldId id="870" r:id="rId44"/>
    <p:sldId id="873" r:id="rId45"/>
    <p:sldId id="871" r:id="rId46"/>
    <p:sldId id="884" r:id="rId47"/>
    <p:sldId id="885" r:id="rId48"/>
    <p:sldId id="887" r:id="rId49"/>
    <p:sldId id="289" r:id="rId50"/>
    <p:sldId id="888" r:id="rId51"/>
    <p:sldId id="889" r:id="rId52"/>
    <p:sldId id="890" r:id="rId53"/>
    <p:sldId id="875" r:id="rId54"/>
    <p:sldId id="874" r:id="rId55"/>
    <p:sldId id="290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94C600"/>
    <a:srgbClr val="C7DC84"/>
    <a:srgbClr val="FFFFFF"/>
    <a:srgbClr val="0070C0"/>
    <a:srgbClr val="FFB7B7"/>
    <a:srgbClr val="76C749"/>
    <a:srgbClr val="6F9500"/>
    <a:srgbClr val="C0C0C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63" autoAdjust="0"/>
    <p:restoredTop sz="99825" autoAdjust="0"/>
  </p:normalViewPr>
  <p:slideViewPr>
    <p:cSldViewPr>
      <p:cViewPr varScale="1">
        <p:scale>
          <a:sx n="84" d="100"/>
          <a:sy n="84" d="100"/>
        </p:scale>
        <p:origin x="1296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98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41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3.11.2021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b="1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  <a:lvl2pPr>
              <a:buClr>
                <a:schemeClr val="accent1">
                  <a:lumMod val="75000"/>
                </a:schemeClr>
              </a:buClr>
              <a:defRPr lang="en-US" sz="20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 marL="685800" indent="0">
              <a:buNone/>
              <a:defRPr lang="en-US" sz="1800" kern="1200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lumMod val="50000"/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>
              <a:defRPr lang="en-US" sz="1600" dirty="0" smtClean="0"/>
            </a:lvl4pPr>
            <a:lvl5pPr>
              <a:defRPr lang="bg-BG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>
              <a:buClrTx/>
            </a:pPr>
            <a:r>
              <a:rPr lang="en-US" dirty="0"/>
              <a:t>Second level</a:t>
            </a:r>
          </a:p>
          <a:p>
            <a:pPr marL="971550" lvl="2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bg2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 marL="971550" indent="-285750"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lumMod val="50000"/>
                      <a:alpha val="40000"/>
                    </a:schemeClr>
                  </a:outerShdw>
                </a:effectLst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rgbClr val="006600"/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rgbClr val="0066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2156307" y="4478669"/>
            <a:ext cx="6265527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В.</a:t>
            </a:r>
            <a:r>
              <a:rPr lang="bg-BG" sz="2000" baseline="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 Терзиева</a:t>
            </a:r>
            <a:r>
              <a:rPr lang="bg-BG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 ● </a:t>
            </a:r>
            <a:r>
              <a:rPr lang="bg-BG" sz="2000" baseline="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П. Бойчев</a:t>
            </a:r>
            <a:r>
              <a:rPr lang="bg-BG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 ● </a:t>
            </a:r>
            <a:r>
              <a:rPr lang="bg-BG" sz="2000" dirty="0" err="1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ФМИ</a:t>
            </a:r>
            <a:r>
              <a:rPr lang="bg-BG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 ● СУ ●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201</a:t>
            </a:r>
            <a:r>
              <a:rPr lang="bg-BG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5-2021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407332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rgbClr val="003300">
                <a:alpha val="40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rgbClr val="339933"/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rgbClr val="006600"/>
          </a:solidFill>
          <a:effectLst>
            <a:outerShdw blurRad="63500" algn="ctr" rotWithShape="0">
              <a:srgbClr val="339933">
                <a:alpha val="40000"/>
              </a:srgb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rdoob/three.js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threejs.org/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Example%201%20-%20First%20app/Example%202601.html" TargetMode="External"/><Relationship Id="rId2" Type="http://schemas.openxmlformats.org/officeDocument/2006/relationships/hyperlink" Target="Example%201%20-%20First%20app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Example%202%20-%20Cubes" TargetMode="External"/><Relationship Id="rId2" Type="http://schemas.openxmlformats.org/officeDocument/2006/relationships/hyperlink" Target="Example%202%20-%20Cubes/Example%202602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Example%203%20-%20Objects" TargetMode="External"/><Relationship Id="rId2" Type="http://schemas.openxmlformats.org/officeDocument/2006/relationships/hyperlink" Target="Example%203%20-%20Objects/Example%202603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Example%204%20-%20Objects%20with%20PointLight" TargetMode="External"/><Relationship Id="rId2" Type="http://schemas.openxmlformats.org/officeDocument/2006/relationships/hyperlink" Target="Example%204%20-%20Objects%20with%20PointLight/Example%202604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Example%205%20-%20Moving%20sphere" TargetMode="External"/><Relationship Id="rId2" Type="http://schemas.openxmlformats.org/officeDocument/2006/relationships/hyperlink" Target="Example%205%20-%20Moving%20sphere/Example%202605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Example%206%20-%20Triangle" TargetMode="External"/><Relationship Id="rId2" Type="http://schemas.openxmlformats.org/officeDocument/2006/relationships/hyperlink" Target="Example%206%20-%20Triangle/Example%202606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Example%207%20-%20Changing%20vertices" TargetMode="External"/><Relationship Id="rId2" Type="http://schemas.openxmlformats.org/officeDocument/2006/relationships/hyperlink" Target="Example%207%20-%20Changing%20vertices/Example%202607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Example%208%20-%20Interactivity" TargetMode="External"/><Relationship Id="rId2" Type="http://schemas.openxmlformats.org/officeDocument/2006/relationships/hyperlink" Target="Example%208%20-%20Interactivity/Example%202608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Example%209%20-%20More%20interactivity" TargetMode="External"/><Relationship Id="rId7" Type="http://schemas.openxmlformats.org/officeDocument/2006/relationships/image" Target="../media/image14.png"/><Relationship Id="rId2" Type="http://schemas.openxmlformats.org/officeDocument/2006/relationships/hyperlink" Target="Example%209%20-%20More%20interactivity/Example%202609.html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Example%2010%20-%20Texture" TargetMode="External"/><Relationship Id="rId2" Type="http://schemas.openxmlformats.org/officeDocument/2006/relationships/hyperlink" Target="http://localhost/Example%2010%20-%20Texture/Example%202610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itepoint.com/three-js-babylon-js-comparison-webgl-frameworks/" TargetMode="External"/><Relationship Id="rId2" Type="http://schemas.openxmlformats.org/officeDocument/2006/relationships/hyperlink" Target="http://threejs.org/docs/" TargetMode="Externa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noProof="0" dirty="0"/>
              <a:t>Библиотека </a:t>
            </a:r>
            <a:r>
              <a:rPr lang="bg-BG" noProof="0" dirty="0" err="1"/>
              <a:t>Three</a:t>
            </a:r>
            <a:r>
              <a:rPr lang="bg-BG" noProof="0" dirty="0"/>
              <a:t>.</a:t>
            </a:r>
            <a:r>
              <a:rPr lang="bg-BG" noProof="0" dirty="0" err="1"/>
              <a:t>js</a:t>
            </a:r>
            <a:br>
              <a:rPr lang="bg-BG" noProof="0" dirty="0"/>
            </a:br>
            <a:endParaRPr lang="bg-BG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Тема №26</a:t>
            </a:r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noProof="0" dirty="0"/>
              <a:t>В тази лекция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bg-BG" noProof="0" dirty="0"/>
              <a:t>Основни характеристики</a:t>
            </a:r>
          </a:p>
          <a:p>
            <a:pPr lvl="1"/>
            <a:r>
              <a:rPr lang="bg-BG" noProof="0" dirty="0"/>
              <a:t>Примерна употреба</a:t>
            </a:r>
          </a:p>
          <a:p>
            <a:pPr lvl="1"/>
            <a:r>
              <a:rPr lang="bg-BG" noProof="0" dirty="0"/>
              <a:t>Други примери</a:t>
            </a:r>
          </a:p>
          <a:p>
            <a:pPr lvl="1"/>
            <a:r>
              <a:rPr lang="bg-BG" dirty="0"/>
              <a:t>Интерактивност</a:t>
            </a:r>
          </a:p>
          <a:p>
            <a:pPr lvl="1"/>
            <a:r>
              <a:rPr lang="bg-BG" noProof="0" dirty="0"/>
              <a:t>Текстури</a:t>
            </a:r>
          </a:p>
        </p:txBody>
      </p:sp>
    </p:spTree>
    <p:extLst>
      <p:ext uri="{BB962C8B-B14F-4D97-AF65-F5344CB8AC3E}">
        <p14:creationId xmlns:p14="http://schemas.microsoft.com/office/powerpoint/2010/main" val="881146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Основни характеристики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1048955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noProof="0" dirty="0" err="1"/>
              <a:t>Three</a:t>
            </a:r>
            <a:r>
              <a:rPr lang="bg-BG" noProof="0" dirty="0"/>
              <a:t>.</a:t>
            </a:r>
            <a:r>
              <a:rPr lang="bg-BG" noProof="0" dirty="0" err="1"/>
              <a:t>js</a:t>
            </a:r>
            <a:endParaRPr lang="bg-BG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noProof="0" dirty="0"/>
              <a:t>Какво е Tree.</a:t>
            </a:r>
            <a:r>
              <a:rPr lang="bg-BG" noProof="0" dirty="0" err="1"/>
              <a:t>js</a:t>
            </a:r>
            <a:endParaRPr lang="bg-BG" noProof="0" dirty="0"/>
          </a:p>
          <a:p>
            <a:pPr lvl="1"/>
            <a:r>
              <a:rPr lang="bg-BG" noProof="0" dirty="0" err="1"/>
              <a:t>JavaScript</a:t>
            </a:r>
            <a:r>
              <a:rPr lang="bg-BG" noProof="0" dirty="0"/>
              <a:t> библиотека</a:t>
            </a:r>
          </a:p>
          <a:p>
            <a:pPr lvl="1"/>
            <a:r>
              <a:rPr lang="bg-BG" noProof="0" dirty="0"/>
              <a:t>Генериране на 3D изображения в браузър</a:t>
            </a:r>
          </a:p>
          <a:p>
            <a:endParaRPr lang="bg-BG" noProof="0" dirty="0"/>
          </a:p>
          <a:p>
            <a:r>
              <a:rPr lang="bg-BG" noProof="0" dirty="0"/>
              <a:t>История</a:t>
            </a:r>
          </a:p>
          <a:p>
            <a:pPr lvl="1"/>
            <a:r>
              <a:rPr lang="bg-BG" noProof="0" dirty="0"/>
              <a:t>Написана на </a:t>
            </a:r>
            <a:r>
              <a:rPr lang="bg-BG" noProof="0" dirty="0" err="1"/>
              <a:t>ActionScript</a:t>
            </a:r>
            <a:r>
              <a:rPr lang="bg-BG" noProof="0" dirty="0"/>
              <a:t> през 2009</a:t>
            </a:r>
          </a:p>
          <a:p>
            <a:pPr lvl="1"/>
            <a:r>
              <a:rPr lang="bg-BG" noProof="0" dirty="0"/>
              <a:t>По-късно е преведена на </a:t>
            </a:r>
            <a:r>
              <a:rPr lang="bg-BG" noProof="0" dirty="0" err="1"/>
              <a:t>JavaScript</a:t>
            </a:r>
            <a:endParaRPr lang="bg-BG" noProof="0" dirty="0"/>
          </a:p>
          <a:p>
            <a:pPr lvl="1"/>
            <a:r>
              <a:rPr lang="bg-BG" noProof="0" dirty="0"/>
              <a:t>През 2010 кодът  е поместен в </a:t>
            </a:r>
            <a:r>
              <a:rPr lang="bg-BG" noProof="0" dirty="0" err="1"/>
              <a:t>github</a:t>
            </a:r>
            <a:r>
              <a:rPr lang="bg-BG" noProof="0" dirty="0"/>
              <a:t>:</a:t>
            </a:r>
            <a:br>
              <a:rPr lang="bg-BG" noProof="0" dirty="0"/>
            </a:br>
            <a:r>
              <a:rPr lang="bg-BG" noProof="0" dirty="0">
                <a:hlinkClick r:id="rId2"/>
              </a:rPr>
              <a:t>https://github.com/mrdoob/three.js/</a:t>
            </a:r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1531977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Преимущества</a:t>
            </a:r>
          </a:p>
          <a:p>
            <a:pPr lvl="1"/>
            <a:r>
              <a:rPr lang="bg-BG" noProof="0" dirty="0"/>
              <a:t>Улеснява използването на WebGL</a:t>
            </a:r>
          </a:p>
          <a:p>
            <a:pPr lvl="2"/>
            <a:r>
              <a:rPr lang="bg-BG" noProof="0" dirty="0"/>
              <a:t>Грижи се за рисуването на обектите</a:t>
            </a:r>
          </a:p>
          <a:p>
            <a:pPr lvl="2"/>
            <a:r>
              <a:rPr lang="bg-BG" noProof="0" dirty="0"/>
              <a:t>Грижи се за </a:t>
            </a:r>
            <a:r>
              <a:rPr lang="bg-BG" noProof="0" dirty="0" err="1"/>
              <a:t>шейдърите</a:t>
            </a:r>
            <a:endParaRPr lang="bg-BG" noProof="0" dirty="0"/>
          </a:p>
          <a:p>
            <a:pPr lvl="2"/>
            <a:r>
              <a:rPr lang="bg-BG" noProof="0" dirty="0"/>
              <a:t>Грижи се за много от математическите пресмятания</a:t>
            </a:r>
          </a:p>
          <a:p>
            <a:pPr lvl="1"/>
            <a:r>
              <a:rPr lang="bg-BG" noProof="0" dirty="0"/>
              <a:t>Гъвкавост</a:t>
            </a:r>
          </a:p>
          <a:p>
            <a:pPr lvl="2"/>
            <a:r>
              <a:rPr lang="bg-BG" noProof="0" dirty="0"/>
              <a:t>Съвместимост с по-стари браузъри</a:t>
            </a:r>
          </a:p>
          <a:p>
            <a:pPr lvl="2"/>
            <a:r>
              <a:rPr lang="bg-BG" noProof="0" dirty="0"/>
              <a:t>Възможност за добавяне на функционалност</a:t>
            </a:r>
          </a:p>
          <a:p>
            <a:pPr lvl="2"/>
            <a:r>
              <a:rPr lang="bg-BG" noProof="0" dirty="0"/>
              <a:t>Не разчита на допълнителни браузър </a:t>
            </a:r>
            <a:r>
              <a:rPr lang="bg-BG" noProof="0" dirty="0" err="1"/>
              <a:t>плъгини</a:t>
            </a:r>
            <a:endParaRPr lang="bg-BG" noProof="0" dirty="0"/>
          </a:p>
          <a:p>
            <a:pPr lvl="1"/>
            <a:r>
              <a:rPr lang="bg-BG" noProof="0" dirty="0"/>
              <a:t>По-малко код и по-лесен за разбиране</a:t>
            </a:r>
          </a:p>
          <a:p>
            <a:pPr lvl="1"/>
            <a:r>
              <a:rPr lang="bg-BG" noProof="0" dirty="0"/>
              <a:t>Множество онлайн примери</a:t>
            </a:r>
          </a:p>
        </p:txBody>
      </p:sp>
    </p:spTree>
    <p:extLst>
      <p:ext uri="{BB962C8B-B14F-4D97-AF65-F5344CB8AC3E}">
        <p14:creationId xmlns:p14="http://schemas.microsoft.com/office/powerpoint/2010/main" val="265948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Недостатъци</a:t>
            </a:r>
          </a:p>
          <a:p>
            <a:pPr lvl="1"/>
            <a:r>
              <a:rPr lang="bg-BG" noProof="0" dirty="0"/>
              <a:t>Трябва да се разучи библиотеката </a:t>
            </a:r>
          </a:p>
          <a:p>
            <a:pPr lvl="1"/>
            <a:r>
              <a:rPr lang="bg-BG" noProof="0" dirty="0"/>
              <a:t>Документацията все още е в процес на обработка</a:t>
            </a:r>
          </a:p>
          <a:p>
            <a:pPr lvl="1"/>
            <a:r>
              <a:rPr lang="bg-BG" noProof="0" dirty="0"/>
              <a:t>Не всичко, което ни е необходимо, може да бъде намерено в библиотеката</a:t>
            </a:r>
          </a:p>
          <a:p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883656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Употреба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1048955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noProof="0" dirty="0"/>
              <a:t>Преди да започнем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Инсталация</a:t>
            </a:r>
          </a:p>
          <a:p>
            <a:pPr lvl="1"/>
            <a:r>
              <a:rPr lang="bg-BG" noProof="0" dirty="0"/>
              <a:t>Трябва да изтеглим библиотеката от </a:t>
            </a:r>
            <a:r>
              <a:rPr lang="en-US" dirty="0">
                <a:hlinkClick r:id="rId2"/>
              </a:rPr>
              <a:t>threejs.org</a:t>
            </a:r>
            <a:r>
              <a:rPr lang="bg-BG" noProof="0" dirty="0"/>
              <a:t>:</a:t>
            </a:r>
            <a:br>
              <a:rPr lang="bg-BG" noProof="0" dirty="0"/>
            </a:br>
            <a:r>
              <a:rPr lang="bg-BG" noProof="0" dirty="0"/>
              <a:t>Запазваме я в локален .</a:t>
            </a:r>
            <a:r>
              <a:rPr lang="bg-BG" noProof="0" dirty="0" err="1"/>
              <a:t>js</a:t>
            </a:r>
            <a:r>
              <a:rPr lang="bg-BG" noProof="0" dirty="0"/>
              <a:t> файл</a:t>
            </a:r>
          </a:p>
          <a:p>
            <a:pPr lvl="1"/>
            <a:r>
              <a:rPr lang="bg-BG" noProof="0" dirty="0"/>
              <a:t>В същата папка с нашия .</a:t>
            </a:r>
            <a:r>
              <a:rPr lang="bg-BG" noProof="0" dirty="0" err="1"/>
              <a:t>js</a:t>
            </a:r>
            <a:r>
              <a:rPr lang="bg-BG" noProof="0" dirty="0"/>
              <a:t> файл добавяме .</a:t>
            </a:r>
            <a:r>
              <a:rPr lang="bg-BG" noProof="0" dirty="0" err="1"/>
              <a:t>html</a:t>
            </a:r>
            <a:r>
              <a:rPr lang="bg-BG" noProof="0" dirty="0"/>
              <a:t> файл, в който ще се случва рисуването</a:t>
            </a:r>
          </a:p>
          <a:p>
            <a:pPr lvl="1"/>
            <a:r>
              <a:rPr lang="bg-BG" noProof="0" dirty="0"/>
              <a:t>Елементите на библиотеката (функции, класове и константи) са достъпни чрез „префикса“ </a:t>
            </a:r>
            <a:r>
              <a:rPr lang="bg-BG" b="1" noProof="0" dirty="0" err="1"/>
              <a:t>THREE</a:t>
            </a:r>
            <a:endParaRPr lang="bg-BG" b="1" noProof="0" dirty="0"/>
          </a:p>
          <a:p>
            <a:pPr lvl="1"/>
            <a:endParaRPr lang="bg-BG" noProof="0" dirty="0"/>
          </a:p>
          <a:p>
            <a:pPr lvl="1"/>
            <a:endParaRPr lang="bg-BG" noProof="0" dirty="0"/>
          </a:p>
          <a:p>
            <a:pPr lvl="1"/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1901751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Инициализация на .</a:t>
            </a:r>
            <a:r>
              <a:rPr lang="bg-BG" noProof="0" dirty="0" err="1"/>
              <a:t>html</a:t>
            </a:r>
            <a:r>
              <a:rPr lang="bg-BG" noProof="0" dirty="0"/>
              <a:t> файла</a:t>
            </a:r>
          </a:p>
          <a:p>
            <a:pPr lvl="1"/>
            <a:r>
              <a:rPr lang="bg-BG" noProof="0" dirty="0"/>
              <a:t>Задаваме размери и граници на страницата и полето за рисуване със </a:t>
            </a:r>
            <a:r>
              <a:rPr lang="en-US" noProof="0" dirty="0" err="1"/>
              <a:t>CSS</a:t>
            </a:r>
            <a:endParaRPr lang="bg-BG" noProof="0" dirty="0"/>
          </a:p>
          <a:p>
            <a:pPr lvl="1"/>
            <a:r>
              <a:rPr lang="bg-BG" noProof="0" dirty="0"/>
              <a:t>Включваме библиотеката с тага </a:t>
            </a:r>
            <a:r>
              <a:rPr lang="en-US" b="1" noProof="0" dirty="0"/>
              <a:t>script</a:t>
            </a:r>
            <a:endParaRPr lang="bg-BG" b="1" noProof="0" dirty="0"/>
          </a:p>
          <a:p>
            <a:endParaRPr lang="bg-BG" noProof="0" dirty="0"/>
          </a:p>
        </p:txBody>
      </p:sp>
      <p:sp>
        <p:nvSpPr>
          <p:cNvPr id="6" name="Snip Diagonal Corner Rectangle 5"/>
          <p:cNvSpPr/>
          <p:nvPr/>
        </p:nvSpPr>
        <p:spPr>
          <a:xfrm>
            <a:off x="304800" y="2286000"/>
            <a:ext cx="8534400" cy="4267200"/>
          </a:xfrm>
          <a:prstGeom prst="snip2DiagRect">
            <a:avLst>
              <a:gd name="adj1" fmla="val 0"/>
              <a:gd name="adj2" fmla="val 5556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&lt;!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DOCTYPE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html&gt;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&lt;html&gt;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&lt;head&gt;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&lt;meta charset=utf-8&gt;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&lt;title&gt;</a:t>
            </a:r>
            <a:r>
              <a:rPr lang="bg-BG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Моето първо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Three.js </a:t>
            </a:r>
            <a:r>
              <a:rPr lang="bg-BG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приложение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&lt;/title&gt;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&lt;style&gt;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body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 margin: 0; 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canvas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 width: 100%; height: 100% 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&lt;/style&gt;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&lt;/head&gt;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&lt;body&gt;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&lt;script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three.min.js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"&gt;&lt;/script&gt;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&lt;script&gt;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// </a:t>
            </a:r>
            <a:r>
              <a:rPr lang="bg-BG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Тук ще се помества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JavaScript </a:t>
            </a:r>
            <a:r>
              <a:rPr lang="bg-BG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кодът</a:t>
            </a:r>
            <a:endParaRPr lang="en-US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&lt;/script&gt;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&lt;/body&gt;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&lt;/html&gt;</a:t>
            </a:r>
            <a:endParaRPr lang="en-GB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812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За генериране на изображение ни трябват</a:t>
            </a:r>
          </a:p>
          <a:p>
            <a:pPr lvl="1"/>
            <a:r>
              <a:rPr lang="bg-BG" noProof="0" dirty="0"/>
              <a:t>Сцена от обекти</a:t>
            </a:r>
          </a:p>
          <a:p>
            <a:pPr lvl="1"/>
            <a:r>
              <a:rPr lang="bg-BG" noProof="0" dirty="0"/>
              <a:t>Камера за гледна точка</a:t>
            </a:r>
          </a:p>
          <a:p>
            <a:pPr lvl="1"/>
            <a:r>
              <a:rPr lang="bg-BG" noProof="0" dirty="0"/>
              <a:t>Графично поле за самото рисуване</a:t>
            </a:r>
          </a:p>
          <a:p>
            <a:pPr lvl="1"/>
            <a:endParaRPr lang="bg-BG" noProof="0" dirty="0"/>
          </a:p>
          <a:p>
            <a:r>
              <a:rPr lang="bg-BG" noProof="0" dirty="0"/>
              <a:t>Сцена</a:t>
            </a:r>
          </a:p>
          <a:p>
            <a:pPr lvl="1"/>
            <a:r>
              <a:rPr lang="bg-BG" noProof="0" dirty="0"/>
              <a:t>Инстанция на </a:t>
            </a:r>
            <a:r>
              <a:rPr lang="bg-BG" b="1" noProof="0" dirty="0" err="1"/>
              <a:t>Scene</a:t>
            </a:r>
            <a:endParaRPr lang="bg-BG" b="1" noProof="0" dirty="0"/>
          </a:p>
          <a:p>
            <a:pPr lvl="1"/>
            <a:endParaRPr lang="bg-BG" noProof="0" dirty="0"/>
          </a:p>
          <a:p>
            <a:r>
              <a:rPr lang="bg-BG" noProof="0" dirty="0"/>
              <a:t>Камера</a:t>
            </a:r>
          </a:p>
          <a:p>
            <a:pPr lvl="1"/>
            <a:r>
              <a:rPr lang="bg-BG" noProof="0" dirty="0"/>
              <a:t>Инстанция на </a:t>
            </a:r>
            <a:r>
              <a:rPr lang="bg-BG" b="1" noProof="0" dirty="0" err="1"/>
              <a:t>PerspectiveCamera</a:t>
            </a:r>
            <a:r>
              <a:rPr lang="bg-BG" b="1" noProof="0" dirty="0"/>
              <a:t> </a:t>
            </a:r>
          </a:p>
          <a:p>
            <a:pPr lvl="1"/>
            <a:r>
              <a:rPr lang="bg-BG" noProof="0" dirty="0"/>
              <a:t>Аргументите са</a:t>
            </a:r>
          </a:p>
          <a:p>
            <a:pPr lvl="2"/>
            <a:r>
              <a:rPr lang="bg-BG" noProof="0" dirty="0"/>
              <a:t>Позиция на гледащия</a:t>
            </a:r>
          </a:p>
          <a:p>
            <a:pPr lvl="2"/>
            <a:r>
              <a:rPr lang="bg-BG" noProof="0" dirty="0"/>
              <a:t>Аспект</a:t>
            </a:r>
          </a:p>
          <a:p>
            <a:pPr lvl="2"/>
            <a:r>
              <a:rPr lang="bg-BG" dirty="0"/>
              <a:t>Близка граница на рисуване</a:t>
            </a:r>
          </a:p>
          <a:p>
            <a:pPr lvl="2"/>
            <a:r>
              <a:rPr lang="bg-BG" dirty="0"/>
              <a:t>Далечна граница на рисуване</a:t>
            </a:r>
          </a:p>
          <a:p>
            <a:pPr lvl="1"/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965557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Графично поле</a:t>
            </a:r>
          </a:p>
          <a:p>
            <a:pPr lvl="1"/>
            <a:r>
              <a:rPr lang="bg-BG" noProof="0" dirty="0"/>
              <a:t>Инстанция на </a:t>
            </a:r>
            <a:r>
              <a:rPr lang="bg-BG" b="1" noProof="0" dirty="0" err="1"/>
              <a:t>WebGLRenderer</a:t>
            </a:r>
            <a:endParaRPr lang="bg-BG" noProof="0" dirty="0"/>
          </a:p>
          <a:p>
            <a:pPr lvl="1"/>
            <a:r>
              <a:rPr lang="bg-BG" noProof="0" dirty="0"/>
              <a:t>Указваме размер със </a:t>
            </a:r>
            <a:r>
              <a:rPr lang="bg-BG" b="1" noProof="0" dirty="0" err="1"/>
              <a:t>setSize</a:t>
            </a:r>
            <a:r>
              <a:rPr lang="bg-BG" dirty="0"/>
              <a:t>, като за по-ниска резолюцията ползваме трети аргумент </a:t>
            </a:r>
            <a:r>
              <a:rPr lang="bg-BG" b="1" dirty="0" err="1"/>
              <a:t>updateStyle</a:t>
            </a:r>
            <a:r>
              <a:rPr lang="bg-BG" b="1" dirty="0"/>
              <a:t> = </a:t>
            </a:r>
            <a:r>
              <a:rPr lang="bg-BG" b="1" dirty="0" err="1"/>
              <a:t>false</a:t>
            </a:r>
            <a:endParaRPr lang="bg-BG" b="1" dirty="0"/>
          </a:p>
          <a:p>
            <a:pPr lvl="1"/>
            <a:r>
              <a:rPr lang="bg-BG" dirty="0"/>
              <a:t>Понякога се ползват и други рендери, за да се подсигури нормално рисуване, ако браузърът е по-стар или по някаква причина не поддържа WebGL</a:t>
            </a:r>
          </a:p>
          <a:p>
            <a:pPr lvl="1"/>
            <a:r>
              <a:rPr lang="bg-BG" noProof="0" dirty="0"/>
              <a:t>Включваме в </a:t>
            </a:r>
            <a:r>
              <a:rPr lang="bg-BG" noProof="0" dirty="0" err="1"/>
              <a:t>DOM</a:t>
            </a:r>
            <a:r>
              <a:rPr lang="bg-BG" noProof="0" dirty="0"/>
              <a:t> с </a:t>
            </a:r>
            <a:r>
              <a:rPr lang="bg-BG" b="1" noProof="0" dirty="0" err="1"/>
              <a:t>appendChild</a:t>
            </a:r>
            <a:endParaRPr lang="bg-BG" b="1" noProof="0" dirty="0"/>
          </a:p>
          <a:p>
            <a:pPr lvl="1"/>
            <a:endParaRPr lang="bg-BG" noProof="0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3886200"/>
            <a:ext cx="8534400" cy="2667000"/>
          </a:xfrm>
          <a:prstGeom prst="snip2DiagRect">
            <a:avLst>
              <a:gd name="adj1" fmla="val 0"/>
              <a:gd name="adj2" fmla="val 1057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&lt;script&gt;</a:t>
            </a:r>
            <a:endParaRPr lang="bg-BG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scene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Scene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bg-BG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camera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PerspectiveCamera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( 75, </a:t>
            </a:r>
            <a:endParaRPr lang="bg-BG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window.innerWidth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/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window.innerHeight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0.1, 1000 );</a:t>
            </a:r>
            <a:endParaRPr lang="bg-BG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renderer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WebGLRenderer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bg-BG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renderer.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setSize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bg-BG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window.innerWidth</a:t>
            </a:r>
            <a:r>
              <a:rPr lang="bg-BG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window.innerHeight</a:t>
            </a:r>
            <a:r>
              <a:rPr lang="bg-BG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bg-BG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document.body.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appendChild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renderer.domElement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);</a:t>
            </a:r>
            <a:endParaRPr lang="bg-BG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818210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sp>
        <p:nvSpPr>
          <p:cNvPr id="7" name="Rectangle 6">
            <a:hlinkClick r:id="rId3" action="ppaction://hlinkfile"/>
          </p:cNvPr>
          <p:cNvSpPr/>
          <p:nvPr/>
        </p:nvSpPr>
        <p:spPr>
          <a:xfrm>
            <a:off x="28194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pic>
        <p:nvPicPr>
          <p:cNvPr id="1028" name="Picture 4">
            <a:hlinkClick r:id="rId3" action="ppaction://hlinkfile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533400"/>
            <a:ext cx="8048625" cy="526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3669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noProof="0" dirty="0"/>
              <a:t>Пример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Рисуване на кубове</a:t>
            </a:r>
          </a:p>
          <a:p>
            <a:pPr lvl="1"/>
            <a:r>
              <a:rPr lang="bg-BG" noProof="0" dirty="0"/>
              <a:t>Ще създадем 5 куба</a:t>
            </a:r>
          </a:p>
          <a:p>
            <a:pPr lvl="1"/>
            <a:r>
              <a:rPr lang="bg-BG" noProof="0" dirty="0"/>
              <a:t>Всеки от тях ще бъде с различен цвят</a:t>
            </a:r>
          </a:p>
          <a:p>
            <a:pPr lvl="1"/>
            <a:r>
              <a:rPr lang="bg-BG" noProof="0" dirty="0"/>
              <a:t>Централният куб ще бъде по-голям от всички останали</a:t>
            </a:r>
          </a:p>
          <a:p>
            <a:pPr lvl="1"/>
            <a:r>
              <a:rPr lang="bg-BG" noProof="0" dirty="0"/>
              <a:t>Ще сложим нов фон и сцената ще се върти така, че да можем да огледаме всички кубове </a:t>
            </a:r>
          </a:p>
        </p:txBody>
      </p:sp>
    </p:spTree>
    <p:extLst>
      <p:ext uri="{BB962C8B-B14F-4D97-AF65-F5344CB8AC3E}">
        <p14:creationId xmlns:p14="http://schemas.microsoft.com/office/powerpoint/2010/main" val="815341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Създаване на куб</a:t>
            </a:r>
          </a:p>
          <a:p>
            <a:pPr lvl="1"/>
            <a:r>
              <a:rPr lang="bg-BG" noProof="0" dirty="0"/>
              <a:t>Създаваме форма на куб (или паралелепипед) с </a:t>
            </a:r>
            <a:r>
              <a:rPr lang="bg-BG" b="1" noProof="0" dirty="0" err="1"/>
              <a:t>BoxGeometry</a:t>
            </a:r>
            <a:r>
              <a:rPr lang="bg-BG" noProof="0" dirty="0"/>
              <a:t> и подаваме като аргументи размерите му</a:t>
            </a:r>
          </a:p>
          <a:p>
            <a:pPr lvl="1"/>
            <a:r>
              <a:rPr lang="bg-BG" noProof="0" dirty="0"/>
              <a:t>Ще създадем цвят на материала с </a:t>
            </a:r>
            <a:r>
              <a:rPr lang="bg-BG" b="1" noProof="0" dirty="0"/>
              <a:t>Mesh</a:t>
            </a:r>
            <a:r>
              <a:rPr lang="en-US" b="1" noProof="0" dirty="0"/>
              <a:t>Lambert</a:t>
            </a:r>
            <a:r>
              <a:rPr lang="bg-BG" b="1" noProof="0" dirty="0"/>
              <a:t>Material</a:t>
            </a:r>
            <a:r>
              <a:rPr lang="bg-BG" noProof="0" dirty="0"/>
              <a:t>, позволяващ осветяване на обектите</a:t>
            </a:r>
          </a:p>
          <a:p>
            <a:pPr lvl="1"/>
            <a:r>
              <a:rPr lang="bg-BG" noProof="0" dirty="0"/>
              <a:t>Обединяваме формата с цвета в куб чрез </a:t>
            </a:r>
            <a:r>
              <a:rPr lang="bg-BG" b="1" noProof="0" dirty="0" err="1"/>
              <a:t>Mesh</a:t>
            </a:r>
            <a:endParaRPr lang="bg-BG" b="1" noProof="0" dirty="0"/>
          </a:p>
          <a:p>
            <a:pPr lvl="1"/>
            <a:r>
              <a:rPr lang="bg-BG" noProof="0" dirty="0"/>
              <a:t>Задаваме позицията </a:t>
            </a:r>
            <a:r>
              <a:rPr lang="en-US" b="1" noProof="0" dirty="0"/>
              <a:t>position</a:t>
            </a:r>
            <a:r>
              <a:rPr lang="en-US" noProof="0" dirty="0"/>
              <a:t> </a:t>
            </a:r>
            <a:r>
              <a:rPr lang="bg-BG" noProof="0" dirty="0"/>
              <a:t>на куба с метода </a:t>
            </a:r>
            <a:r>
              <a:rPr lang="bg-BG" b="1" noProof="0" dirty="0" err="1"/>
              <a:t>set</a:t>
            </a:r>
            <a:r>
              <a:rPr lang="bg-BG" noProof="0" dirty="0"/>
              <a:t>, характерен за всички обекти</a:t>
            </a:r>
          </a:p>
          <a:p>
            <a:pPr lvl="1"/>
            <a:r>
              <a:rPr lang="bg-BG" noProof="0" dirty="0"/>
              <a:t>Аналогично генерираме и останалите кубове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4800600"/>
            <a:ext cx="8534400" cy="1752600"/>
          </a:xfrm>
          <a:prstGeom prst="snip2DiagRect">
            <a:avLst>
              <a:gd name="adj1" fmla="val 0"/>
              <a:gd name="adj2" fmla="val 16058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geometry = new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BoxGeometry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3,3,3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       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US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material = new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MeshLambertMaterial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{ color: 0xffffff }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cube = new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Mesh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geometry, material );          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position.set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(0, 0, 0);</a:t>
            </a:r>
          </a:p>
        </p:txBody>
      </p:sp>
    </p:spTree>
    <p:extLst>
      <p:ext uri="{BB962C8B-B14F-4D97-AF65-F5344CB8AC3E}">
        <p14:creationId xmlns:p14="http://schemas.microsoft.com/office/powerpoint/2010/main" val="581865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Групиране на кубовете</a:t>
            </a:r>
            <a:endParaRPr lang="bg-BG" noProof="0" dirty="0"/>
          </a:p>
          <a:p>
            <a:pPr lvl="1"/>
            <a:r>
              <a:rPr lang="bg-BG" noProof="0" dirty="0"/>
              <a:t>За момента кубовете са статични</a:t>
            </a:r>
          </a:p>
          <a:p>
            <a:pPr lvl="1"/>
            <a:r>
              <a:rPr lang="bg-BG" noProof="0" dirty="0"/>
              <a:t>Вместо да ги въртим по отделно, ще ги обединим в общ обект </a:t>
            </a:r>
            <a:r>
              <a:rPr lang="en-US" b="1" noProof="0" dirty="0"/>
              <a:t>space</a:t>
            </a:r>
            <a:r>
              <a:rPr lang="en-US" noProof="0" dirty="0"/>
              <a:t> </a:t>
            </a:r>
            <a:r>
              <a:rPr lang="bg-BG" noProof="0" dirty="0"/>
              <a:t>– инстанция на </a:t>
            </a:r>
            <a:r>
              <a:rPr lang="en-US" b="1" noProof="0" dirty="0"/>
              <a:t>Object3D</a:t>
            </a:r>
            <a:r>
              <a:rPr lang="bg-BG" noProof="0" dirty="0"/>
              <a:t> </a:t>
            </a:r>
          </a:p>
          <a:p>
            <a:pPr lvl="1"/>
            <a:r>
              <a:rPr lang="bg-BG" noProof="0" dirty="0"/>
              <a:t>Добавяме кубовете в този обект с метода </a:t>
            </a:r>
            <a:r>
              <a:rPr lang="bg-BG" b="1" noProof="0" dirty="0" err="1"/>
              <a:t>add</a:t>
            </a:r>
            <a:r>
              <a:rPr lang="bg-BG" noProof="0" dirty="0"/>
              <a:t>  </a:t>
            </a:r>
          </a:p>
          <a:p>
            <a:pPr lvl="1"/>
            <a:r>
              <a:rPr lang="bg-BG" noProof="0" dirty="0"/>
              <a:t>Пак с </a:t>
            </a:r>
            <a:r>
              <a:rPr lang="en-US" b="1" noProof="0" dirty="0"/>
              <a:t>add</a:t>
            </a:r>
            <a:r>
              <a:rPr lang="en-US" noProof="0" dirty="0"/>
              <a:t> </a:t>
            </a:r>
            <a:r>
              <a:rPr lang="bg-BG" dirty="0"/>
              <a:t>включваме самият обект в сцената</a:t>
            </a:r>
            <a:endParaRPr lang="bg-BG" noProof="0"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4114800"/>
            <a:ext cx="8534400" cy="2438400"/>
          </a:xfrm>
          <a:prstGeom prst="snip2DiagRect">
            <a:avLst>
              <a:gd name="adj1" fmla="val 0"/>
              <a:gd name="adj2" fmla="val 12337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space = new THREE.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Object3D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cubes = [cube, cube2, cube3, cube4, cube5];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 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cubes.length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 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space.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cubes[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scene.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space );</a:t>
            </a:r>
          </a:p>
        </p:txBody>
      </p:sp>
    </p:spTree>
    <p:extLst>
      <p:ext uri="{BB962C8B-B14F-4D97-AF65-F5344CB8AC3E}">
        <p14:creationId xmlns:p14="http://schemas.microsoft.com/office/powerpoint/2010/main" val="1822759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Фон</a:t>
            </a:r>
          </a:p>
          <a:p>
            <a:pPr lvl="1"/>
            <a:r>
              <a:rPr lang="bg-BG" dirty="0"/>
              <a:t>Променяме цветът на фона със </a:t>
            </a:r>
            <a:r>
              <a:rPr lang="bg-BG" b="1" dirty="0"/>
              <a:t>setClearColor </a:t>
            </a:r>
          </a:p>
          <a:p>
            <a:pPr lvl="1"/>
            <a:endParaRPr lang="bg-BG" b="1" dirty="0"/>
          </a:p>
          <a:p>
            <a:r>
              <a:rPr lang="bg-BG" dirty="0"/>
              <a:t>Осветяване</a:t>
            </a:r>
          </a:p>
          <a:p>
            <a:pPr lvl="1"/>
            <a:r>
              <a:rPr lang="bg-BG" dirty="0"/>
              <a:t>Ползваме </a:t>
            </a:r>
            <a:r>
              <a:rPr lang="bg-BG" noProof="0" dirty="0"/>
              <a:t>инстанция на </a:t>
            </a:r>
            <a:r>
              <a:rPr lang="bg-BG" b="1" noProof="0" dirty="0" err="1"/>
              <a:t>DirectionalLight</a:t>
            </a:r>
            <a:r>
              <a:rPr lang="bg-BG" noProof="0" dirty="0"/>
              <a:t> за бяла светлина с интензитет 1, идваща от безкрайно отдалечен източник</a:t>
            </a:r>
          </a:p>
          <a:p>
            <a:pPr lvl="1"/>
            <a:r>
              <a:rPr lang="bg-BG" noProof="0" dirty="0"/>
              <a:t>Позицията на светлината </a:t>
            </a:r>
            <a:r>
              <a:rPr lang="bg-BG" dirty="0"/>
              <a:t>е вектор, </a:t>
            </a:r>
            <a:r>
              <a:rPr lang="bg-BG" noProof="0" dirty="0"/>
              <a:t>определящ посока </a:t>
            </a:r>
          </a:p>
          <a:p>
            <a:pPr lvl="1"/>
            <a:r>
              <a:rPr lang="bg-BG" noProof="0" dirty="0"/>
              <a:t>Искаме светлината да сочи към новия обект </a:t>
            </a:r>
            <a:r>
              <a:rPr lang="bg-BG" b="1" noProof="0" dirty="0" err="1"/>
              <a:t>space</a:t>
            </a:r>
            <a:r>
              <a:rPr lang="bg-BG" noProof="0" dirty="0"/>
              <a:t>, затова ще използваме свойството </a:t>
            </a:r>
            <a:r>
              <a:rPr lang="bg-BG" b="1" noProof="0" dirty="0" err="1"/>
              <a:t>target</a:t>
            </a:r>
            <a:endParaRPr lang="bg-BG" b="1" noProof="0" dirty="0"/>
          </a:p>
          <a:p>
            <a:pPr lvl="1"/>
            <a:endParaRPr lang="bg-BG" noProof="0" dirty="0"/>
          </a:p>
          <a:p>
            <a:pPr lvl="1"/>
            <a:endParaRPr lang="bg-BG" noProof="0"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4572000"/>
            <a:ext cx="8534400" cy="1981200"/>
          </a:xfrm>
          <a:prstGeom prst="snip2DiagRect">
            <a:avLst>
              <a:gd name="adj1" fmla="val 0"/>
              <a:gd name="adj2" fmla="val 14830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renderer.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setClearColor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( 0xcccccc, 1 ); 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directionalLight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DirectionalLight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( 0xffffff, 1 );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scene.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directionalLight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US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directionalLight.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position.set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(0, 1, 1);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directionalLight.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target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space;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865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Реализация на въртенето</a:t>
            </a:r>
          </a:p>
          <a:p>
            <a:pPr lvl="1"/>
            <a:r>
              <a:rPr lang="bg-BG" dirty="0"/>
              <a:t>Създаваме функция </a:t>
            </a:r>
            <a:r>
              <a:rPr lang="en-US" b="1" dirty="0" err="1"/>
              <a:t>drawFrame</a:t>
            </a:r>
            <a:r>
              <a:rPr lang="bg-BG" dirty="0"/>
              <a:t>, отговаряща за рисуването на кадър</a:t>
            </a:r>
          </a:p>
          <a:p>
            <a:pPr lvl="1"/>
            <a:r>
              <a:rPr lang="bg-BG" noProof="0" dirty="0"/>
              <a:t>Ориентацията на обектите се задава в свойството </a:t>
            </a:r>
            <a:r>
              <a:rPr lang="en-US" b="1" noProof="0" dirty="0"/>
              <a:t>rotation</a:t>
            </a:r>
            <a:endParaRPr lang="bg-BG" b="1" noProof="0" dirty="0"/>
          </a:p>
          <a:p>
            <a:pPr lvl="1"/>
            <a:r>
              <a:rPr lang="bg-BG" noProof="0" dirty="0"/>
              <a:t>Въртенето ще е по 0.02 </a:t>
            </a:r>
            <a:r>
              <a:rPr lang="bg-BG" noProof="0" dirty="0" err="1"/>
              <a:t>радиана</a:t>
            </a:r>
            <a:r>
              <a:rPr lang="bg-BG" noProof="0" dirty="0"/>
              <a:t> на всеки кадър като променяме </a:t>
            </a:r>
            <a:r>
              <a:rPr lang="bg-BG" b="1" noProof="0" dirty="0" err="1"/>
              <a:t>rotation</a:t>
            </a:r>
            <a:r>
              <a:rPr lang="bg-BG" b="1" noProof="0" dirty="0"/>
              <a:t>.y</a:t>
            </a:r>
            <a:r>
              <a:rPr lang="bg-BG" noProof="0" dirty="0"/>
              <a:t> на груповия обект </a:t>
            </a:r>
            <a:r>
              <a:rPr lang="bg-BG" b="1" noProof="0" dirty="0" err="1"/>
              <a:t>space</a:t>
            </a:r>
            <a:endParaRPr lang="bg-BG" b="1" noProof="0" dirty="0"/>
          </a:p>
          <a:p>
            <a:pPr lvl="1"/>
            <a:r>
              <a:rPr lang="bg-BG" noProof="0" dirty="0"/>
              <a:t>С </a:t>
            </a:r>
            <a:r>
              <a:rPr lang="bg-BG" b="1" noProof="0" dirty="0" err="1"/>
              <a:t>camera</a:t>
            </a:r>
            <a:r>
              <a:rPr lang="bg-BG" b="1" noProof="0" dirty="0"/>
              <a:t>.</a:t>
            </a:r>
            <a:r>
              <a:rPr lang="bg-BG" b="1" noProof="0" dirty="0" err="1"/>
              <a:t>lookAt</a:t>
            </a:r>
            <a:r>
              <a:rPr lang="bg-BG" noProof="0" dirty="0"/>
              <a:t> центрираме камерата към обекта </a:t>
            </a:r>
            <a:r>
              <a:rPr lang="bg-BG" b="1" noProof="0" dirty="0" err="1"/>
              <a:t>space</a:t>
            </a:r>
            <a:endParaRPr lang="bg-BG" b="1" noProof="0" dirty="0"/>
          </a:p>
          <a:p>
            <a:pPr lvl="1"/>
            <a:r>
              <a:rPr lang="bg-BG" noProof="0" dirty="0"/>
              <a:t>Накрая рисуваме кадъра чрез </a:t>
            </a:r>
            <a:r>
              <a:rPr lang="en-US" b="1" noProof="0" dirty="0"/>
              <a:t>render</a:t>
            </a:r>
            <a:r>
              <a:rPr lang="bg-BG" noProof="0" dirty="0"/>
              <a:t> на графичното поле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4876800"/>
            <a:ext cx="8534400" cy="1676400"/>
          </a:xfrm>
          <a:prstGeom prst="snip2DiagRect">
            <a:avLst>
              <a:gd name="adj1" fmla="val 0"/>
              <a:gd name="adj2" fmla="val 18793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drawFrame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function () 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requestAnimationFrame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drawFrame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pace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rotation.y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0.02;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camera.lookAt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space.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position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renderer.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render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scene, camera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759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4" name="Rectangle 3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304800" y="152400"/>
            <a:ext cx="8610600" cy="6408120"/>
          </a:xfrm>
          <a:prstGeom prst="rect">
            <a:avLst/>
          </a:prstGeom>
        </p:spPr>
        <p:txBody>
          <a:bodyPr/>
          <a:lstStyle/>
          <a:p>
            <a:pPr marL="68580" lvl="0">
              <a:spcBef>
                <a:spcPct val="20000"/>
              </a:spcBef>
              <a:buClr>
                <a:schemeClr val="accent1"/>
              </a:buClr>
              <a:buSzPct val="76000"/>
            </a:pPr>
            <a:endParaRPr kumimoji="0" lang="bg-BG" sz="20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>
                <a:outerShdw blurRad="63500" algn="ctr" rotWithShape="0">
                  <a:srgbClr val="339933">
                    <a:alpha val="40000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05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533400"/>
            <a:ext cx="8048625" cy="526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3669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Други примери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350047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№1 </a:t>
            </a:r>
            <a:r>
              <a:rPr lang="bg-BG" noProof="0" dirty="0"/>
              <a:t>По-сложни обекти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Нови обекти и друго осветяване</a:t>
            </a:r>
          </a:p>
          <a:p>
            <a:pPr lvl="1"/>
            <a:r>
              <a:rPr lang="bg-BG" noProof="0" dirty="0"/>
              <a:t>Различни обекти, като всеки ще се върти индивидуално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bg-BG" noProof="0" dirty="0" err="1"/>
              <a:t>Икосаедър</a:t>
            </a:r>
            <a:r>
              <a:rPr lang="bg-BG" noProof="0" dirty="0"/>
              <a:t> –</a:t>
            </a:r>
            <a:r>
              <a:rPr lang="en-US" noProof="0" dirty="0"/>
              <a:t> </a:t>
            </a:r>
            <a:r>
              <a:rPr lang="bg-BG" noProof="0" dirty="0"/>
              <a:t>инстанция на </a:t>
            </a:r>
            <a:r>
              <a:rPr lang="bg-BG" b="1" noProof="0" dirty="0" err="1"/>
              <a:t>IcosahedronGeometry</a:t>
            </a:r>
            <a:endParaRPr lang="bg-BG" noProof="0" dirty="0"/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bg-BG" noProof="0" dirty="0" err="1"/>
              <a:t>Тороиден</a:t>
            </a:r>
            <a:r>
              <a:rPr lang="bg-BG" dirty="0"/>
              <a:t> възел –</a:t>
            </a:r>
            <a:r>
              <a:rPr lang="en-US" dirty="0"/>
              <a:t> </a:t>
            </a:r>
            <a:r>
              <a:rPr lang="bg-BG" dirty="0"/>
              <a:t>инстанция на </a:t>
            </a:r>
            <a:r>
              <a:rPr lang="bg-BG" b="1" noProof="0" dirty="0" err="1"/>
              <a:t>TorusKnotGeometry</a:t>
            </a:r>
            <a:endParaRPr lang="bg-BG" noProof="0" dirty="0"/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bg-BG" dirty="0"/>
              <a:t>Цилиндър –</a:t>
            </a:r>
            <a:r>
              <a:rPr lang="en-US" dirty="0"/>
              <a:t> </a:t>
            </a:r>
            <a:r>
              <a:rPr lang="bg-BG" dirty="0"/>
              <a:t>инстанция на </a:t>
            </a:r>
            <a:r>
              <a:rPr lang="bg-BG" b="1" noProof="0" dirty="0" err="1"/>
              <a:t>CylinderGeometry</a:t>
            </a:r>
            <a:endParaRPr lang="bg-BG" noProof="0" dirty="0"/>
          </a:p>
          <a:p>
            <a:pPr lvl="1"/>
            <a:r>
              <a:rPr lang="bg-BG" noProof="0" dirty="0"/>
              <a:t>Можем да направим обекти само с няколко реда код</a:t>
            </a:r>
          </a:p>
          <a:p>
            <a:pPr lvl="1"/>
            <a:r>
              <a:rPr lang="bg-BG" noProof="0" dirty="0"/>
              <a:t>Избираме местоположение и цветове за обектите и ги поставяме на сцената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4495800"/>
            <a:ext cx="8534400" cy="2057400"/>
          </a:xfrm>
          <a:prstGeom prst="snip2DiagRect">
            <a:avLst>
              <a:gd name="adj1" fmla="val 0"/>
              <a:gd name="adj2" fmla="val 14478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geometry = new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IcosahedronGeometry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raidus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=5 );         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US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geometry = new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TorusKnotGeometry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radius=2, tube=1, 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radialSegments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=100,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tubularSegments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=30 );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US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geometry = new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CylinderGeometry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radiusTop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=5, 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radiusBottom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=3, height=5,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radiusSegments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=30 );</a:t>
            </a:r>
          </a:p>
        </p:txBody>
      </p:sp>
    </p:spTree>
    <p:extLst>
      <p:ext uri="{BB962C8B-B14F-4D97-AF65-F5344CB8AC3E}">
        <p14:creationId xmlns:p14="http://schemas.microsoft.com/office/powerpoint/2010/main" val="336437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Въртене и осветяване</a:t>
            </a:r>
          </a:p>
          <a:p>
            <a:pPr lvl="1"/>
            <a:r>
              <a:rPr lang="bg-BG" noProof="0" dirty="0"/>
              <a:t>За всеки обект по отделно променяме елемент от свойството му </a:t>
            </a:r>
            <a:r>
              <a:rPr lang="bg-BG" b="1" noProof="0" dirty="0" err="1"/>
              <a:t>rotation</a:t>
            </a:r>
            <a:endParaRPr lang="bg-BG" b="1" noProof="0" dirty="0"/>
          </a:p>
          <a:p>
            <a:pPr lvl="1"/>
            <a:r>
              <a:rPr lang="bg-BG" noProof="0" dirty="0"/>
              <a:t>За осветяване продължаваме да използваме насочена светлина с </a:t>
            </a:r>
            <a:r>
              <a:rPr lang="bg-BG" b="1" noProof="0" dirty="0" err="1"/>
              <a:t>DirectionalLight</a:t>
            </a:r>
            <a:endParaRPr lang="bg-BG" b="1" noProof="0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2895600"/>
            <a:ext cx="8534400" cy="3657600"/>
          </a:xfrm>
          <a:prstGeom prst="snip2DiagRect">
            <a:avLst>
              <a:gd name="adj1" fmla="val 0"/>
              <a:gd name="adj2" fmla="val 7564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render = function () 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requestAnimationFrame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render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torusKnot.rotation.y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0.02;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icosahedron.rotation.z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0.01;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icosahedron.rotation.x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0.005;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cylinder.rotation.x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0.03;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camera.lookAt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scene.position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renderer.render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(scene, camera);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directionalLight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DirectionalLight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( 0xffffff, 1 );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directionalLight.position.set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( 0,0,7 );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scene.add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directionalLight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);</a:t>
            </a:r>
          </a:p>
        </p:txBody>
      </p:sp>
    </p:spTree>
    <p:extLst>
      <p:ext uri="{BB962C8B-B14F-4D97-AF65-F5344CB8AC3E}">
        <p14:creationId xmlns:p14="http://schemas.microsoft.com/office/powerpoint/2010/main" val="2762218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4" name="Rectangle 3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3074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533400"/>
            <a:ext cx="8048625" cy="526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7703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Осветяване</a:t>
            </a:r>
          </a:p>
          <a:p>
            <a:pPr lvl="1"/>
            <a:r>
              <a:rPr lang="bg-BG" noProof="0" dirty="0"/>
              <a:t>Има различни видове осветяване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bg-BG" b="1" noProof="0" dirty="0" err="1"/>
              <a:t>PointLight</a:t>
            </a:r>
            <a:r>
              <a:rPr lang="bg-BG" noProof="0" dirty="0"/>
              <a:t> – задаваме позиция, а тя осветява нещата около себе си като крушка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bg-BG" b="1" noProof="0" dirty="0" err="1"/>
              <a:t>DirectionalLight</a:t>
            </a:r>
            <a:r>
              <a:rPr lang="bg-BG" noProof="0" dirty="0"/>
              <a:t> – задаваме посока, към която да свети като слънчев лъч, безкрайно отдалечен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bg-BG" b="1" noProof="0" dirty="0" err="1"/>
              <a:t>HemisphereLight</a:t>
            </a:r>
            <a:r>
              <a:rPr lang="bg-BG" noProof="0" dirty="0"/>
              <a:t> – има възможността за осветяване от две различни посоки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bg-BG" b="1" noProof="0" dirty="0" err="1"/>
              <a:t>SpotLight</a:t>
            </a:r>
            <a:r>
              <a:rPr lang="bg-BG" noProof="0" dirty="0"/>
              <a:t> – може да хвърля сянка в дадена посока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bg-BG" b="1" noProof="0" dirty="0" err="1"/>
              <a:t>AmbientLight</a:t>
            </a:r>
            <a:r>
              <a:rPr lang="bg-BG" noProof="0" dirty="0"/>
              <a:t> – околна светлина; цветът се прилага върху всички обекти на сцената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endParaRPr lang="bg-BG" noProof="0" dirty="0"/>
          </a:p>
          <a:p>
            <a:r>
              <a:rPr lang="bg-BG" noProof="0" dirty="0"/>
              <a:t>Промяна </a:t>
            </a:r>
          </a:p>
          <a:p>
            <a:pPr lvl="1"/>
            <a:r>
              <a:rPr lang="bg-BG" noProof="0" dirty="0"/>
              <a:t>Същата светлината, но да е от точков източник – </a:t>
            </a:r>
            <a:r>
              <a:rPr lang="bg-BG" b="1" noProof="0" dirty="0" err="1"/>
              <a:t>PointLight</a:t>
            </a:r>
            <a:endParaRPr lang="bg-BG" b="1" noProof="0" dirty="0"/>
          </a:p>
        </p:txBody>
      </p:sp>
      <p:sp>
        <p:nvSpPr>
          <p:cNvPr id="5" name="Snip Diagonal Corner Rectangle 4"/>
          <p:cNvSpPr/>
          <p:nvPr/>
        </p:nvSpPr>
        <p:spPr>
          <a:xfrm>
            <a:off x="304800" y="5486400"/>
            <a:ext cx="8534400" cy="1066800"/>
          </a:xfrm>
          <a:prstGeom prst="snip2DiagRect">
            <a:avLst>
              <a:gd name="adj1" fmla="val 0"/>
              <a:gd name="adj2" fmla="val 2414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pointLight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PointLight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( 0xffffff, 1 );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pointLight.position.set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( 0,0,7 );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scene.add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pointLight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);</a:t>
            </a:r>
          </a:p>
        </p:txBody>
      </p:sp>
    </p:spTree>
    <p:extLst>
      <p:ext uri="{BB962C8B-B14F-4D97-AF65-F5344CB8AC3E}">
        <p14:creationId xmlns:p14="http://schemas.microsoft.com/office/powerpoint/2010/main" val="27622186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4" name="Rectangle 3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4098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533400"/>
            <a:ext cx="8048625" cy="526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7703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noProof="0" dirty="0"/>
              <a:t>№2 Движение със следа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Движещ се обект</a:t>
            </a:r>
          </a:p>
          <a:p>
            <a:pPr lvl="1"/>
            <a:r>
              <a:rPr lang="bg-BG" noProof="0" dirty="0"/>
              <a:t>Сфера, която се движи по зададена траектория</a:t>
            </a:r>
          </a:p>
          <a:p>
            <a:pPr lvl="1"/>
            <a:r>
              <a:rPr lang="bg-BG" noProof="0" dirty="0"/>
              <a:t>Ще оставя следа след себе си </a:t>
            </a:r>
          </a:p>
          <a:p>
            <a:pPr lvl="1"/>
            <a:r>
              <a:rPr lang="bg-BG" noProof="0" dirty="0"/>
              <a:t>Първо създаваме сферата </a:t>
            </a:r>
            <a:r>
              <a:rPr lang="en-US" noProof="0" dirty="0"/>
              <a:t>– </a:t>
            </a:r>
            <a:r>
              <a:rPr lang="bg-BG" noProof="0" dirty="0"/>
              <a:t>инстанция на </a:t>
            </a:r>
            <a:r>
              <a:rPr lang="en-US" b="1" noProof="0" dirty="0" err="1"/>
              <a:t>SphereGeometry</a:t>
            </a:r>
            <a:endParaRPr lang="bg-BG" b="1" noProof="0" dirty="0"/>
          </a:p>
          <a:p>
            <a:pPr lvl="1"/>
            <a:r>
              <a:rPr lang="bg-BG" noProof="0" dirty="0"/>
              <a:t>След това на всеки кадър променяме нейната позиция по определена траектория</a:t>
            </a:r>
          </a:p>
          <a:p>
            <a:pPr lvl="1"/>
            <a:endParaRPr lang="bg-BG" noProof="0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3810000"/>
            <a:ext cx="8534400" cy="2743200"/>
          </a:xfrm>
          <a:prstGeom prst="snip2DiagRect">
            <a:avLst>
              <a:gd name="adj1" fmla="val 0"/>
              <a:gd name="adj2" fmla="val 1032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geometry = new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SphereGeometry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( 1, 32, 32 );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material = new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THREE.MeshBasicMaterial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{color: 0xffff00}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sphere = new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THREE.Mesh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geometry, material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scene.add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sphere ); 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 = 3*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Math.cos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2*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*(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Math.PI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/360))+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Math.cos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(10*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*(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Math.PI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/360));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 = 3*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Math.sin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2*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*(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Math.PI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/360))+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Math.sin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(10*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*(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Math.PI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/360));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z = 2; 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sphere.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position.set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(x, y, z);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176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Оставяне на </a:t>
            </a:r>
            <a:r>
              <a:rPr lang="bg-BG" dirty="0"/>
              <a:t>следа</a:t>
            </a:r>
            <a:endParaRPr lang="bg-BG" noProof="0" dirty="0"/>
          </a:p>
          <a:p>
            <a:pPr lvl="1"/>
            <a:r>
              <a:rPr lang="bg-BG" noProof="0" dirty="0"/>
              <a:t>Ще осъществим нейното рисуването точка по точка чрез комбинация на геометричен обект и материал</a:t>
            </a:r>
          </a:p>
          <a:p>
            <a:pPr lvl="1"/>
            <a:r>
              <a:rPr lang="bg-BG" noProof="0" dirty="0"/>
              <a:t>Всеки обект от тип </a:t>
            </a:r>
            <a:r>
              <a:rPr lang="bg-BG" b="1" noProof="0" dirty="0" err="1"/>
              <a:t>Geometry</a:t>
            </a:r>
            <a:r>
              <a:rPr lang="bg-BG" noProof="0" dirty="0"/>
              <a:t> има масив </a:t>
            </a:r>
            <a:r>
              <a:rPr lang="bg-BG" b="1" noProof="0" dirty="0" err="1"/>
              <a:t>vertices</a:t>
            </a:r>
            <a:r>
              <a:rPr lang="bg-BG" noProof="0" dirty="0"/>
              <a:t>, в който се запазват точките, които съставят модела на обекта</a:t>
            </a:r>
          </a:p>
          <a:p>
            <a:pPr lvl="1"/>
            <a:r>
              <a:rPr lang="bg-BG" noProof="0" dirty="0"/>
              <a:t>В него ще запазим единствения връх на нашия обект</a:t>
            </a:r>
          </a:p>
          <a:p>
            <a:pPr lvl="1"/>
            <a:r>
              <a:rPr lang="bg-BG" noProof="0" dirty="0"/>
              <a:t>Координатите на точката дефинираме с радиус-вектора </a:t>
            </a:r>
            <a:r>
              <a:rPr lang="bg-BG" dirty="0"/>
              <a:t>на</a:t>
            </a:r>
            <a:r>
              <a:rPr lang="bg-BG" noProof="0" dirty="0"/>
              <a:t> класа </a:t>
            </a:r>
            <a:r>
              <a:rPr lang="bg-BG" b="1" noProof="0" dirty="0"/>
              <a:t>Vector3</a:t>
            </a:r>
            <a:endParaRPr lang="bg-BG" noProof="0" dirty="0"/>
          </a:p>
          <a:p>
            <a:pPr lvl="1"/>
            <a:r>
              <a:rPr lang="bg-BG" dirty="0"/>
              <a:t>Обектът ще се показва като точка – инстанция на </a:t>
            </a:r>
            <a:r>
              <a:rPr lang="en-US" b="1" dirty="0"/>
              <a:t>Points</a:t>
            </a:r>
            <a:endParaRPr lang="bg-BG" dirty="0"/>
          </a:p>
          <a:p>
            <a:pPr lvl="1"/>
            <a:r>
              <a:rPr lang="bg-BG" dirty="0"/>
              <a:t>Визуалните му характеристики ще са такива, каквито са приложими за точки, а не за плътни обекти  - инстанция на </a:t>
            </a:r>
            <a:r>
              <a:rPr lang="en-US" b="1" dirty="0" err="1"/>
              <a:t>PointsMaterial</a:t>
            </a:r>
            <a:endParaRPr lang="bg-BG" noProof="0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4724400"/>
            <a:ext cx="8610600" cy="1828800"/>
          </a:xfrm>
          <a:prstGeom prst="snip2DiagRect">
            <a:avLst>
              <a:gd name="adj1" fmla="val 0"/>
              <a:gd name="adj2" fmla="val 15198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geometry2 = new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Geometry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geometry2.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vertices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.push(new THREE.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Vector3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(x, y, z));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material2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PointsMaterial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({color:0x00ff00, size:0.25});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particle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(geometry2, material2);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scene.add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particle );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137400-93A7-4A80-BA6B-37D107EFA56A}"/>
              </a:ext>
            </a:extLst>
          </p:cNvPr>
          <p:cNvSpPr txBox="1"/>
          <p:nvPr/>
        </p:nvSpPr>
        <p:spPr>
          <a:xfrm>
            <a:off x="5294376" y="112070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400" dirty="0">
                <a:solidFill>
                  <a:srgbClr val="FF0000"/>
                </a:solidFill>
              </a:rPr>
              <a:t>В съвременните версии на </a:t>
            </a:r>
            <a:r>
              <a:rPr lang="en-US" sz="1400" dirty="0">
                <a:solidFill>
                  <a:srgbClr val="FF0000"/>
                </a:solidFill>
              </a:rPr>
              <a:t>Three.js</a:t>
            </a:r>
            <a:r>
              <a:rPr lang="bg-BG" sz="1400" dirty="0">
                <a:solidFill>
                  <a:srgbClr val="FF0000"/>
                </a:solidFill>
              </a:rPr>
              <a:t> се ползват буферни атрибути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DD72D97-4666-489B-B1B8-E6DAE6421FBA}"/>
              </a:ext>
            </a:extLst>
          </p:cNvPr>
          <p:cNvCxnSpPr>
            <a:stCxn id="2" idx="2"/>
          </p:cNvCxnSpPr>
          <p:nvPr/>
        </p:nvCxnSpPr>
        <p:spPr>
          <a:xfrm flipH="1">
            <a:off x="6781800" y="635290"/>
            <a:ext cx="227076" cy="9649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51765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Динамично оразмеряване</a:t>
            </a:r>
          </a:p>
          <a:p>
            <a:pPr lvl="1"/>
            <a:r>
              <a:rPr lang="bg-BG" noProof="0" dirty="0"/>
              <a:t>В допълнение </a:t>
            </a:r>
            <a:r>
              <a:rPr lang="bg-BG" dirty="0"/>
              <a:t>– искаме графичното поле да заема целия прозорец дори и след промяна на размера му</a:t>
            </a:r>
            <a:endParaRPr lang="bg-BG" noProof="0" dirty="0"/>
          </a:p>
          <a:p>
            <a:pPr lvl="1"/>
            <a:r>
              <a:rPr lang="bg-BG" noProof="0" dirty="0"/>
              <a:t>Добавяме следене на събитието </a:t>
            </a:r>
            <a:r>
              <a:rPr lang="en-US" b="1" noProof="0" dirty="0"/>
              <a:t>resize</a:t>
            </a:r>
            <a:endParaRPr lang="bg-BG" b="1" noProof="0" dirty="0"/>
          </a:p>
          <a:p>
            <a:pPr lvl="1"/>
            <a:r>
              <a:rPr lang="bg-BG" noProof="0" dirty="0"/>
              <a:t>Във функцията </a:t>
            </a:r>
            <a:r>
              <a:rPr lang="bg-BG" b="1" noProof="0" dirty="0" err="1"/>
              <a:t>onWindowResize</a:t>
            </a:r>
            <a:r>
              <a:rPr lang="bg-BG" noProof="0" dirty="0"/>
              <a:t> реагираме на събитието</a:t>
            </a:r>
            <a:r>
              <a:rPr lang="en-US" noProof="0" dirty="0"/>
              <a:t>:</a:t>
            </a:r>
          </a:p>
          <a:p>
            <a:pPr lvl="2"/>
            <a:r>
              <a:rPr lang="bg-BG" dirty="0"/>
              <a:t>Преизчисляваме</a:t>
            </a:r>
            <a:r>
              <a:rPr lang="bg-BG" noProof="0" dirty="0"/>
              <a:t> аспекта </a:t>
            </a:r>
            <a:r>
              <a:rPr lang="en-US" b="1" noProof="0" dirty="0"/>
              <a:t>aspect</a:t>
            </a:r>
            <a:endParaRPr lang="bg-BG" noProof="0" dirty="0"/>
          </a:p>
          <a:p>
            <a:pPr lvl="2"/>
            <a:r>
              <a:rPr lang="bg-BG" dirty="0"/>
              <a:t>А</a:t>
            </a:r>
            <a:r>
              <a:rPr lang="bg-BG" noProof="0" dirty="0" err="1"/>
              <a:t>ктуализираме</a:t>
            </a:r>
            <a:r>
              <a:rPr lang="bg-BG" noProof="0" dirty="0"/>
              <a:t> </a:t>
            </a:r>
            <a:r>
              <a:rPr lang="bg-BG" noProof="0" dirty="0" err="1"/>
              <a:t>проективната</a:t>
            </a:r>
            <a:r>
              <a:rPr lang="bg-BG" noProof="0" dirty="0"/>
              <a:t> матрица с </a:t>
            </a:r>
            <a:r>
              <a:rPr lang="en-US" b="1" noProof="0" dirty="0" err="1"/>
              <a:t>updateProjectionMatrix</a:t>
            </a:r>
            <a:endParaRPr lang="bg-BG" noProof="0" dirty="0"/>
          </a:p>
          <a:p>
            <a:pPr lvl="2"/>
            <a:r>
              <a:rPr lang="bg-BG" noProof="0" dirty="0"/>
              <a:t>Задаваме нови размери на графичното поле</a:t>
            </a:r>
            <a:r>
              <a:rPr lang="en-US" noProof="0" dirty="0"/>
              <a:t> </a:t>
            </a:r>
            <a:r>
              <a:rPr lang="bg-BG" noProof="0" dirty="0"/>
              <a:t>със </a:t>
            </a:r>
            <a:r>
              <a:rPr lang="en-US" b="1" noProof="0" dirty="0" err="1"/>
              <a:t>setSize</a:t>
            </a:r>
            <a:endParaRPr lang="bg-BG" b="1" noProof="0" dirty="0"/>
          </a:p>
          <a:p>
            <a:pPr lvl="1"/>
            <a:endParaRPr lang="bg-BG" sz="1800" b="1" noProof="0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4419600"/>
            <a:ext cx="8534400" cy="2133600"/>
          </a:xfrm>
          <a:prstGeom prst="snip2DiagRect">
            <a:avLst>
              <a:gd name="adj1" fmla="val 0"/>
              <a:gd name="adj2" fmla="val 12213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window.addEventListener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'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resize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', 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onWindowResize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US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onWindowResize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camera.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aspect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window.innerWidth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/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window.innerHeight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camera.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updateProjectionMatrix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renderer.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setSize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window.innerWidth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window.innerHeight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176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4" name="Rectangle 3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304800" y="152400"/>
            <a:ext cx="8610600" cy="6408120"/>
          </a:xfrm>
          <a:prstGeom prst="rect">
            <a:avLst/>
          </a:prstGeom>
        </p:spPr>
        <p:txBody>
          <a:bodyPr/>
          <a:lstStyle/>
          <a:p>
            <a:pPr marL="68580" lvl="0">
              <a:spcBef>
                <a:spcPct val="20000"/>
              </a:spcBef>
              <a:buClr>
                <a:schemeClr val="accent1"/>
              </a:buClr>
              <a:buSzPct val="76000"/>
            </a:pPr>
            <a:endParaRPr kumimoji="0" lang="bg-BG" sz="20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>
                <a:outerShdw blurRad="63500" algn="ctr" rotWithShape="0">
                  <a:srgbClr val="339933">
                    <a:alpha val="40000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122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676275"/>
            <a:ext cx="8048625" cy="526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9" y="381000"/>
            <a:ext cx="3495675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36699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№3 Триъгълник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Изграждане на плътен триъгълник</a:t>
            </a:r>
          </a:p>
          <a:p>
            <a:pPr lvl="1"/>
            <a:r>
              <a:rPr lang="bg-BG" noProof="0" dirty="0"/>
              <a:t>Обекти, които се и</a:t>
            </a:r>
            <a:r>
              <a:rPr lang="bg-BG" dirty="0"/>
              <a:t>з</a:t>
            </a:r>
            <a:r>
              <a:rPr lang="bg-BG" noProof="0" dirty="0" err="1"/>
              <a:t>граждат</a:t>
            </a:r>
            <a:r>
              <a:rPr lang="bg-BG" noProof="0" dirty="0"/>
              <a:t> „ръчно“ изискват повече код от по-сложните, но вградени 3D обекти</a:t>
            </a:r>
          </a:p>
          <a:p>
            <a:pPr lvl="1"/>
            <a:r>
              <a:rPr lang="bg-BG" noProof="0" dirty="0"/>
              <a:t>Създаваме ново геометрично тяло – инстанция на </a:t>
            </a:r>
            <a:r>
              <a:rPr lang="en-US" b="1" noProof="0" dirty="0"/>
              <a:t>Geometry</a:t>
            </a:r>
            <a:endParaRPr lang="bg-BG" b="1" noProof="0" dirty="0"/>
          </a:p>
          <a:p>
            <a:pPr lvl="1"/>
            <a:r>
              <a:rPr lang="bg-BG" dirty="0"/>
              <a:t>Включваме три </a:t>
            </a:r>
            <a:r>
              <a:rPr lang="en-US" b="1" dirty="0"/>
              <a:t>Vector3</a:t>
            </a:r>
            <a:r>
              <a:rPr lang="en-US" dirty="0"/>
              <a:t> </a:t>
            </a:r>
            <a:r>
              <a:rPr lang="bg-BG" dirty="0"/>
              <a:t>върха в масива от върхове </a:t>
            </a:r>
            <a:r>
              <a:rPr lang="en-US" b="1" dirty="0"/>
              <a:t>vertices</a:t>
            </a:r>
            <a:endParaRPr lang="bg-BG" dirty="0"/>
          </a:p>
          <a:p>
            <a:pPr lvl="1"/>
            <a:r>
              <a:rPr lang="bg-BG" noProof="0" dirty="0"/>
              <a:t>За да запълним фигурата, образувана от върховете,</a:t>
            </a:r>
            <a:r>
              <a:rPr lang="en-US" noProof="0" dirty="0"/>
              <a:t> </a:t>
            </a:r>
            <a:r>
              <a:rPr lang="bg-BG" noProof="0" dirty="0"/>
              <a:t>добавяме стена в масива </a:t>
            </a:r>
            <a:r>
              <a:rPr lang="en-US" b="1" noProof="0" dirty="0"/>
              <a:t>faces</a:t>
            </a:r>
            <a:endParaRPr lang="en-US" noProof="0" dirty="0"/>
          </a:p>
          <a:p>
            <a:pPr lvl="1"/>
            <a:r>
              <a:rPr lang="bg-BG" noProof="0" dirty="0"/>
              <a:t>Стената е дефинирана от три върха с индекси 0, 1 и 2 от масива </a:t>
            </a:r>
            <a:r>
              <a:rPr lang="en-US" noProof="0" dirty="0"/>
              <a:t>vertices</a:t>
            </a:r>
            <a:r>
              <a:rPr lang="bg-BG" noProof="0" dirty="0"/>
              <a:t> и е инстанция на </a:t>
            </a:r>
            <a:r>
              <a:rPr lang="en-US" b="1" noProof="0" dirty="0"/>
              <a:t>Face3</a:t>
            </a:r>
            <a:endParaRPr lang="bg-BG" b="1" noProof="0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4648200"/>
            <a:ext cx="8534400" cy="1905000"/>
          </a:xfrm>
          <a:prstGeom prst="snip2DiagRect">
            <a:avLst>
              <a:gd name="adj1" fmla="val 0"/>
              <a:gd name="adj2" fmla="val 1507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geometry = new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Geometry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geometry.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vertices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.push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THREE.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Vector3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-5,  5, 0 ),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THREE.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Vector3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-5, -5, 0 ),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THREE.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Vector3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 5, -5, 0 )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geometry.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faces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.push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new THREE.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Face3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( 0, 1, 2 ) 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695DD4-9C03-43A4-88C2-E6EF5D345F36}"/>
              </a:ext>
            </a:extLst>
          </p:cNvPr>
          <p:cNvSpPr txBox="1"/>
          <p:nvPr/>
        </p:nvSpPr>
        <p:spPr>
          <a:xfrm>
            <a:off x="5294376" y="112070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400" dirty="0">
                <a:solidFill>
                  <a:srgbClr val="FF0000"/>
                </a:solidFill>
              </a:rPr>
              <a:t>В съвременните версии на </a:t>
            </a:r>
            <a:r>
              <a:rPr lang="en-US" sz="1400" dirty="0">
                <a:solidFill>
                  <a:srgbClr val="FF0000"/>
                </a:solidFill>
              </a:rPr>
              <a:t>Three.js</a:t>
            </a:r>
            <a:r>
              <a:rPr lang="bg-BG" sz="1400" dirty="0">
                <a:solidFill>
                  <a:srgbClr val="FF0000"/>
                </a:solidFill>
              </a:rPr>
              <a:t> се ползва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bg-BG" sz="1400" dirty="0">
                <a:solidFill>
                  <a:srgbClr val="FF0000"/>
                </a:solidFill>
              </a:rPr>
              <a:t>буферна геометрия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9B3A647-7F9E-4089-859E-C53F7BD3A17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7008876" y="635290"/>
            <a:ext cx="1144524" cy="19555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51765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4" name="Rectangle 3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304800" y="152400"/>
            <a:ext cx="8610600" cy="6408120"/>
          </a:xfrm>
          <a:prstGeom prst="rect">
            <a:avLst/>
          </a:prstGeom>
        </p:spPr>
        <p:txBody>
          <a:bodyPr/>
          <a:lstStyle/>
          <a:p>
            <a:pPr marL="68580" lvl="0">
              <a:spcBef>
                <a:spcPct val="20000"/>
              </a:spcBef>
              <a:buClr>
                <a:schemeClr val="accent1"/>
              </a:buClr>
              <a:buSzPct val="76000"/>
            </a:pPr>
            <a:endParaRPr kumimoji="0" lang="bg-BG" sz="20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>
                <a:outerShdw blurRad="63500" algn="ctr" rotWithShape="0">
                  <a:srgbClr val="339933">
                    <a:alpha val="40000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533400"/>
            <a:ext cx="8048625" cy="526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36699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Промяна на върхове</a:t>
            </a:r>
          </a:p>
          <a:p>
            <a:pPr lvl="1"/>
            <a:r>
              <a:rPr lang="bg-BG" noProof="0" dirty="0"/>
              <a:t>Искаме единият от върховете да се движи непрекъснато</a:t>
            </a:r>
          </a:p>
          <a:p>
            <a:pPr lvl="1"/>
            <a:r>
              <a:rPr lang="bg-BG" noProof="0" dirty="0"/>
              <a:t>Създаваме функция </a:t>
            </a:r>
            <a:r>
              <a:rPr lang="en-US" b="1" noProof="0" dirty="0" err="1"/>
              <a:t>updateVertices</a:t>
            </a:r>
            <a:r>
              <a:rPr lang="bg-BG" noProof="0" dirty="0"/>
              <a:t>, която ще променя връх на триъгълника</a:t>
            </a:r>
          </a:p>
          <a:p>
            <a:pPr lvl="1"/>
            <a:r>
              <a:rPr lang="bg-BG" dirty="0"/>
              <a:t>Извикваме я от цикъла</a:t>
            </a:r>
            <a:r>
              <a:rPr lang="en-US" dirty="0"/>
              <a:t>,</a:t>
            </a:r>
            <a:r>
              <a:rPr lang="bg-BG" dirty="0"/>
              <a:t> направен с </a:t>
            </a:r>
            <a:r>
              <a:rPr lang="en-US" b="1" dirty="0" err="1"/>
              <a:t>drawFrame</a:t>
            </a:r>
            <a:endParaRPr lang="bg-BG" b="1" dirty="0"/>
          </a:p>
          <a:p>
            <a:pPr lvl="1"/>
            <a:r>
              <a:rPr lang="bg-BG" dirty="0"/>
              <a:t>Но триъгълникът не се променя. Защо?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3429000"/>
            <a:ext cx="8534400" cy="3124200"/>
          </a:xfrm>
          <a:prstGeom prst="snip2DiagRect">
            <a:avLst>
              <a:gd name="adj1" fmla="val 0"/>
              <a:gd name="adj2" fmla="val 828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079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updateVertices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function() {</a:t>
            </a:r>
          </a:p>
          <a:p>
            <a:pPr marL="107950" lvl="1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if(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triangle.geometry.vertices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[0].x &lt; 5)</a:t>
            </a:r>
          </a:p>
          <a:p>
            <a:pPr marL="1079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triangle.geometry.vertices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[0].x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0.1;</a:t>
            </a:r>
          </a:p>
          <a:p>
            <a:pPr marL="1079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е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lse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079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triangle.geometry.vertices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[0].x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-5;</a:t>
            </a:r>
          </a:p>
          <a:p>
            <a:pPr marL="1079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079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079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drawFrame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function () {</a:t>
            </a:r>
          </a:p>
          <a:p>
            <a:pPr marL="1079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:</a:t>
            </a:r>
          </a:p>
          <a:p>
            <a:pPr marL="1079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updateVertices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1079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:</a:t>
            </a:r>
          </a:p>
          <a:p>
            <a:pPr marL="1079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bg-BG" sz="17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1765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bg-BG" noProof="0" dirty="0"/>
              <a:t>При генерирането на обект координатите от</a:t>
            </a:r>
            <a:r>
              <a:rPr lang="en-US" noProof="0" dirty="0"/>
              <a:t> </a:t>
            </a:r>
            <a:r>
              <a:rPr lang="bg-BG" noProof="0" dirty="0"/>
              <a:t>масива </a:t>
            </a:r>
            <a:r>
              <a:rPr lang="en-US" b="1" noProof="0" dirty="0"/>
              <a:t>vertices</a:t>
            </a:r>
            <a:r>
              <a:rPr lang="bg-BG" noProof="0" dirty="0"/>
              <a:t> се ползват еднократно</a:t>
            </a:r>
          </a:p>
          <a:p>
            <a:pPr lvl="1"/>
            <a:r>
              <a:rPr lang="bg-BG" dirty="0"/>
              <a:t>Ако те се сменят след това, формата на обекта няма да се </a:t>
            </a:r>
            <a:r>
              <a:rPr lang="bg-BG" dirty="0" err="1"/>
              <a:t>прегенерира</a:t>
            </a:r>
            <a:r>
              <a:rPr lang="bg-BG" dirty="0"/>
              <a:t> от </a:t>
            </a:r>
            <a:r>
              <a:rPr lang="bg-BG" dirty="0" err="1"/>
              <a:t>самосебе</a:t>
            </a:r>
            <a:r>
              <a:rPr lang="bg-BG" dirty="0"/>
              <a:t> си</a:t>
            </a:r>
          </a:p>
          <a:p>
            <a:pPr lvl="1"/>
            <a:r>
              <a:rPr lang="bg-BG" noProof="0" dirty="0"/>
              <a:t>Със свойството </a:t>
            </a:r>
            <a:r>
              <a:rPr lang="bg-BG" b="1" noProof="0" dirty="0" err="1"/>
              <a:t>verticesNeedUpdate</a:t>
            </a:r>
            <a:r>
              <a:rPr lang="bg-BG" noProof="0" dirty="0"/>
              <a:t> указваме, че върховете са променени и формата трябва да се генерира отново</a:t>
            </a:r>
          </a:p>
          <a:p>
            <a:pPr lvl="1"/>
            <a:r>
              <a:rPr lang="bg-BG" dirty="0"/>
              <a:t>Това свойство трябва да се прави </a:t>
            </a:r>
            <a:r>
              <a:rPr lang="en-US" b="1" dirty="0"/>
              <a:t>true</a:t>
            </a:r>
            <a:r>
              <a:rPr lang="bg-BG" dirty="0"/>
              <a:t> след всяка промяна на върховете</a:t>
            </a:r>
          </a:p>
          <a:p>
            <a:pPr lvl="1"/>
            <a:r>
              <a:rPr lang="bg-BG" noProof="0" dirty="0"/>
              <a:t>Забележка: поради </a:t>
            </a:r>
            <a:r>
              <a:rPr lang="bg-BG" noProof="0" dirty="0" err="1"/>
              <a:t>преизползването</a:t>
            </a:r>
            <a:r>
              <a:rPr lang="bg-BG" noProof="0" dirty="0"/>
              <a:t> на обекти в </a:t>
            </a:r>
            <a:r>
              <a:rPr lang="en-US" noProof="0" dirty="0" err="1"/>
              <a:t>JS</a:t>
            </a:r>
            <a:r>
              <a:rPr lang="en-US" noProof="0" dirty="0"/>
              <a:t>, </a:t>
            </a:r>
            <a:r>
              <a:rPr lang="bg-BG" noProof="0" dirty="0"/>
              <a:t>вместо </a:t>
            </a:r>
            <a:r>
              <a:rPr lang="en-US" b="1" noProof="0" dirty="0" err="1"/>
              <a:t>triangle.geometry.verticesNeedUpdate</a:t>
            </a:r>
            <a:r>
              <a:rPr lang="bg-BG" noProof="0" dirty="0"/>
              <a:t> можем да ползваме само </a:t>
            </a:r>
            <a:r>
              <a:rPr lang="en-US" b="1" dirty="0" err="1"/>
              <a:t>geometry.verticesNeedUpdate</a:t>
            </a:r>
            <a:endParaRPr lang="bg-BG" b="1" noProof="0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4191000"/>
            <a:ext cx="8534400" cy="2362200"/>
          </a:xfrm>
          <a:prstGeom prst="snip2DiagRect">
            <a:avLst>
              <a:gd name="adj1" fmla="val 0"/>
              <a:gd name="adj2" fmla="val 12213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updateVertices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function() 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if(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triangle.geometry.vertices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[0].x &lt; 5) 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triangle.geometry.vertices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[0].x += 0.1;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else 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triangle.geometry.vertices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[0].x = -5;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triangle.ge</a:t>
            </a:r>
            <a:r>
              <a:rPr lang="bg-BG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о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metry.verticesNeedUpdate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true;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bg-BG" sz="17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1765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Промяна на цвят</a:t>
            </a:r>
          </a:p>
          <a:p>
            <a:pPr lvl="1"/>
            <a:r>
              <a:rPr lang="bg-BG" dirty="0"/>
              <a:t>Всеки от върховете на стена може да има свой цвят</a:t>
            </a:r>
          </a:p>
          <a:p>
            <a:pPr lvl="1"/>
            <a:r>
              <a:rPr lang="bg-BG" noProof="0" dirty="0"/>
              <a:t>При рисуване</a:t>
            </a:r>
            <a:r>
              <a:rPr lang="bg-BG" dirty="0"/>
              <a:t> на стената цветът на вътрешността се </a:t>
            </a:r>
            <a:r>
              <a:rPr lang="bg-BG" dirty="0" err="1"/>
              <a:t>интерполира</a:t>
            </a:r>
            <a:r>
              <a:rPr lang="bg-BG" dirty="0"/>
              <a:t> от цветовете на върховете </a:t>
            </a:r>
            <a:endParaRPr lang="bg-BG" noProof="0" dirty="0"/>
          </a:p>
          <a:p>
            <a:pPr lvl="1"/>
            <a:endParaRPr lang="bg-BG" noProof="0" dirty="0"/>
          </a:p>
          <a:p>
            <a:r>
              <a:rPr lang="bg-BG" dirty="0"/>
              <a:t>Реализация</a:t>
            </a:r>
          </a:p>
          <a:p>
            <a:pPr lvl="1"/>
            <a:r>
              <a:rPr lang="bg-BG" noProof="0" dirty="0"/>
              <a:t>Цветовете се записват в масива </a:t>
            </a:r>
            <a:r>
              <a:rPr lang="en-US" b="1" noProof="0" dirty="0" err="1"/>
              <a:t>vertexColors</a:t>
            </a:r>
            <a:r>
              <a:rPr lang="en-US" dirty="0"/>
              <a:t> </a:t>
            </a:r>
            <a:r>
              <a:rPr lang="bg-BG" dirty="0"/>
              <a:t>на стена</a:t>
            </a:r>
          </a:p>
          <a:p>
            <a:pPr lvl="1"/>
            <a:r>
              <a:rPr lang="bg-BG" dirty="0"/>
              <a:t>Дефинираме цветовете като инстанции на </a:t>
            </a:r>
            <a:r>
              <a:rPr lang="en-US" b="1" dirty="0"/>
              <a:t>Color</a:t>
            </a:r>
          </a:p>
          <a:p>
            <a:pPr lvl="1"/>
            <a:r>
              <a:rPr lang="bg-BG" dirty="0"/>
              <a:t>В материала на триъгълника указваме с </a:t>
            </a:r>
            <a:r>
              <a:rPr lang="en-US" b="1" dirty="0" err="1"/>
              <a:t>VertexColors</a:t>
            </a:r>
            <a:r>
              <a:rPr lang="bg-BG" dirty="0"/>
              <a:t>, че цветовете ще се вземат от върховете</a:t>
            </a:r>
            <a:endParaRPr lang="bg-BG" noProof="0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4495800"/>
            <a:ext cx="8534400" cy="2057400"/>
          </a:xfrm>
          <a:prstGeom prst="snip2DiagRect">
            <a:avLst>
              <a:gd name="adj1" fmla="val 0"/>
              <a:gd name="adj2" fmla="val 12213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face = new THREE.Face3(0, 1, 2);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face.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vertexColors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(0xff0000);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face.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vertexColors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(0x00ff00);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face.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vertexColors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[2]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(0x0000ff);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geometry.faces.push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(face);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US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material = new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THREE.MeshBasicMaterial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	   {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vertexColors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VertexColors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9151765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4" name="Rectangle 3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304800" y="152400"/>
            <a:ext cx="8610600" cy="6408120"/>
          </a:xfrm>
          <a:prstGeom prst="rect">
            <a:avLst/>
          </a:prstGeom>
        </p:spPr>
        <p:txBody>
          <a:bodyPr/>
          <a:lstStyle/>
          <a:p>
            <a:pPr marL="68580" lvl="0">
              <a:spcBef>
                <a:spcPct val="20000"/>
              </a:spcBef>
              <a:buClr>
                <a:schemeClr val="accent1"/>
              </a:buClr>
              <a:buSzPct val="76000"/>
            </a:pPr>
            <a:endParaRPr kumimoji="0" lang="bg-BG" sz="20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>
                <a:outerShdw blurRad="63500" algn="ctr" rotWithShape="0">
                  <a:srgbClr val="339933">
                    <a:alpha val="40000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05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533400"/>
            <a:ext cx="8048625" cy="526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36699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Интерактивност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474375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№4 Интерактивност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Библиотека </a:t>
            </a:r>
            <a:r>
              <a:rPr lang="en-US" noProof="0" dirty="0" err="1"/>
              <a:t>OrbitControls</a:t>
            </a:r>
            <a:r>
              <a:rPr lang="en-US" noProof="0" dirty="0"/>
              <a:t> (</a:t>
            </a:r>
            <a:r>
              <a:rPr lang="en-US" b="0" dirty="0"/>
              <a:t>o</a:t>
            </a:r>
            <a:r>
              <a:rPr lang="bg-BG" b="0" dirty="0" err="1"/>
              <a:t>rbit_</a:t>
            </a:r>
            <a:r>
              <a:rPr lang="en-US" b="0" dirty="0"/>
              <a:t>c</a:t>
            </a:r>
            <a:r>
              <a:rPr lang="bg-BG" b="0" dirty="0" err="1"/>
              <a:t>ontrols</a:t>
            </a:r>
            <a:r>
              <a:rPr lang="bg-BG" b="0" dirty="0"/>
              <a:t>.</a:t>
            </a:r>
            <a:r>
              <a:rPr lang="bg-BG" b="0" dirty="0" err="1"/>
              <a:t>js</a:t>
            </a:r>
            <a:r>
              <a:rPr lang="en-US" dirty="0"/>
              <a:t>)</a:t>
            </a:r>
            <a:endParaRPr lang="bg-BG" noProof="0" dirty="0"/>
          </a:p>
          <a:p>
            <a:pPr lvl="1"/>
            <a:r>
              <a:rPr lang="bg-BG" noProof="0" dirty="0"/>
              <a:t>Предоставя възможности и за лесно боравене с мишката</a:t>
            </a:r>
          </a:p>
          <a:p>
            <a:pPr lvl="1"/>
            <a:r>
              <a:rPr lang="bg-BG" noProof="0" dirty="0"/>
              <a:t>Въртенето на сцената с мишката, както и приближаване и отдалечаване със </a:t>
            </a:r>
            <a:r>
              <a:rPr lang="bg-BG" noProof="0" dirty="0" err="1"/>
              <a:t>скрол</a:t>
            </a:r>
            <a:r>
              <a:rPr lang="bg-BG" noProof="0" dirty="0"/>
              <a:t> става изключително лесно </a:t>
            </a:r>
          </a:p>
          <a:p>
            <a:pPr lvl="1"/>
            <a:r>
              <a:rPr lang="bg-BG" noProof="0" dirty="0"/>
              <a:t>Създаваме нов обект от тип </a:t>
            </a:r>
            <a:r>
              <a:rPr lang="bg-BG" b="1" noProof="0" dirty="0" err="1"/>
              <a:t>OrbitControls</a:t>
            </a:r>
            <a:r>
              <a:rPr lang="bg-BG" noProof="0" dirty="0"/>
              <a:t>, който свързваме с камерата, за да контролира движението</a:t>
            </a:r>
          </a:p>
          <a:p>
            <a:pPr lvl="1"/>
            <a:r>
              <a:rPr lang="bg-BG" noProof="0" dirty="0"/>
              <a:t>С </a:t>
            </a:r>
            <a:r>
              <a:rPr lang="en-US" b="1" noProof="0" dirty="0"/>
              <a:t>update</a:t>
            </a:r>
            <a:r>
              <a:rPr lang="bg-BG" noProof="0" dirty="0"/>
              <a:t> обновяваме </a:t>
            </a:r>
            <a:r>
              <a:rPr lang="bg-BG" dirty="0"/>
              <a:t>данните </a:t>
            </a:r>
            <a:r>
              <a:rPr lang="bg-BG" noProof="0" dirty="0"/>
              <a:t>за обекта (местоположение на мишката, дали е натиснат бутон и т.н.)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4419600"/>
            <a:ext cx="8534400" cy="2133600"/>
          </a:xfrm>
          <a:prstGeom prst="snip2DiagRect">
            <a:avLst>
              <a:gd name="adj1" fmla="val 0"/>
              <a:gd name="adj2" fmla="val 12213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controls = new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OrbitControls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camera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render = function () 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requestAnimationFrame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render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controls.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camera.lookAt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scene.position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renderer.render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(scene, camera);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bg-BG" sz="17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1765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4" name="Rectangle 3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304800" y="152400"/>
            <a:ext cx="8610600" cy="6408120"/>
          </a:xfrm>
          <a:prstGeom prst="rect">
            <a:avLst/>
          </a:prstGeom>
        </p:spPr>
        <p:txBody>
          <a:bodyPr/>
          <a:lstStyle/>
          <a:p>
            <a:pPr marL="68580" lvl="0">
              <a:spcBef>
                <a:spcPct val="20000"/>
              </a:spcBef>
              <a:buClr>
                <a:schemeClr val="accent1"/>
              </a:buClr>
              <a:buSzPct val="76000"/>
            </a:pPr>
            <a:endParaRPr kumimoji="0" lang="bg-BG" sz="20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>
                <a:outerShdw blurRad="63500" algn="ctr" rotWithShape="0">
                  <a:srgbClr val="339933">
                    <a:alpha val="40000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074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533400"/>
            <a:ext cx="8048625" cy="526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36699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Избор на обект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Още малко интерактивност</a:t>
            </a:r>
          </a:p>
          <a:p>
            <a:pPr lvl="1"/>
            <a:r>
              <a:rPr lang="bg-BG" noProof="0" dirty="0"/>
              <a:t>Засичаме обект с мишката и при кликване върху него променяме цвета на обекта</a:t>
            </a:r>
          </a:p>
          <a:p>
            <a:pPr lvl="1"/>
            <a:endParaRPr lang="bg-BG" dirty="0"/>
          </a:p>
          <a:p>
            <a:r>
              <a:rPr lang="bg-BG" noProof="0" dirty="0"/>
              <a:t>Идея  за реализация</a:t>
            </a:r>
          </a:p>
          <a:p>
            <a:pPr lvl="1"/>
            <a:r>
              <a:rPr lang="bg-BG" noProof="0" dirty="0"/>
              <a:t>Следим събитието за кликване с мишката</a:t>
            </a:r>
          </a:p>
          <a:p>
            <a:pPr lvl="1"/>
            <a:r>
              <a:rPr lang="bg-BG" dirty="0"/>
              <a:t>Пускаме лъч от камерата по посока на погледа</a:t>
            </a:r>
          </a:p>
          <a:p>
            <a:pPr lvl="1"/>
            <a:r>
              <a:rPr lang="bg-BG" noProof="0" dirty="0"/>
              <a:t>Намираме всички обекти, пресичащи лъча</a:t>
            </a:r>
          </a:p>
          <a:p>
            <a:pPr lvl="1"/>
            <a:r>
              <a:rPr lang="bg-BG" dirty="0"/>
              <a:t>Променяме ги</a:t>
            </a:r>
            <a:endParaRPr lang="bg-BG" noProof="0" dirty="0"/>
          </a:p>
          <a:p>
            <a:pPr lvl="1"/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9151765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noProof="0" dirty="0"/>
              <a:t>Локални екранни координати</a:t>
            </a:r>
          </a:p>
          <a:p>
            <a:pPr lvl="1"/>
            <a:r>
              <a:rPr lang="bg-BG" dirty="0"/>
              <a:t>Прехващаме събитието </a:t>
            </a:r>
            <a:r>
              <a:rPr lang="en-US" b="1" dirty="0" err="1"/>
              <a:t>mousedown</a:t>
            </a:r>
            <a:endParaRPr lang="en-US" b="1" dirty="0"/>
          </a:p>
          <a:p>
            <a:pPr lvl="1"/>
            <a:r>
              <a:rPr lang="bg-BG" dirty="0"/>
              <a:t>Преобразуваме координатите на мишката </a:t>
            </a:r>
            <a:r>
              <a:rPr lang="en-US" b="1" dirty="0" err="1"/>
              <a:t>clientX</a:t>
            </a:r>
            <a:r>
              <a:rPr lang="bg-BG" dirty="0"/>
              <a:t> и </a:t>
            </a:r>
            <a:r>
              <a:rPr lang="en-US" b="1" dirty="0" err="1"/>
              <a:t>clientY</a:t>
            </a:r>
            <a:r>
              <a:rPr lang="en-US" dirty="0"/>
              <a:t>, </a:t>
            </a:r>
            <a:r>
              <a:rPr lang="bg-BG" dirty="0"/>
              <a:t>като отчитаме смяната на посоката на координатите по </a:t>
            </a:r>
            <a:r>
              <a:rPr lang="en-US" dirty="0"/>
              <a:t>Y</a:t>
            </a:r>
            <a:endParaRPr lang="bg-BG" dirty="0"/>
          </a:p>
          <a:p>
            <a:pPr lvl="1"/>
            <a:r>
              <a:rPr lang="bg-BG" dirty="0"/>
              <a:t>Целта е да получим локални екранни координати</a:t>
            </a:r>
          </a:p>
          <a:p>
            <a:pPr lvl="1"/>
            <a:r>
              <a:rPr lang="bg-BG" dirty="0"/>
              <a:t>При тях графичното поле с</a:t>
            </a:r>
            <a:r>
              <a:rPr lang="en-US" dirty="0"/>
              <a:t>e </a:t>
            </a:r>
            <a:r>
              <a:rPr lang="bg-BG" dirty="0"/>
              <a:t>простира от (-1,-</a:t>
            </a:r>
            <a:r>
              <a:rPr lang="bg-BG" dirty="0" err="1"/>
              <a:t>1</a:t>
            </a:r>
            <a:r>
              <a:rPr lang="bg-BG" dirty="0"/>
              <a:t>) до (+1,+</a:t>
            </a:r>
            <a:r>
              <a:rPr lang="bg-BG" dirty="0" err="1"/>
              <a:t>1</a:t>
            </a:r>
            <a:r>
              <a:rPr lang="bg-BG" dirty="0"/>
              <a:t>)</a:t>
            </a:r>
          </a:p>
          <a:p>
            <a:pPr lvl="1"/>
            <a:r>
              <a:rPr lang="bg-BG" dirty="0"/>
              <a:t>Изчислените екранни координати запомняме в 2</a:t>
            </a:r>
            <a:r>
              <a:rPr lang="en-US" dirty="0"/>
              <a:t>D</a:t>
            </a:r>
            <a:r>
              <a:rPr lang="bg-BG" dirty="0"/>
              <a:t> вектор </a:t>
            </a:r>
            <a:r>
              <a:rPr lang="en-US" b="1" dirty="0"/>
              <a:t>mouse2D</a:t>
            </a:r>
            <a:r>
              <a:rPr lang="bg-BG" dirty="0"/>
              <a:t>, който е инстанция на </a:t>
            </a:r>
            <a:r>
              <a:rPr lang="en-US" b="1" dirty="0"/>
              <a:t>Vector2</a:t>
            </a:r>
            <a:endParaRPr lang="bg-BG" b="1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4572000"/>
            <a:ext cx="8534400" cy="1981200"/>
          </a:xfrm>
          <a:prstGeom prst="snip2DiagRect">
            <a:avLst>
              <a:gd name="adj1" fmla="val 0"/>
              <a:gd name="adj2" fmla="val 1541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document.addEventListener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'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mousedown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',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onDocumentMouseDown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onDocumentMouseDown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event ) {    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</a:t>
            </a:r>
            <a:r>
              <a:rPr lang="bg-BG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Vector</a:t>
            </a:r>
            <a:r>
              <a:rPr lang="bg-BG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endParaRPr lang="bg-BG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 lvl="2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event.clientX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window.innerWidth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2 - 1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  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-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event.clientY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window.innerHeight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2 + 1</a:t>
            </a:r>
            <a:r>
              <a:rPr lang="bg-BG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bg-BG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151765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Трасиране с лъч</a:t>
            </a:r>
            <a:endParaRPr lang="bg-BG" noProof="0" dirty="0"/>
          </a:p>
          <a:p>
            <a:pPr lvl="1"/>
            <a:r>
              <a:rPr lang="bg-BG" noProof="0" dirty="0"/>
              <a:t>Създаването на лъч става с </a:t>
            </a:r>
            <a:r>
              <a:rPr lang="bg-BG" b="1" noProof="0" dirty="0" err="1"/>
              <a:t>Raycaster</a:t>
            </a:r>
            <a:endParaRPr lang="bg-BG" b="1" noProof="0" dirty="0"/>
          </a:p>
          <a:p>
            <a:pPr lvl="1"/>
            <a:r>
              <a:rPr lang="bg-BG" noProof="0" dirty="0"/>
              <a:t>Нагласянето му спрямо </a:t>
            </a:r>
            <a:r>
              <a:rPr lang="bg-BG" dirty="0"/>
              <a:t>гледната точка </a:t>
            </a:r>
            <a:r>
              <a:rPr lang="bg-BG" noProof="0" dirty="0"/>
              <a:t>става със </a:t>
            </a:r>
            <a:r>
              <a:rPr lang="bg-BG" b="1" noProof="0" dirty="0" err="1"/>
              <a:t>setFromCamera</a:t>
            </a:r>
            <a:r>
              <a:rPr lang="bg-BG" noProof="0" dirty="0"/>
              <a:t>, като подаваме локалните екранни координати </a:t>
            </a:r>
            <a:r>
              <a:rPr lang="en-US" b="1" noProof="0" dirty="0"/>
              <a:t>mouse2D</a:t>
            </a:r>
            <a:r>
              <a:rPr lang="bg-BG" noProof="0" dirty="0"/>
              <a:t> и текущата гледна точка </a:t>
            </a:r>
            <a:r>
              <a:rPr lang="en-US" b="1" noProof="0" dirty="0"/>
              <a:t>camera</a:t>
            </a:r>
            <a:endParaRPr lang="bg-BG" b="1" noProof="0" dirty="0"/>
          </a:p>
          <a:p>
            <a:pPr lvl="1"/>
            <a:r>
              <a:rPr lang="bg-BG" noProof="0" dirty="0"/>
              <a:t>С метода </a:t>
            </a:r>
            <a:r>
              <a:rPr lang="bg-BG" b="1" noProof="0" dirty="0" err="1"/>
              <a:t>intersectObjects</a:t>
            </a:r>
            <a:r>
              <a:rPr lang="bg-BG" noProof="0" dirty="0"/>
              <a:t> намираме кои от подадените</a:t>
            </a:r>
            <a:r>
              <a:rPr lang="en-US" noProof="0" dirty="0"/>
              <a:t> </a:t>
            </a:r>
            <a:r>
              <a:rPr lang="bg-BG" noProof="0" dirty="0"/>
              <a:t>в параметъра-масив обекти се пресичат от лъча</a:t>
            </a:r>
          </a:p>
          <a:p>
            <a:pPr lvl="1"/>
            <a:r>
              <a:rPr lang="bg-BG" dirty="0"/>
              <a:t>Резултатът е масив </a:t>
            </a:r>
            <a:r>
              <a:rPr lang="en-US" b="1" dirty="0"/>
              <a:t>intersects</a:t>
            </a:r>
            <a:r>
              <a:rPr lang="bg-BG" dirty="0"/>
              <a:t> от обекти</a:t>
            </a:r>
          </a:p>
          <a:p>
            <a:pPr lvl="1"/>
            <a:r>
              <a:rPr lang="bg-BG" noProof="0" dirty="0"/>
              <a:t>На първия обект от този масив сменяме цвета на материала да е случаен от </a:t>
            </a:r>
            <a:r>
              <a:rPr lang="en-US" noProof="0" dirty="0"/>
              <a:t>0x000000</a:t>
            </a:r>
            <a:r>
              <a:rPr lang="bg-BG" noProof="0" dirty="0"/>
              <a:t> до </a:t>
            </a:r>
            <a:r>
              <a:rPr lang="en-US" noProof="0" dirty="0"/>
              <a:t>0xFFFFFF</a:t>
            </a:r>
            <a:r>
              <a:rPr lang="bg-BG" noProof="0" dirty="0"/>
              <a:t> със </a:t>
            </a:r>
            <a:r>
              <a:rPr lang="en-US" b="1" noProof="0" dirty="0" err="1"/>
              <a:t>setHex</a:t>
            </a:r>
            <a:endParaRPr lang="bg-BG" noProof="0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4267200"/>
            <a:ext cx="8534400" cy="2286000"/>
          </a:xfrm>
          <a:prstGeom prst="snip2DiagRect">
            <a:avLst>
              <a:gd name="adj1" fmla="val 0"/>
              <a:gd name="adj2" fmla="val 12213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onDocumentMouseDown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event ) {    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bg-BG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US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raycaster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 new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Raycaster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                                        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raycaster.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setFromCamera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mouse2D, camera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intersects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raycaster.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intersectObjects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[triangle]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 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intersects.length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0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intersects[0].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object.material.color.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setHex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Math.random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()*0xffffff);</a:t>
            </a:r>
            <a:endParaRPr lang="bg-BG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bg-BG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1765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4" name="Rectangle 3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4098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"/>
            <a:ext cx="4023360" cy="2633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52" y="3276600"/>
            <a:ext cx="4023360" cy="2633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640" y="381622"/>
            <a:ext cx="4023360" cy="2633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688" y="3275978"/>
            <a:ext cx="4023360" cy="2633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36699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Текстури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82291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Къщичка с текстури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Цел</a:t>
            </a:r>
          </a:p>
          <a:p>
            <a:pPr lvl="1"/>
            <a:r>
              <a:rPr lang="bg-BG" noProof="0" dirty="0"/>
              <a:t>Ще създадем прост вариант на къщичка </a:t>
            </a:r>
          </a:p>
          <a:p>
            <a:pPr lvl="1"/>
            <a:r>
              <a:rPr lang="bg-BG" dirty="0"/>
              <a:t>Стени</a:t>
            </a:r>
            <a:r>
              <a:rPr lang="bg-BG" noProof="0" dirty="0"/>
              <a:t> и покрив с текстури, без прозорци, врата и комин</a:t>
            </a:r>
          </a:p>
          <a:p>
            <a:pPr lvl="1"/>
            <a:endParaRPr lang="bg-BG" noProof="0" dirty="0"/>
          </a:p>
          <a:p>
            <a:r>
              <a:rPr lang="bg-BG" dirty="0"/>
              <a:t>Покрив</a:t>
            </a:r>
          </a:p>
          <a:p>
            <a:pPr lvl="1"/>
            <a:r>
              <a:rPr lang="bg-BG" noProof="0" dirty="0"/>
              <a:t>Покривът ще бъде конус</a:t>
            </a:r>
          </a:p>
          <a:p>
            <a:pPr lvl="1"/>
            <a:r>
              <a:rPr lang="bg-BG" noProof="0" dirty="0"/>
              <a:t>В </a:t>
            </a:r>
            <a:r>
              <a:rPr lang="en-US" noProof="0" dirty="0"/>
              <a:t>three.js </a:t>
            </a:r>
            <a:r>
              <a:rPr lang="bg-BG" noProof="0" dirty="0"/>
              <a:t>няма отделен примитив за конуси, затова ползваме цилиндър </a:t>
            </a:r>
            <a:r>
              <a:rPr lang="bg-BG" b="1" noProof="0" dirty="0" err="1"/>
              <a:t>CylinderGeometry</a:t>
            </a:r>
            <a:r>
              <a:rPr lang="bg-BG" noProof="0" dirty="0"/>
              <a:t> с параметри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bg-BG" noProof="0" dirty="0"/>
              <a:t>Радиус на горната основа 0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bg-BG" noProof="0" dirty="0"/>
              <a:t>Радиус на долна основа 4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bg-BG" noProof="0" dirty="0"/>
              <a:t>Височина 4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bg-BG" dirty="0"/>
              <a:t>Б</a:t>
            </a:r>
            <a:r>
              <a:rPr lang="bg-BG" noProof="0" dirty="0"/>
              <a:t>рой странични сегменти 32</a:t>
            </a:r>
          </a:p>
          <a:p>
            <a:pPr lvl="1"/>
            <a:endParaRPr lang="bg-BG" noProof="0" dirty="0"/>
          </a:p>
        </p:txBody>
      </p:sp>
      <p:sp>
        <p:nvSpPr>
          <p:cNvPr id="5" name="Snip Diagonal Corner Rectangle 4"/>
          <p:cNvSpPr/>
          <p:nvPr/>
        </p:nvSpPr>
        <p:spPr>
          <a:xfrm>
            <a:off x="304800" y="6019800"/>
            <a:ext cx="8534400" cy="533400"/>
          </a:xfrm>
          <a:prstGeom prst="snip2DiagRect">
            <a:avLst>
              <a:gd name="adj1" fmla="val 0"/>
              <a:gd name="adj2" fmla="val 48034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roof = new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CylinderGeometry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( 0, 4, 4, 32 );</a:t>
            </a:r>
          </a:p>
        </p:txBody>
      </p:sp>
    </p:spTree>
    <p:extLst>
      <p:ext uri="{BB962C8B-B14F-4D97-AF65-F5344CB8AC3E}">
        <p14:creationId xmlns:p14="http://schemas.microsoft.com/office/powerpoint/2010/main" val="9151765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Текстури</a:t>
            </a:r>
          </a:p>
          <a:p>
            <a:pPr lvl="1"/>
            <a:r>
              <a:rPr lang="bg-BG" dirty="0"/>
              <a:t>Чрез </a:t>
            </a:r>
            <a:r>
              <a:rPr lang="bg-BG" b="1" dirty="0" err="1"/>
              <a:t>ImageUtils</a:t>
            </a:r>
            <a:r>
              <a:rPr lang="bg-BG" b="1" dirty="0"/>
              <a:t>.</a:t>
            </a:r>
            <a:r>
              <a:rPr lang="bg-BG" b="1" dirty="0" err="1"/>
              <a:t>loadTexture</a:t>
            </a:r>
            <a:r>
              <a:rPr lang="bg-BG" dirty="0"/>
              <a:t> подаваме картинка за текстура</a:t>
            </a:r>
          </a:p>
          <a:p>
            <a:pPr lvl="1"/>
            <a:r>
              <a:rPr lang="bg-BG" noProof="0" dirty="0"/>
              <a:t>Със свойството </a:t>
            </a:r>
            <a:r>
              <a:rPr lang="bg-BG" b="1" noProof="0" dirty="0" err="1"/>
              <a:t>anis</a:t>
            </a:r>
            <a:r>
              <a:rPr lang="en-US" b="1" noProof="0" dirty="0"/>
              <a:t>o</a:t>
            </a:r>
            <a:r>
              <a:rPr lang="bg-BG" b="1" noProof="0" dirty="0" err="1"/>
              <a:t>tropy</a:t>
            </a:r>
            <a:r>
              <a:rPr lang="bg-BG" noProof="0" dirty="0"/>
              <a:t> и метода </a:t>
            </a:r>
            <a:r>
              <a:rPr lang="en-US" b="1" noProof="0" dirty="0" err="1"/>
              <a:t>getMaxAnisotropy</a:t>
            </a:r>
            <a:r>
              <a:rPr lang="bg-BG" b="1" noProof="0" dirty="0"/>
              <a:t> </a:t>
            </a:r>
            <a:r>
              <a:rPr lang="bg-BG" dirty="0"/>
              <a:t>превключваме на </a:t>
            </a:r>
            <a:r>
              <a:rPr lang="bg-BG" dirty="0" err="1"/>
              <a:t>текстурно</a:t>
            </a:r>
            <a:r>
              <a:rPr lang="bg-BG" dirty="0"/>
              <a:t> заглаждане</a:t>
            </a:r>
            <a:endParaRPr lang="en-US" dirty="0"/>
          </a:p>
          <a:p>
            <a:pPr marL="685800" lvl="2" indent="0">
              <a:buNone/>
            </a:pPr>
            <a:r>
              <a:rPr lang="bg-BG" dirty="0"/>
              <a:t>Забележка: ползват се няколко съседни пиксела от текстура (понякога </a:t>
            </a:r>
            <a:r>
              <a:rPr lang="bg-BG"/>
              <a:t>резултатът е по-добър </a:t>
            </a:r>
            <a:r>
              <a:rPr lang="bg-BG" dirty="0"/>
              <a:t>спрямо </a:t>
            </a:r>
            <a:r>
              <a:rPr lang="bg-BG" dirty="0" err="1"/>
              <a:t>текстурно</a:t>
            </a:r>
            <a:r>
              <a:rPr lang="bg-BG" dirty="0"/>
              <a:t> заглаждане с алтернативни техники като </a:t>
            </a:r>
            <a:r>
              <a:rPr lang="en-US" dirty="0" err="1"/>
              <a:t>mipmap</a:t>
            </a:r>
            <a:r>
              <a:rPr lang="en-US" dirty="0"/>
              <a:t>)</a:t>
            </a:r>
            <a:endParaRPr lang="bg-BG" dirty="0"/>
          </a:p>
          <a:p>
            <a:pPr lvl="1"/>
            <a:r>
              <a:rPr lang="bg-BG" noProof="0" dirty="0"/>
              <a:t>Вместо цвят в </a:t>
            </a:r>
            <a:r>
              <a:rPr lang="bg-BG" b="1" noProof="0" dirty="0" err="1"/>
              <a:t>MeshBasicMaterial</a:t>
            </a:r>
            <a:r>
              <a:rPr lang="bg-BG" noProof="0" dirty="0"/>
              <a:t> подаваме текстура</a:t>
            </a:r>
          </a:p>
          <a:p>
            <a:pPr lvl="1"/>
            <a:r>
              <a:rPr lang="bg-BG" noProof="0" dirty="0"/>
              <a:t>Аналогично създаваме и куб за основа на къщичката</a:t>
            </a:r>
          </a:p>
          <a:p>
            <a:pPr lvl="1"/>
            <a:endParaRPr lang="bg-BG" noProof="0" dirty="0"/>
          </a:p>
          <a:p>
            <a:pPr lvl="1"/>
            <a:endParaRPr lang="bg-BG" noProof="0" dirty="0"/>
          </a:p>
        </p:txBody>
      </p:sp>
      <p:sp>
        <p:nvSpPr>
          <p:cNvPr id="5" name="Snip Diagonal Corner Rectangle 4"/>
          <p:cNvSpPr/>
          <p:nvPr/>
        </p:nvSpPr>
        <p:spPr>
          <a:xfrm>
            <a:off x="304800" y="4191000"/>
            <a:ext cx="8610600" cy="2362200"/>
          </a:xfrm>
          <a:prstGeom prst="snip2DiagRect">
            <a:avLst>
              <a:gd name="adj1" fmla="val 0"/>
              <a:gd name="adj2" fmla="val 990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texture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ImageUtils.loadTexture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('roof.png');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texture.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anisotropy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renderer.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getMaxAnisotropy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material = new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MeshBasicMaterial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({ 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map: texture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mesh = new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THREE.Mesh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(roof, material);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mesh.position.set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(0, 3.5, 0);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scene.add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(mesh);</a:t>
            </a:r>
          </a:p>
        </p:txBody>
      </p:sp>
    </p:spTree>
    <p:extLst>
      <p:ext uri="{BB962C8B-B14F-4D97-AF65-F5344CB8AC3E}">
        <p14:creationId xmlns:p14="http://schemas.microsoft.com/office/powerpoint/2010/main" val="9151765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4" name="Rectangle 3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304800" y="152400"/>
            <a:ext cx="8610600" cy="6408120"/>
          </a:xfrm>
          <a:prstGeom prst="rect">
            <a:avLst/>
          </a:prstGeom>
        </p:spPr>
        <p:txBody>
          <a:bodyPr/>
          <a:lstStyle/>
          <a:p>
            <a:pPr marL="68580" lvl="0">
              <a:spcBef>
                <a:spcPct val="20000"/>
              </a:spcBef>
              <a:buClr>
                <a:schemeClr val="accent1"/>
              </a:buClr>
              <a:buSzPct val="76000"/>
            </a:pPr>
            <a:endParaRPr kumimoji="0" lang="bg-BG" sz="20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>
                <a:outerShdw blurRad="63500" algn="ctr" rotWithShape="0">
                  <a:srgbClr val="339933">
                    <a:alpha val="40000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122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533400"/>
            <a:ext cx="8048625" cy="526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36699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Допълнителна информация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596958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Допълнителна информация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Повече информация за </a:t>
            </a:r>
            <a:r>
              <a:rPr lang="bg-BG" dirty="0" err="1"/>
              <a:t>Three</a:t>
            </a:r>
            <a:r>
              <a:rPr lang="bg-BG" dirty="0"/>
              <a:t>.</a:t>
            </a:r>
            <a:r>
              <a:rPr lang="bg-BG" dirty="0" err="1"/>
              <a:t>js</a:t>
            </a:r>
            <a:endParaRPr lang="bg-BG" dirty="0"/>
          </a:p>
          <a:p>
            <a:pPr lvl="1"/>
            <a:r>
              <a:rPr lang="bg-BG" dirty="0"/>
              <a:t>Документация: </a:t>
            </a:r>
            <a:r>
              <a:rPr lang="bg-BG" dirty="0">
                <a:hlinkClick r:id="rId2"/>
              </a:rPr>
              <a:t>http://threejs.org/docs/</a:t>
            </a:r>
            <a:endParaRPr lang="bg-BG" dirty="0"/>
          </a:p>
          <a:p>
            <a:pPr lvl="1"/>
            <a:endParaRPr lang="bg-BG" dirty="0"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</a:endParaRPr>
          </a:p>
          <a:p>
            <a:r>
              <a:rPr lang="bg-BG" dirty="0"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</a:rPr>
              <a:t>Библиотека </a:t>
            </a:r>
            <a:r>
              <a:rPr lang="en-US" dirty="0"/>
              <a:t>Babylon.js</a:t>
            </a:r>
            <a:endParaRPr lang="bg-BG" dirty="0"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</a:endParaRPr>
          </a:p>
          <a:p>
            <a:pPr lvl="1">
              <a:defRPr/>
            </a:pPr>
            <a:r>
              <a:rPr lang="bg-BG" dirty="0"/>
              <a:t>По-нова от </a:t>
            </a:r>
            <a:r>
              <a:rPr lang="en-US" dirty="0"/>
              <a:t>Three.js </a:t>
            </a:r>
            <a:r>
              <a:rPr lang="bg-BG" dirty="0"/>
              <a:t>– излиза през 2013</a:t>
            </a:r>
          </a:p>
          <a:p>
            <a:pPr lvl="1">
              <a:defRPr/>
            </a:pPr>
            <a:r>
              <a:rPr lang="bg-BG" dirty="0"/>
              <a:t>Имат сходен стил</a:t>
            </a:r>
          </a:p>
          <a:p>
            <a:pPr lvl="1">
              <a:defRPr/>
            </a:pPr>
            <a:r>
              <a:rPr lang="en-US" dirty="0"/>
              <a:t>Babylon.js </a:t>
            </a:r>
            <a:r>
              <a:rPr lang="bg-BG" dirty="0"/>
              <a:t>е зависима библиотека</a:t>
            </a:r>
          </a:p>
          <a:p>
            <a:pPr lvl="1">
              <a:defRPr/>
            </a:pPr>
            <a:r>
              <a:rPr lang="bg-BG" dirty="0"/>
              <a:t>Сравнение между библиотеките:</a:t>
            </a:r>
            <a:br>
              <a:rPr lang="bg-BG" dirty="0"/>
            </a:br>
            <a:r>
              <a:rPr lang="en-US" dirty="0">
                <a:hlinkClick r:id="rId3"/>
              </a:rPr>
              <a:t>http://www.sitepoint.com/three-js-babylon-js-comparison-webgl-frameworks/</a:t>
            </a:r>
            <a:endParaRPr lang="bg-BG" dirty="0"/>
          </a:p>
          <a:p>
            <a:endParaRPr lang="bg-BG" dirty="0"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</a:endParaRP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226268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Внимание!</a:t>
            </a:r>
            <a:endParaRPr lang="bg-BG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Разлики</a:t>
            </a:r>
          </a:p>
          <a:p>
            <a:pPr lvl="1"/>
            <a:r>
              <a:rPr lang="bg-BG" dirty="0"/>
              <a:t>Има големи разлики между различните</a:t>
            </a:r>
            <a:br>
              <a:rPr lang="bg-BG" dirty="0"/>
            </a:br>
            <a:r>
              <a:rPr lang="bg-BG" dirty="0"/>
              <a:t>версии на </a:t>
            </a:r>
            <a:r>
              <a:rPr lang="bg-BG" dirty="0" err="1"/>
              <a:t>Three</a:t>
            </a:r>
            <a:r>
              <a:rPr lang="bg-BG" dirty="0"/>
              <a:t>.</a:t>
            </a:r>
            <a:r>
              <a:rPr lang="bg-BG" dirty="0" err="1"/>
              <a:t>js</a:t>
            </a:r>
            <a:endParaRPr lang="bg-BG" dirty="0"/>
          </a:p>
          <a:p>
            <a:pPr lvl="1"/>
            <a:r>
              <a:rPr lang="bg-BG" dirty="0"/>
              <a:t>Възможно е някои неща да са поддържани от стара версия, но не и от настояща и обратно</a:t>
            </a:r>
          </a:p>
          <a:p>
            <a:pPr lvl="1"/>
            <a:r>
              <a:rPr lang="bg-BG" dirty="0"/>
              <a:t>При ползване на информация и примери от интернет (например в </a:t>
            </a:r>
            <a:r>
              <a:rPr lang="en-US" dirty="0"/>
              <a:t>SO</a:t>
            </a:r>
            <a:r>
              <a:rPr lang="bg-BG" dirty="0"/>
              <a:t>) бъдете много внимателни за коя версия се отнася кода</a:t>
            </a:r>
          </a:p>
        </p:txBody>
      </p:sp>
    </p:spTree>
    <p:extLst>
      <p:ext uri="{BB962C8B-B14F-4D97-AF65-F5344CB8AC3E}">
        <p14:creationId xmlns:p14="http://schemas.microsoft.com/office/powerpoint/2010/main" val="33132284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Речник</a:t>
            </a:r>
          </a:p>
        </p:txBody>
      </p:sp>
    </p:spTree>
    <p:extLst>
      <p:ext uri="{BB962C8B-B14F-4D97-AF65-F5344CB8AC3E}">
        <p14:creationId xmlns:p14="http://schemas.microsoft.com/office/powerpoint/2010/main" val="9049308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Речник на новите неща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Геометрични форми</a:t>
            </a:r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pPr lvl="1"/>
            <a:endParaRPr lang="bg-BG" dirty="0"/>
          </a:p>
          <a:p>
            <a:endParaRPr lang="bg-BG" dirty="0"/>
          </a:p>
          <a:p>
            <a:r>
              <a:rPr lang="bg-BG" dirty="0"/>
              <a:t>Сцена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210923"/>
              </p:ext>
            </p:extLst>
          </p:nvPr>
        </p:nvGraphicFramePr>
        <p:xfrm>
          <a:off x="609600" y="2057400"/>
          <a:ext cx="8229600" cy="206248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3338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Geometry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Създаване на геометрична</a:t>
                      </a:r>
                      <a:r>
                        <a:rPr lang="ru-RU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фигура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BoxGeometry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Създаване на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паралелепипед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IcosahedronGeometry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Създаване на икосаедър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TorusKnotGeometry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Създаване на преплитащ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се тор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CylinderGeometry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Създаване на цилиндър (конус при радиус нула на една от основите)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918626"/>
              </p:ext>
            </p:extLst>
          </p:nvPr>
        </p:nvGraphicFramePr>
        <p:xfrm>
          <a:off x="609600" y="4907280"/>
          <a:ext cx="8229600" cy="148336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3338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Scene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Създаване на сцена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WebGLRenderer</a:t>
                      </a:r>
                      <a:endParaRPr lang="bg-BG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Създаване на рендер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setSize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Задаване на размери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на графичното поле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setClearColor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Задаване на цвят за фон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98905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Светлина и осветяване</a:t>
            </a:r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r>
              <a:rPr lang="bg-BG" dirty="0"/>
              <a:t>Гледна точка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701424"/>
              </p:ext>
            </p:extLst>
          </p:nvPr>
        </p:nvGraphicFramePr>
        <p:xfrm>
          <a:off x="609600" y="1066800"/>
          <a:ext cx="8229600" cy="206248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3338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DirectionalLight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Създаване на светлинен лъч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AmbientLight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Създаване на светлина, прилагана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върху всички обекти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HemisphereLight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Създаване на светлина от две посоки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PointLight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Създаване на светлина като от крушка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SpotLight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Създаване на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светлина, хвърляща сянка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470039"/>
              </p:ext>
            </p:extLst>
          </p:nvPr>
        </p:nvGraphicFramePr>
        <p:xfrm>
          <a:off x="609600" y="4114800"/>
          <a:ext cx="8229600" cy="169164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3338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PerspectiveCamera</a:t>
                      </a:r>
                      <a:endParaRPr lang="bg-BG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Създаване на камера с перспективна проекция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lookAt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Задаване на гледна точка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target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Задаване на цел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OrbitControls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Контроли,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засичащи въртенето на сцената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75868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Материали и текстури</a:t>
            </a:r>
          </a:p>
          <a:p>
            <a:endParaRPr lang="en-US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r>
              <a:rPr lang="bg-BG" dirty="0"/>
              <a:t>Рисуване и свойства на обектите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420044"/>
              </p:ext>
            </p:extLst>
          </p:nvPr>
        </p:nvGraphicFramePr>
        <p:xfrm>
          <a:off x="609600" y="1066800"/>
          <a:ext cx="8229600" cy="206248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3338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MeshBasicMaterial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Създаване на възможно</a:t>
                      </a:r>
                      <a:r>
                        <a:rPr lang="ru-RU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най-прост материал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MeshLambertMaterial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Създава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материал за матови повърхности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PointsMaterial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Материал за точки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ImageUtils.loadTexture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Зареждане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на текстура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getMaxAnisotropy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Задаване на максимално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качество на текстурата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70226"/>
              </p:ext>
            </p:extLst>
          </p:nvPr>
        </p:nvGraphicFramePr>
        <p:xfrm>
          <a:off x="609600" y="4119880"/>
          <a:ext cx="8229600" cy="243332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3338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render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Рисуване на изображението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vertices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Върхове на даден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а фигура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vertexColors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Цветове на върховете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verticesNeedUpdate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Флаг за определяне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дали върховете ще бъдат променяни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position.set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Задаване на позиция на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обект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rotation.x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/y/z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Въртене на обект по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x/y/z </a:t>
                      </a:r>
                      <a:r>
                        <a:rPr lang="bg-BG" sz="1600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ос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87345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Трасиране на лъч</a:t>
            </a:r>
          </a:p>
          <a:p>
            <a:endParaRPr lang="bg-BG" dirty="0"/>
          </a:p>
          <a:p>
            <a:pPr lvl="1"/>
            <a:endParaRPr lang="bg-BG" dirty="0"/>
          </a:p>
          <a:p>
            <a:endParaRPr lang="bg-BG" dirty="0"/>
          </a:p>
          <a:p>
            <a:pPr lvl="1"/>
            <a:endParaRPr lang="bg-BG" dirty="0"/>
          </a:p>
          <a:p>
            <a:r>
              <a:rPr lang="bg-BG" dirty="0"/>
              <a:t>Обекти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907327"/>
              </p:ext>
            </p:extLst>
          </p:nvPr>
        </p:nvGraphicFramePr>
        <p:xfrm>
          <a:off x="609600" y="1066800"/>
          <a:ext cx="8229600" cy="132080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3338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Raycaster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Създаване на лъч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setFromCamera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Задаване на посока на лъч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intersectObjects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Определяне на обекти, през</a:t>
                      </a:r>
                      <a:r>
                        <a:rPr lang="bg-BG" sz="1600" kern="1200" baseline="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 които лъч преминава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78648"/>
              </p:ext>
            </p:extLst>
          </p:nvPr>
        </p:nvGraphicFramePr>
        <p:xfrm>
          <a:off x="609600" y="3276600"/>
          <a:ext cx="8229600" cy="169164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3338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Vector</a:t>
                      </a:r>
                      <a:r>
                        <a:rPr lang="bg-BG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2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D 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точка или вектор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Vector3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3D 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точка или вектор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Mesh</a:t>
                      </a:r>
                      <a:endParaRPr lang="bg-BG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Комбиниране на материал и геометрична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форма в обект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add</a:t>
                      </a:r>
                      <a:endParaRPr lang="bg-BG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Добавяне на предмет към 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обект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5860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Въпроси и коментари</a:t>
            </a:r>
          </a:p>
        </p:txBody>
      </p:sp>
    </p:spTree>
    <p:extLst>
      <p:ext uri="{BB962C8B-B14F-4D97-AF65-F5344CB8AC3E}">
        <p14:creationId xmlns:p14="http://schemas.microsoft.com/office/powerpoint/2010/main" val="9049308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noProof="0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175972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30802</TotalTime>
  <Words>3255</Words>
  <Application>Microsoft Office PowerPoint</Application>
  <PresentationFormat>On-screen Show (4:3)</PresentationFormat>
  <Paragraphs>520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Arial</vt:lpstr>
      <vt:lpstr>Arial Black</vt:lpstr>
      <vt:lpstr>Calibri</vt:lpstr>
      <vt:lpstr>Century Gothic</vt:lpstr>
      <vt:lpstr>Consolas</vt:lpstr>
      <vt:lpstr>Times New Roman</vt:lpstr>
      <vt:lpstr>Wingdings 2</vt:lpstr>
      <vt:lpstr>Austin</vt:lpstr>
      <vt:lpstr>Библиотека Three.js </vt:lpstr>
      <vt:lpstr>В тази лекция</vt:lpstr>
      <vt:lpstr>PowerPoint Presentation</vt:lpstr>
      <vt:lpstr>Three.js</vt:lpstr>
      <vt:lpstr>PowerPoint Presentation</vt:lpstr>
      <vt:lpstr>PowerPoint Presentation</vt:lpstr>
      <vt:lpstr>PowerPoint Presentation</vt:lpstr>
      <vt:lpstr>Преди да започнем</vt:lpstr>
      <vt:lpstr>PowerPoint Presentation</vt:lpstr>
      <vt:lpstr>PowerPoint Presentation</vt:lpstr>
      <vt:lpstr>PowerPoint Presentation</vt:lpstr>
      <vt:lpstr>PowerPoint Presentation</vt:lpstr>
      <vt:lpstr>Пример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№1 По-сложни обекти</vt:lpstr>
      <vt:lpstr>PowerPoint Presentation</vt:lpstr>
      <vt:lpstr>PowerPoint Presentation</vt:lpstr>
      <vt:lpstr>PowerPoint Presentation</vt:lpstr>
      <vt:lpstr>PowerPoint Presentation</vt:lpstr>
      <vt:lpstr>№2 Движение със следа</vt:lpstr>
      <vt:lpstr>PowerPoint Presentation</vt:lpstr>
      <vt:lpstr>PowerPoint Presentation</vt:lpstr>
      <vt:lpstr>PowerPoint Presentation</vt:lpstr>
      <vt:lpstr>№3 Триъгълник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№4 Интерактивност</vt:lpstr>
      <vt:lpstr>PowerPoint Presentation</vt:lpstr>
      <vt:lpstr>Избор на обект</vt:lpstr>
      <vt:lpstr>PowerPoint Presentation</vt:lpstr>
      <vt:lpstr>PowerPoint Presentation</vt:lpstr>
      <vt:lpstr>PowerPoint Presentation</vt:lpstr>
      <vt:lpstr>PowerPoint Presentation</vt:lpstr>
      <vt:lpstr>Къщичка с текстури</vt:lpstr>
      <vt:lpstr>PowerPoint Presentation</vt:lpstr>
      <vt:lpstr>PowerPoint Presentation</vt:lpstr>
      <vt:lpstr>PowerPoint Presentation</vt:lpstr>
      <vt:lpstr>Допълнителна информация</vt:lpstr>
      <vt:lpstr>Внимание!</vt:lpstr>
      <vt:lpstr>PowerPoint Presentation</vt:lpstr>
      <vt:lpstr>Речник на новите неща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WebGL- 26. Three.js</dc:title>
  <dc:creator>Victoria Terzieva</dc:creator>
  <cp:lastModifiedBy>Pavel Boytchev</cp:lastModifiedBy>
  <cp:revision>1522</cp:revision>
  <dcterms:created xsi:type="dcterms:W3CDTF">2013-12-13T09:03:57Z</dcterms:created>
  <dcterms:modified xsi:type="dcterms:W3CDTF">2021-11-03T09:47:18Z</dcterms:modified>
</cp:coreProperties>
</file>