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65"/>
  </p:notesMasterIdLst>
  <p:sldIdLst>
    <p:sldId id="256" r:id="rId2"/>
    <p:sldId id="297" r:id="rId3"/>
    <p:sldId id="1236" r:id="rId4"/>
    <p:sldId id="1230" r:id="rId5"/>
    <p:sldId id="1292" r:id="rId6"/>
    <p:sldId id="1293" r:id="rId7"/>
    <p:sldId id="1294" r:id="rId8"/>
    <p:sldId id="1295" r:id="rId9"/>
    <p:sldId id="1296" r:id="rId10"/>
    <p:sldId id="1302" r:id="rId11"/>
    <p:sldId id="1301" r:id="rId12"/>
    <p:sldId id="1297" r:id="rId13"/>
    <p:sldId id="1298" r:id="rId14"/>
    <p:sldId id="1234" r:id="rId15"/>
    <p:sldId id="1299" r:id="rId16"/>
    <p:sldId id="1300" r:id="rId17"/>
    <p:sldId id="1303" r:id="rId18"/>
    <p:sldId id="1304" r:id="rId19"/>
    <p:sldId id="1305" r:id="rId20"/>
    <p:sldId id="1307" r:id="rId21"/>
    <p:sldId id="1306" r:id="rId22"/>
    <p:sldId id="1308" r:id="rId23"/>
    <p:sldId id="1309" r:id="rId24"/>
    <p:sldId id="1310" r:id="rId25"/>
    <p:sldId id="1311" r:id="rId26"/>
    <p:sldId id="1312" r:id="rId27"/>
    <p:sldId id="1313" r:id="rId28"/>
    <p:sldId id="1314" r:id="rId29"/>
    <p:sldId id="1315" r:id="rId30"/>
    <p:sldId id="1316" r:id="rId31"/>
    <p:sldId id="1317" r:id="rId32"/>
    <p:sldId id="1319" r:id="rId33"/>
    <p:sldId id="1318" r:id="rId34"/>
    <p:sldId id="1320" r:id="rId35"/>
    <p:sldId id="1321" r:id="rId36"/>
    <p:sldId id="1323" r:id="rId37"/>
    <p:sldId id="1324" r:id="rId38"/>
    <p:sldId id="1326" r:id="rId39"/>
    <p:sldId id="1325" r:id="rId40"/>
    <p:sldId id="1327" r:id="rId41"/>
    <p:sldId id="1328" r:id="rId42"/>
    <p:sldId id="1330" r:id="rId43"/>
    <p:sldId id="1331" r:id="rId44"/>
    <p:sldId id="1333" r:id="rId45"/>
    <p:sldId id="1334" r:id="rId46"/>
    <p:sldId id="1332" r:id="rId47"/>
    <p:sldId id="1336" r:id="rId48"/>
    <p:sldId id="1337" r:id="rId49"/>
    <p:sldId id="1338" r:id="rId50"/>
    <p:sldId id="1335" r:id="rId51"/>
    <p:sldId id="1339" r:id="rId52"/>
    <p:sldId id="1340" r:id="rId53"/>
    <p:sldId id="1341" r:id="rId54"/>
    <p:sldId id="1342" r:id="rId55"/>
    <p:sldId id="1343" r:id="rId56"/>
    <p:sldId id="1344" r:id="rId57"/>
    <p:sldId id="1345" r:id="rId58"/>
    <p:sldId id="1076" r:id="rId59"/>
    <p:sldId id="1235" r:id="rId60"/>
    <p:sldId id="1322" r:id="rId61"/>
    <p:sldId id="1329" r:id="rId62"/>
    <p:sldId id="289" r:id="rId63"/>
    <p:sldId id="290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C84"/>
    <a:srgbClr val="FFFFFF"/>
    <a:srgbClr val="FFCCCC"/>
    <a:srgbClr val="FF0000"/>
    <a:srgbClr val="94C600"/>
    <a:srgbClr val="AAEA25"/>
    <a:srgbClr val="6F9500"/>
    <a:srgbClr val="000000"/>
    <a:srgbClr val="00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4" autoAdjust="0"/>
    <p:restoredTop sz="99825" autoAdjust="0"/>
  </p:normalViewPr>
  <p:slideViewPr>
    <p:cSldViewPr>
      <p:cViewPr varScale="1">
        <p:scale>
          <a:sx n="84" d="100"/>
          <a:sy n="84" d="100"/>
        </p:scale>
        <p:origin x="12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9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3.11.2021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1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>
              <a:buClr>
                <a:schemeClr val="accent1">
                  <a:lumMod val="75000"/>
                </a:schemeClr>
              </a:buClr>
              <a:defRPr lang="en-US" sz="20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bg-BG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lrTx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bg2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rgbClr val="006600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rgbClr val="0066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93057" y="4478669"/>
            <a:ext cx="622877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проф. П. Бойчев ● КИТ ● ФМИ ● СУ ●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7332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rgbClr val="0033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rgbClr val="339933"/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rgbClr val="006600"/>
          </a:solidFill>
          <a:effectLst>
            <a:outerShdw blurRad="63500" algn="ctr" rotWithShape="0">
              <a:srgbClr val="339933">
                <a:alpha val="40000"/>
              </a:srgb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5gameengine.com/tag/webgl" TargetMode="External"/><Relationship Id="rId2" Type="http://schemas.openxmlformats.org/officeDocument/2006/relationships/hyperlink" Target="http://www.webgl-game-engines.com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Example%201%20-%20Five%20cubes" TargetMode="External"/><Relationship Id="rId2" Type="http://schemas.openxmlformats.org/officeDocument/2006/relationships/hyperlink" Target="Example%201%20-%20Five%20cubes/Example%2025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Example%202%20-%20Complex%20example" TargetMode="External"/><Relationship Id="rId2" Type="http://schemas.openxmlformats.org/officeDocument/2006/relationships/hyperlink" Target="http://localhost/Example%202%20-%20Complex%20example/Example%2025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Example%203%20-%20Coordinate%20system" TargetMode="External"/><Relationship Id="rId2" Type="http://schemas.openxmlformats.org/officeDocument/2006/relationships/hyperlink" Target="Example%203%20-%20Coordinate%20system/Example%2025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Example%204%20-%20Color%20points" TargetMode="External"/><Relationship Id="rId2" Type="http://schemas.openxmlformats.org/officeDocument/2006/relationships/hyperlink" Target="Example%204%20-%20Color%20points/Example%2025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Example%205%20-%20Labyrinth" TargetMode="External"/><Relationship Id="rId2" Type="http://schemas.openxmlformats.org/officeDocument/2006/relationships/hyperlink" Target="Example%205%20-%20Labyrinth/Example%2025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Example%206%20-%20Cuboids" TargetMode="External"/><Relationship Id="rId2" Type="http://schemas.openxmlformats.org/officeDocument/2006/relationships/hyperlink" Target="Example%206%20-%20Cuboids/Example%2025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Example%207%20-%20Cylindroids" TargetMode="External"/><Relationship Id="rId2" Type="http://schemas.openxmlformats.org/officeDocument/2006/relationships/hyperlink" Target="Example%207%20-%20Cylindroids/Example%2025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Example%208%20-%20Custom%20styles" TargetMode="External"/><Relationship Id="rId2" Type="http://schemas.openxmlformats.org/officeDocument/2006/relationships/hyperlink" Target="Example%208%20-%20Custom%20styles/Example%2025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Example%209%20-%20Slide%20on%20a%20cube" TargetMode="External"/><Relationship Id="rId2" Type="http://schemas.openxmlformats.org/officeDocument/2006/relationships/hyperlink" Target="Example%209%20-%20Slide%20on%20a%20cube/Example%2025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Example%2010%20-%20Urban%20chasing" TargetMode="External"/><Relationship Id="rId2" Type="http://schemas.openxmlformats.org/officeDocument/2006/relationships/hyperlink" Target="Example%2010%20-%20Urban%20chasing/Example%202510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Example%2011%20-%20Conic%20sections" TargetMode="External"/><Relationship Id="rId2" Type="http://schemas.openxmlformats.org/officeDocument/2006/relationships/hyperlink" Target="Example%2011%20-%20Conic%20sections/Example%20251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Example%2012%20-%20Flying%20crosses" TargetMode="External"/><Relationship Id="rId2" Type="http://schemas.openxmlformats.org/officeDocument/2006/relationships/hyperlink" Target="Example%2012%20-%20Flying%20crosses/Example%20251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Example%2013%20-%20Textures" TargetMode="External"/><Relationship Id="rId2" Type="http://schemas.openxmlformats.org/officeDocument/2006/relationships/hyperlink" Target="Example%2013%20-%20Textures/Example%20251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err="1"/>
              <a:t>СУИКА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Тема №</a:t>
            </a:r>
            <a:r>
              <a:rPr lang="en-US" dirty="0"/>
              <a:t>25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 тази лекция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СУИКА</a:t>
            </a:r>
            <a:endParaRPr lang="bg-BG" dirty="0"/>
          </a:p>
          <a:p>
            <a:pPr lvl="1"/>
            <a:r>
              <a:rPr lang="bg-BG" dirty="0"/>
              <a:t>Използване на </a:t>
            </a:r>
            <a:r>
              <a:rPr lang="en-US" dirty="0"/>
              <a:t>WebGL</a:t>
            </a:r>
          </a:p>
          <a:p>
            <a:pPr lvl="1"/>
            <a:r>
              <a:rPr lang="bg-BG" dirty="0" err="1"/>
              <a:t>СУИКА</a:t>
            </a:r>
            <a:endParaRPr lang="bg-BG" dirty="0"/>
          </a:p>
          <a:p>
            <a:pPr lvl="1"/>
            <a:r>
              <a:rPr lang="bg-BG" dirty="0"/>
              <a:t>Инициализация</a:t>
            </a:r>
          </a:p>
          <a:p>
            <a:pPr lvl="1"/>
            <a:r>
              <a:rPr lang="bg-BG" dirty="0"/>
              <a:t>Графични обекти</a:t>
            </a:r>
          </a:p>
          <a:p>
            <a:pPr lvl="1"/>
            <a:r>
              <a:rPr lang="bg-BG" dirty="0"/>
              <a:t>Други възможности</a:t>
            </a:r>
          </a:p>
          <a:p>
            <a:pPr lvl="1"/>
            <a:endParaRPr lang="bg-BG" dirty="0"/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Използване на </a:t>
            </a:r>
            <a:r>
              <a:rPr lang="en-US" dirty="0"/>
              <a:t>WebGL</a:t>
            </a:r>
            <a:endParaRPr lang="bg-BG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503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 практиката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Пряко използване на </a:t>
            </a:r>
            <a:r>
              <a:rPr lang="en-US" dirty="0"/>
              <a:t>WebGL</a:t>
            </a:r>
            <a:endParaRPr lang="bg-BG" dirty="0"/>
          </a:p>
          <a:p>
            <a:pPr lvl="1"/>
            <a:r>
              <a:rPr lang="bg-BG" dirty="0"/>
              <a:t>Рядко се прилага в практиката</a:t>
            </a:r>
          </a:p>
          <a:p>
            <a:pPr lvl="1"/>
            <a:r>
              <a:rPr lang="bg-BG" dirty="0"/>
              <a:t>Дълги програми, трудно се поддържат</a:t>
            </a:r>
          </a:p>
          <a:p>
            <a:pPr lvl="1"/>
            <a:r>
              <a:rPr lang="bg-BG" dirty="0"/>
              <a:t>Използва се пълната функционалност на </a:t>
            </a:r>
            <a:r>
              <a:rPr lang="en-US" dirty="0"/>
              <a:t>WebGL</a:t>
            </a:r>
          </a:p>
          <a:p>
            <a:pPr lvl="1"/>
            <a:endParaRPr lang="en-US" dirty="0"/>
          </a:p>
          <a:p>
            <a:r>
              <a:rPr lang="bg-BG" dirty="0"/>
              <a:t>Косвено използване на </a:t>
            </a:r>
            <a:r>
              <a:rPr lang="en-US" dirty="0"/>
              <a:t>WebGL</a:t>
            </a:r>
          </a:p>
          <a:p>
            <a:pPr lvl="1"/>
            <a:r>
              <a:rPr lang="bg-BG" dirty="0"/>
              <a:t>Готови библиотеки, използват се често</a:t>
            </a:r>
          </a:p>
          <a:p>
            <a:pPr lvl="1"/>
            <a:r>
              <a:rPr lang="bg-BG" dirty="0"/>
              <a:t>Доста по-кратък код, по-лесно се поддържа</a:t>
            </a:r>
          </a:p>
          <a:p>
            <a:pPr lvl="1"/>
            <a:r>
              <a:rPr lang="bg-BG" dirty="0"/>
              <a:t>Функционалността е ограничена от библиотеката</a:t>
            </a:r>
          </a:p>
          <a:p>
            <a:pPr lvl="1"/>
            <a:r>
              <a:rPr lang="bg-BG" dirty="0"/>
              <a:t>Налагат фиксиран програмен модел</a:t>
            </a:r>
          </a:p>
        </p:txBody>
      </p:sp>
    </p:spTree>
    <p:extLst>
      <p:ext uri="{BB962C8B-B14F-4D97-AF65-F5344CB8AC3E}">
        <p14:creationId xmlns:p14="http://schemas.microsoft.com/office/powerpoint/2010/main" val="117507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До края на курса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Готови библиотеки</a:t>
            </a:r>
          </a:p>
          <a:p>
            <a:pPr lvl="1"/>
            <a:r>
              <a:rPr lang="en-US" dirty="0" err="1"/>
              <a:t>suica</a:t>
            </a:r>
            <a:r>
              <a:rPr lang="bg-BG" dirty="0"/>
              <a:t>.</a:t>
            </a:r>
            <a:r>
              <a:rPr lang="en-US" dirty="0" err="1"/>
              <a:t>js</a:t>
            </a:r>
            <a:endParaRPr lang="bg-BG" dirty="0"/>
          </a:p>
          <a:p>
            <a:pPr lvl="1"/>
            <a:r>
              <a:rPr lang="en-US" dirty="0"/>
              <a:t>Three.js</a:t>
            </a:r>
          </a:p>
          <a:p>
            <a:pPr lvl="1"/>
            <a:r>
              <a:rPr lang="en-US" dirty="0" err="1"/>
              <a:t>PlayCanvas</a:t>
            </a:r>
            <a:endParaRPr lang="en-US" dirty="0"/>
          </a:p>
          <a:p>
            <a:pPr lvl="1"/>
            <a:r>
              <a:rPr lang="en-US" dirty="0" err="1"/>
              <a:t>Turbulenz</a:t>
            </a:r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Други библиотеки</a:t>
            </a:r>
          </a:p>
          <a:p>
            <a:pPr lvl="1"/>
            <a:r>
              <a:rPr lang="en-US" dirty="0"/>
              <a:t>Web Game Engines (</a:t>
            </a:r>
            <a:r>
              <a:rPr lang="bg-BG" dirty="0" err="1">
                <a:hlinkClick r:id="rId2"/>
              </a:rPr>
              <a:t>www</a:t>
            </a:r>
            <a:r>
              <a:rPr lang="bg-BG" dirty="0">
                <a:hlinkClick r:id="rId2"/>
              </a:rPr>
              <a:t>.</a:t>
            </a:r>
            <a:r>
              <a:rPr lang="bg-BG" dirty="0" err="1">
                <a:hlinkClick r:id="rId2"/>
              </a:rPr>
              <a:t>webgl-game-engines</a:t>
            </a:r>
            <a:r>
              <a:rPr lang="bg-BG" dirty="0">
                <a:hlinkClick r:id="rId2"/>
              </a:rPr>
              <a:t>.</a:t>
            </a:r>
            <a:r>
              <a:rPr lang="bg-BG" dirty="0" err="1">
                <a:hlinkClick r:id="rId2"/>
              </a:rPr>
              <a:t>com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HTML5 Game Engines (</a:t>
            </a:r>
            <a:r>
              <a:rPr lang="en-US" dirty="0">
                <a:hlinkClick r:id="rId3"/>
              </a:rPr>
              <a:t>html5gameengine.com/tag/</a:t>
            </a:r>
            <a:r>
              <a:rPr lang="en-US" dirty="0" err="1">
                <a:hlinkClick r:id="rId3"/>
              </a:rPr>
              <a:t>webgl</a:t>
            </a:r>
            <a:r>
              <a:rPr lang="en-US" dirty="0"/>
              <a:t>)</a:t>
            </a:r>
            <a:endParaRPr lang="bg-BG" dirty="0"/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8288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СУИКА</a:t>
            </a:r>
            <a:endParaRPr lang="bg-BG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354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Обща информация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Име</a:t>
            </a:r>
          </a:p>
          <a:p>
            <a:pPr lvl="1"/>
            <a:r>
              <a:rPr lang="bg-BG" b="1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50000"/>
                      <a:alpha val="40000"/>
                    </a:schemeClr>
                  </a:outerShdw>
                </a:effectLst>
              </a:rPr>
              <a:t>С</a:t>
            </a:r>
            <a:r>
              <a:rPr lang="bg-BG" dirty="0"/>
              <a:t>ъздаване на </a:t>
            </a:r>
            <a:r>
              <a:rPr lang="bg-BG" b="1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50000"/>
                      <a:alpha val="40000"/>
                    </a:schemeClr>
                  </a:outerShdw>
                </a:effectLst>
              </a:rPr>
              <a:t>У</a:t>
            </a:r>
            <a:r>
              <a:rPr lang="bg-BG" dirty="0"/>
              <a:t>чебна </a:t>
            </a:r>
            <a:r>
              <a:rPr lang="bg-BG" b="1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50000"/>
                      <a:alpha val="40000"/>
                    </a:schemeClr>
                  </a:outerShdw>
                </a:effectLst>
              </a:rPr>
              <a:t>И</a:t>
            </a:r>
            <a:r>
              <a:rPr lang="bg-BG" dirty="0"/>
              <a:t>нтерактивна </a:t>
            </a:r>
            <a:r>
              <a:rPr lang="bg-BG" b="1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50000"/>
                      <a:alpha val="40000"/>
                    </a:schemeClr>
                  </a:outerShdw>
                </a:effectLst>
              </a:rPr>
              <a:t>К</a:t>
            </a:r>
            <a:r>
              <a:rPr lang="bg-BG" dirty="0"/>
              <a:t>омпютърна </a:t>
            </a:r>
            <a:r>
              <a:rPr lang="bg-BG" b="1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50000"/>
                      <a:alpha val="40000"/>
                    </a:schemeClr>
                  </a:outerShdw>
                </a:effectLst>
              </a:rPr>
              <a:t>А</a:t>
            </a:r>
            <a:r>
              <a:rPr lang="bg-BG" dirty="0"/>
              <a:t>нимация</a:t>
            </a:r>
          </a:p>
          <a:p>
            <a:pPr lvl="1"/>
            <a:r>
              <a:rPr lang="bg-BG" dirty="0"/>
              <a:t>Съкратено </a:t>
            </a:r>
            <a:r>
              <a:rPr lang="bg-BG" dirty="0" err="1"/>
              <a:t>СУИКА</a:t>
            </a:r>
            <a:endParaRPr lang="bg-BG" dirty="0"/>
          </a:p>
          <a:p>
            <a:endParaRPr lang="bg-BG" dirty="0"/>
          </a:p>
          <a:p>
            <a:r>
              <a:rPr lang="bg-BG" dirty="0"/>
              <a:t>Използване</a:t>
            </a:r>
          </a:p>
          <a:p>
            <a:pPr lvl="1"/>
            <a:r>
              <a:rPr lang="bg-BG" dirty="0"/>
              <a:t>Библиотека за </a:t>
            </a:r>
            <a:r>
              <a:rPr lang="en-US" dirty="0"/>
              <a:t>3D</a:t>
            </a:r>
            <a:r>
              <a:rPr lang="bg-BG" dirty="0"/>
              <a:t> графика, използваща </a:t>
            </a:r>
            <a:r>
              <a:rPr lang="en-US" dirty="0"/>
              <a:t>WebGL </a:t>
            </a:r>
            <a:endParaRPr lang="bg-BG" dirty="0"/>
          </a:p>
          <a:p>
            <a:pPr lvl="1"/>
            <a:r>
              <a:rPr lang="bg-BG" dirty="0"/>
              <a:t>Първа версия – 2015</a:t>
            </a:r>
          </a:p>
          <a:p>
            <a:pPr lvl="1"/>
            <a:r>
              <a:rPr lang="bg-BG" dirty="0"/>
              <a:t>Специално за курса „Езици и Среди за Обучение (</a:t>
            </a:r>
            <a:r>
              <a:rPr lang="bg-BG" dirty="0" err="1"/>
              <a:t>СУИКА</a:t>
            </a:r>
            <a:r>
              <a:rPr lang="bg-BG" dirty="0"/>
              <a:t>)“</a:t>
            </a:r>
          </a:p>
          <a:p>
            <a:pPr lvl="1"/>
            <a:r>
              <a:rPr lang="bg-BG" dirty="0"/>
              <a:t>Безплатно използване за образователни и лични цели</a:t>
            </a:r>
          </a:p>
        </p:txBody>
      </p:sp>
    </p:spTree>
    <p:extLst>
      <p:ext uri="{BB962C8B-B14F-4D97-AF65-F5344CB8AC3E}">
        <p14:creationId xmlns:p14="http://schemas.microsoft.com/office/powerpoint/2010/main" val="145417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Цели</a:t>
            </a:r>
          </a:p>
          <a:p>
            <a:pPr lvl="1"/>
            <a:r>
              <a:rPr lang="bg-BG" altLang="bg-BG" dirty="0"/>
              <a:t>Визуализация на 2D/3D модели</a:t>
            </a:r>
          </a:p>
          <a:p>
            <a:pPr lvl="1"/>
            <a:r>
              <a:rPr lang="bg-BG" altLang="bg-BG" dirty="0"/>
              <a:t>Реализиране на анимация</a:t>
            </a:r>
          </a:p>
          <a:p>
            <a:pPr lvl="1"/>
            <a:endParaRPr lang="bg-BG" altLang="bg-BG" dirty="0"/>
          </a:p>
          <a:p>
            <a:r>
              <a:rPr lang="bg-BG" altLang="bg-BG" dirty="0"/>
              <a:t>Преимущества</a:t>
            </a:r>
          </a:p>
          <a:p>
            <a:pPr lvl="1"/>
            <a:r>
              <a:rPr lang="bg-BG" altLang="bg-BG" dirty="0"/>
              <a:t>Платформено независима</a:t>
            </a:r>
          </a:p>
          <a:p>
            <a:pPr lvl="1"/>
            <a:r>
              <a:rPr lang="bg-BG" altLang="bg-BG" dirty="0"/>
              <a:t>Използва нови технологии</a:t>
            </a:r>
          </a:p>
          <a:p>
            <a:pPr lvl="1"/>
            <a:r>
              <a:rPr lang="bg-BG" altLang="bg-BG" dirty="0"/>
              <a:t>Лесен програмен интерфейс</a:t>
            </a:r>
          </a:p>
          <a:p>
            <a:pPr lvl="1"/>
            <a:r>
              <a:rPr lang="bg-BG" altLang="bg-BG" dirty="0"/>
              <a:t>Поддръжка на интерактивни елементи</a:t>
            </a:r>
          </a:p>
          <a:p>
            <a:pPr lvl="1"/>
            <a:r>
              <a:rPr lang="bg-BG" altLang="bg-BG" dirty="0"/>
              <a:t>Вградени </a:t>
            </a:r>
            <a:r>
              <a:rPr lang="bg-BG" altLang="bg-BG" dirty="0" err="1"/>
              <a:t>шейдъри</a:t>
            </a:r>
            <a:r>
              <a:rPr lang="bg-BG" altLang="bg-BG" dirty="0"/>
              <a:t> и графични обекти</a:t>
            </a:r>
          </a:p>
          <a:p>
            <a:pPr lvl="1"/>
            <a:endParaRPr lang="bg-BG" altLang="bg-BG" dirty="0"/>
          </a:p>
          <a:p>
            <a:r>
              <a:rPr lang="bg-BG" altLang="bg-BG" dirty="0"/>
              <a:t>Недостатъци</a:t>
            </a:r>
          </a:p>
          <a:p>
            <a:pPr lvl="1"/>
            <a:r>
              <a:rPr lang="bg-BG" altLang="bg-BG" dirty="0"/>
              <a:t>Не е оптимизирана за сложни сцени</a:t>
            </a:r>
          </a:p>
          <a:p>
            <a:pPr lvl="1"/>
            <a:r>
              <a:rPr lang="bg-BG" altLang="bg-BG" dirty="0"/>
              <a:t>Само базовата функционалност нужна за курса</a:t>
            </a:r>
          </a:p>
        </p:txBody>
      </p:sp>
    </p:spTree>
    <p:extLst>
      <p:ext uri="{BB962C8B-B14F-4D97-AF65-F5344CB8AC3E}">
        <p14:creationId xmlns:p14="http://schemas.microsoft.com/office/powerpoint/2010/main" val="37082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Концепция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Библиотеката </a:t>
            </a:r>
            <a:r>
              <a:rPr lang="bg-BG" dirty="0" err="1"/>
              <a:t>СУИКА</a:t>
            </a:r>
            <a:r>
              <a:rPr lang="bg-BG" dirty="0"/>
              <a:t> поема</a:t>
            </a:r>
            <a:endParaRPr lang="en-US" dirty="0"/>
          </a:p>
          <a:p>
            <a:pPr lvl="1"/>
            <a:r>
              <a:rPr lang="bg-BG" dirty="0"/>
              <a:t>Създаване на базисни 3</a:t>
            </a:r>
            <a:r>
              <a:rPr lang="en-US" dirty="0"/>
              <a:t>D</a:t>
            </a:r>
            <a:r>
              <a:rPr lang="bg-BG" dirty="0"/>
              <a:t> обекти</a:t>
            </a:r>
          </a:p>
          <a:p>
            <a:pPr lvl="1"/>
            <a:r>
              <a:rPr lang="bg-BG" dirty="0"/>
              <a:t>Управление на техните свойства</a:t>
            </a:r>
          </a:p>
          <a:p>
            <a:pPr lvl="1"/>
            <a:r>
              <a:rPr lang="bg-BG" dirty="0"/>
              <a:t>Генериране на изображения и сменяне на кадри</a:t>
            </a:r>
            <a:endParaRPr lang="en-US" dirty="0"/>
          </a:p>
          <a:p>
            <a:pPr lvl="1"/>
            <a:endParaRPr lang="bg-BG" dirty="0"/>
          </a:p>
          <a:p>
            <a:r>
              <a:rPr lang="bg-BG" dirty="0"/>
              <a:t>За потребителя остава</a:t>
            </a:r>
          </a:p>
          <a:p>
            <a:pPr lvl="1"/>
            <a:r>
              <a:rPr lang="bg-BG" dirty="0"/>
              <a:t>Структура и управление на страницата</a:t>
            </a:r>
          </a:p>
          <a:p>
            <a:pPr lvl="1"/>
            <a:r>
              <a:rPr lang="bg-BG" dirty="0"/>
              <a:t>Интерактивност и обработване на събития</a:t>
            </a:r>
          </a:p>
          <a:p>
            <a:pPr lvl="1"/>
            <a:r>
              <a:rPr lang="bg-BG" dirty="0"/>
              <a:t>Същинската логика на приложението</a:t>
            </a:r>
          </a:p>
        </p:txBody>
      </p:sp>
    </p:spTree>
    <p:extLst>
      <p:ext uri="{BB962C8B-B14F-4D97-AF65-F5344CB8AC3E}">
        <p14:creationId xmlns:p14="http://schemas.microsoft.com/office/powerpoint/2010/main" val="2558658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1576677" y="1564221"/>
            <a:ext cx="2285975" cy="3748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marL="120650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Потребител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6187" y="1564220"/>
            <a:ext cx="3404025" cy="3748999"/>
          </a:xfrm>
          <a:prstGeom prst="rect">
            <a:avLst/>
          </a:prstGeom>
          <a:solidFill>
            <a:srgbClr val="C7DC84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bg-BG" sz="2000" b="1" dirty="0" err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СУИКА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Chevron 40"/>
          <p:cNvSpPr/>
          <p:nvPr/>
        </p:nvSpPr>
        <p:spPr>
          <a:xfrm>
            <a:off x="6148627" y="3027245"/>
            <a:ext cx="1188707" cy="1097268"/>
          </a:xfrm>
          <a:prstGeom prst="chevron">
            <a:avLst>
              <a:gd name="adj" fmla="val 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Работа с </a:t>
            </a:r>
            <a:r>
              <a:rPr lang="en-US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WebGL</a:t>
            </a:r>
            <a:endParaRPr lang="bg-BG" sz="1600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759557" y="1960429"/>
            <a:ext cx="1645901" cy="731512"/>
          </a:xfrm>
          <a:prstGeom prst="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Структура на страница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9556" y="2773229"/>
            <a:ext cx="1645901" cy="731512"/>
          </a:xfrm>
          <a:prstGeom prst="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Управление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на страница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9556" y="3586029"/>
            <a:ext cx="1645901" cy="731512"/>
          </a:xfrm>
          <a:prstGeom prst="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Интер-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активност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59556" y="4398830"/>
            <a:ext cx="1645901" cy="731512"/>
          </a:xfrm>
          <a:prstGeom prst="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Приложен</a:t>
            </a:r>
          </a:p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код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9065" y="2387172"/>
            <a:ext cx="1645901" cy="7315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Създаване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на </a:t>
            </a:r>
            <a:r>
              <a:rPr lang="en-US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3D</a:t>
            </a: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обекти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9065" y="3208418"/>
            <a:ext cx="1645901" cy="7315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Управление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на </a:t>
            </a:r>
            <a:r>
              <a:rPr lang="en-US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3D</a:t>
            </a: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обекти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9065" y="4029665"/>
            <a:ext cx="1645901" cy="7315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Управление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на кадри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96898" y="2387172"/>
            <a:ext cx="182878" cy="73151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496898" y="3208418"/>
            <a:ext cx="182878" cy="73151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496898" y="4029665"/>
            <a:ext cx="182878" cy="73151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  <a:latin typeface="Candara" panose="020E0502030303020204" pitchFamily="34" charset="0"/>
            </a:endParaRPr>
          </a:p>
        </p:txBody>
      </p:sp>
      <p:cxnSp>
        <p:nvCxnSpPr>
          <p:cNvPr id="58" name="Straight Connector 57"/>
          <p:cNvCxnSpPr>
            <a:stCxn id="54" idx="3"/>
            <a:endCxn id="46" idx="1"/>
          </p:cNvCxnSpPr>
          <p:nvPr/>
        </p:nvCxnSpPr>
        <p:spPr>
          <a:xfrm>
            <a:off x="3679776" y="2752928"/>
            <a:ext cx="619289" cy="0"/>
          </a:xfrm>
          <a:prstGeom prst="line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56" idx="3"/>
            <a:endCxn id="47" idx="1"/>
          </p:cNvCxnSpPr>
          <p:nvPr/>
        </p:nvCxnSpPr>
        <p:spPr>
          <a:xfrm>
            <a:off x="3679776" y="3574174"/>
            <a:ext cx="619289" cy="0"/>
          </a:xfrm>
          <a:prstGeom prst="line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7" idx="3"/>
            <a:endCxn id="51" idx="1"/>
          </p:cNvCxnSpPr>
          <p:nvPr/>
        </p:nvCxnSpPr>
        <p:spPr>
          <a:xfrm>
            <a:off x="3679776" y="4395421"/>
            <a:ext cx="619289" cy="0"/>
          </a:xfrm>
          <a:prstGeom prst="line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7" idx="3"/>
            <a:endCxn id="41" idx="1"/>
          </p:cNvCxnSpPr>
          <p:nvPr/>
        </p:nvCxnSpPr>
        <p:spPr>
          <a:xfrm>
            <a:off x="5944966" y="3574174"/>
            <a:ext cx="203661" cy="1705"/>
          </a:xfrm>
          <a:prstGeom prst="line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49"/>
          <p:cNvCxnSpPr>
            <a:stCxn id="46" idx="3"/>
            <a:endCxn id="41" idx="0"/>
          </p:cNvCxnSpPr>
          <p:nvPr/>
        </p:nvCxnSpPr>
        <p:spPr>
          <a:xfrm>
            <a:off x="5944966" y="2752928"/>
            <a:ext cx="798015" cy="274317"/>
          </a:xfrm>
          <a:prstGeom prst="bentConnector2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9"/>
          <p:cNvCxnSpPr>
            <a:stCxn id="51" idx="3"/>
            <a:endCxn id="41" idx="2"/>
          </p:cNvCxnSpPr>
          <p:nvPr/>
        </p:nvCxnSpPr>
        <p:spPr>
          <a:xfrm flipV="1">
            <a:off x="5944966" y="4124513"/>
            <a:ext cx="798015" cy="270908"/>
          </a:xfrm>
          <a:prstGeom prst="bentConnector2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35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Програмен модел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Основен обект </a:t>
            </a:r>
            <a:r>
              <a:rPr lang="en-US" dirty="0" err="1"/>
              <a:t>Suica</a:t>
            </a:r>
            <a:endParaRPr lang="en-US" dirty="0"/>
          </a:p>
          <a:p>
            <a:pPr lvl="1"/>
            <a:r>
              <a:rPr lang="bg-BG" dirty="0"/>
              <a:t>Свързва се с </a:t>
            </a:r>
            <a:r>
              <a:rPr lang="en-US" b="1" dirty="0"/>
              <a:t>canvas</a:t>
            </a:r>
            <a:r>
              <a:rPr lang="bg-BG" dirty="0"/>
              <a:t> елемент</a:t>
            </a:r>
          </a:p>
          <a:p>
            <a:pPr lvl="1"/>
            <a:r>
              <a:rPr lang="bg-BG" dirty="0"/>
              <a:t>Може да има няколко </a:t>
            </a:r>
            <a:r>
              <a:rPr lang="en-US" dirty="0" err="1"/>
              <a:t>Suica</a:t>
            </a:r>
            <a:r>
              <a:rPr lang="bg-BG" dirty="0"/>
              <a:t> обекти</a:t>
            </a:r>
          </a:p>
          <a:p>
            <a:pPr lvl="1"/>
            <a:r>
              <a:rPr lang="bg-BG" dirty="0"/>
              <a:t>Има собствен цикъл за анимация</a:t>
            </a:r>
          </a:p>
          <a:p>
            <a:pPr lvl="1"/>
            <a:r>
              <a:rPr lang="bg-BG" dirty="0"/>
              <a:t>Потребителят може да добави собствен цикъл</a:t>
            </a:r>
          </a:p>
          <a:p>
            <a:pPr lvl="1"/>
            <a:endParaRPr lang="bg-BG" dirty="0"/>
          </a:p>
          <a:p>
            <a:r>
              <a:rPr lang="bg-BG" dirty="0"/>
              <a:t>Графични обекти</a:t>
            </a:r>
          </a:p>
          <a:p>
            <a:pPr lvl="1"/>
            <a:r>
              <a:rPr lang="bg-BG" dirty="0"/>
              <a:t>Набор от основните геометрични форми</a:t>
            </a:r>
          </a:p>
          <a:p>
            <a:pPr lvl="1"/>
            <a:r>
              <a:rPr lang="bg-BG" dirty="0"/>
              <a:t>Стандартни унифицирани свойства</a:t>
            </a:r>
          </a:p>
          <a:p>
            <a:pPr lvl="1"/>
            <a:r>
              <a:rPr lang="bg-BG" dirty="0"/>
              <a:t>Всеки </a:t>
            </a:r>
            <a:r>
              <a:rPr lang="en-US" dirty="0" err="1"/>
              <a:t>Suica</a:t>
            </a:r>
            <a:r>
              <a:rPr lang="bg-BG" dirty="0"/>
              <a:t> обект съдържа показваните в него графични обекти</a:t>
            </a:r>
          </a:p>
        </p:txBody>
      </p:sp>
    </p:spTree>
    <p:extLst>
      <p:ext uri="{BB962C8B-B14F-4D97-AF65-F5344CB8AC3E}">
        <p14:creationId xmlns:p14="http://schemas.microsoft.com/office/powerpoint/2010/main" val="2788780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evron 2"/>
          <p:cNvSpPr/>
          <p:nvPr/>
        </p:nvSpPr>
        <p:spPr>
          <a:xfrm>
            <a:off x="3478306" y="990600"/>
            <a:ext cx="2743200" cy="4362865"/>
          </a:xfrm>
          <a:prstGeom prst="chevron">
            <a:avLst>
              <a:gd name="adj" fmla="val 0"/>
            </a:avLst>
          </a:prstGeom>
          <a:solidFill>
            <a:srgbClr val="C7DC84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bg-BG" sz="20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Обект </a:t>
            </a:r>
            <a:r>
              <a:rPr lang="en-US" sz="2000" b="1" dirty="0" err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Suica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  <a:p>
            <a:pPr algn="ctr"/>
            <a:r>
              <a:rPr lang="bg-BG" sz="20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инстанция</a:t>
            </a:r>
          </a:p>
        </p:txBody>
      </p:sp>
      <p:sp>
        <p:nvSpPr>
          <p:cNvPr id="4" name="Chevron 3"/>
          <p:cNvSpPr/>
          <p:nvPr/>
        </p:nvSpPr>
        <p:spPr>
          <a:xfrm>
            <a:off x="364599" y="2310962"/>
            <a:ext cx="2819400" cy="2226745"/>
          </a:xfrm>
          <a:prstGeom prst="chevron">
            <a:avLst>
              <a:gd name="adj" fmla="val 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/>
          <a:lstStyle/>
          <a:p>
            <a:pPr marL="120650" algn="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</a:t>
            </a:r>
            <a:endParaRPr lang="bg-BG" sz="16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hevron 4"/>
          <p:cNvSpPr/>
          <p:nvPr/>
        </p:nvSpPr>
        <p:spPr>
          <a:xfrm>
            <a:off x="516999" y="2476428"/>
            <a:ext cx="1162314" cy="621721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</a:t>
            </a:r>
            <a:r>
              <a:rPr lang="en-US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canvas</a:t>
            </a:r>
            <a:endParaRPr lang="bg-BG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364599" y="2097741"/>
            <a:ext cx="2819400" cy="213221"/>
          </a:xfrm>
          <a:prstGeom prst="chevron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tabLst>
                <a:tab pos="2576513" algn="l"/>
              </a:tabLst>
            </a:pPr>
            <a:r>
              <a:rPr lang="bg-BG" sz="1200" b="1" dirty="0">
                <a:solidFill>
                  <a:schemeClr val="bg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Браузър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	x</a:t>
            </a:r>
            <a:endParaRPr lang="bg-BG" sz="1200" b="1" dirty="0">
              <a:solidFill>
                <a:schemeClr val="bg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Chevron 24"/>
          <p:cNvSpPr/>
          <p:nvPr/>
        </p:nvSpPr>
        <p:spPr>
          <a:xfrm>
            <a:off x="1355199" y="3224573"/>
            <a:ext cx="1676400" cy="1143000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</a:t>
            </a:r>
            <a:r>
              <a:rPr lang="en-US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canvas</a:t>
            </a:r>
            <a:endParaRPr lang="bg-BG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1746590" y="2400228"/>
            <a:ext cx="1285009" cy="1395845"/>
          </a:xfrm>
          <a:prstGeom prst="chevron">
            <a:avLst>
              <a:gd name="adj" fmla="val 0"/>
            </a:avLst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>
              <a:spcBef>
                <a:spcPct val="0"/>
              </a:spcBef>
            </a:pPr>
            <a:r>
              <a:rPr lang="en-US" sz="9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Lorem ipsum dolor sit</a:t>
            </a:r>
          </a:p>
          <a:p>
            <a:pPr algn="just">
              <a:spcBef>
                <a:spcPct val="0"/>
              </a:spcBef>
            </a:pPr>
            <a:r>
              <a:rPr lang="en-US" sz="500" dirty="0" err="1">
                <a:solidFill>
                  <a:schemeClr val="tx1"/>
                </a:solidFill>
              </a:rPr>
              <a:t>Amet</a:t>
            </a:r>
            <a:r>
              <a:rPr lang="en-US" sz="500" dirty="0">
                <a:solidFill>
                  <a:schemeClr val="tx1"/>
                </a:solidFill>
              </a:rPr>
              <a:t>, </a:t>
            </a:r>
            <a:r>
              <a:rPr lang="en-US" sz="500" dirty="0" err="1">
                <a:solidFill>
                  <a:schemeClr val="tx1"/>
                </a:solidFill>
              </a:rPr>
              <a:t>consectetur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adipiscing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elit</a:t>
            </a:r>
            <a:r>
              <a:rPr lang="en-US" sz="500" dirty="0">
                <a:solidFill>
                  <a:schemeClr val="tx1"/>
                </a:solidFill>
              </a:rPr>
              <a:t>. Nunc </a:t>
            </a:r>
            <a:r>
              <a:rPr lang="en-US" sz="500" dirty="0" err="1">
                <a:solidFill>
                  <a:schemeClr val="tx1"/>
                </a:solidFill>
              </a:rPr>
              <a:t>quis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viverra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urna</a:t>
            </a:r>
            <a:r>
              <a:rPr lang="en-US" sz="500" dirty="0">
                <a:solidFill>
                  <a:schemeClr val="tx1"/>
                </a:solidFill>
              </a:rPr>
              <a:t>. </a:t>
            </a:r>
            <a:r>
              <a:rPr lang="en-US" sz="500" dirty="0" err="1">
                <a:solidFill>
                  <a:schemeClr val="tx1"/>
                </a:solidFill>
              </a:rPr>
              <a:t>Proin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volutpat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laoreet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nisl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eget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rutrum</a:t>
            </a:r>
            <a:r>
              <a:rPr lang="en-US" sz="500" dirty="0">
                <a:solidFill>
                  <a:schemeClr val="tx1"/>
                </a:solidFill>
              </a:rPr>
              <a:t>. Maecenas </a:t>
            </a:r>
            <a:r>
              <a:rPr lang="en-US" sz="500" dirty="0" err="1">
                <a:solidFill>
                  <a:schemeClr val="tx1"/>
                </a:solidFill>
              </a:rPr>
              <a:t>ut</a:t>
            </a:r>
            <a:r>
              <a:rPr lang="en-US" sz="500" dirty="0">
                <a:solidFill>
                  <a:schemeClr val="tx1"/>
                </a:solidFill>
              </a:rPr>
              <a:t> convallis </a:t>
            </a:r>
            <a:r>
              <a:rPr lang="en-US" sz="500" dirty="0" err="1">
                <a:solidFill>
                  <a:schemeClr val="tx1"/>
                </a:solidFill>
              </a:rPr>
              <a:t>erat</a:t>
            </a:r>
            <a:r>
              <a:rPr lang="en-US" sz="500" dirty="0">
                <a:solidFill>
                  <a:schemeClr val="tx1"/>
                </a:solidFill>
              </a:rPr>
              <a:t>, a </a:t>
            </a:r>
            <a:r>
              <a:rPr lang="en-US" sz="500" dirty="0" err="1">
                <a:solidFill>
                  <a:schemeClr val="tx1"/>
                </a:solidFill>
              </a:rPr>
              <a:t>luctus</a:t>
            </a:r>
            <a:r>
              <a:rPr lang="en-US" sz="500" dirty="0">
                <a:solidFill>
                  <a:schemeClr val="tx1"/>
                </a:solidFill>
              </a:rPr>
              <a:t> ex. Cum </a:t>
            </a:r>
            <a:r>
              <a:rPr lang="en-US" sz="500" dirty="0" err="1">
                <a:solidFill>
                  <a:schemeClr val="tx1"/>
                </a:solidFill>
              </a:rPr>
              <a:t>sociis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natoque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pe-natibus</a:t>
            </a:r>
            <a:r>
              <a:rPr lang="en-US" sz="500" dirty="0">
                <a:solidFill>
                  <a:schemeClr val="tx1"/>
                </a:solidFill>
              </a:rPr>
              <a:t> et </a:t>
            </a:r>
            <a:r>
              <a:rPr lang="en-US" sz="500" dirty="0" err="1">
                <a:solidFill>
                  <a:schemeClr val="tx1"/>
                </a:solidFill>
              </a:rPr>
              <a:t>magnis</a:t>
            </a:r>
            <a:r>
              <a:rPr lang="en-US" sz="500" dirty="0">
                <a:solidFill>
                  <a:schemeClr val="tx1"/>
                </a:solidFill>
              </a:rPr>
              <a:t> dis parturient </a:t>
            </a:r>
            <a:r>
              <a:rPr lang="en-US" sz="500" dirty="0" err="1">
                <a:solidFill>
                  <a:schemeClr val="tx1"/>
                </a:solidFill>
              </a:rPr>
              <a:t>montes</a:t>
            </a:r>
            <a:r>
              <a:rPr lang="en-US" sz="500" dirty="0">
                <a:solidFill>
                  <a:schemeClr val="tx1"/>
                </a:solidFill>
              </a:rPr>
              <a:t>, </a:t>
            </a:r>
            <a:r>
              <a:rPr lang="en-US" sz="500" dirty="0" err="1">
                <a:solidFill>
                  <a:schemeClr val="tx1"/>
                </a:solidFill>
              </a:rPr>
              <a:t>nascetur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ridiculus</a:t>
            </a:r>
            <a:r>
              <a:rPr lang="en-US" sz="500" dirty="0">
                <a:solidFill>
                  <a:schemeClr val="tx1"/>
                </a:solidFill>
              </a:rPr>
              <a:t> mus. </a:t>
            </a:r>
            <a:r>
              <a:rPr lang="en-US" sz="500" dirty="0" err="1">
                <a:solidFill>
                  <a:schemeClr val="tx1"/>
                </a:solidFill>
              </a:rPr>
              <a:t>Sed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bibendum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en-i</a:t>
            </a:r>
            <a:r>
              <a:rPr lang="en-US" sz="500" dirty="0">
                <a:solidFill>
                  <a:schemeClr val="tx1"/>
                </a:solidFill>
              </a:rPr>
              <a:t> non </a:t>
            </a:r>
            <a:r>
              <a:rPr lang="en-US" sz="500" dirty="0" err="1">
                <a:solidFill>
                  <a:schemeClr val="tx1"/>
                </a:solidFill>
              </a:rPr>
              <a:t>risus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ullamcorper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lobortis</a:t>
            </a:r>
            <a:r>
              <a:rPr lang="en-US" sz="500" dirty="0">
                <a:solidFill>
                  <a:schemeClr val="tx1"/>
                </a:solidFill>
              </a:rPr>
              <a:t>.</a:t>
            </a:r>
            <a:endParaRPr lang="bg-BG" sz="600" dirty="0">
              <a:solidFill>
                <a:schemeClr val="tx1"/>
              </a:solidFill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515198" y="3162228"/>
            <a:ext cx="763801" cy="1395845"/>
          </a:xfrm>
          <a:prstGeom prst="chevron">
            <a:avLst>
              <a:gd name="adj" fmla="val 0"/>
            </a:avLst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just">
              <a:spcBef>
                <a:spcPct val="0"/>
              </a:spcBef>
            </a:pPr>
            <a:r>
              <a:rPr lang="en-US" sz="500" dirty="0" err="1">
                <a:solidFill>
                  <a:schemeClr val="tx1"/>
                </a:solidFill>
              </a:rPr>
              <a:t>Amet</a:t>
            </a:r>
            <a:r>
              <a:rPr lang="en-US" sz="500" dirty="0">
                <a:solidFill>
                  <a:schemeClr val="tx1"/>
                </a:solidFill>
              </a:rPr>
              <a:t>, </a:t>
            </a:r>
            <a:r>
              <a:rPr lang="en-US" sz="500" dirty="0" err="1">
                <a:solidFill>
                  <a:schemeClr val="tx1"/>
                </a:solidFill>
              </a:rPr>
              <a:t>consectetur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adip-iscing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elit</a:t>
            </a:r>
            <a:r>
              <a:rPr lang="en-US" sz="500" dirty="0">
                <a:solidFill>
                  <a:schemeClr val="tx1"/>
                </a:solidFill>
              </a:rPr>
              <a:t>. Nunc </a:t>
            </a:r>
            <a:r>
              <a:rPr lang="en-US" sz="500" dirty="0" err="1">
                <a:solidFill>
                  <a:schemeClr val="tx1"/>
                </a:solidFill>
              </a:rPr>
              <a:t>quis</a:t>
            </a:r>
            <a:r>
              <a:rPr lang="en-US" sz="500" dirty="0">
                <a:solidFill>
                  <a:schemeClr val="tx1"/>
                </a:solidFill>
              </a:rPr>
              <a:t> vi-</a:t>
            </a:r>
            <a:r>
              <a:rPr lang="en-US" sz="500" dirty="0" err="1">
                <a:solidFill>
                  <a:schemeClr val="tx1"/>
                </a:solidFill>
              </a:rPr>
              <a:t>verra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urna</a:t>
            </a:r>
            <a:r>
              <a:rPr lang="en-US" sz="500" dirty="0">
                <a:solidFill>
                  <a:schemeClr val="tx1"/>
                </a:solidFill>
              </a:rPr>
              <a:t>. </a:t>
            </a:r>
            <a:r>
              <a:rPr lang="en-US" sz="500" dirty="0" err="1">
                <a:solidFill>
                  <a:schemeClr val="tx1"/>
                </a:solidFill>
              </a:rPr>
              <a:t>Proin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volut</a:t>
            </a:r>
            <a:r>
              <a:rPr lang="en-US" sz="500" dirty="0">
                <a:solidFill>
                  <a:schemeClr val="tx1"/>
                </a:solidFill>
              </a:rPr>
              <a:t>-pat </a:t>
            </a:r>
            <a:r>
              <a:rPr lang="en-US" sz="500" dirty="0" err="1">
                <a:solidFill>
                  <a:schemeClr val="tx1"/>
                </a:solidFill>
              </a:rPr>
              <a:t>laoreet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nisl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eget</a:t>
            </a:r>
            <a:r>
              <a:rPr lang="en-US" sz="500" dirty="0">
                <a:solidFill>
                  <a:schemeClr val="tx1"/>
                </a:solidFill>
              </a:rPr>
              <a:t> rut-rum. Maecenas </a:t>
            </a:r>
            <a:r>
              <a:rPr lang="en-US" sz="500" dirty="0" err="1">
                <a:solidFill>
                  <a:schemeClr val="tx1"/>
                </a:solidFill>
              </a:rPr>
              <a:t>ut</a:t>
            </a:r>
            <a:r>
              <a:rPr lang="en-US" sz="500" dirty="0">
                <a:solidFill>
                  <a:schemeClr val="tx1"/>
                </a:solidFill>
              </a:rPr>
              <a:t> con-</a:t>
            </a:r>
            <a:r>
              <a:rPr lang="en-US" sz="500" dirty="0" err="1">
                <a:solidFill>
                  <a:schemeClr val="tx1"/>
                </a:solidFill>
              </a:rPr>
              <a:t>vallis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erat</a:t>
            </a:r>
            <a:r>
              <a:rPr lang="en-US" sz="500" dirty="0">
                <a:solidFill>
                  <a:schemeClr val="tx1"/>
                </a:solidFill>
              </a:rPr>
              <a:t>, a </a:t>
            </a:r>
            <a:r>
              <a:rPr lang="en-US" sz="500" dirty="0" err="1">
                <a:solidFill>
                  <a:schemeClr val="tx1"/>
                </a:solidFill>
              </a:rPr>
              <a:t>luctus</a:t>
            </a:r>
            <a:r>
              <a:rPr lang="en-US" sz="500" dirty="0">
                <a:solidFill>
                  <a:schemeClr val="tx1"/>
                </a:solidFill>
              </a:rPr>
              <a:t> ex. Cum </a:t>
            </a:r>
            <a:r>
              <a:rPr lang="en-US" sz="500" dirty="0" err="1">
                <a:solidFill>
                  <a:schemeClr val="tx1"/>
                </a:solidFill>
              </a:rPr>
              <a:t>sociis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natoque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pe-natibus</a:t>
            </a:r>
            <a:r>
              <a:rPr lang="en-US" sz="500" dirty="0">
                <a:solidFill>
                  <a:schemeClr val="tx1"/>
                </a:solidFill>
              </a:rPr>
              <a:t> et </a:t>
            </a:r>
            <a:r>
              <a:rPr lang="en-US" sz="500" dirty="0" err="1">
                <a:solidFill>
                  <a:schemeClr val="tx1"/>
                </a:solidFill>
              </a:rPr>
              <a:t>magnis</a:t>
            </a:r>
            <a:r>
              <a:rPr lang="en-US" sz="500" dirty="0">
                <a:solidFill>
                  <a:schemeClr val="tx1"/>
                </a:solidFill>
              </a:rPr>
              <a:t> dis parturient </a:t>
            </a:r>
            <a:r>
              <a:rPr lang="en-US" sz="500" dirty="0" err="1">
                <a:solidFill>
                  <a:schemeClr val="tx1"/>
                </a:solidFill>
              </a:rPr>
              <a:t>montes</a:t>
            </a:r>
            <a:r>
              <a:rPr lang="en-US" sz="500" dirty="0">
                <a:solidFill>
                  <a:schemeClr val="tx1"/>
                </a:solidFill>
              </a:rPr>
              <a:t>, </a:t>
            </a:r>
            <a:r>
              <a:rPr lang="en-US" sz="500" dirty="0" err="1">
                <a:solidFill>
                  <a:schemeClr val="tx1"/>
                </a:solidFill>
              </a:rPr>
              <a:t>nas-cetur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ridiculus</a:t>
            </a:r>
            <a:r>
              <a:rPr lang="en-US" sz="500" dirty="0">
                <a:solidFill>
                  <a:schemeClr val="tx1"/>
                </a:solidFill>
              </a:rPr>
              <a:t> mus. </a:t>
            </a:r>
            <a:r>
              <a:rPr lang="en-US" sz="500" dirty="0" err="1">
                <a:solidFill>
                  <a:schemeClr val="tx1"/>
                </a:solidFill>
              </a:rPr>
              <a:t>Sed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bibendum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enim</a:t>
            </a:r>
            <a:r>
              <a:rPr lang="en-US" sz="500" dirty="0">
                <a:solidFill>
                  <a:schemeClr val="tx1"/>
                </a:solidFill>
              </a:rPr>
              <a:t> non </a:t>
            </a:r>
            <a:r>
              <a:rPr lang="en-US" sz="500" dirty="0" err="1">
                <a:solidFill>
                  <a:schemeClr val="tx1"/>
                </a:solidFill>
              </a:rPr>
              <a:t>risus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ullamcorper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lobortis</a:t>
            </a:r>
            <a:r>
              <a:rPr lang="en-US" sz="500" dirty="0">
                <a:solidFill>
                  <a:schemeClr val="tx1"/>
                </a:solidFill>
              </a:rPr>
              <a:t>. In </a:t>
            </a:r>
            <a:r>
              <a:rPr lang="en-US" sz="500" dirty="0" err="1">
                <a:solidFill>
                  <a:schemeClr val="tx1"/>
                </a:solidFill>
              </a:rPr>
              <a:t>malesuada</a:t>
            </a:r>
            <a:r>
              <a:rPr lang="en-US" sz="500" dirty="0">
                <a:solidFill>
                  <a:schemeClr val="tx1"/>
                </a:solidFill>
              </a:rPr>
              <a:t> gravida hen-</a:t>
            </a:r>
            <a:r>
              <a:rPr lang="en-US" sz="500" dirty="0" err="1">
                <a:solidFill>
                  <a:schemeClr val="tx1"/>
                </a:solidFill>
              </a:rPr>
              <a:t>drerit</a:t>
            </a:r>
            <a:r>
              <a:rPr lang="en-US" sz="500" dirty="0">
                <a:solidFill>
                  <a:schemeClr val="tx1"/>
                </a:solidFill>
              </a:rPr>
              <a:t>. </a:t>
            </a:r>
            <a:r>
              <a:rPr lang="en-US" sz="500" dirty="0" err="1">
                <a:solidFill>
                  <a:schemeClr val="tx1"/>
                </a:solidFill>
              </a:rPr>
              <a:t>Praesent</a:t>
            </a:r>
            <a:r>
              <a:rPr lang="en-US" sz="500" dirty="0">
                <a:solidFill>
                  <a:schemeClr val="tx1"/>
                </a:solidFill>
              </a:rPr>
              <a:t> </a:t>
            </a:r>
            <a:r>
              <a:rPr lang="en-US" sz="500" dirty="0" err="1">
                <a:solidFill>
                  <a:schemeClr val="tx1"/>
                </a:solidFill>
              </a:rPr>
              <a:t>ullam-corper</a:t>
            </a:r>
            <a:r>
              <a:rPr lang="en-US" sz="500" dirty="0">
                <a:solidFill>
                  <a:schemeClr val="tx1"/>
                </a:solidFill>
              </a:rPr>
              <a:t> maximus </a:t>
            </a:r>
            <a:r>
              <a:rPr lang="en-US" sz="500" dirty="0" err="1">
                <a:solidFill>
                  <a:schemeClr val="tx1"/>
                </a:solidFill>
              </a:rPr>
              <a:t>tortor</a:t>
            </a:r>
            <a:r>
              <a:rPr lang="en-US" sz="500" dirty="0">
                <a:solidFill>
                  <a:schemeClr val="tx1"/>
                </a:solidFill>
              </a:rPr>
              <a:t>. </a:t>
            </a:r>
            <a:endParaRPr lang="bg-BG" sz="600" dirty="0">
              <a:solidFill>
                <a:schemeClr val="tx1"/>
              </a:solidFill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6526306" y="762000"/>
            <a:ext cx="2286000" cy="5333999"/>
          </a:xfrm>
          <a:prstGeom prst="chevron">
            <a:avLst>
              <a:gd name="adj" fmla="val 0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bg-BG" sz="20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Библиотека</a:t>
            </a:r>
          </a:p>
          <a:p>
            <a:pPr algn="ctr"/>
            <a:r>
              <a:rPr lang="bg-BG" sz="2000" b="1" dirty="0" err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СУИКА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Chevron 30"/>
          <p:cNvSpPr/>
          <p:nvPr/>
        </p:nvSpPr>
        <p:spPr>
          <a:xfrm>
            <a:off x="3630706" y="1416556"/>
            <a:ext cx="2438400" cy="1022739"/>
          </a:xfrm>
          <a:prstGeom prst="chevron">
            <a:avLst>
              <a:gd name="adj" fmla="val 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1440" rIns="0" bIns="0" rtlCol="0" anchor="t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Сцена</a:t>
            </a:r>
          </a:p>
        </p:txBody>
      </p:sp>
      <p:sp>
        <p:nvSpPr>
          <p:cNvPr id="30" name="Chevron 29"/>
          <p:cNvSpPr/>
          <p:nvPr/>
        </p:nvSpPr>
        <p:spPr>
          <a:xfrm>
            <a:off x="3630706" y="3506096"/>
            <a:ext cx="2438400" cy="1675504"/>
          </a:xfrm>
          <a:prstGeom prst="chevron">
            <a:avLst>
              <a:gd name="adj" fmla="val 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1440" rIns="0" bIns="0" rtlCol="0" anchor="t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Графични обекти</a:t>
            </a:r>
          </a:p>
        </p:txBody>
      </p:sp>
      <p:sp>
        <p:nvSpPr>
          <p:cNvPr id="35" name="Chevron 34"/>
          <p:cNvSpPr/>
          <p:nvPr/>
        </p:nvSpPr>
        <p:spPr>
          <a:xfrm>
            <a:off x="3706906" y="1782983"/>
            <a:ext cx="457200" cy="245826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Фон</a:t>
            </a:r>
          </a:p>
        </p:txBody>
      </p:sp>
      <p:sp>
        <p:nvSpPr>
          <p:cNvPr id="36" name="Chevron 35"/>
          <p:cNvSpPr/>
          <p:nvPr/>
        </p:nvSpPr>
        <p:spPr>
          <a:xfrm>
            <a:off x="4773706" y="2095403"/>
            <a:ext cx="1200054" cy="245826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Гледна точка</a:t>
            </a:r>
          </a:p>
        </p:txBody>
      </p:sp>
      <p:sp>
        <p:nvSpPr>
          <p:cNvPr id="37" name="Chevron 36"/>
          <p:cNvSpPr/>
          <p:nvPr/>
        </p:nvSpPr>
        <p:spPr>
          <a:xfrm>
            <a:off x="4240306" y="1782983"/>
            <a:ext cx="1733454" cy="245826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Автоматично въртене</a:t>
            </a:r>
          </a:p>
        </p:txBody>
      </p:sp>
      <p:sp>
        <p:nvSpPr>
          <p:cNvPr id="38" name="Chevron 37"/>
          <p:cNvSpPr/>
          <p:nvPr/>
        </p:nvSpPr>
        <p:spPr>
          <a:xfrm>
            <a:off x="3706906" y="2095403"/>
            <a:ext cx="990600" cy="245826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Проекция</a:t>
            </a:r>
          </a:p>
        </p:txBody>
      </p:sp>
      <p:sp>
        <p:nvSpPr>
          <p:cNvPr id="49" name="Chevron 48"/>
          <p:cNvSpPr/>
          <p:nvPr/>
        </p:nvSpPr>
        <p:spPr>
          <a:xfrm>
            <a:off x="3630706" y="2608057"/>
            <a:ext cx="2438400" cy="729277"/>
          </a:xfrm>
          <a:prstGeom prst="chevron">
            <a:avLst>
              <a:gd name="adj" fmla="val 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1440" rIns="0" bIns="0" rtlCol="0" anchor="t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Анимационни цикли</a:t>
            </a:r>
          </a:p>
        </p:txBody>
      </p:sp>
      <p:sp>
        <p:nvSpPr>
          <p:cNvPr id="50" name="Chevron 49"/>
          <p:cNvSpPr/>
          <p:nvPr/>
        </p:nvSpPr>
        <p:spPr>
          <a:xfrm>
            <a:off x="3783106" y="3015308"/>
            <a:ext cx="838200" cy="245826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Код на </a:t>
            </a:r>
            <a:r>
              <a:rPr lang="en-US" sz="1200" dirty="0" err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JS</a:t>
            </a:r>
            <a:endParaRPr lang="bg-BG" sz="1200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Chevron 51"/>
          <p:cNvSpPr/>
          <p:nvPr/>
        </p:nvSpPr>
        <p:spPr>
          <a:xfrm>
            <a:off x="4697506" y="3021106"/>
            <a:ext cx="838200" cy="245826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Код на </a:t>
            </a:r>
            <a:r>
              <a:rPr lang="en-US" sz="1200" dirty="0" err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JS</a:t>
            </a:r>
            <a:endParaRPr lang="bg-BG" sz="1200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Chevron 52"/>
          <p:cNvSpPr/>
          <p:nvPr/>
        </p:nvSpPr>
        <p:spPr>
          <a:xfrm>
            <a:off x="5591406" y="2862082"/>
            <a:ext cx="457200" cy="350618"/>
          </a:xfrm>
          <a:prstGeom prst="chevron">
            <a:avLst>
              <a:gd name="adj" fmla="val 0"/>
            </a:avLst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2400" dirty="0">
                <a:solidFill>
                  <a:schemeClr val="accent1">
                    <a:lumMod val="75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…</a:t>
            </a:r>
          </a:p>
        </p:txBody>
      </p:sp>
      <p:sp>
        <p:nvSpPr>
          <p:cNvPr id="55" name="Chevron 54"/>
          <p:cNvSpPr/>
          <p:nvPr/>
        </p:nvSpPr>
        <p:spPr>
          <a:xfrm>
            <a:off x="3783106" y="3970400"/>
            <a:ext cx="2133600" cy="635890"/>
          </a:xfrm>
          <a:prstGeom prst="chevron">
            <a:avLst>
              <a:gd name="adj" fmla="val 0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bg-BG" sz="14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Обект</a:t>
            </a:r>
          </a:p>
        </p:txBody>
      </p:sp>
      <p:sp>
        <p:nvSpPr>
          <p:cNvPr id="32" name="Chevron 31"/>
          <p:cNvSpPr/>
          <p:nvPr/>
        </p:nvSpPr>
        <p:spPr>
          <a:xfrm>
            <a:off x="3886738" y="4267200"/>
            <a:ext cx="990600" cy="245826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Параметри</a:t>
            </a:r>
          </a:p>
        </p:txBody>
      </p:sp>
      <p:sp>
        <p:nvSpPr>
          <p:cNvPr id="33" name="Chevron 32"/>
          <p:cNvSpPr/>
          <p:nvPr/>
        </p:nvSpPr>
        <p:spPr>
          <a:xfrm>
            <a:off x="4953538" y="4267200"/>
            <a:ext cx="838200" cy="245826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Свойства</a:t>
            </a:r>
          </a:p>
        </p:txBody>
      </p:sp>
      <p:sp>
        <p:nvSpPr>
          <p:cNvPr id="62" name="Chevron 61"/>
          <p:cNvSpPr/>
          <p:nvPr/>
        </p:nvSpPr>
        <p:spPr>
          <a:xfrm rot="5400000">
            <a:off x="4750797" y="4777691"/>
            <a:ext cx="457200" cy="350618"/>
          </a:xfrm>
          <a:prstGeom prst="chevron">
            <a:avLst>
              <a:gd name="adj" fmla="val 0"/>
            </a:avLst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1588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2400" dirty="0">
                <a:solidFill>
                  <a:schemeClr val="accent1">
                    <a:lumMod val="75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…</a:t>
            </a:r>
          </a:p>
        </p:txBody>
      </p:sp>
      <p:sp>
        <p:nvSpPr>
          <p:cNvPr id="63" name="Chevron 62"/>
          <p:cNvSpPr/>
          <p:nvPr/>
        </p:nvSpPr>
        <p:spPr>
          <a:xfrm>
            <a:off x="6678706" y="1606693"/>
            <a:ext cx="1981200" cy="640080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t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Вградени</a:t>
            </a:r>
          </a:p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 err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шейдъри</a:t>
            </a:r>
            <a:endParaRPr lang="bg-BG" sz="1600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Chevron 63"/>
          <p:cNvSpPr/>
          <p:nvPr/>
        </p:nvSpPr>
        <p:spPr>
          <a:xfrm>
            <a:off x="6723530" y="3657600"/>
            <a:ext cx="1981200" cy="640080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t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Дефиниции на графични обекти</a:t>
            </a:r>
          </a:p>
        </p:txBody>
      </p:sp>
      <p:sp>
        <p:nvSpPr>
          <p:cNvPr id="65" name="Chevron 64"/>
          <p:cNvSpPr/>
          <p:nvPr/>
        </p:nvSpPr>
        <p:spPr>
          <a:xfrm>
            <a:off x="6723530" y="4462696"/>
            <a:ext cx="1981200" cy="640080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t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Дефиниции на свойства</a:t>
            </a:r>
          </a:p>
        </p:txBody>
      </p:sp>
      <p:sp>
        <p:nvSpPr>
          <p:cNvPr id="66" name="Chevron 65"/>
          <p:cNvSpPr/>
          <p:nvPr/>
        </p:nvSpPr>
        <p:spPr>
          <a:xfrm>
            <a:off x="6714565" y="5267793"/>
            <a:ext cx="1981200" cy="640080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t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Помощни функции</a:t>
            </a:r>
          </a:p>
        </p:txBody>
      </p:sp>
      <p:sp>
        <p:nvSpPr>
          <p:cNvPr id="67" name="Chevron 66"/>
          <p:cNvSpPr/>
          <p:nvPr/>
        </p:nvSpPr>
        <p:spPr>
          <a:xfrm>
            <a:off x="6714565" y="2608056"/>
            <a:ext cx="1981200" cy="729277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t" anchorCtr="0"/>
          <a:lstStyle/>
          <a:p>
            <a:pPr algn="ct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Вграден цикъл за анимация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3031599" y="3860150"/>
            <a:ext cx="446707" cy="0"/>
          </a:xfrm>
          <a:prstGeom prst="line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069106" y="1918908"/>
            <a:ext cx="609600" cy="0"/>
          </a:xfrm>
          <a:prstGeom prst="straightConnector1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3"/>
          <p:cNvCxnSpPr>
            <a:stCxn id="49" idx="3"/>
            <a:endCxn id="67" idx="1"/>
          </p:cNvCxnSpPr>
          <p:nvPr/>
        </p:nvCxnSpPr>
        <p:spPr>
          <a:xfrm flipV="1">
            <a:off x="6069106" y="2972695"/>
            <a:ext cx="645459" cy="1"/>
          </a:xfrm>
          <a:prstGeom prst="bentConnector3">
            <a:avLst>
              <a:gd name="adj1" fmla="val 50000"/>
            </a:avLst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3"/>
          <p:cNvCxnSpPr>
            <a:stCxn id="30" idx="3"/>
            <a:endCxn id="64" idx="1"/>
          </p:cNvCxnSpPr>
          <p:nvPr/>
        </p:nvCxnSpPr>
        <p:spPr>
          <a:xfrm flipV="1">
            <a:off x="6069106" y="3977640"/>
            <a:ext cx="654424" cy="366208"/>
          </a:xfrm>
          <a:prstGeom prst="bentConnector3">
            <a:avLst>
              <a:gd name="adj1" fmla="val 50000"/>
            </a:avLst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73"/>
          <p:cNvCxnSpPr>
            <a:stCxn id="30" idx="3"/>
            <a:endCxn id="65" idx="1"/>
          </p:cNvCxnSpPr>
          <p:nvPr/>
        </p:nvCxnSpPr>
        <p:spPr>
          <a:xfrm>
            <a:off x="6069106" y="4343848"/>
            <a:ext cx="654424" cy="438888"/>
          </a:xfrm>
          <a:prstGeom prst="bentConnector3">
            <a:avLst>
              <a:gd name="adj1" fmla="val 50000"/>
            </a:avLst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25" idx="2"/>
          </p:cNvCxnSpPr>
          <p:nvPr/>
        </p:nvCxnSpPr>
        <p:spPr>
          <a:xfrm rot="16200000" flipH="1">
            <a:off x="3825922" y="2735049"/>
            <a:ext cx="1220260" cy="4485307"/>
          </a:xfrm>
          <a:prstGeom prst="bentConnector2">
            <a:avLst/>
          </a:prstGeom>
          <a:ln w="38100" cap="rnd">
            <a:solidFill>
              <a:schemeClr val="accent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850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Лек пример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Сцена</a:t>
            </a:r>
          </a:p>
          <a:p>
            <a:pPr lvl="1"/>
            <a:r>
              <a:rPr lang="bg-BG" dirty="0"/>
              <a:t>Пет цветни куба на сив фон</a:t>
            </a:r>
          </a:p>
          <a:p>
            <a:pPr lvl="1"/>
            <a:r>
              <a:rPr lang="bg-BG" dirty="0"/>
              <a:t>Сцената се върти непрекъснато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819400"/>
            <a:ext cx="8534400" cy="3733800"/>
          </a:xfrm>
          <a:prstGeom prst="snip2DiagRect">
            <a:avLst>
              <a:gd name="adj1" fmla="val 0"/>
              <a:gd name="adj2" fmla="val 729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background([0.8,0.8,0.8]);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demo(15);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cube([0,0,0],3);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[1,1,1];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b1 = cube([0,3,0],2);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b1.color = [1,0,0.5];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b2 = cube([0,-3,0],2);</a:t>
            </a: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b2.color = [1,0.8,0];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78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7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381000"/>
            <a:ext cx="6076950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367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Сложен пример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Обща демонстрация</a:t>
            </a:r>
          </a:p>
          <a:p>
            <a:pPr lvl="1"/>
            <a:r>
              <a:rPr lang="bg-BG" dirty="0"/>
              <a:t>Различни геометрични обекти</a:t>
            </a:r>
          </a:p>
          <a:p>
            <a:pPr lvl="1"/>
            <a:r>
              <a:rPr lang="bg-BG" dirty="0"/>
              <a:t>Различни цветове, размери и стил на рисуване</a:t>
            </a:r>
          </a:p>
          <a:p>
            <a:pPr lvl="1"/>
            <a:r>
              <a:rPr lang="bg-BG" dirty="0"/>
              <a:t>Групиране на обекти в общ обект</a:t>
            </a:r>
          </a:p>
          <a:p>
            <a:pPr lvl="1"/>
            <a:r>
              <a:rPr lang="bg-BG" dirty="0"/>
              <a:t>Изрязване на обекти с равнини</a:t>
            </a:r>
          </a:p>
          <a:p>
            <a:pPr lvl="1"/>
            <a:r>
              <a:rPr lang="bg-BG" dirty="0"/>
              <a:t>Текстури и рамки на обекти</a:t>
            </a:r>
          </a:p>
          <a:p>
            <a:pPr lvl="1"/>
            <a:r>
              <a:rPr lang="bg-BG" dirty="0"/>
              <a:t>Движение и ориентация в 3</a:t>
            </a:r>
            <a:r>
              <a:rPr lang="en-US" dirty="0"/>
              <a:t>D</a:t>
            </a:r>
          </a:p>
          <a:p>
            <a:pPr lvl="1"/>
            <a:r>
              <a:rPr lang="bg-BG" dirty="0"/>
              <a:t>Две паралелни графични полета</a:t>
            </a:r>
          </a:p>
          <a:p>
            <a:pPr lvl="1"/>
            <a:r>
              <a:rPr lang="bg-BG" dirty="0"/>
              <a:t>Интерактивност при избиране на обект</a:t>
            </a:r>
          </a:p>
          <a:p>
            <a:pPr lvl="1"/>
            <a:r>
              <a:rPr lang="bg-BG" dirty="0"/>
              <a:t>Позициониране на </a:t>
            </a:r>
            <a:r>
              <a:rPr lang="en-US" dirty="0"/>
              <a:t>HTML</a:t>
            </a:r>
            <a:r>
              <a:rPr lang="bg-BG" dirty="0"/>
              <a:t> елемент върху графичен обект</a:t>
            </a:r>
          </a:p>
        </p:txBody>
      </p:sp>
    </p:spTree>
    <p:extLst>
      <p:ext uri="{BB962C8B-B14F-4D97-AF65-F5344CB8AC3E}">
        <p14:creationId xmlns:p14="http://schemas.microsoft.com/office/powerpoint/2010/main" val="1845907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1" name="Picture 3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685800"/>
            <a:ext cx="760095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7191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Инициализация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12454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Координатна система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Включване на библиотеката</a:t>
            </a:r>
          </a:p>
          <a:p>
            <a:pPr lvl="1"/>
            <a:r>
              <a:rPr lang="bg-BG" dirty="0"/>
              <a:t>Минимизиран вариант </a:t>
            </a:r>
            <a:r>
              <a:rPr lang="en-US" b="1" dirty="0"/>
              <a:t>suica.min.js</a:t>
            </a:r>
          </a:p>
          <a:p>
            <a:pPr lvl="1"/>
            <a:endParaRPr lang="bg-BG" dirty="0"/>
          </a:p>
          <a:p>
            <a:r>
              <a:rPr lang="bg-BG" dirty="0"/>
              <a:t>Координатна система</a:t>
            </a:r>
          </a:p>
          <a:p>
            <a:pPr lvl="1"/>
            <a:r>
              <a:rPr lang="bg-BG" dirty="0"/>
              <a:t>Създаване на инстанция на </a:t>
            </a:r>
            <a:r>
              <a:rPr lang="en-US" b="1" dirty="0" err="1"/>
              <a:t>Suica</a:t>
            </a:r>
            <a:endParaRPr lang="en-US" b="1" dirty="0"/>
          </a:p>
          <a:p>
            <a:pPr lvl="1"/>
            <a:r>
              <a:rPr lang="bg-BG" dirty="0"/>
              <a:t>Задаване на фон с </a:t>
            </a:r>
            <a:r>
              <a:rPr lang="en-US" b="1" dirty="0"/>
              <a:t>background</a:t>
            </a:r>
            <a:r>
              <a:rPr lang="bg-BG" dirty="0"/>
              <a:t>, рисуване на координатна система с </a:t>
            </a:r>
            <a:r>
              <a:rPr lang="en-US" b="1" dirty="0" err="1"/>
              <a:t>oxyz</a:t>
            </a:r>
            <a:r>
              <a:rPr lang="en-US" dirty="0"/>
              <a:t> </a:t>
            </a:r>
            <a:r>
              <a:rPr lang="bg-BG" dirty="0"/>
              <a:t>и автоматично въртене с </a:t>
            </a:r>
            <a:r>
              <a:rPr lang="en-US" b="1" dirty="0"/>
              <a:t>demo</a:t>
            </a:r>
            <a:endParaRPr lang="bg-BG" b="1" dirty="0"/>
          </a:p>
        </p:txBody>
      </p:sp>
      <p:sp>
        <p:nvSpPr>
          <p:cNvPr id="8" name="Snip Diagonal Corner Rectangle 7"/>
          <p:cNvSpPr/>
          <p:nvPr/>
        </p:nvSpPr>
        <p:spPr>
          <a:xfrm>
            <a:off x="304800" y="4343400"/>
            <a:ext cx="8534400" cy="2209800"/>
          </a:xfrm>
          <a:prstGeom prst="snip2DiagRect">
            <a:avLst>
              <a:gd name="adj1" fmla="val 0"/>
              <a:gd name="adj2" fmla="val 1045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341313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pPr marL="174625">
              <a:tabLst>
                <a:tab pos="341313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&lt;script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="suica.min.js"&gt;&lt;/script&gt;</a:t>
            </a:r>
          </a:p>
          <a:p>
            <a:pPr marL="174625">
              <a:tabLst>
                <a:tab pos="341313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341313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341313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74625">
              <a:tabLst>
                <a:tab pos="341313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([0.8,0.9,1.0]);</a:t>
            </a:r>
          </a:p>
          <a:p>
            <a:pPr marL="174625">
              <a:tabLst>
                <a:tab pos="341313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oxyz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74625">
              <a:tabLst>
                <a:tab pos="341313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demo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(15);</a:t>
            </a:r>
          </a:p>
        </p:txBody>
      </p:sp>
    </p:spTree>
    <p:extLst>
      <p:ext uri="{BB962C8B-B14F-4D97-AF65-F5344CB8AC3E}">
        <p14:creationId xmlns:p14="http://schemas.microsoft.com/office/powerpoint/2010/main" val="2400892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5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8717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Автоматично въртене</a:t>
            </a:r>
          </a:p>
          <a:p>
            <a:pPr lvl="1"/>
            <a:r>
              <a:rPr lang="bg-BG" dirty="0"/>
              <a:t>Полезно при демонстрационни примери</a:t>
            </a:r>
          </a:p>
          <a:p>
            <a:pPr lvl="1"/>
            <a:r>
              <a:rPr lang="bg-BG" dirty="0"/>
              <a:t>Възможност за някакъв базисен контрол на гледната точка</a:t>
            </a:r>
          </a:p>
          <a:p>
            <a:pPr lvl="1"/>
            <a:r>
              <a:rPr lang="bg-BG" dirty="0"/>
              <a:t>Често това е достатъчно</a:t>
            </a:r>
          </a:p>
        </p:txBody>
      </p:sp>
      <p:sp>
        <p:nvSpPr>
          <p:cNvPr id="3" name="Parallelogram 49"/>
          <p:cNvSpPr/>
          <p:nvPr/>
        </p:nvSpPr>
        <p:spPr>
          <a:xfrm>
            <a:off x="2362133" y="4787784"/>
            <a:ext cx="4515566" cy="695436"/>
          </a:xfrm>
          <a:custGeom>
            <a:avLst/>
            <a:gdLst>
              <a:gd name="connsiteX0" fmla="*/ 0 w 2986291"/>
              <a:gd name="connsiteY0" fmla="*/ 695436 h 695436"/>
              <a:gd name="connsiteX1" fmla="*/ 786921 w 2986291"/>
              <a:gd name="connsiteY1" fmla="*/ 0 h 695436"/>
              <a:gd name="connsiteX2" fmla="*/ 2986291 w 2986291"/>
              <a:gd name="connsiteY2" fmla="*/ 0 h 695436"/>
              <a:gd name="connsiteX3" fmla="*/ 2199370 w 2986291"/>
              <a:gd name="connsiteY3" fmla="*/ 695436 h 695436"/>
              <a:gd name="connsiteX4" fmla="*/ 0 w 2986291"/>
              <a:gd name="connsiteY4" fmla="*/ 695436 h 695436"/>
              <a:gd name="connsiteX0" fmla="*/ 0 w 2986291"/>
              <a:gd name="connsiteY0" fmla="*/ 695436 h 695436"/>
              <a:gd name="connsiteX1" fmla="*/ 786921 w 2986291"/>
              <a:gd name="connsiteY1" fmla="*/ 0 h 695436"/>
              <a:gd name="connsiteX2" fmla="*/ 2986291 w 2986291"/>
              <a:gd name="connsiteY2" fmla="*/ 0 h 695436"/>
              <a:gd name="connsiteX3" fmla="*/ 2244638 w 2986291"/>
              <a:gd name="connsiteY3" fmla="*/ 695436 h 695436"/>
              <a:gd name="connsiteX4" fmla="*/ 0 w 2986291"/>
              <a:gd name="connsiteY4" fmla="*/ 695436 h 695436"/>
              <a:gd name="connsiteX0" fmla="*/ 0 w 2817293"/>
              <a:gd name="connsiteY0" fmla="*/ 695436 h 695436"/>
              <a:gd name="connsiteX1" fmla="*/ 786921 w 2817293"/>
              <a:gd name="connsiteY1" fmla="*/ 0 h 695436"/>
              <a:gd name="connsiteX2" fmla="*/ 2817293 w 2817293"/>
              <a:gd name="connsiteY2" fmla="*/ 6035 h 695436"/>
              <a:gd name="connsiteX3" fmla="*/ 2244638 w 2817293"/>
              <a:gd name="connsiteY3" fmla="*/ 695436 h 695436"/>
              <a:gd name="connsiteX4" fmla="*/ 0 w 2817293"/>
              <a:gd name="connsiteY4" fmla="*/ 695436 h 695436"/>
              <a:gd name="connsiteX0" fmla="*/ 0 w 2853507"/>
              <a:gd name="connsiteY0" fmla="*/ 695436 h 695436"/>
              <a:gd name="connsiteX1" fmla="*/ 786921 w 2853507"/>
              <a:gd name="connsiteY1" fmla="*/ 0 h 695436"/>
              <a:gd name="connsiteX2" fmla="*/ 2853507 w 2853507"/>
              <a:gd name="connsiteY2" fmla="*/ 0 h 695436"/>
              <a:gd name="connsiteX3" fmla="*/ 2244638 w 2853507"/>
              <a:gd name="connsiteY3" fmla="*/ 695436 h 695436"/>
              <a:gd name="connsiteX4" fmla="*/ 0 w 2853507"/>
              <a:gd name="connsiteY4" fmla="*/ 695436 h 695436"/>
              <a:gd name="connsiteX0" fmla="*/ 0 w 4515566"/>
              <a:gd name="connsiteY0" fmla="*/ 695436 h 695436"/>
              <a:gd name="connsiteX1" fmla="*/ 786921 w 4515566"/>
              <a:gd name="connsiteY1" fmla="*/ 0 h 695436"/>
              <a:gd name="connsiteX2" fmla="*/ 2853507 w 4515566"/>
              <a:gd name="connsiteY2" fmla="*/ 0 h 695436"/>
              <a:gd name="connsiteX3" fmla="*/ 4515566 w 4515566"/>
              <a:gd name="connsiteY3" fmla="*/ 685388 h 695436"/>
              <a:gd name="connsiteX4" fmla="*/ 0 w 4515566"/>
              <a:gd name="connsiteY4" fmla="*/ 695436 h 695436"/>
              <a:gd name="connsiteX0" fmla="*/ 0 w 4515566"/>
              <a:gd name="connsiteY0" fmla="*/ 695436 h 695436"/>
              <a:gd name="connsiteX1" fmla="*/ 786921 w 4515566"/>
              <a:gd name="connsiteY1" fmla="*/ 0 h 695436"/>
              <a:gd name="connsiteX2" fmla="*/ 4330615 w 4515566"/>
              <a:gd name="connsiteY2" fmla="*/ 0 h 695436"/>
              <a:gd name="connsiteX3" fmla="*/ 4515566 w 4515566"/>
              <a:gd name="connsiteY3" fmla="*/ 685388 h 695436"/>
              <a:gd name="connsiteX4" fmla="*/ 0 w 4515566"/>
              <a:gd name="connsiteY4" fmla="*/ 695436 h 695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5566" h="695436">
                <a:moveTo>
                  <a:pt x="0" y="695436"/>
                </a:moveTo>
                <a:lnTo>
                  <a:pt x="786921" y="0"/>
                </a:lnTo>
                <a:lnTo>
                  <a:pt x="4330615" y="0"/>
                </a:lnTo>
                <a:lnTo>
                  <a:pt x="4515566" y="685388"/>
                </a:lnTo>
                <a:lnTo>
                  <a:pt x="0" y="695436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3141961" y="3141881"/>
            <a:ext cx="0" cy="1645902"/>
          </a:xfrm>
          <a:prstGeom prst="straightConnector1">
            <a:avLst/>
          </a:prstGeom>
          <a:ln w="38100" cap="sq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3141961" y="4787784"/>
            <a:ext cx="4595024" cy="1"/>
          </a:xfrm>
          <a:prstGeom prst="straightConnector1">
            <a:avLst/>
          </a:prstGeom>
          <a:ln w="38100" cap="sq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227571" y="4787784"/>
            <a:ext cx="914390" cy="822950"/>
          </a:xfrm>
          <a:prstGeom prst="straightConnector1">
            <a:avLst/>
          </a:prstGeom>
          <a:ln w="38100" cap="sq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546067" y="5336417"/>
            <a:ext cx="3910772" cy="0"/>
          </a:xfrm>
          <a:prstGeom prst="straightConnector1">
            <a:avLst/>
          </a:prstGeom>
          <a:ln w="12700" cap="sq"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1861252" y="5244974"/>
            <a:ext cx="366319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X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Chevron 8"/>
          <p:cNvSpPr/>
          <p:nvPr/>
        </p:nvSpPr>
        <p:spPr>
          <a:xfrm>
            <a:off x="7370666" y="4937534"/>
            <a:ext cx="366319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Y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660854" y="3124200"/>
            <a:ext cx="366319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Z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6711656" y="3281531"/>
            <a:ext cx="1370779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g-BG" sz="1400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Място на гледане</a:t>
            </a:r>
          </a:p>
        </p:txBody>
      </p:sp>
      <p:sp>
        <p:nvSpPr>
          <p:cNvPr id="12" name="Freeform 11"/>
          <p:cNvSpPr/>
          <p:nvPr/>
        </p:nvSpPr>
        <p:spPr>
          <a:xfrm rot="20940757" flipH="1">
            <a:off x="4208669" y="4616060"/>
            <a:ext cx="578605" cy="303952"/>
          </a:xfrm>
          <a:custGeom>
            <a:avLst/>
            <a:gdLst>
              <a:gd name="connsiteX0" fmla="*/ 0 w 672701"/>
              <a:gd name="connsiteY0" fmla="*/ 145473 h 407966"/>
              <a:gd name="connsiteX1" fmla="*/ 644236 w 672701"/>
              <a:gd name="connsiteY1" fmla="*/ 405246 h 407966"/>
              <a:gd name="connsiteX2" fmla="*/ 498763 w 672701"/>
              <a:gd name="connsiteY2" fmla="*/ 0 h 407966"/>
              <a:gd name="connsiteX0" fmla="*/ 0 w 498763"/>
              <a:gd name="connsiteY0" fmla="*/ 145473 h 145473"/>
              <a:gd name="connsiteX1" fmla="*/ 498763 w 498763"/>
              <a:gd name="connsiteY1" fmla="*/ 0 h 145473"/>
              <a:gd name="connsiteX0" fmla="*/ 0 w 665988"/>
              <a:gd name="connsiteY0" fmla="*/ 0 h 309948"/>
              <a:gd name="connsiteX1" fmla="*/ 665988 w 665988"/>
              <a:gd name="connsiteY1" fmla="*/ 309948 h 309948"/>
              <a:gd name="connsiteX0" fmla="*/ 0 w 665988"/>
              <a:gd name="connsiteY0" fmla="*/ 0 h 309948"/>
              <a:gd name="connsiteX1" fmla="*/ 665988 w 665988"/>
              <a:gd name="connsiteY1" fmla="*/ 309948 h 309948"/>
              <a:gd name="connsiteX0" fmla="*/ 0 w 665988"/>
              <a:gd name="connsiteY0" fmla="*/ 0 h 309948"/>
              <a:gd name="connsiteX1" fmla="*/ 665988 w 665988"/>
              <a:gd name="connsiteY1" fmla="*/ 309948 h 309948"/>
              <a:gd name="connsiteX0" fmla="*/ 0 w 779843"/>
              <a:gd name="connsiteY0" fmla="*/ 0 h 302832"/>
              <a:gd name="connsiteX1" fmla="*/ 779843 w 779843"/>
              <a:gd name="connsiteY1" fmla="*/ 302832 h 302832"/>
              <a:gd name="connsiteX0" fmla="*/ 0 w 779843"/>
              <a:gd name="connsiteY0" fmla="*/ 1120 h 303952"/>
              <a:gd name="connsiteX1" fmla="*/ 779843 w 779843"/>
              <a:gd name="connsiteY1" fmla="*/ 303952 h 303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9843" h="303952">
                <a:moveTo>
                  <a:pt x="0" y="1120"/>
                </a:moveTo>
                <a:cubicBezTo>
                  <a:pt x="225554" y="-2303"/>
                  <a:pt x="532941" y="-16401"/>
                  <a:pt x="779843" y="303952"/>
                </a:cubicBezTo>
              </a:path>
            </a:pathLst>
          </a:custGeom>
          <a:noFill/>
          <a:ln w="31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3" name="Straight Arrow Connector 12"/>
          <p:cNvCxnSpPr>
            <a:stCxn id="3" idx="1"/>
          </p:cNvCxnSpPr>
          <p:nvPr/>
        </p:nvCxnSpPr>
        <p:spPr>
          <a:xfrm>
            <a:off x="3149054" y="4787784"/>
            <a:ext cx="3313797" cy="548633"/>
          </a:xfrm>
          <a:prstGeom prst="straightConnector1">
            <a:avLst/>
          </a:prstGeom>
          <a:ln w="12700" cap="sq"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462851" y="3489960"/>
            <a:ext cx="0" cy="1846457"/>
          </a:xfrm>
          <a:prstGeom prst="straightConnector1">
            <a:avLst/>
          </a:prstGeom>
          <a:ln w="12700" cap="sq"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050522" y="4675558"/>
            <a:ext cx="182878" cy="182878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Oval 15"/>
          <p:cNvSpPr/>
          <p:nvPr/>
        </p:nvSpPr>
        <p:spPr>
          <a:xfrm>
            <a:off x="3050522" y="3944736"/>
            <a:ext cx="182878" cy="18287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548278" y="3464411"/>
            <a:ext cx="189528" cy="0"/>
          </a:xfrm>
          <a:prstGeom prst="straightConnector1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Oval 17"/>
          <p:cNvSpPr/>
          <p:nvPr/>
        </p:nvSpPr>
        <p:spPr>
          <a:xfrm>
            <a:off x="6365400" y="3391310"/>
            <a:ext cx="182878" cy="18287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Chevron 18"/>
          <p:cNvSpPr/>
          <p:nvPr/>
        </p:nvSpPr>
        <p:spPr>
          <a:xfrm>
            <a:off x="4723939" y="4360730"/>
            <a:ext cx="1370779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g-BG" sz="1400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Разстояние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462851" y="4422587"/>
            <a:ext cx="189528" cy="0"/>
          </a:xfrm>
          <a:prstGeom prst="straightConnector1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Chevron 20"/>
          <p:cNvSpPr/>
          <p:nvPr/>
        </p:nvSpPr>
        <p:spPr>
          <a:xfrm>
            <a:off x="6643042" y="4239707"/>
            <a:ext cx="2008333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g-BG" sz="1400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Височина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812725" y="4036173"/>
            <a:ext cx="189528" cy="0"/>
          </a:xfrm>
          <a:prstGeom prst="straightConnector1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Chevron 22"/>
          <p:cNvSpPr/>
          <p:nvPr/>
        </p:nvSpPr>
        <p:spPr>
          <a:xfrm>
            <a:off x="533400" y="3853293"/>
            <a:ext cx="2279325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sz="1400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Цел (проектира се в центъра на </a:t>
            </a:r>
            <a:r>
              <a:rPr lang="en-US" sz="1400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canvas)</a:t>
            </a:r>
            <a:endParaRPr lang="bg-BG" sz="1400" dirty="0">
              <a:solidFill>
                <a:schemeClr val="tx1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24" name="Group 23"/>
          <p:cNvGrpSpPr/>
          <p:nvPr/>
        </p:nvGrpSpPr>
        <p:grpSpPr>
          <a:xfrm rot="197719">
            <a:off x="3403569" y="3465560"/>
            <a:ext cx="2819115" cy="619117"/>
            <a:chOff x="3124470" y="2856260"/>
            <a:chExt cx="2819115" cy="619117"/>
          </a:xfrm>
        </p:grpSpPr>
        <p:cxnSp>
          <p:nvCxnSpPr>
            <p:cNvPr id="25" name="Straight Arrow Connector 24"/>
            <p:cNvCxnSpPr/>
            <p:nvPr/>
          </p:nvCxnSpPr>
          <p:spPr>
            <a:xfrm flipH="1">
              <a:off x="5726730" y="2856260"/>
              <a:ext cx="216855" cy="46733"/>
            </a:xfrm>
            <a:prstGeom prst="straightConnector1">
              <a:avLst/>
            </a:prstGeom>
            <a:ln w="19050" cap="sq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5293020" y="2949726"/>
              <a:ext cx="216855" cy="46733"/>
            </a:xfrm>
            <a:prstGeom prst="straightConnector1">
              <a:avLst/>
            </a:prstGeom>
            <a:ln w="19050" cap="sq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4859310" y="3047308"/>
              <a:ext cx="216855" cy="46733"/>
            </a:xfrm>
            <a:prstGeom prst="straightConnector1">
              <a:avLst/>
            </a:prstGeom>
            <a:ln w="19050" cap="sq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4425600" y="3146115"/>
              <a:ext cx="216855" cy="46733"/>
            </a:xfrm>
            <a:prstGeom prst="straightConnector1">
              <a:avLst/>
            </a:prstGeom>
            <a:ln w="19050" cap="sq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3991890" y="3243697"/>
              <a:ext cx="216855" cy="46733"/>
            </a:xfrm>
            <a:prstGeom prst="straightConnector1">
              <a:avLst/>
            </a:prstGeom>
            <a:ln w="19050" cap="sq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3558180" y="3335178"/>
              <a:ext cx="216855" cy="46733"/>
            </a:xfrm>
            <a:prstGeom prst="straightConnector1">
              <a:avLst/>
            </a:prstGeom>
            <a:ln w="19050" cap="sq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3124470" y="3428644"/>
              <a:ext cx="216855" cy="46733"/>
            </a:xfrm>
            <a:prstGeom prst="straightConnector1">
              <a:avLst/>
            </a:prstGeom>
            <a:ln w="19050" cap="sq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Arc 31"/>
          <p:cNvSpPr/>
          <p:nvPr/>
        </p:nvSpPr>
        <p:spPr>
          <a:xfrm flipV="1">
            <a:off x="2829017" y="3464411"/>
            <a:ext cx="640073" cy="182880"/>
          </a:xfrm>
          <a:prstGeom prst="arc">
            <a:avLst>
              <a:gd name="adj1" fmla="val 8583518"/>
              <a:gd name="adj2" fmla="val 2611099"/>
            </a:avLst>
          </a:prstGeom>
          <a:ln w="25400" cap="sq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lt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2616499" y="3555851"/>
            <a:ext cx="189528" cy="0"/>
          </a:xfrm>
          <a:prstGeom prst="straightConnector1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hevron 33"/>
          <p:cNvSpPr/>
          <p:nvPr/>
        </p:nvSpPr>
        <p:spPr>
          <a:xfrm>
            <a:off x="608166" y="3372971"/>
            <a:ext cx="2008333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sz="1400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Скорост на въртене</a:t>
            </a:r>
          </a:p>
        </p:txBody>
      </p:sp>
      <p:sp>
        <p:nvSpPr>
          <p:cNvPr id="35" name="Chevron 34"/>
          <p:cNvSpPr/>
          <p:nvPr/>
        </p:nvSpPr>
        <p:spPr>
          <a:xfrm>
            <a:off x="533400" y="4475685"/>
            <a:ext cx="2008333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bg-BG" sz="1400" dirty="0">
                <a:solidFill>
                  <a:schemeClr val="tx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Височина на целта </a:t>
            </a:r>
          </a:p>
        </p:txBody>
      </p:sp>
      <p:sp>
        <p:nvSpPr>
          <p:cNvPr id="36" name="Freeform 35"/>
          <p:cNvSpPr/>
          <p:nvPr/>
        </p:nvSpPr>
        <p:spPr>
          <a:xfrm rot="20940757" flipV="1">
            <a:off x="2520475" y="4466081"/>
            <a:ext cx="571106" cy="166990"/>
          </a:xfrm>
          <a:custGeom>
            <a:avLst/>
            <a:gdLst>
              <a:gd name="connsiteX0" fmla="*/ 0 w 672701"/>
              <a:gd name="connsiteY0" fmla="*/ 145473 h 407966"/>
              <a:gd name="connsiteX1" fmla="*/ 644236 w 672701"/>
              <a:gd name="connsiteY1" fmla="*/ 405246 h 407966"/>
              <a:gd name="connsiteX2" fmla="*/ 498763 w 672701"/>
              <a:gd name="connsiteY2" fmla="*/ 0 h 407966"/>
              <a:gd name="connsiteX0" fmla="*/ 0 w 498763"/>
              <a:gd name="connsiteY0" fmla="*/ 145473 h 145473"/>
              <a:gd name="connsiteX1" fmla="*/ 498763 w 498763"/>
              <a:gd name="connsiteY1" fmla="*/ 0 h 145473"/>
              <a:gd name="connsiteX0" fmla="*/ 0 w 665988"/>
              <a:gd name="connsiteY0" fmla="*/ 0 h 309948"/>
              <a:gd name="connsiteX1" fmla="*/ 665988 w 665988"/>
              <a:gd name="connsiteY1" fmla="*/ 309948 h 309948"/>
              <a:gd name="connsiteX0" fmla="*/ 0 w 665988"/>
              <a:gd name="connsiteY0" fmla="*/ 0 h 309948"/>
              <a:gd name="connsiteX1" fmla="*/ 665988 w 665988"/>
              <a:gd name="connsiteY1" fmla="*/ 309948 h 309948"/>
              <a:gd name="connsiteX0" fmla="*/ 0 w 665988"/>
              <a:gd name="connsiteY0" fmla="*/ 0 h 309948"/>
              <a:gd name="connsiteX1" fmla="*/ 665988 w 665988"/>
              <a:gd name="connsiteY1" fmla="*/ 309948 h 309948"/>
              <a:gd name="connsiteX0" fmla="*/ 0 w 779843"/>
              <a:gd name="connsiteY0" fmla="*/ 0 h 302832"/>
              <a:gd name="connsiteX1" fmla="*/ 779843 w 779843"/>
              <a:gd name="connsiteY1" fmla="*/ 302832 h 302832"/>
              <a:gd name="connsiteX0" fmla="*/ 0 w 779843"/>
              <a:gd name="connsiteY0" fmla="*/ 1120 h 303952"/>
              <a:gd name="connsiteX1" fmla="*/ 779843 w 779843"/>
              <a:gd name="connsiteY1" fmla="*/ 303952 h 303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9843" h="303952">
                <a:moveTo>
                  <a:pt x="0" y="1120"/>
                </a:moveTo>
                <a:cubicBezTo>
                  <a:pt x="225554" y="-2303"/>
                  <a:pt x="532941" y="-16401"/>
                  <a:pt x="779843" y="303952"/>
                </a:cubicBezTo>
              </a:path>
            </a:pathLst>
          </a:custGeom>
          <a:noFill/>
          <a:ln w="31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92538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СУИКА</a:t>
            </a:r>
            <a:r>
              <a:rPr lang="bg-BG" dirty="0"/>
              <a:t> контекст</a:t>
            </a:r>
          </a:p>
          <a:p>
            <a:pPr lvl="1"/>
            <a:r>
              <a:rPr lang="bg-BG" dirty="0"/>
              <a:t>Повечето методи на класа </a:t>
            </a:r>
            <a:r>
              <a:rPr lang="en-US" b="1" dirty="0" err="1"/>
              <a:t>Suica</a:t>
            </a:r>
            <a:r>
              <a:rPr lang="en-US" dirty="0"/>
              <a:t> </a:t>
            </a:r>
            <a:r>
              <a:rPr lang="bg-BG" dirty="0"/>
              <a:t>могат да се ползват пряко</a:t>
            </a:r>
          </a:p>
          <a:p>
            <a:pPr lvl="1"/>
            <a:r>
              <a:rPr lang="bg-BG" dirty="0"/>
              <a:t>Ползва се последният дефиниран </a:t>
            </a:r>
            <a:r>
              <a:rPr lang="en-US" b="1" dirty="0" err="1"/>
              <a:t>Suica</a:t>
            </a:r>
            <a:r>
              <a:rPr lang="en-US" dirty="0"/>
              <a:t> </a:t>
            </a:r>
            <a:r>
              <a:rPr lang="bg-BG" dirty="0"/>
              <a:t>обект</a:t>
            </a:r>
          </a:p>
          <a:p>
            <a:pPr lvl="1"/>
            <a:r>
              <a:rPr lang="bg-BG" dirty="0"/>
              <a:t>За краткост при по-простите програми, особено тези с едно графично поле</a:t>
            </a:r>
          </a:p>
          <a:p>
            <a:pPr lvl="1"/>
            <a:endParaRPr lang="bg-BG" dirty="0"/>
          </a:p>
          <a:p>
            <a:r>
              <a:rPr lang="bg-BG" dirty="0"/>
              <a:t>Пълен контекст</a:t>
            </a:r>
          </a:p>
          <a:p>
            <a:pPr lvl="1"/>
            <a:r>
              <a:rPr lang="bg-BG" dirty="0"/>
              <a:t>Инстанция на </a:t>
            </a:r>
            <a:r>
              <a:rPr lang="en-US" b="1" dirty="0" err="1"/>
              <a:t>Suica</a:t>
            </a:r>
            <a:r>
              <a:rPr lang="en-US" dirty="0"/>
              <a:t> </a:t>
            </a:r>
            <a:r>
              <a:rPr lang="bg-BG" dirty="0"/>
              <a:t>е запомнена в променлива</a:t>
            </a:r>
            <a:endParaRPr lang="en-US" dirty="0"/>
          </a:p>
          <a:p>
            <a:pPr lvl="1"/>
            <a:r>
              <a:rPr lang="bg-BG" dirty="0"/>
              <a:t>Методите се извикват откъм тази инстанция</a:t>
            </a:r>
          </a:p>
          <a:p>
            <a:pPr lvl="1"/>
            <a:r>
              <a:rPr lang="bg-BG" dirty="0"/>
              <a:t>Използва се при наличие на няколко графични полета или при нужда от достъп до елементите на инстанцията</a:t>
            </a:r>
            <a:endParaRPr lang="en-US" dirty="0"/>
          </a:p>
        </p:txBody>
      </p:sp>
      <p:sp>
        <p:nvSpPr>
          <p:cNvPr id="8" name="Snip Diagonal Corner Rectangle 7"/>
          <p:cNvSpPr/>
          <p:nvPr/>
        </p:nvSpPr>
        <p:spPr>
          <a:xfrm>
            <a:off x="304800" y="4953000"/>
            <a:ext cx="8534400" cy="1600200"/>
          </a:xfrm>
          <a:prstGeom prst="snip2DiagRect">
            <a:avLst>
              <a:gd name="adj1" fmla="val 0"/>
              <a:gd name="adj2" fmla="val 2369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341313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 = new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341313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341313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([0.8,0.9,1.0]);</a:t>
            </a:r>
          </a:p>
          <a:p>
            <a:pPr marL="174625">
              <a:tabLst>
                <a:tab pos="341313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oxyz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74625">
              <a:tabLst>
                <a:tab pos="341313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demo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(15);</a:t>
            </a:r>
          </a:p>
        </p:txBody>
      </p:sp>
    </p:spTree>
    <p:extLst>
      <p:ext uri="{BB962C8B-B14F-4D97-AF65-F5344CB8AC3E}">
        <p14:creationId xmlns:p14="http://schemas.microsoft.com/office/powerpoint/2010/main" val="3817365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Графични обекти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19680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Графични обекти в </a:t>
            </a:r>
            <a:r>
              <a:rPr lang="bg-BG" dirty="0" err="1"/>
              <a:t>СУИКА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Геометрични</a:t>
            </a:r>
          </a:p>
          <a:p>
            <a:pPr lvl="1">
              <a:tabLst>
                <a:tab pos="1263650" algn="l"/>
              </a:tabLst>
            </a:pPr>
            <a:r>
              <a:rPr lang="bg-BG" dirty="0"/>
              <a:t>0</a:t>
            </a:r>
            <a:r>
              <a:rPr lang="en-US" dirty="0"/>
              <a:t>D </a:t>
            </a:r>
            <a:r>
              <a:rPr lang="bg-BG" dirty="0"/>
              <a:t>–	точка</a:t>
            </a:r>
            <a:endParaRPr lang="en-US" dirty="0"/>
          </a:p>
          <a:p>
            <a:pPr lvl="1">
              <a:tabLst>
                <a:tab pos="1263650" algn="l"/>
              </a:tabLst>
            </a:pPr>
            <a:r>
              <a:rPr lang="en-US" dirty="0"/>
              <a:t>1D</a:t>
            </a:r>
            <a:r>
              <a:rPr lang="bg-BG" dirty="0"/>
              <a:t> –	права, лъч, отсечка</a:t>
            </a:r>
            <a:endParaRPr lang="en-US" dirty="0"/>
          </a:p>
          <a:p>
            <a:pPr lvl="1">
              <a:tabLst>
                <a:tab pos="1263650" algn="l"/>
              </a:tabLst>
            </a:pPr>
            <a:r>
              <a:rPr lang="en-US" dirty="0"/>
              <a:t>2D</a:t>
            </a:r>
            <a:r>
              <a:rPr lang="bg-BG" dirty="0"/>
              <a:t> –	квадрат, правоъгълник, правилен многоъгълник,</a:t>
            </a:r>
            <a:br>
              <a:rPr lang="bg-BG" dirty="0"/>
            </a:br>
            <a:r>
              <a:rPr lang="bg-BG" dirty="0"/>
              <a:t>	окръжност, елипса</a:t>
            </a:r>
            <a:endParaRPr lang="en-US" dirty="0"/>
          </a:p>
          <a:p>
            <a:pPr lvl="1">
              <a:tabLst>
                <a:tab pos="1263650" algn="l"/>
              </a:tabLst>
            </a:pPr>
            <a:r>
              <a:rPr lang="en-US" dirty="0"/>
              <a:t>3D</a:t>
            </a:r>
            <a:r>
              <a:rPr lang="bg-BG" dirty="0"/>
              <a:t> –	куб, паралелепипед, сфера, сфероид, призма,</a:t>
            </a:r>
            <a:br>
              <a:rPr lang="bg-BG" dirty="0"/>
            </a:br>
            <a:r>
              <a:rPr lang="bg-BG" dirty="0"/>
              <a:t>	пирамида, цилиндър, конус</a:t>
            </a:r>
          </a:p>
          <a:p>
            <a:r>
              <a:rPr lang="bg-BG" dirty="0"/>
              <a:t>Други обекти</a:t>
            </a:r>
          </a:p>
          <a:p>
            <a:pPr lvl="1"/>
            <a:r>
              <a:rPr lang="bg-BG" dirty="0"/>
              <a:t>Стил – колекция от дефинирани свойства, които могат да се закачат към обект</a:t>
            </a:r>
          </a:p>
          <a:p>
            <a:pPr lvl="1"/>
            <a:r>
              <a:rPr lang="bg-BG" dirty="0"/>
              <a:t>Група – обект, съставен от няколко по-прости обекта</a:t>
            </a:r>
          </a:p>
        </p:txBody>
      </p:sp>
    </p:spTree>
    <p:extLst>
      <p:ext uri="{BB962C8B-B14F-4D97-AF65-F5344CB8AC3E}">
        <p14:creationId xmlns:p14="http://schemas.microsoft.com/office/powerpoint/2010/main" val="1818129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Точки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Големи, шарени и кръгли точки по сфера</a:t>
            </a:r>
          </a:p>
          <a:p>
            <a:pPr lvl="1"/>
            <a:r>
              <a:rPr lang="bg-BG" dirty="0"/>
              <a:t>Точка (както и всеки друг обект) може да се създава с клас</a:t>
            </a:r>
            <a:r>
              <a:rPr lang="en-US" dirty="0"/>
              <a:t>,</a:t>
            </a:r>
            <a:r>
              <a:rPr lang="bg-BG" dirty="0"/>
              <a:t> напр. </a:t>
            </a:r>
            <a:r>
              <a:rPr lang="en-US" b="1" dirty="0"/>
              <a:t>new Point(…)</a:t>
            </a:r>
            <a:r>
              <a:rPr lang="bg-BG" dirty="0"/>
              <a:t>,</a:t>
            </a:r>
            <a:r>
              <a:rPr lang="en-US" dirty="0"/>
              <a:t> </a:t>
            </a:r>
            <a:r>
              <a:rPr lang="bg-BG" dirty="0"/>
              <a:t>и с функция, напр. </a:t>
            </a:r>
            <a:r>
              <a:rPr lang="en-US" b="1" dirty="0"/>
              <a:t>point(…)</a:t>
            </a:r>
            <a:endParaRPr lang="bg-BG" b="1" dirty="0"/>
          </a:p>
          <a:p>
            <a:pPr lvl="1"/>
            <a:r>
              <a:rPr lang="bg-BG" dirty="0"/>
              <a:t>Цветът на точката е в свойството </a:t>
            </a:r>
            <a:r>
              <a:rPr lang="en-US" b="1" dirty="0"/>
              <a:t>color</a:t>
            </a:r>
            <a:r>
              <a:rPr lang="en-US" dirty="0"/>
              <a:t>,</a:t>
            </a:r>
            <a:r>
              <a:rPr lang="bg-BG" dirty="0"/>
              <a:t> а нейният размер е в </a:t>
            </a:r>
            <a:r>
              <a:rPr lang="en-US" b="1" dirty="0" err="1"/>
              <a:t>pointSize</a:t>
            </a:r>
            <a:endParaRPr lang="bg-BG" b="1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733800"/>
            <a:ext cx="8534400" cy="2819400"/>
          </a:xfrm>
          <a:prstGeom prst="snip2DiagRect">
            <a:avLst>
              <a:gd name="adj1" fmla="val 0"/>
              <a:gd name="adj2" fmla="val 1108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alpha = radians(random(0,360));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beta = radians(random(-90,90));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r*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(alpha)*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(beta);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= r*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(alpha)*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(beta);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z = r*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(beta);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x,y,z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[random(0,1),random(0,1),random(0,1)];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pointSize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random(1,10)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444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20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Лирическо отклонение</a:t>
            </a:r>
          </a:p>
          <a:p>
            <a:pPr lvl="1"/>
            <a:r>
              <a:rPr lang="bg-BG" dirty="0"/>
              <a:t>В </a:t>
            </a:r>
            <a:r>
              <a:rPr lang="bg-BG" dirty="0" err="1"/>
              <a:t>СУИКА</a:t>
            </a:r>
            <a:r>
              <a:rPr lang="bg-BG" dirty="0"/>
              <a:t> има три </a:t>
            </a:r>
            <a:r>
              <a:rPr lang="bg-BG" dirty="0" err="1"/>
              <a:t>шейдъра</a:t>
            </a:r>
            <a:r>
              <a:rPr lang="bg-BG" dirty="0"/>
              <a:t> за фрагменти</a:t>
            </a:r>
          </a:p>
          <a:p>
            <a:pPr lvl="1"/>
            <a:r>
              <a:rPr lang="bg-BG" dirty="0"/>
              <a:t>Единият е за рисуване на точки</a:t>
            </a:r>
          </a:p>
          <a:p>
            <a:pPr lvl="1"/>
            <a:r>
              <a:rPr lang="bg-BG" dirty="0"/>
              <a:t>За скорост, ако размерът на точка е до 3.5, тя се рисува като квадратче, иначе се рисува като окръжност</a:t>
            </a:r>
          </a:p>
          <a:p>
            <a:pPr lvl="1"/>
            <a:endParaRPr lang="en-US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Когато се рисува точка, </a:t>
            </a:r>
            <a:r>
              <a:rPr lang="bg-BG" dirty="0" err="1"/>
              <a:t>шейдърът</a:t>
            </a:r>
            <a:r>
              <a:rPr lang="bg-BG" dirty="0"/>
              <a:t> за фрагменти обработва всички фрагменти от квадратче, обхващащо точката</a:t>
            </a:r>
          </a:p>
          <a:p>
            <a:pPr lvl="1"/>
            <a:r>
              <a:rPr lang="bg-BG" dirty="0"/>
              <a:t>Вградената променлива</a:t>
            </a:r>
            <a:r>
              <a:rPr lang="en-US" dirty="0"/>
              <a:t> </a:t>
            </a:r>
            <a:r>
              <a:rPr lang="en-US" b="1" dirty="0" err="1"/>
              <a:t>gl_PointCoord</a:t>
            </a:r>
            <a:r>
              <a:rPr lang="bg-BG" dirty="0"/>
              <a:t> указва координатите на фрагмента в квадратчето и е от (0,</a:t>
            </a:r>
            <a:r>
              <a:rPr lang="bg-BG" dirty="0" err="1"/>
              <a:t>0</a:t>
            </a:r>
            <a:r>
              <a:rPr lang="bg-BG" dirty="0"/>
              <a:t>) до (1,</a:t>
            </a:r>
            <a:r>
              <a:rPr lang="bg-BG" dirty="0" err="1"/>
              <a:t>1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Центърът на точката е в (0.5,0.5)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029200"/>
            <a:ext cx="8534400" cy="1524000"/>
          </a:xfrm>
          <a:prstGeom prst="snip2DiagRect">
            <a:avLst>
              <a:gd name="adj1" fmla="val 0"/>
              <a:gd name="adj2" fmla="val 1569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distance(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gl_PointCoord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vec2(0.5) );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uPointSize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&gt;3.5)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bg-BG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0.5) discard;</a:t>
            </a:r>
            <a:endParaRPr lang="bg-BG" sz="165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2572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Отсечки, лъчи, прави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Дефиниране</a:t>
            </a:r>
          </a:p>
          <a:p>
            <a:pPr lvl="1"/>
            <a:r>
              <a:rPr lang="bg-BG" dirty="0"/>
              <a:t>Всички се дефинират с координати на две </a:t>
            </a:r>
            <a:r>
              <a:rPr lang="en-US" dirty="0"/>
              <a:t>3D </a:t>
            </a:r>
            <a:r>
              <a:rPr lang="bg-BG" dirty="0"/>
              <a:t>точки</a:t>
            </a:r>
          </a:p>
          <a:p>
            <a:pPr lvl="1"/>
            <a:r>
              <a:rPr lang="bg-BG" dirty="0"/>
              <a:t>Създаване на лъч с начало точката (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,y</a:t>
            </a:r>
            <a:r>
              <a:rPr lang="en-US" baseline="-25000" dirty="0"/>
              <a:t>1</a:t>
            </a:r>
            <a:r>
              <a:rPr lang="en-US" dirty="0"/>
              <a:t>,z</a:t>
            </a:r>
            <a:r>
              <a:rPr lang="en-US" baseline="-25000" dirty="0"/>
              <a:t>1</a:t>
            </a:r>
            <a:r>
              <a:rPr lang="bg-BG" dirty="0"/>
              <a:t>) и </a:t>
            </a:r>
            <a:r>
              <a:rPr lang="bg-BG" dirty="0" err="1"/>
              <a:t>минаващ</a:t>
            </a:r>
            <a:r>
              <a:rPr lang="bg-BG" dirty="0"/>
              <a:t> през точката (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,y</a:t>
            </a:r>
            <a:r>
              <a:rPr lang="en-US" baseline="-25000" dirty="0"/>
              <a:t>2</a:t>
            </a:r>
            <a:r>
              <a:rPr lang="en-US" dirty="0"/>
              <a:t>,z</a:t>
            </a:r>
            <a:r>
              <a:rPr lang="en-US" baseline="-25000" dirty="0"/>
              <a:t>2</a:t>
            </a:r>
            <a:r>
              <a:rPr lang="bg-BG" dirty="0"/>
              <a:t>): </a:t>
            </a:r>
            <a:r>
              <a:rPr lang="en-US" b="1" dirty="0"/>
              <a:t>ray</a:t>
            </a:r>
            <a:r>
              <a:rPr lang="en-US" dirty="0"/>
              <a:t>([</a:t>
            </a:r>
            <a:r>
              <a:rPr lang="en-US" b="1" dirty="0"/>
              <a:t>x</a:t>
            </a:r>
            <a:r>
              <a:rPr lang="en-US" b="1" baseline="-25000" dirty="0"/>
              <a:t>1</a:t>
            </a:r>
            <a:r>
              <a:rPr lang="en-US" dirty="0"/>
              <a:t>,</a:t>
            </a:r>
            <a:r>
              <a:rPr lang="en-US" b="1" dirty="0"/>
              <a:t>y</a:t>
            </a:r>
            <a:r>
              <a:rPr lang="en-US" b="1" baseline="-25000" dirty="0"/>
              <a:t>1</a:t>
            </a:r>
            <a:r>
              <a:rPr lang="en-US" dirty="0"/>
              <a:t>,</a:t>
            </a:r>
            <a:r>
              <a:rPr lang="en-US" b="1" dirty="0"/>
              <a:t>z</a:t>
            </a:r>
            <a:r>
              <a:rPr lang="en-US" b="1" baseline="-25000" dirty="0"/>
              <a:t>1</a:t>
            </a:r>
            <a:r>
              <a:rPr lang="en-US" dirty="0"/>
              <a:t>],[</a:t>
            </a:r>
            <a:r>
              <a:rPr lang="en-US" b="1" dirty="0"/>
              <a:t>x</a:t>
            </a:r>
            <a:r>
              <a:rPr lang="en-US" b="1" baseline="-25000" dirty="0"/>
              <a:t>2</a:t>
            </a:r>
            <a:r>
              <a:rPr lang="en-US" dirty="0"/>
              <a:t>,</a:t>
            </a:r>
            <a:r>
              <a:rPr lang="en-US" b="1" dirty="0"/>
              <a:t>y</a:t>
            </a:r>
            <a:r>
              <a:rPr lang="en-US" b="1" baseline="-25000" dirty="0"/>
              <a:t>2</a:t>
            </a:r>
            <a:r>
              <a:rPr lang="en-US" dirty="0"/>
              <a:t>,</a:t>
            </a:r>
            <a:r>
              <a:rPr lang="en-US" b="1" dirty="0"/>
              <a:t>z</a:t>
            </a:r>
            <a:r>
              <a:rPr lang="en-US" b="1" baseline="-25000" dirty="0"/>
              <a:t>2</a:t>
            </a:r>
            <a:r>
              <a:rPr lang="en-US" dirty="0"/>
              <a:t>])</a:t>
            </a:r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Рисуване на случаен лабиринт</a:t>
            </a:r>
          </a:p>
          <a:p>
            <a:pPr lvl="1"/>
            <a:r>
              <a:rPr lang="bg-BG" dirty="0"/>
              <a:t>Рекурсивно разрязване на две случайни части</a:t>
            </a:r>
          </a:p>
          <a:p>
            <a:pPr lvl="1"/>
            <a:r>
              <a:rPr lang="bg-BG" dirty="0"/>
              <a:t>Разрезът се рисува като отсечка с отвор на случайно място</a:t>
            </a:r>
          </a:p>
          <a:p>
            <a:pPr lvl="1"/>
            <a:r>
              <a:rPr lang="bg-BG" dirty="0"/>
              <a:t>Всяка от двете части се обработва аналогично</a:t>
            </a:r>
          </a:p>
        </p:txBody>
      </p:sp>
    </p:spTree>
    <p:extLst>
      <p:ext uri="{BB962C8B-B14F-4D97-AF65-F5344CB8AC3E}">
        <p14:creationId xmlns:p14="http://schemas.microsoft.com/office/powerpoint/2010/main" val="3312918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Частта от лабиринта е правоъгълник от (</a:t>
            </a:r>
            <a:r>
              <a:rPr lang="en-US" b="1" dirty="0"/>
              <a:t>x1</a:t>
            </a:r>
            <a:r>
              <a:rPr lang="en-US" dirty="0"/>
              <a:t>,</a:t>
            </a:r>
            <a:r>
              <a:rPr lang="en-US" b="1" dirty="0"/>
              <a:t>y1</a:t>
            </a:r>
            <a:r>
              <a:rPr lang="en-US" dirty="0"/>
              <a:t>)</a:t>
            </a:r>
            <a:r>
              <a:rPr lang="bg-BG" dirty="0"/>
              <a:t> до (</a:t>
            </a:r>
            <a:r>
              <a:rPr lang="en-US" b="1" dirty="0"/>
              <a:t>x2</a:t>
            </a:r>
            <a:r>
              <a:rPr lang="en-US" dirty="0"/>
              <a:t>,</a:t>
            </a:r>
            <a:r>
              <a:rPr lang="en-US" b="1" dirty="0"/>
              <a:t>y2</a:t>
            </a:r>
            <a:r>
              <a:rPr lang="en-US" dirty="0"/>
              <a:t>),</a:t>
            </a:r>
            <a:r>
              <a:rPr lang="bg-BG" dirty="0"/>
              <a:t> като </a:t>
            </a:r>
            <a:r>
              <a:rPr lang="en-US" b="1" dirty="0"/>
              <a:t>dx</a:t>
            </a:r>
            <a:r>
              <a:rPr lang="bg-BG" dirty="0"/>
              <a:t> е ширината, а </a:t>
            </a:r>
            <a:r>
              <a:rPr lang="en-US" b="1" dirty="0" err="1"/>
              <a:t>dy</a:t>
            </a:r>
            <a:r>
              <a:rPr lang="bg-BG" dirty="0"/>
              <a:t> е височината</a:t>
            </a:r>
          </a:p>
          <a:p>
            <a:pPr lvl="1"/>
            <a:r>
              <a:rPr lang="bg-BG" dirty="0"/>
              <a:t>Разрязването е по позиция </a:t>
            </a:r>
            <a:r>
              <a:rPr lang="en-US" b="1" dirty="0"/>
              <a:t>m</a:t>
            </a:r>
            <a:r>
              <a:rPr lang="en-US" dirty="0"/>
              <a:t>,</a:t>
            </a:r>
            <a:r>
              <a:rPr lang="bg-BG" dirty="0"/>
              <a:t> а отворът е на позиция </a:t>
            </a:r>
            <a:r>
              <a:rPr lang="en-US" b="1" dirty="0"/>
              <a:t>n</a:t>
            </a:r>
            <a:endParaRPr lang="bg-BG" b="1" dirty="0"/>
          </a:p>
          <a:p>
            <a:pPr lvl="1"/>
            <a:r>
              <a:rPr lang="bg-BG" dirty="0"/>
              <a:t>Отсечката с отвор се рисува като две отсечки</a:t>
            </a:r>
          </a:p>
          <a:p>
            <a:pPr lvl="1"/>
            <a:r>
              <a:rPr lang="bg-BG" dirty="0"/>
              <a:t>Първият вариант е за вертикална отсечка с отвор, вторият е за хоризонтална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276600"/>
            <a:ext cx="8534400" cy="3276600"/>
          </a:xfrm>
          <a:prstGeom prst="snip2DiagRect">
            <a:avLst>
              <a:gd name="adj1" fmla="val 0"/>
              <a:gd name="adj2" fmla="val 84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(dx&gt;=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segment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([x1+m,y1,0], [x1+m,y1+n,0]);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segment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([x1+m,y1+n+10,0], [x1+m,y2,0]);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segment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([x1,y1+m,0], [x1+n,y1+m,0]);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segment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([x1+n+10,y1+m,0], [x2,y1+m,0]);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3940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6879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Кубове и паралелепипеди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Дефиниране</a:t>
            </a:r>
          </a:p>
          <a:p>
            <a:pPr lvl="1"/>
            <a:r>
              <a:rPr lang="bg-BG" dirty="0"/>
              <a:t>Куб се дефинира с координати на центъра и размер, а паралелепипед – с масив от три размера:</a:t>
            </a:r>
            <a:r>
              <a:rPr lang="en-US" dirty="0"/>
              <a:t> </a:t>
            </a:r>
            <a:r>
              <a:rPr lang="en-US" b="1" dirty="0"/>
              <a:t>cube([</a:t>
            </a:r>
            <a:r>
              <a:rPr lang="en-US" b="1" dirty="0" err="1"/>
              <a:t>x,y,z</a:t>
            </a:r>
            <a:r>
              <a:rPr lang="en-US" b="1" dirty="0"/>
              <a:t>],s)</a:t>
            </a:r>
            <a:r>
              <a:rPr lang="bg-BG" dirty="0"/>
              <a:t> и </a:t>
            </a:r>
            <a:r>
              <a:rPr lang="en-US" b="1" dirty="0"/>
              <a:t>cuboid</a:t>
            </a:r>
            <a:r>
              <a:rPr lang="en-US" dirty="0"/>
              <a:t>([</a:t>
            </a:r>
            <a:r>
              <a:rPr lang="en-US" b="1" dirty="0" err="1"/>
              <a:t>x</a:t>
            </a:r>
            <a:r>
              <a:rPr lang="en-US" dirty="0" err="1"/>
              <a:t>,</a:t>
            </a:r>
            <a:r>
              <a:rPr lang="en-US" b="1" dirty="0" err="1"/>
              <a:t>y</a:t>
            </a:r>
            <a:r>
              <a:rPr lang="en-US" dirty="0" err="1"/>
              <a:t>,</a:t>
            </a:r>
            <a:r>
              <a:rPr lang="en-US" b="1" dirty="0" err="1"/>
              <a:t>z</a:t>
            </a:r>
            <a:r>
              <a:rPr lang="en-US" dirty="0"/>
              <a:t>],[</a:t>
            </a:r>
            <a:r>
              <a:rPr lang="en-US" b="1" dirty="0" err="1"/>
              <a:t>s</a:t>
            </a:r>
            <a:r>
              <a:rPr lang="en-US" b="1" baseline="-25000" dirty="0" err="1"/>
              <a:t>x</a:t>
            </a:r>
            <a:r>
              <a:rPr lang="en-US" dirty="0" err="1"/>
              <a:t>,</a:t>
            </a:r>
            <a:r>
              <a:rPr lang="en-US" b="1" dirty="0" err="1"/>
              <a:t>s</a:t>
            </a:r>
            <a:r>
              <a:rPr lang="en-US" b="1" baseline="-25000" dirty="0" err="1"/>
              <a:t>y</a:t>
            </a:r>
            <a:r>
              <a:rPr lang="en-US" dirty="0" err="1"/>
              <a:t>,</a:t>
            </a:r>
            <a:r>
              <a:rPr lang="en-US" b="1" dirty="0" err="1"/>
              <a:t>s</a:t>
            </a:r>
            <a:r>
              <a:rPr lang="en-US" b="1" baseline="-25000" dirty="0" err="1"/>
              <a:t>z</a:t>
            </a:r>
            <a:r>
              <a:rPr lang="en-US" dirty="0"/>
              <a:t>])</a:t>
            </a:r>
            <a:endParaRPr lang="bg-BG" dirty="0"/>
          </a:p>
          <a:p>
            <a:endParaRPr lang="bg-BG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84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([0,0,0], 20);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[1,0,0.5];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([-14,0,0], [4,20,20]);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([+14,0,0], [4,20,20]);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([0,-14,0], [20,4,20]);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([0,+14,0], [20,4,20]);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([-14,-14,0], [4,4,20]);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[1,1,0.5];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([-14,+14,0], [4,4,20]);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[1,1,0.5];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([+14,-14,0], [4,4,20]);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[1,1,0.5];</a:t>
            </a:r>
          </a:p>
          <a:p>
            <a:pPr marL="174625">
              <a:tabLst>
                <a:tab pos="403225" algn="l"/>
                <a:tab pos="631825" algn="l"/>
                <a:tab pos="860425" algn="l"/>
                <a:tab pos="10890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([+14,+14,0], [4,4,20]);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[1,1,0.5];</a:t>
            </a:r>
          </a:p>
        </p:txBody>
      </p:sp>
    </p:spTree>
    <p:extLst>
      <p:ext uri="{BB962C8B-B14F-4D97-AF65-F5344CB8AC3E}">
        <p14:creationId xmlns:p14="http://schemas.microsoft.com/office/powerpoint/2010/main" val="3395770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1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994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Цилиндри и конуси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Цилиндри и </a:t>
            </a:r>
            <a:r>
              <a:rPr lang="bg-BG" dirty="0" err="1"/>
              <a:t>цилиндроиди</a:t>
            </a:r>
            <a:endParaRPr lang="bg-BG" dirty="0"/>
          </a:p>
          <a:p>
            <a:pPr lvl="1"/>
            <a:r>
              <a:rPr lang="bg-BG" dirty="0"/>
              <a:t>Цилиндър се дефинира с координати на центъра и радиус на основата и височина:</a:t>
            </a:r>
            <a:r>
              <a:rPr lang="en-US" dirty="0"/>
              <a:t> </a:t>
            </a:r>
            <a:r>
              <a:rPr lang="en-US" b="1" dirty="0"/>
              <a:t>cylinder</a:t>
            </a:r>
            <a:r>
              <a:rPr lang="en-US" dirty="0"/>
              <a:t> ([</a:t>
            </a:r>
            <a:r>
              <a:rPr lang="en-US" b="1" dirty="0" err="1"/>
              <a:t>x,y,z</a:t>
            </a:r>
            <a:r>
              <a:rPr lang="en-US" dirty="0"/>
              <a:t>],</a:t>
            </a:r>
            <a:r>
              <a:rPr lang="en-US" b="1" dirty="0" err="1"/>
              <a:t>r</a:t>
            </a:r>
            <a:r>
              <a:rPr lang="en-US" dirty="0" err="1"/>
              <a:t>,</a:t>
            </a:r>
            <a:r>
              <a:rPr lang="en-US" b="1" dirty="0" err="1"/>
              <a:t>h</a:t>
            </a:r>
            <a:r>
              <a:rPr lang="en-US" dirty="0"/>
              <a:t>)</a:t>
            </a:r>
          </a:p>
          <a:p>
            <a:pPr lvl="1"/>
            <a:r>
              <a:rPr lang="bg-BG" dirty="0" err="1"/>
              <a:t>Цилиндроидът</a:t>
            </a:r>
            <a:r>
              <a:rPr lang="bg-BG" dirty="0"/>
              <a:t> е цилиндър с елипсовидна основа и се дефинира с масив от два радиуса вместо едно число за радиус: </a:t>
            </a:r>
            <a:r>
              <a:rPr lang="en-US" b="1" dirty="0"/>
              <a:t>cylindroid </a:t>
            </a:r>
            <a:r>
              <a:rPr lang="en-US" dirty="0"/>
              <a:t>([</a:t>
            </a:r>
            <a:r>
              <a:rPr lang="en-US" b="1" dirty="0" err="1"/>
              <a:t>x,y,z</a:t>
            </a:r>
            <a:r>
              <a:rPr lang="en-US" dirty="0"/>
              <a:t>],[</a:t>
            </a:r>
            <a:r>
              <a:rPr lang="en-US" b="1" dirty="0" err="1"/>
              <a:t>r</a:t>
            </a:r>
            <a:r>
              <a:rPr lang="en-US" b="1" baseline="-25000" dirty="0" err="1"/>
              <a:t>x</a:t>
            </a:r>
            <a:r>
              <a:rPr lang="en-US" dirty="0" err="1"/>
              <a:t>,</a:t>
            </a:r>
            <a:r>
              <a:rPr lang="en-US" b="1" dirty="0" err="1"/>
              <a:t>r</a:t>
            </a:r>
            <a:r>
              <a:rPr lang="en-US" b="1" baseline="-25000" dirty="0" err="1"/>
              <a:t>y</a:t>
            </a:r>
            <a:r>
              <a:rPr lang="en-US" dirty="0"/>
              <a:t>],</a:t>
            </a:r>
            <a:r>
              <a:rPr lang="en-US" b="1" dirty="0"/>
              <a:t>h</a:t>
            </a:r>
            <a:r>
              <a:rPr lang="en-US" dirty="0"/>
              <a:t>)</a:t>
            </a:r>
            <a:endParaRPr lang="bg-BG" dirty="0"/>
          </a:p>
          <a:p>
            <a:endParaRPr lang="bg-BG" dirty="0"/>
          </a:p>
          <a:p>
            <a:r>
              <a:rPr lang="bg-BG" dirty="0"/>
              <a:t>Конуси и </a:t>
            </a:r>
            <a:r>
              <a:rPr lang="bg-BG" dirty="0" err="1"/>
              <a:t>коноиди</a:t>
            </a:r>
            <a:endParaRPr lang="bg-BG" dirty="0"/>
          </a:p>
          <a:p>
            <a:pPr lvl="1"/>
            <a:r>
              <a:rPr lang="bg-BG" dirty="0"/>
              <a:t>Имат същите параметри, но имената на функциите са </a:t>
            </a:r>
            <a:r>
              <a:rPr lang="en-US" b="1" dirty="0"/>
              <a:t>cone</a:t>
            </a:r>
            <a:r>
              <a:rPr lang="bg-BG" dirty="0"/>
              <a:t> и </a:t>
            </a:r>
            <a:r>
              <a:rPr lang="en-US" b="1" dirty="0" err="1"/>
              <a:t>conoid</a:t>
            </a: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3824789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Ориентация в 3</a:t>
            </a:r>
            <a:r>
              <a:rPr lang="en-US" dirty="0"/>
              <a:t>D</a:t>
            </a:r>
          </a:p>
          <a:p>
            <a:pPr lvl="1"/>
            <a:r>
              <a:rPr lang="bg-BG" dirty="0"/>
              <a:t>Свойство </a:t>
            </a:r>
            <a:r>
              <a:rPr lang="en-US" b="1" dirty="0"/>
              <a:t>spin</a:t>
            </a:r>
            <a:r>
              <a:rPr lang="en-US" dirty="0"/>
              <a:t> </a:t>
            </a:r>
            <a:r>
              <a:rPr lang="bg-BG" dirty="0"/>
              <a:t>– завъртане около главната ос</a:t>
            </a:r>
          </a:p>
          <a:p>
            <a:pPr lvl="1"/>
            <a:r>
              <a:rPr lang="bg-BG" dirty="0"/>
              <a:t>Свойство </a:t>
            </a:r>
            <a:r>
              <a:rPr lang="en-US" b="1" dirty="0"/>
              <a:t>focus</a:t>
            </a:r>
            <a:r>
              <a:rPr lang="en-US" dirty="0"/>
              <a:t> –</a:t>
            </a:r>
            <a:r>
              <a:rPr lang="bg-BG" dirty="0"/>
              <a:t> ориентация на главната ос</a:t>
            </a:r>
          </a:p>
        </p:txBody>
      </p:sp>
      <p:sp>
        <p:nvSpPr>
          <p:cNvPr id="10" name="Arc 9"/>
          <p:cNvSpPr/>
          <p:nvPr/>
        </p:nvSpPr>
        <p:spPr>
          <a:xfrm rot="1658869" flipV="1">
            <a:off x="4559344" y="2924213"/>
            <a:ext cx="656917" cy="182569"/>
          </a:xfrm>
          <a:prstGeom prst="arc">
            <a:avLst>
              <a:gd name="adj1" fmla="val 9140186"/>
              <a:gd name="adj2" fmla="val 2222731"/>
            </a:avLst>
          </a:pr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Chevron 10"/>
          <p:cNvSpPr/>
          <p:nvPr/>
        </p:nvSpPr>
        <p:spPr>
          <a:xfrm rot="1711513">
            <a:off x="4102621" y="2572445"/>
            <a:ext cx="826668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Century Gothic"/>
              </a:rPr>
              <a:t>spin</a:t>
            </a:r>
            <a:endParaRPr lang="bg-BG" sz="16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rot="1800000" flipV="1">
            <a:off x="4459737" y="3146030"/>
            <a:ext cx="4" cy="1120087"/>
          </a:xfrm>
          <a:prstGeom prst="straightConnector1">
            <a:avLst/>
          </a:prstGeom>
          <a:ln w="38100" cap="sq">
            <a:solidFill>
              <a:srgbClr val="AAB0C8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800000">
            <a:off x="4125034" y="4394595"/>
            <a:ext cx="812068" cy="0"/>
          </a:xfrm>
          <a:prstGeom prst="straightConnector1">
            <a:avLst/>
          </a:prstGeom>
          <a:ln w="38100" cap="sq">
            <a:solidFill>
              <a:srgbClr val="AAB0C8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800000" flipV="1">
            <a:off x="3567351" y="4027572"/>
            <a:ext cx="487245" cy="629908"/>
          </a:xfrm>
          <a:prstGeom prst="straightConnector1">
            <a:avLst/>
          </a:prstGeom>
          <a:ln w="38100" cap="sq">
            <a:solidFill>
              <a:srgbClr val="AAB0C8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 rot="18000000">
            <a:off x="4635771" y="2171518"/>
            <a:ext cx="826668" cy="365760"/>
          </a:xfrm>
          <a:prstGeom prst="chevron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Century Gothic"/>
              </a:rPr>
              <a:t>focus</a:t>
            </a:r>
            <a:endParaRPr lang="bg-BG" sz="16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13" name="Cube 12"/>
          <p:cNvSpPr/>
          <p:nvPr/>
        </p:nvSpPr>
        <p:spPr>
          <a:xfrm rot="1800000">
            <a:off x="3042532" y="3135885"/>
            <a:ext cx="2273802" cy="2111387"/>
          </a:xfrm>
          <a:prstGeom prst="cube">
            <a:avLst/>
          </a:prstGeom>
          <a:solidFill>
            <a:srgbClr val="C7DC84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882992" y="4597121"/>
            <a:ext cx="1115758" cy="636663"/>
          </a:xfrm>
          <a:prstGeom prst="straightConnector1">
            <a:avLst/>
          </a:prstGeom>
          <a:ln w="38100" cap="sq">
            <a:solidFill>
              <a:schemeClr val="accent1">
                <a:lumMod val="75000"/>
              </a:schemeClr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800000" flipH="1">
            <a:off x="3249017" y="4158070"/>
            <a:ext cx="487243" cy="622926"/>
          </a:xfrm>
          <a:prstGeom prst="straightConnector1">
            <a:avLst/>
          </a:prstGeom>
          <a:ln w="38100" cap="sq">
            <a:solidFill>
              <a:schemeClr val="accent1">
                <a:lumMod val="75000"/>
              </a:schemeClr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626579" y="2044727"/>
            <a:ext cx="792341" cy="1372375"/>
          </a:xfrm>
          <a:prstGeom prst="straightConnector1">
            <a:avLst/>
          </a:prstGeom>
          <a:ln w="38100" cap="sq">
            <a:solidFill>
              <a:srgbClr val="FF0000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140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Две елипсовидни плочки с дебелина 1</a:t>
            </a:r>
          </a:p>
          <a:p>
            <a:pPr lvl="1"/>
            <a:r>
              <a:rPr lang="bg-BG" dirty="0"/>
              <a:t>Свързани с два цилиндъра</a:t>
            </a:r>
          </a:p>
          <a:p>
            <a:pPr lvl="1"/>
            <a:r>
              <a:rPr lang="bg-BG" dirty="0"/>
              <a:t>Главните оси на цилиндрите и </a:t>
            </a:r>
            <a:r>
              <a:rPr lang="bg-BG" dirty="0" err="1"/>
              <a:t>цилиндроидите</a:t>
            </a:r>
            <a:r>
              <a:rPr lang="bg-BG" dirty="0"/>
              <a:t> да са хоризонтални</a:t>
            </a:r>
          </a:p>
          <a:p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971800"/>
            <a:ext cx="8534400" cy="3581400"/>
          </a:xfrm>
          <a:prstGeom prst="snip2DiagRect">
            <a:avLst>
              <a:gd name="adj1" fmla="val 0"/>
              <a:gd name="adj2" fmla="val 84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cylindroid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([0,5,0],[5,10],1);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focus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[0,1,0];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cylindroid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([0,-5,0],[5,10],1);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focus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[0,-1,0];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cylinder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([7,-6.5,0],1,13);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focus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[0,1,0];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a.color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[1,0.7,0];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cylinder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([-7,-6.5,0],1,13);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focus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[0,1,0];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a.color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[1,0.7,0]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0192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2669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Други възможности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88445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Стилове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Стилове в </a:t>
            </a:r>
            <a:r>
              <a:rPr lang="bg-BG" dirty="0" err="1"/>
              <a:t>СУИКА</a:t>
            </a:r>
            <a:endParaRPr lang="en-US" dirty="0"/>
          </a:p>
          <a:p>
            <a:pPr lvl="1"/>
            <a:r>
              <a:rPr lang="bg-BG" dirty="0"/>
              <a:t>Настройка на анонимни графични обекти</a:t>
            </a:r>
          </a:p>
          <a:p>
            <a:pPr lvl="1"/>
            <a:r>
              <a:rPr lang="bg-BG" dirty="0"/>
              <a:t>Запомняне на комплект от свойства и прилагането им върху много обекти</a:t>
            </a:r>
          </a:p>
          <a:p>
            <a:pPr lvl="1"/>
            <a:endParaRPr lang="bg-BG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Чрез стандартни обекти</a:t>
            </a:r>
            <a:r>
              <a:rPr lang="en-US" dirty="0"/>
              <a:t> </a:t>
            </a:r>
            <a:r>
              <a:rPr lang="bg-BG" dirty="0"/>
              <a:t>в </a:t>
            </a:r>
            <a:r>
              <a:rPr lang="en-US" dirty="0" err="1"/>
              <a:t>JS</a:t>
            </a:r>
            <a:r>
              <a:rPr lang="en-US" dirty="0"/>
              <a:t>: </a:t>
            </a:r>
            <a:r>
              <a:rPr lang="en-US" b="1" dirty="0"/>
              <a:t>{</a:t>
            </a:r>
            <a:r>
              <a:rPr lang="bg-BG" b="1" dirty="0"/>
              <a:t>свойство:стойност,</a:t>
            </a:r>
            <a:r>
              <a:rPr lang="en-US" b="1" dirty="0"/>
              <a:t> </a:t>
            </a:r>
            <a:r>
              <a:rPr lang="bg-BG" b="1" dirty="0"/>
              <a:t>…</a:t>
            </a:r>
            <a:r>
              <a:rPr lang="en-US" b="1" dirty="0"/>
              <a:t>}</a:t>
            </a:r>
          </a:p>
          <a:p>
            <a:pPr lvl="1"/>
            <a:r>
              <a:rPr lang="bg-BG" dirty="0"/>
              <a:t>Активирането на стил за обект е с метода </a:t>
            </a:r>
            <a:r>
              <a:rPr lang="en-US" b="1" dirty="0"/>
              <a:t>custom(…)</a:t>
            </a:r>
            <a:endParaRPr lang="bg-BG" b="1" dirty="0"/>
          </a:p>
          <a:p>
            <a:pPr lvl="1"/>
            <a:r>
              <a:rPr lang="bg-BG" dirty="0"/>
              <a:t>Вътрешно </a:t>
            </a:r>
            <a:r>
              <a:rPr lang="bg-BG" dirty="0" err="1"/>
              <a:t>СУИКА</a:t>
            </a:r>
            <a:r>
              <a:rPr lang="bg-BG" dirty="0"/>
              <a:t> се интересува само от свойства с известни на нея имена; потребителят може да добавя и свои свойства</a:t>
            </a:r>
          </a:p>
        </p:txBody>
      </p:sp>
    </p:spTree>
    <p:extLst>
      <p:ext uri="{BB962C8B-B14F-4D97-AF65-F5344CB8AC3E}">
        <p14:creationId xmlns:p14="http://schemas.microsoft.com/office/powerpoint/2010/main" val="1179972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Пръстен от радиални призми – обекти </a:t>
            </a:r>
            <a:r>
              <a:rPr lang="en-US" b="1" dirty="0"/>
              <a:t>prism</a:t>
            </a:r>
            <a:r>
              <a:rPr lang="bg-BG" b="1" dirty="0"/>
              <a:t> </a:t>
            </a:r>
            <a:r>
              <a:rPr lang="bg-BG" dirty="0"/>
              <a:t>с параметри център, радиус, височина и брой стени</a:t>
            </a:r>
          </a:p>
          <a:p>
            <a:pPr lvl="1"/>
            <a:r>
              <a:rPr lang="bg-BG" dirty="0"/>
              <a:t>Чрез </a:t>
            </a:r>
            <a:r>
              <a:rPr lang="en-US" b="1" dirty="0"/>
              <a:t>custom</a:t>
            </a:r>
            <a:r>
              <a:rPr lang="en-US" dirty="0"/>
              <a:t> </a:t>
            </a:r>
            <a:r>
              <a:rPr lang="bg-BG" dirty="0"/>
              <a:t>всяка призма получава свойства в момента на създаването си, затова не са нужни имена</a:t>
            </a:r>
          </a:p>
          <a:p>
            <a:pPr lvl="1"/>
            <a:r>
              <a:rPr lang="bg-BG" dirty="0"/>
              <a:t>Допълнително зададените свойства са ориентацията </a:t>
            </a:r>
            <a:r>
              <a:rPr lang="en-US" b="1" dirty="0"/>
              <a:t>focus</a:t>
            </a:r>
            <a:r>
              <a:rPr lang="bg-BG" dirty="0"/>
              <a:t> и цветът </a:t>
            </a:r>
            <a:r>
              <a:rPr lang="en-US" b="1" dirty="0"/>
              <a:t>color</a:t>
            </a:r>
            <a:endParaRPr lang="bg-BG" b="1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886200"/>
            <a:ext cx="8534400" cy="2667000"/>
          </a:xfrm>
          <a:prstGeom prst="snip2DiagRect">
            <a:avLst>
              <a:gd name="adj1" fmla="val 0"/>
              <a:gd name="adj2" fmla="val 84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alpha = 2*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/n;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center = [5*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(alpha),5*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(alpha),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(-5*alpha)];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prism(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center,0.15,15+8*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(5*alpha),6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custom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focus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(alpha),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(alpha),0.5*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(5*alpha)],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[random(0,0.5),random(0.6,1),1]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tabLst>
                <a:tab pos="341313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3585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7776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Анимация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Анимационен цикъл в </a:t>
            </a:r>
            <a:r>
              <a:rPr lang="bg-BG" dirty="0" err="1"/>
              <a:t>СУИКА</a:t>
            </a:r>
            <a:endParaRPr lang="bg-BG" dirty="0"/>
          </a:p>
          <a:p>
            <a:pPr lvl="1"/>
            <a:r>
              <a:rPr lang="bg-BG" dirty="0"/>
              <a:t>Инстанциите на </a:t>
            </a:r>
            <a:r>
              <a:rPr lang="en-US" b="1" dirty="0" err="1"/>
              <a:t>Suica</a:t>
            </a:r>
            <a:r>
              <a:rPr lang="en-US" dirty="0"/>
              <a:t> </a:t>
            </a:r>
            <a:r>
              <a:rPr lang="bg-BG" dirty="0"/>
              <a:t>имат свойство </a:t>
            </a:r>
            <a:r>
              <a:rPr lang="en-US" b="1" dirty="0" err="1"/>
              <a:t>nextFrame</a:t>
            </a:r>
            <a:endParaRPr lang="en-US" b="1" dirty="0"/>
          </a:p>
          <a:p>
            <a:pPr lvl="1"/>
            <a:r>
              <a:rPr lang="bg-BG" dirty="0"/>
              <a:t>То</a:t>
            </a:r>
            <a:r>
              <a:rPr lang="en-US" dirty="0"/>
              <a:t> </a:t>
            </a:r>
            <a:r>
              <a:rPr lang="bg-BG" dirty="0"/>
              <a:t>сочи функция за генериране на кадър</a:t>
            </a:r>
          </a:p>
          <a:p>
            <a:pPr lvl="1"/>
            <a:r>
              <a:rPr lang="bg-BG" dirty="0"/>
              <a:t>Извиква се автоматично от главния цикъл на </a:t>
            </a:r>
            <a:r>
              <a:rPr lang="bg-BG" dirty="0" err="1"/>
              <a:t>СУИКА</a:t>
            </a:r>
            <a:endParaRPr lang="bg-BG" dirty="0"/>
          </a:p>
          <a:p>
            <a:endParaRPr lang="bg-BG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304800" y="3886200"/>
            <a:ext cx="8534400" cy="2667000"/>
          </a:xfrm>
          <a:prstGeom prst="snip2DiagRect">
            <a:avLst>
              <a:gd name="adj1" fmla="val 0"/>
              <a:gd name="adj2" fmla="val 1046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main()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 = new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nextFrame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bg-BG" sz="165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bg-BG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0381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Движение на малки сфери </a:t>
            </a:r>
            <a:r>
              <a:rPr lang="en-US" dirty="0"/>
              <a:t>(</a:t>
            </a:r>
            <a:r>
              <a:rPr lang="en-US" b="1" dirty="0"/>
              <a:t>sphere</a:t>
            </a:r>
            <a:r>
              <a:rPr lang="en-US" dirty="0"/>
              <a:t>) </a:t>
            </a:r>
            <a:r>
              <a:rPr lang="bg-BG" dirty="0"/>
              <a:t>по голям куб</a:t>
            </a:r>
          </a:p>
          <a:p>
            <a:pPr lvl="1"/>
            <a:r>
              <a:rPr lang="bg-BG" dirty="0"/>
              <a:t>Реализира се като движение на точка </a:t>
            </a:r>
            <a:r>
              <a:rPr lang="en-US" b="1" dirty="0"/>
              <a:t>p</a:t>
            </a:r>
            <a:r>
              <a:rPr lang="en-US" dirty="0"/>
              <a:t> </a:t>
            </a:r>
            <a:r>
              <a:rPr lang="bg-BG" dirty="0"/>
              <a:t>по сфера</a:t>
            </a:r>
          </a:p>
          <a:p>
            <a:pPr lvl="1"/>
            <a:r>
              <a:rPr lang="bg-BG" dirty="0"/>
              <a:t>Най-голямата по модул координата на </a:t>
            </a:r>
            <a:r>
              <a:rPr lang="en-US" b="1" dirty="0"/>
              <a:t>p</a:t>
            </a:r>
            <a:r>
              <a:rPr lang="bg-BG" dirty="0"/>
              <a:t> е </a:t>
            </a:r>
            <a:r>
              <a:rPr lang="en-US" b="1" dirty="0"/>
              <a:t>d</a:t>
            </a:r>
          </a:p>
          <a:p>
            <a:pPr lvl="1"/>
            <a:r>
              <a:rPr lang="bg-BG" dirty="0"/>
              <a:t>Мащабираме </a:t>
            </a:r>
            <a:r>
              <a:rPr lang="en-US" dirty="0"/>
              <a:t>p</a:t>
            </a:r>
            <a:r>
              <a:rPr lang="bg-BG" dirty="0"/>
              <a:t> така, че максималната му координата да стане </a:t>
            </a:r>
            <a:r>
              <a:rPr lang="bg-BG" b="1" dirty="0">
                <a:sym typeface="Symbol"/>
              </a:rPr>
              <a:t></a:t>
            </a:r>
            <a:r>
              <a:rPr lang="bg-BG" b="1" dirty="0"/>
              <a:t>21</a:t>
            </a:r>
            <a:r>
              <a:rPr lang="bg-BG" dirty="0"/>
              <a:t> – така вече </a:t>
            </a:r>
            <a:r>
              <a:rPr lang="en-US" b="1" dirty="0"/>
              <a:t>p</a:t>
            </a:r>
            <a:r>
              <a:rPr lang="bg-BG" dirty="0"/>
              <a:t> е върху куб</a:t>
            </a:r>
          </a:p>
          <a:p>
            <a:pPr lvl="1"/>
            <a:r>
              <a:rPr lang="bg-BG" dirty="0"/>
              <a:t>За хронометър ползваме статичната променлива </a:t>
            </a:r>
            <a:r>
              <a:rPr lang="en-US" b="1" dirty="0"/>
              <a:t>time</a:t>
            </a:r>
            <a:endParaRPr lang="bg-BG" b="1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124200"/>
            <a:ext cx="8534400" cy="3429000"/>
          </a:xfrm>
          <a:prstGeom prst="snip2DiagRect">
            <a:avLst>
              <a:gd name="adj1" fmla="val 0"/>
              <a:gd name="adj2" fmla="val 583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main()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nextFrame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t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for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u = a[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uSpeed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t+i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vSpeed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t+i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[cos(u)*cos(v),sin(u)*cos(v),sin(v)];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max(abs(p[0]),abs(p[1]),abs(p[2]));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a-DK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(var j=0; j&lt;3; j++) </a:t>
            </a:r>
            <a:r>
              <a:rPr lang="da-DK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a[i].center[j] = 21*p[j]/d</a:t>
            </a:r>
            <a:r>
              <a:rPr lang="da-DK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7188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18325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Гледна точка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Гледна точка в </a:t>
            </a:r>
            <a:r>
              <a:rPr lang="bg-BG" dirty="0" err="1"/>
              <a:t>СУИКА</a:t>
            </a:r>
            <a:endParaRPr lang="bg-BG" dirty="0"/>
          </a:p>
          <a:p>
            <a:pPr lvl="1"/>
            <a:r>
              <a:rPr lang="bg-BG" dirty="0"/>
              <a:t>Аналогична на </a:t>
            </a:r>
            <a:r>
              <a:rPr lang="en-US" dirty="0"/>
              <a:t>webgl-fmi.js </a:t>
            </a:r>
            <a:r>
              <a:rPr lang="bg-BG" dirty="0"/>
              <a:t>– метод </a:t>
            </a:r>
            <a:r>
              <a:rPr lang="en-US" b="1" dirty="0" err="1"/>
              <a:t>lookAt</a:t>
            </a:r>
            <a:r>
              <a:rPr lang="en-US" dirty="0"/>
              <a:t> </a:t>
            </a:r>
            <a:r>
              <a:rPr lang="bg-BG" dirty="0"/>
              <a:t>с точка, от която се гледа, точка, към която се гледа и вектор за посоката нагоре</a:t>
            </a:r>
          </a:p>
          <a:p>
            <a:pPr lvl="1"/>
            <a:endParaRPr lang="bg-BG" dirty="0"/>
          </a:p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Квадратна мрежа от „постройки“</a:t>
            </a:r>
          </a:p>
          <a:p>
            <a:pPr lvl="1"/>
            <a:r>
              <a:rPr lang="bg-BG" dirty="0"/>
              <a:t>Обект се движи по случаен начин в нея</a:t>
            </a:r>
          </a:p>
          <a:p>
            <a:pPr lvl="1"/>
            <a:r>
              <a:rPr lang="bg-BG" dirty="0"/>
              <a:t>Гледната точка „преследва“ обекта, но се променя плавно с линейна комбинация</a:t>
            </a:r>
          </a:p>
        </p:txBody>
      </p:sp>
    </p:spTree>
    <p:extLst>
      <p:ext uri="{BB962C8B-B14F-4D97-AF65-F5344CB8AC3E}">
        <p14:creationId xmlns:p14="http://schemas.microsoft.com/office/powerpoint/2010/main" val="1911002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Движението на обекта </a:t>
            </a:r>
            <a:r>
              <a:rPr lang="en-US" b="1" dirty="0"/>
              <a:t>ball</a:t>
            </a:r>
            <a:r>
              <a:rPr lang="en-US" dirty="0"/>
              <a:t> </a:t>
            </a:r>
            <a:r>
              <a:rPr lang="bg-BG" dirty="0"/>
              <a:t>е с посока </a:t>
            </a:r>
            <a:r>
              <a:rPr lang="en-US" b="1" dirty="0" err="1"/>
              <a:t>dir</a:t>
            </a:r>
            <a:endParaRPr lang="en-US" b="1" dirty="0"/>
          </a:p>
          <a:p>
            <a:pPr lvl="1"/>
            <a:r>
              <a:rPr lang="bg-BG" dirty="0"/>
              <a:t>Параметърът </a:t>
            </a:r>
            <a:r>
              <a:rPr lang="en-US" b="1" dirty="0"/>
              <a:t>k</a:t>
            </a:r>
            <a:r>
              <a:rPr lang="bg-BG" dirty="0"/>
              <a:t> определя колко стъпки се правят между едно кръстовище и друго</a:t>
            </a:r>
          </a:p>
          <a:p>
            <a:pPr lvl="1"/>
            <a:r>
              <a:rPr lang="bg-BG" dirty="0"/>
              <a:t>Разстоянието между съседни кръстовища е 2, затова скоростта на обекта е </a:t>
            </a:r>
            <a:r>
              <a:rPr lang="bg-BG" b="1" dirty="0"/>
              <a:t>2/</a:t>
            </a:r>
            <a:r>
              <a:rPr lang="en-US" b="1" dirty="0"/>
              <a:t>k</a:t>
            </a:r>
          </a:p>
          <a:p>
            <a:pPr lvl="1"/>
            <a:r>
              <a:rPr lang="bg-BG" dirty="0"/>
              <a:t>На всеки </a:t>
            </a:r>
            <a:r>
              <a:rPr lang="en-US" b="1" dirty="0"/>
              <a:t>k</a:t>
            </a:r>
            <a:r>
              <a:rPr lang="bg-BG" dirty="0"/>
              <a:t> стъпки се определя дали да се завие наляво, да се завие надясно или да се продължи напред</a:t>
            </a:r>
            <a:endParaRPr lang="en-US" dirty="0"/>
          </a:p>
          <a:p>
            <a:pPr lvl="1"/>
            <a:r>
              <a:rPr lang="bg-BG" dirty="0"/>
              <a:t>На всяко кръстовище координатите се калибрират, за да се премахнат евентуални акумулирани грешки</a:t>
            </a:r>
            <a:endParaRPr lang="en-US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038600"/>
            <a:ext cx="8534400" cy="2514600"/>
          </a:xfrm>
          <a:prstGeom prst="snip2DiagRect">
            <a:avLst>
              <a:gd name="adj1" fmla="val 0"/>
              <a:gd name="adj2" fmla="val 102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+= 2/k*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ball.center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+= 2/k*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frame%k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/2*(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(random(-1.5,1.5)));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ball.center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round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ball.center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ball.center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ball.center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471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Гледна точка</a:t>
            </a:r>
          </a:p>
          <a:p>
            <a:pPr lvl="1"/>
            <a:r>
              <a:rPr lang="bg-BG" dirty="0"/>
              <a:t>Гледната точка се дефинира от </a:t>
            </a:r>
            <a:r>
              <a:rPr lang="en-US" b="1" dirty="0" err="1"/>
              <a:t>pos</a:t>
            </a:r>
            <a:r>
              <a:rPr lang="en-US" dirty="0"/>
              <a:t>, </a:t>
            </a:r>
            <a:r>
              <a:rPr lang="en-US" b="1" dirty="0"/>
              <a:t>target</a:t>
            </a:r>
            <a:r>
              <a:rPr lang="bg-BG" b="1" dirty="0"/>
              <a:t> </a:t>
            </a:r>
            <a:r>
              <a:rPr lang="bg-BG" dirty="0"/>
              <a:t>и </a:t>
            </a:r>
            <a:r>
              <a:rPr lang="en-US" b="1" dirty="0"/>
              <a:t>up</a:t>
            </a:r>
          </a:p>
          <a:p>
            <a:pPr lvl="1"/>
            <a:r>
              <a:rPr lang="bg-BG" dirty="0"/>
              <a:t>На всяка стъпка </a:t>
            </a:r>
            <a:r>
              <a:rPr lang="en-US" b="1" dirty="0"/>
              <a:t>target</a:t>
            </a:r>
            <a:r>
              <a:rPr lang="bg-BG" dirty="0"/>
              <a:t> се приближава към обекта</a:t>
            </a:r>
          </a:p>
          <a:p>
            <a:pPr lvl="1"/>
            <a:r>
              <a:rPr lang="bg-BG" dirty="0"/>
              <a:t>На всяка стъпка мястото на гледане </a:t>
            </a:r>
            <a:r>
              <a:rPr lang="en-US" b="1" dirty="0" err="1"/>
              <a:t>pos</a:t>
            </a:r>
            <a:r>
              <a:rPr lang="en-US" dirty="0"/>
              <a:t> </a:t>
            </a:r>
            <a:r>
              <a:rPr lang="bg-BG" dirty="0"/>
              <a:t>се стреми към точка, свързана с обекта, но отместена на (</a:t>
            </a:r>
            <a:r>
              <a:rPr lang="en-US" dirty="0"/>
              <a:t>0.075, 0.1, 0.15)</a:t>
            </a:r>
          </a:p>
          <a:p>
            <a:pPr lvl="1"/>
            <a:r>
              <a:rPr lang="bg-BG" dirty="0"/>
              <a:t>Отделно по вертикала </a:t>
            </a:r>
            <a:r>
              <a:rPr lang="en-US" b="1" dirty="0" err="1"/>
              <a:t>pos</a:t>
            </a:r>
            <a:r>
              <a:rPr lang="bg-BG" dirty="0"/>
              <a:t> </a:t>
            </a:r>
            <a:r>
              <a:rPr lang="bg-BG" dirty="0" err="1"/>
              <a:t>осцилира</a:t>
            </a:r>
            <a:r>
              <a:rPr lang="bg-BG" dirty="0"/>
              <a:t> нагоре-надолу</a:t>
            </a:r>
          </a:p>
          <a:p>
            <a:pPr lvl="1"/>
            <a:r>
              <a:rPr lang="bg-BG" dirty="0"/>
              <a:t>Самата гледна точка се установява с </a:t>
            </a:r>
            <a:r>
              <a:rPr lang="en-US" b="1" dirty="0" err="1"/>
              <a:t>lookAt</a:t>
            </a:r>
            <a:r>
              <a:rPr lang="en-US" dirty="0"/>
              <a:t>(…)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352800"/>
            <a:ext cx="8534400" cy="3200400"/>
          </a:xfrm>
          <a:prstGeom prst="snip2DiagRect">
            <a:avLst>
              <a:gd name="adj1" fmla="val 0"/>
              <a:gd name="adj2" fmla="val 102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[10,10,10];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[0,0,0];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[0,0,1];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&lt;3;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target[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]*0.96+0.04*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ball.center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]*0.98+0.02*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ball.center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+0.3/(4-i)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[2]+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sin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(frame/100)/10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pos,target,up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540383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9" name="Picture 5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63553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Сечащи равнини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Свойство </a:t>
            </a:r>
            <a:r>
              <a:rPr lang="ru-RU" dirty="0" err="1"/>
              <a:t>clipPlanes</a:t>
            </a:r>
            <a:endParaRPr lang="ru-RU" dirty="0"/>
          </a:p>
          <a:p>
            <a:pPr lvl="1"/>
            <a:r>
              <a:rPr lang="ru-RU" dirty="0" err="1"/>
              <a:t>Свойството</a:t>
            </a:r>
            <a:r>
              <a:rPr lang="ru-RU" dirty="0"/>
              <a:t> </a:t>
            </a:r>
            <a:r>
              <a:rPr lang="ru-RU" b="1" dirty="0" err="1"/>
              <a:t>clipPlanes</a:t>
            </a:r>
            <a:r>
              <a:rPr lang="ru-RU" dirty="0"/>
              <a:t> е </a:t>
            </a:r>
            <a:r>
              <a:rPr lang="ru-RU" dirty="0" err="1"/>
              <a:t>масив</a:t>
            </a:r>
            <a:r>
              <a:rPr lang="ru-RU" dirty="0"/>
              <a:t> от до 4 </a:t>
            </a:r>
            <a:r>
              <a:rPr lang="ru-RU" dirty="0" err="1"/>
              <a:t>подмасива</a:t>
            </a:r>
            <a:br>
              <a:rPr lang="en-US" dirty="0"/>
            </a:br>
            <a:r>
              <a:rPr lang="ru-RU" b="1" dirty="0"/>
              <a:t>[</a:t>
            </a:r>
            <a:r>
              <a:rPr lang="en-US" b="1" dirty="0"/>
              <a:t> </a:t>
            </a:r>
            <a:r>
              <a:rPr lang="ru-RU" b="1" dirty="0"/>
              <a:t>[a</a:t>
            </a:r>
            <a:r>
              <a:rPr lang="ru-RU" b="1" baseline="-25000" dirty="0"/>
              <a:t>0</a:t>
            </a:r>
            <a:r>
              <a:rPr lang="ru-RU" b="1" dirty="0"/>
              <a:t>,b</a:t>
            </a:r>
            <a:r>
              <a:rPr lang="ru-RU" b="1" baseline="-25000" dirty="0"/>
              <a:t>0</a:t>
            </a:r>
            <a:r>
              <a:rPr lang="ru-RU" b="1" dirty="0"/>
              <a:t>,c</a:t>
            </a:r>
            <a:r>
              <a:rPr lang="ru-RU" b="1" baseline="-25000" dirty="0"/>
              <a:t>0</a:t>
            </a:r>
            <a:r>
              <a:rPr lang="ru-RU" b="1" dirty="0"/>
              <a:t>,d</a:t>
            </a:r>
            <a:r>
              <a:rPr lang="ru-RU" b="1" baseline="-25000" dirty="0"/>
              <a:t>0</a:t>
            </a:r>
            <a:r>
              <a:rPr lang="ru-RU" b="1" dirty="0"/>
              <a:t>], [a</a:t>
            </a:r>
            <a:r>
              <a:rPr lang="ru-RU" b="1" baseline="-25000" dirty="0"/>
              <a:t>1</a:t>
            </a:r>
            <a:r>
              <a:rPr lang="ru-RU" b="1" dirty="0"/>
              <a:t>,b</a:t>
            </a:r>
            <a:r>
              <a:rPr lang="ru-RU" b="1" baseline="-25000" dirty="0"/>
              <a:t>1</a:t>
            </a:r>
            <a:r>
              <a:rPr lang="ru-RU" b="1" dirty="0"/>
              <a:t>,c</a:t>
            </a:r>
            <a:r>
              <a:rPr lang="ru-RU" b="1" baseline="-25000" dirty="0"/>
              <a:t>1</a:t>
            </a:r>
            <a:r>
              <a:rPr lang="ru-RU" b="1" dirty="0"/>
              <a:t>,d</a:t>
            </a:r>
            <a:r>
              <a:rPr lang="ru-RU" b="1" baseline="-25000" dirty="0"/>
              <a:t>1</a:t>
            </a:r>
            <a:r>
              <a:rPr lang="ru-RU" b="1" dirty="0"/>
              <a:t>], [a</a:t>
            </a:r>
            <a:r>
              <a:rPr lang="ru-RU" b="1" baseline="-25000" dirty="0"/>
              <a:t>2</a:t>
            </a:r>
            <a:r>
              <a:rPr lang="ru-RU" b="1" dirty="0"/>
              <a:t>,b</a:t>
            </a:r>
            <a:r>
              <a:rPr lang="ru-RU" b="1" baseline="-25000" dirty="0"/>
              <a:t>2</a:t>
            </a:r>
            <a:r>
              <a:rPr lang="ru-RU" b="1" dirty="0"/>
              <a:t>,c</a:t>
            </a:r>
            <a:r>
              <a:rPr lang="ru-RU" b="1" baseline="-25000" dirty="0"/>
              <a:t>2</a:t>
            </a:r>
            <a:r>
              <a:rPr lang="ru-RU" b="1" dirty="0"/>
              <a:t>,d</a:t>
            </a:r>
            <a:r>
              <a:rPr lang="ru-RU" b="1" baseline="-25000" dirty="0"/>
              <a:t>2</a:t>
            </a:r>
            <a:r>
              <a:rPr lang="ru-RU" b="1" dirty="0"/>
              <a:t>], [a</a:t>
            </a:r>
            <a:r>
              <a:rPr lang="ru-RU" b="1" baseline="-25000" dirty="0"/>
              <a:t>3</a:t>
            </a:r>
            <a:r>
              <a:rPr lang="ru-RU" b="1" dirty="0"/>
              <a:t>,b</a:t>
            </a:r>
            <a:r>
              <a:rPr lang="ru-RU" b="1" baseline="-25000" dirty="0"/>
              <a:t>3</a:t>
            </a:r>
            <a:r>
              <a:rPr lang="ru-RU" b="1" dirty="0"/>
              <a:t>,c</a:t>
            </a:r>
            <a:r>
              <a:rPr lang="ru-RU" b="1" baseline="-25000" dirty="0"/>
              <a:t>3</a:t>
            </a:r>
            <a:r>
              <a:rPr lang="ru-RU" b="1" dirty="0"/>
              <a:t>,d</a:t>
            </a:r>
            <a:r>
              <a:rPr lang="ru-RU" b="1" baseline="-25000" dirty="0"/>
              <a:t>3</a:t>
            </a:r>
            <a:r>
              <a:rPr lang="ru-RU" b="1" dirty="0"/>
              <a:t>]</a:t>
            </a:r>
            <a:r>
              <a:rPr lang="en-US" b="1" dirty="0"/>
              <a:t> </a:t>
            </a:r>
            <a:r>
              <a:rPr lang="ru-RU" b="1" dirty="0"/>
              <a:t>]</a:t>
            </a:r>
          </a:p>
          <a:p>
            <a:pPr lvl="1"/>
            <a:r>
              <a:rPr lang="ru-RU" dirty="0" err="1"/>
              <a:t>Всеки</a:t>
            </a:r>
            <a:r>
              <a:rPr lang="ru-RU" dirty="0"/>
              <a:t> </a:t>
            </a:r>
            <a:r>
              <a:rPr lang="ru-RU" dirty="0" err="1"/>
              <a:t>подмасив</a:t>
            </a:r>
            <a:r>
              <a:rPr lang="ru-RU" dirty="0"/>
              <a:t> </a:t>
            </a:r>
            <a:r>
              <a:rPr lang="ru-RU" dirty="0" err="1"/>
              <a:t>определя</a:t>
            </a:r>
            <a:r>
              <a:rPr lang="ru-RU" dirty="0"/>
              <a:t> </a:t>
            </a:r>
            <a:r>
              <a:rPr lang="ru-RU" dirty="0" err="1"/>
              <a:t>една</a:t>
            </a:r>
            <a:r>
              <a:rPr lang="ru-RU" dirty="0"/>
              <a:t> </a:t>
            </a:r>
            <a:r>
              <a:rPr lang="ru-RU" dirty="0" err="1"/>
              <a:t>сечаща</a:t>
            </a:r>
            <a:r>
              <a:rPr lang="ru-RU" dirty="0"/>
              <a:t> равнина</a:t>
            </a:r>
            <a:r>
              <a:rPr lang="en-US" dirty="0"/>
              <a:t> </a:t>
            </a:r>
            <a:r>
              <a:rPr lang="bg-BG" dirty="0"/>
              <a:t>с уравнение </a:t>
            </a:r>
            <a:r>
              <a:rPr lang="bg-BG" b="1" dirty="0"/>
              <a:t>а</a:t>
            </a:r>
            <a:r>
              <a:rPr lang="en-US" b="1" baseline="-25000" dirty="0" err="1"/>
              <a:t>i</a:t>
            </a:r>
            <a:r>
              <a:rPr lang="en-US" b="1" dirty="0" err="1"/>
              <a:t>x+b</a:t>
            </a:r>
            <a:r>
              <a:rPr lang="en-US" b="1" baseline="-25000" dirty="0" err="1"/>
              <a:t>i</a:t>
            </a:r>
            <a:r>
              <a:rPr lang="en-US" b="1" dirty="0" err="1"/>
              <a:t>y+c</a:t>
            </a:r>
            <a:r>
              <a:rPr lang="en-US" b="1" baseline="-25000" dirty="0" err="1"/>
              <a:t>i</a:t>
            </a:r>
            <a:r>
              <a:rPr lang="en-US" b="1" dirty="0" err="1"/>
              <a:t>z+d</a:t>
            </a:r>
            <a:r>
              <a:rPr lang="en-US" b="1" baseline="-25000" dirty="0" err="1"/>
              <a:t>i</a:t>
            </a:r>
            <a:r>
              <a:rPr lang="bg-BG" b="1" dirty="0"/>
              <a:t>&gt;</a:t>
            </a:r>
            <a:r>
              <a:rPr lang="en-US" b="1" dirty="0"/>
              <a:t>0</a:t>
            </a:r>
          </a:p>
          <a:p>
            <a:pPr lvl="1"/>
            <a:endParaRPr lang="en-US" dirty="0"/>
          </a:p>
          <a:p>
            <a:r>
              <a:rPr lang="bg-BG" dirty="0"/>
              <a:t>Пример с конични сечения</a:t>
            </a:r>
            <a:endParaRPr lang="en-US" dirty="0"/>
          </a:p>
          <a:p>
            <a:pPr lvl="1"/>
            <a:r>
              <a:rPr lang="bg-BG" dirty="0"/>
              <a:t>Еднакви конуси, пресечени с подходящи равнини</a:t>
            </a:r>
          </a:p>
          <a:p>
            <a:pPr lvl="1"/>
            <a:r>
              <a:rPr lang="bg-BG" dirty="0"/>
              <a:t>Сеченията са окръжност, елипса, парабола и хипербола</a:t>
            </a:r>
          </a:p>
          <a:p>
            <a:pPr lvl="1"/>
            <a:endParaRPr lang="ru-RU" dirty="0"/>
          </a:p>
        </p:txBody>
      </p:sp>
      <p:sp>
        <p:nvSpPr>
          <p:cNvPr id="4" name="Isosceles Triangle 3"/>
          <p:cNvSpPr/>
          <p:nvPr/>
        </p:nvSpPr>
        <p:spPr>
          <a:xfrm>
            <a:off x="1099356" y="5038970"/>
            <a:ext cx="1463024" cy="1463024"/>
          </a:xfrm>
          <a:prstGeom prst="triangle">
            <a:avLst/>
          </a:prstGeom>
          <a:gradFill flip="none" rotWithShape="1">
            <a:gsLst>
              <a:gs pos="12000">
                <a:schemeClr val="bg1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Isosceles Triangle 4"/>
          <p:cNvSpPr/>
          <p:nvPr/>
        </p:nvSpPr>
        <p:spPr>
          <a:xfrm>
            <a:off x="2928136" y="5038970"/>
            <a:ext cx="1463024" cy="1463024"/>
          </a:xfrm>
          <a:prstGeom prst="triangle">
            <a:avLst/>
          </a:prstGeom>
          <a:gradFill flip="none" rotWithShape="1">
            <a:gsLst>
              <a:gs pos="12000">
                <a:schemeClr val="bg1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Isosceles Triangle 5"/>
          <p:cNvSpPr/>
          <p:nvPr/>
        </p:nvSpPr>
        <p:spPr>
          <a:xfrm>
            <a:off x="4769986" y="5038970"/>
            <a:ext cx="1463024" cy="1463024"/>
          </a:xfrm>
          <a:prstGeom prst="triangle">
            <a:avLst/>
          </a:prstGeom>
          <a:gradFill flip="none" rotWithShape="1">
            <a:gsLst>
              <a:gs pos="12000">
                <a:schemeClr val="bg1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Isosceles Triangle 6"/>
          <p:cNvSpPr/>
          <p:nvPr/>
        </p:nvSpPr>
        <p:spPr>
          <a:xfrm>
            <a:off x="6598766" y="5038970"/>
            <a:ext cx="1463024" cy="1463024"/>
          </a:xfrm>
          <a:prstGeom prst="triangle">
            <a:avLst/>
          </a:prstGeom>
          <a:gradFill flip="none" rotWithShape="1">
            <a:gsLst>
              <a:gs pos="12000">
                <a:schemeClr val="bg1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8" name="Straight Connector 7"/>
          <p:cNvCxnSpPr/>
          <p:nvPr/>
        </p:nvCxnSpPr>
        <p:spPr>
          <a:xfrm>
            <a:off x="1099356" y="5953360"/>
            <a:ext cx="1369547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91854" y="5130409"/>
            <a:ext cx="1099306" cy="109726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196012" y="5038970"/>
            <a:ext cx="747573" cy="1645902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589487" y="5038970"/>
            <a:ext cx="0" cy="1554463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  <a:effectLst>
            <a:outerShdw blurRad="63500" algn="ctr" rotWithShape="0">
              <a:srgbClr val="FF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54360" y="5920534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Candara" panose="020E0502030303020204" pitchFamily="34" charset="0"/>
              </a:rPr>
              <a:t>окръжност</a:t>
            </a:r>
          </a:p>
        </p:txBody>
      </p:sp>
      <p:sp>
        <p:nvSpPr>
          <p:cNvPr id="20" name="TextBox 19"/>
          <p:cNvSpPr txBox="1"/>
          <p:nvPr/>
        </p:nvSpPr>
        <p:spPr>
          <a:xfrm rot="2679549">
            <a:off x="3449767" y="5593404"/>
            <a:ext cx="64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Candara" panose="020E0502030303020204" pitchFamily="34" charset="0"/>
              </a:rPr>
              <a:t>елипса</a:t>
            </a:r>
          </a:p>
        </p:txBody>
      </p:sp>
      <p:sp>
        <p:nvSpPr>
          <p:cNvPr id="21" name="TextBox 20"/>
          <p:cNvSpPr txBox="1"/>
          <p:nvPr/>
        </p:nvSpPr>
        <p:spPr>
          <a:xfrm rot="3939812">
            <a:off x="5090166" y="584020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Candara" panose="020E0502030303020204" pitchFamily="34" charset="0"/>
              </a:rPr>
              <a:t>парабола</a:t>
            </a:r>
          </a:p>
        </p:txBody>
      </p:sp>
      <p:sp>
        <p:nvSpPr>
          <p:cNvPr id="22" name="TextBox 21"/>
          <p:cNvSpPr txBox="1"/>
          <p:nvPr/>
        </p:nvSpPr>
        <p:spPr>
          <a:xfrm rot="5400000">
            <a:off x="7013650" y="5840199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Candara" panose="020E0502030303020204" pitchFamily="34" charset="0"/>
              </a:rPr>
              <a:t>хипербола</a:t>
            </a:r>
          </a:p>
        </p:txBody>
      </p:sp>
    </p:spTree>
    <p:extLst>
      <p:ext uri="{BB962C8B-B14F-4D97-AF65-F5344CB8AC3E}">
        <p14:creationId xmlns:p14="http://schemas.microsoft.com/office/powerpoint/2010/main" val="26053983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Има 4 конуса, по един за всяко сечение</a:t>
            </a:r>
          </a:p>
          <a:p>
            <a:pPr lvl="1"/>
            <a:r>
              <a:rPr lang="bg-BG" dirty="0"/>
              <a:t>Всеки конус е със собствена сечаща равнина</a:t>
            </a:r>
          </a:p>
          <a:p>
            <a:pPr lvl="1"/>
            <a:r>
              <a:rPr lang="bg-BG" dirty="0"/>
              <a:t>Коефициентите на равнините са в локални координати, затова при завъртане на обект със </a:t>
            </a:r>
            <a:r>
              <a:rPr lang="en-US" b="1" dirty="0"/>
              <a:t>spin</a:t>
            </a:r>
            <a:r>
              <a:rPr lang="en-US" dirty="0"/>
              <a:t>,</a:t>
            </a:r>
            <a:r>
              <a:rPr lang="bg-BG" dirty="0"/>
              <a:t> сечащите равнини също се завъртат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590800"/>
            <a:ext cx="8534400" cy="3962400"/>
          </a:xfrm>
          <a:prstGeom prst="snip2DiagRect">
            <a:avLst>
              <a:gd name="adj1" fmla="val 0"/>
              <a:gd name="adj2" fmla="val 792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cone(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).custom({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bg-BG" sz="165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it-IT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clipPlanes: [[0,0,-1,1/3]]</a:t>
            </a:r>
            <a:endParaRPr lang="bg-BG" sz="165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bg-BG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cone(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).custom({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spin: Math.PI/4,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it-IT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clipPlanes: [[0.8,0,-1,1/2]]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cone([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).custom({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spin: -3*Math.PI/4,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it-IT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clipPlanes: [[2,0,-1,1/2]]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cone([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).custom({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spin: 3*Math.PI/4,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it-IT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clipPlanes: [[1,0,0,1/8]]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it-IT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});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161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Декорации</a:t>
            </a:r>
          </a:p>
          <a:p>
            <a:pPr lvl="1"/>
            <a:r>
              <a:rPr lang="bg-BG" dirty="0"/>
              <a:t>Подготвени са три стила – </a:t>
            </a:r>
            <a:r>
              <a:rPr lang="en-US" b="1" dirty="0"/>
              <a:t>contour</a:t>
            </a:r>
            <a:r>
              <a:rPr lang="en-US" dirty="0"/>
              <a:t>, </a:t>
            </a:r>
            <a:r>
              <a:rPr lang="en-US" b="1" dirty="0"/>
              <a:t>section</a:t>
            </a:r>
            <a:r>
              <a:rPr lang="bg-BG" dirty="0"/>
              <a:t> и </a:t>
            </a:r>
            <a:r>
              <a:rPr lang="en-US" b="1" dirty="0"/>
              <a:t>ball</a:t>
            </a:r>
          </a:p>
          <a:p>
            <a:pPr lvl="1"/>
            <a:r>
              <a:rPr lang="bg-BG" dirty="0"/>
              <a:t>На всеки конус се правят две копия със </a:t>
            </a:r>
            <a:r>
              <a:rPr lang="en-US" b="1" dirty="0" err="1"/>
              <a:t>sameAs</a:t>
            </a:r>
            <a:endParaRPr lang="bg-BG" b="1" dirty="0"/>
          </a:p>
          <a:p>
            <a:pPr lvl="1"/>
            <a:r>
              <a:rPr lang="bg-BG" dirty="0"/>
              <a:t>Едното копие е със стил </a:t>
            </a:r>
            <a:r>
              <a:rPr lang="en-US" b="1" dirty="0"/>
              <a:t>section</a:t>
            </a:r>
            <a:r>
              <a:rPr lang="bg-BG" dirty="0"/>
              <a:t>, като има и допълнителна изрязваща равнина за формиране на </a:t>
            </a:r>
            <a:r>
              <a:rPr lang="bg-BG" dirty="0" err="1"/>
              <a:t>контурна</a:t>
            </a:r>
            <a:r>
              <a:rPr lang="bg-BG" dirty="0"/>
              <a:t> ивица</a:t>
            </a:r>
          </a:p>
          <a:p>
            <a:pPr lvl="1"/>
            <a:r>
              <a:rPr lang="bg-BG" dirty="0"/>
              <a:t>Другото копие е със стил </a:t>
            </a:r>
            <a:r>
              <a:rPr lang="en-US" b="1" dirty="0"/>
              <a:t>contour</a:t>
            </a:r>
            <a:r>
              <a:rPr lang="en-US" dirty="0"/>
              <a:t> </a:t>
            </a:r>
            <a:r>
              <a:rPr lang="bg-BG" dirty="0"/>
              <a:t>за „рамките“ на конусите, които се рисуват в режим (</a:t>
            </a:r>
            <a:r>
              <a:rPr lang="en-US" b="1" dirty="0"/>
              <a:t>mode</a:t>
            </a:r>
            <a:r>
              <a:rPr lang="bg-BG" dirty="0"/>
              <a:t>) на линии (</a:t>
            </a:r>
            <a:r>
              <a:rPr lang="en-US" b="1" dirty="0"/>
              <a:t>LINE</a:t>
            </a:r>
            <a:r>
              <a:rPr lang="en-US" dirty="0"/>
              <a:t>)</a:t>
            </a:r>
          </a:p>
          <a:p>
            <a:pPr lvl="1"/>
            <a:r>
              <a:rPr lang="bg-BG" dirty="0"/>
              <a:t>Стилът </a:t>
            </a:r>
            <a:r>
              <a:rPr lang="en-US" b="1" dirty="0"/>
              <a:t>ball</a:t>
            </a:r>
            <a:r>
              <a:rPr lang="bg-BG" dirty="0"/>
              <a:t> е за сферата в конуса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581400"/>
            <a:ext cx="8534400" cy="2971800"/>
          </a:xfrm>
          <a:prstGeom prst="snip2DiagRect">
            <a:avLst>
              <a:gd name="adj1" fmla="val 0"/>
              <a:gd name="adj2" fmla="val 792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contour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{color: [0.9,0.8,1],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section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{color: [0.8,0.5,1]};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= {color: [0.5,1,1]};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cone([-5,+5,-3],4,8).custom({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spin: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/4,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clipPlanes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[[0.8,0,-1,1/2]]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sameAs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).custom(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section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).custom({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clipPlanes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[[0.85,0,-1,0.57]]});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sameAs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).custom(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contour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sphere([-5,+5,-1],2).custom(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972819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24271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Интерактивност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Групов обект в </a:t>
            </a:r>
            <a:r>
              <a:rPr lang="bg-BG" dirty="0" err="1"/>
              <a:t>СУИКА</a:t>
            </a:r>
            <a:endParaRPr lang="bg-BG" dirty="0"/>
          </a:p>
          <a:p>
            <a:pPr lvl="1"/>
            <a:r>
              <a:rPr lang="bg-BG" dirty="0"/>
              <a:t>Обект, който е съставен от няколко други обекта</a:t>
            </a:r>
          </a:p>
          <a:p>
            <a:pPr lvl="1"/>
            <a:r>
              <a:rPr lang="bg-BG" dirty="0"/>
              <a:t>Може да се контролира като един цялостен обект</a:t>
            </a:r>
          </a:p>
          <a:p>
            <a:pPr lvl="2"/>
            <a:r>
              <a:rPr lang="bg-BG" dirty="0"/>
              <a:t>Да се премества в пространството (свойство </a:t>
            </a:r>
            <a:r>
              <a:rPr lang="en-US" b="1" dirty="0"/>
              <a:t>center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Да се върти в произволна посока</a:t>
            </a:r>
            <a:r>
              <a:rPr lang="en-US" dirty="0"/>
              <a:t> (</a:t>
            </a:r>
            <a:r>
              <a:rPr lang="bg-BG" dirty="0"/>
              <a:t>свойства </a:t>
            </a:r>
            <a:r>
              <a:rPr lang="en-US" b="1" dirty="0"/>
              <a:t>focus</a:t>
            </a:r>
            <a:r>
              <a:rPr lang="bg-BG" dirty="0"/>
              <a:t> и </a:t>
            </a:r>
            <a:r>
              <a:rPr lang="en-US" b="1" dirty="0"/>
              <a:t>spin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bg-BG" dirty="0"/>
              <a:t>Да се разпъва или свива</a:t>
            </a:r>
            <a:r>
              <a:rPr lang="en-US" dirty="0"/>
              <a:t> (</a:t>
            </a:r>
            <a:r>
              <a:rPr lang="bg-BG" dirty="0"/>
              <a:t>свойство </a:t>
            </a:r>
            <a:r>
              <a:rPr lang="en-US" b="1" dirty="0"/>
              <a:t>sizes</a:t>
            </a:r>
            <a:r>
              <a:rPr lang="en-US" dirty="0"/>
              <a:t>)</a:t>
            </a:r>
          </a:p>
          <a:p>
            <a:pPr lvl="2"/>
            <a:endParaRPr lang="en-US" dirty="0"/>
          </a:p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Вариант на играта Мини </a:t>
            </a:r>
            <a:r>
              <a:rPr lang="bg-BG" dirty="0" err="1"/>
              <a:t>Микадо</a:t>
            </a:r>
            <a:endParaRPr lang="bg-BG" dirty="0"/>
          </a:p>
          <a:p>
            <a:pPr lvl="1"/>
            <a:r>
              <a:rPr lang="bg-BG" dirty="0"/>
              <a:t>Вместо пръчки, да има кръстачки – обект от три взаимноперпендикулярни паралелепипеда</a:t>
            </a:r>
          </a:p>
          <a:p>
            <a:pPr lvl="1"/>
            <a:r>
              <a:rPr lang="bg-BG" dirty="0"/>
              <a:t>Избирането на кръстачка да сменя нейния цвят и да я смалява плавно до по-малък размер</a:t>
            </a:r>
          </a:p>
        </p:txBody>
      </p:sp>
    </p:spTree>
    <p:extLst>
      <p:ext uri="{BB962C8B-B14F-4D97-AF65-F5344CB8AC3E}">
        <p14:creationId xmlns:p14="http://schemas.microsoft.com/office/powerpoint/2010/main" val="3917745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 на кръстачка</a:t>
            </a:r>
          </a:p>
          <a:p>
            <a:pPr lvl="1"/>
            <a:r>
              <a:rPr lang="bg-BG" dirty="0"/>
              <a:t>Масив </a:t>
            </a:r>
            <a:r>
              <a:rPr lang="en-US" b="1" dirty="0"/>
              <a:t>cross</a:t>
            </a:r>
            <a:r>
              <a:rPr lang="bg-BG" dirty="0"/>
              <a:t> за всички кръстачки</a:t>
            </a:r>
          </a:p>
          <a:p>
            <a:pPr lvl="1"/>
            <a:r>
              <a:rPr lang="bg-BG" dirty="0"/>
              <a:t>Всяка кръстачка е създадена с </a:t>
            </a:r>
            <a:r>
              <a:rPr lang="en-US" b="1" dirty="0"/>
              <a:t>group</a:t>
            </a:r>
            <a:r>
              <a:rPr lang="en-US" dirty="0"/>
              <a:t>,</a:t>
            </a:r>
            <a:r>
              <a:rPr lang="bg-BG" dirty="0"/>
              <a:t> като параметърът е масив от три паралелепипеда</a:t>
            </a:r>
          </a:p>
          <a:p>
            <a:pPr lvl="1"/>
            <a:r>
              <a:rPr lang="bg-BG" dirty="0"/>
              <a:t>Кръстачката като обект има размер </a:t>
            </a:r>
            <a:r>
              <a:rPr lang="en-US" b="1" dirty="0"/>
              <a:t>size</a:t>
            </a:r>
            <a:r>
              <a:rPr lang="en-US" dirty="0"/>
              <a:t> </a:t>
            </a:r>
            <a:r>
              <a:rPr lang="bg-BG" dirty="0"/>
              <a:t>и цвят </a:t>
            </a:r>
            <a:r>
              <a:rPr lang="en-US" b="1" dirty="0"/>
              <a:t>color</a:t>
            </a:r>
          </a:p>
          <a:p>
            <a:pPr lvl="1"/>
            <a:r>
              <a:rPr lang="bg-BG" dirty="0"/>
              <a:t>Центровете </a:t>
            </a:r>
            <a:r>
              <a:rPr lang="en-US" dirty="0"/>
              <a:t>[</a:t>
            </a:r>
            <a:r>
              <a:rPr lang="bg-BG" dirty="0"/>
              <a:t>0,</a:t>
            </a:r>
            <a:r>
              <a:rPr lang="bg-BG" dirty="0" err="1"/>
              <a:t>0</a:t>
            </a:r>
            <a:r>
              <a:rPr lang="bg-BG" dirty="0"/>
              <a:t>,</a:t>
            </a:r>
            <a:r>
              <a:rPr lang="bg-BG" dirty="0" err="1"/>
              <a:t>0</a:t>
            </a:r>
            <a:r>
              <a:rPr lang="en-US" dirty="0"/>
              <a:t>]</a:t>
            </a:r>
            <a:r>
              <a:rPr lang="bg-BG" dirty="0"/>
              <a:t> са спрямо центъра на кръстачката, а размерите </a:t>
            </a:r>
            <a:r>
              <a:rPr lang="en-US" dirty="0"/>
              <a:t>[10,2,2] </a:t>
            </a:r>
            <a:r>
              <a:rPr lang="bg-BG" dirty="0"/>
              <a:t>са спрямо нейния размер</a:t>
            </a:r>
            <a:r>
              <a:rPr lang="en-US" dirty="0"/>
              <a:t> </a:t>
            </a:r>
            <a:r>
              <a:rPr lang="en-US" b="1" dirty="0"/>
              <a:t>size</a:t>
            </a:r>
            <a:endParaRPr lang="bg-BG" b="1" dirty="0"/>
          </a:p>
          <a:p>
            <a:pPr lvl="1"/>
            <a:r>
              <a:rPr lang="bg-BG" dirty="0"/>
              <a:t>Методът </a:t>
            </a:r>
            <a:r>
              <a:rPr lang="en-US" b="1" dirty="0" err="1"/>
              <a:t>mergeColor</a:t>
            </a:r>
            <a:r>
              <a:rPr lang="en-US" dirty="0"/>
              <a:t> </a:t>
            </a:r>
            <a:r>
              <a:rPr lang="bg-BG" dirty="0"/>
              <a:t>актуализира цветовете на всеки елемент на групата да съвпада с груповия цвят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810000"/>
            <a:ext cx="8534400" cy="2743200"/>
          </a:xfrm>
          <a:prstGeom prst="snip2DiagRect">
            <a:avLst>
              <a:gd name="adj1" fmla="val 0"/>
              <a:gd name="adj2" fmla="val 792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cross[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	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0,0,0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10,2,2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]),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([0,0,0],[2,10,2]),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([0,0,0],[2,2,10])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.custom({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[1,0,0.2],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[2,2,2],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cross[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mergeColor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8872523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 на </a:t>
            </a:r>
            <a:r>
              <a:rPr lang="bg-BG" dirty="0" err="1"/>
              <a:t>интерактивността</a:t>
            </a:r>
            <a:endParaRPr lang="bg-BG" dirty="0"/>
          </a:p>
          <a:p>
            <a:pPr lvl="1"/>
            <a:r>
              <a:rPr lang="bg-BG" dirty="0"/>
              <a:t>За всяка кръстачка дефинираме с </a:t>
            </a:r>
            <a:r>
              <a:rPr lang="en-US" b="1" dirty="0"/>
              <a:t>interactive</a:t>
            </a:r>
            <a:r>
              <a:rPr lang="en-US" dirty="0"/>
              <a:t>,</a:t>
            </a:r>
            <a:r>
              <a:rPr lang="bg-BG" dirty="0"/>
              <a:t> че е интерактивна – т.е. тя може да бъде „избрана“ с мишката</a:t>
            </a:r>
          </a:p>
          <a:p>
            <a:pPr lvl="1"/>
            <a:r>
              <a:rPr lang="bg-BG" dirty="0"/>
              <a:t>Потребителското свойство </a:t>
            </a:r>
            <a:r>
              <a:rPr lang="en-US" b="1" dirty="0"/>
              <a:t>shrink</a:t>
            </a:r>
            <a:r>
              <a:rPr lang="bg-BG" dirty="0"/>
              <a:t> (не е част от </a:t>
            </a:r>
            <a:r>
              <a:rPr lang="bg-BG" dirty="0" err="1"/>
              <a:t>СУИКА</a:t>
            </a:r>
            <a:r>
              <a:rPr lang="bg-BG" dirty="0"/>
              <a:t>) указва дали кръстачката се свива</a:t>
            </a:r>
          </a:p>
          <a:p>
            <a:pPr lvl="1"/>
            <a:r>
              <a:rPr lang="bg-BG" dirty="0"/>
              <a:t>Прехващаме натискането на бутон и в </a:t>
            </a:r>
            <a:r>
              <a:rPr lang="en-US" b="1" dirty="0" err="1"/>
              <a:t>mouseDown</a:t>
            </a:r>
            <a:r>
              <a:rPr lang="bg-BG" dirty="0"/>
              <a:t> намираме с </a:t>
            </a:r>
            <a:r>
              <a:rPr lang="en-US" b="1" dirty="0" err="1"/>
              <a:t>objectAtPoint</a:t>
            </a:r>
            <a:r>
              <a:rPr lang="en-US" dirty="0"/>
              <a:t> </a:t>
            </a:r>
            <a:r>
              <a:rPr lang="bg-BG" dirty="0"/>
              <a:t>на коя кръстачка е кликнато (променливата </a:t>
            </a:r>
            <a:r>
              <a:rPr lang="en-US" b="1" dirty="0"/>
              <a:t>p</a:t>
            </a:r>
            <a:r>
              <a:rPr lang="en-US" dirty="0"/>
              <a:t> </a:t>
            </a:r>
            <a:r>
              <a:rPr lang="bg-BG" dirty="0"/>
              <a:t>е графичното поле, инстанция на </a:t>
            </a:r>
            <a:r>
              <a:rPr lang="en-US" dirty="0" err="1"/>
              <a:t>Suica</a:t>
            </a:r>
            <a:r>
              <a:rPr lang="en-US" dirty="0"/>
              <a:t>)</a:t>
            </a:r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352800"/>
            <a:ext cx="8534400" cy="3200400"/>
          </a:xfrm>
          <a:prstGeom prst="snip2DiagRect">
            <a:avLst>
              <a:gd name="adj1" fmla="val 0"/>
              <a:gd name="adj2" fmla="val 792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cross[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group([...]).custom({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interactive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true,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shrink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false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cross[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merge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mouseDown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p.objectAtPoint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event.clientX,event.clientY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[0.8,0.8,0.8]; obj.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shrink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true; }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81531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Още за </a:t>
            </a:r>
            <a:r>
              <a:rPr lang="bg-BG" dirty="0" err="1"/>
              <a:t>интерактивността</a:t>
            </a:r>
            <a:endParaRPr lang="bg-BG" dirty="0"/>
          </a:p>
          <a:p>
            <a:pPr lvl="1"/>
            <a:r>
              <a:rPr lang="bg-BG" dirty="0"/>
              <a:t>В курса споменахме три варианта за определяне дали пиксел е от даден графичен обект чрез четене на цвят</a:t>
            </a:r>
          </a:p>
          <a:p>
            <a:pPr lvl="1"/>
            <a:r>
              <a:rPr lang="bg-BG" dirty="0"/>
              <a:t>Вариант №1 – рисува се без заглаждане, така всеки цвят е „чист“ цвят на обект</a:t>
            </a:r>
          </a:p>
          <a:p>
            <a:pPr lvl="1"/>
            <a:r>
              <a:rPr lang="bg-BG" dirty="0"/>
              <a:t>Вариант №2 – чете се зона от 2х2 пиксела и ако са един и същ цвят, значи това е цветът на обект</a:t>
            </a:r>
          </a:p>
          <a:p>
            <a:pPr lvl="1"/>
            <a:r>
              <a:rPr lang="bg-BG" dirty="0"/>
              <a:t>В </a:t>
            </a:r>
            <a:r>
              <a:rPr lang="bg-BG" dirty="0" err="1"/>
              <a:t>СУИКА</a:t>
            </a:r>
            <a:r>
              <a:rPr lang="bg-BG" dirty="0"/>
              <a:t> се прилага трети вариант:</a:t>
            </a:r>
          </a:p>
          <a:p>
            <a:pPr marL="1028700" lvl="2" indent="-342900">
              <a:buFont typeface="+mj-lt"/>
              <a:buAutoNum type="arabicPeriod"/>
            </a:pPr>
            <a:r>
              <a:rPr lang="bg-BG" dirty="0"/>
              <a:t>Чете се един пиксел, ако няма обект с такъв цвят </a:t>
            </a:r>
            <a:r>
              <a:rPr lang="bg-BG" dirty="0">
                <a:sym typeface="Symbol"/>
              </a:rPr>
              <a:t></a:t>
            </a:r>
            <a:r>
              <a:rPr lang="bg-BG" dirty="0"/>
              <a:t> край</a:t>
            </a:r>
          </a:p>
          <a:p>
            <a:pPr marL="1028700" lvl="2" indent="-342900">
              <a:buFont typeface="+mj-lt"/>
              <a:buAutoNum type="arabicPeriod"/>
            </a:pPr>
            <a:r>
              <a:rPr lang="bg-BG" dirty="0"/>
              <a:t>Рисува се на чисто само „избрания“ обект</a:t>
            </a:r>
          </a:p>
          <a:p>
            <a:pPr marL="1028700" lvl="2" indent="-342900">
              <a:buFont typeface="+mj-lt"/>
              <a:buAutoNum type="arabicPeriod"/>
            </a:pPr>
            <a:r>
              <a:rPr lang="bg-BG" dirty="0"/>
              <a:t>Пак се чете един пиксел и ако е същият цвят, значи избраният обект е правилният, иначе е фалшив и го игнорираме</a:t>
            </a:r>
          </a:p>
          <a:p>
            <a:pPr marL="1028700" lvl="2" indent="-342900">
              <a:buFont typeface="+mj-lt"/>
              <a:buAutoNum type="arabicPeriod"/>
            </a:pPr>
            <a:endParaRPr lang="bg-BG" dirty="0"/>
          </a:p>
          <a:p>
            <a:r>
              <a:rPr lang="bg-BG" dirty="0"/>
              <a:t>Забележка за груповите обекти</a:t>
            </a:r>
          </a:p>
          <a:p>
            <a:pPr lvl="1"/>
            <a:r>
              <a:rPr lang="bg-BG" dirty="0"/>
              <a:t>Методът </a:t>
            </a:r>
            <a:r>
              <a:rPr lang="en-US" b="1" dirty="0"/>
              <a:t>merge</a:t>
            </a:r>
            <a:r>
              <a:rPr lang="bg-BG" dirty="0"/>
              <a:t> слага на подобектите идентификационния код на груповия обект – така той може да бъде избран независимо на кой подобект е кликнато</a:t>
            </a:r>
          </a:p>
        </p:txBody>
      </p:sp>
    </p:spTree>
    <p:extLst>
      <p:ext uri="{BB962C8B-B14F-4D97-AF65-F5344CB8AC3E}">
        <p14:creationId xmlns:p14="http://schemas.microsoft.com/office/powerpoint/2010/main" val="1038549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83294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Текстури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Обект </a:t>
            </a:r>
            <a:r>
              <a:rPr lang="en-US" dirty="0"/>
              <a:t>Image</a:t>
            </a:r>
          </a:p>
          <a:p>
            <a:pPr lvl="1"/>
            <a:r>
              <a:rPr lang="bg-BG" dirty="0"/>
              <a:t>Използва се за създаване на текстура</a:t>
            </a:r>
          </a:p>
          <a:p>
            <a:pPr lvl="1"/>
            <a:r>
              <a:rPr lang="bg-BG" dirty="0"/>
              <a:t>Като аргументи се подават име на файл, мащаб на текстурата (число или масив) и отместване (масив)</a:t>
            </a:r>
          </a:p>
          <a:p>
            <a:pPr lvl="1"/>
            <a:endParaRPr lang="bg-BG" dirty="0"/>
          </a:p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Три куба с текстура по тях, като едната текстура е с различен мащаб по двете измерения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572000"/>
            <a:ext cx="8534400" cy="1981200"/>
          </a:xfrm>
          <a:prstGeom prst="snip2DiagRect">
            <a:avLst>
              <a:gd name="adj1" fmla="val 0"/>
              <a:gd name="adj2" fmla="val 792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tex1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Suica.Image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'box.jpg'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tex2 = new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Suica.Image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('box.jpg',2);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tex3 = new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Suica.Image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('box.jpg',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[8,3]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cube([-25,0,0],20).custom({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cube([  0,0,0],20).custom({image:tex2});</a:t>
            </a:r>
          </a:p>
          <a:p>
            <a:pPr marL="174625">
              <a:tabLst>
                <a:tab pos="457200" algn="l"/>
                <a:tab pos="682625" algn="l"/>
                <a:tab pos="1025525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cube([ 25,0,0],20).custom({image:tex3});</a:t>
            </a:r>
          </a:p>
        </p:txBody>
      </p:sp>
    </p:spTree>
    <p:extLst>
      <p:ext uri="{BB962C8B-B14F-4D97-AF65-F5344CB8AC3E}">
        <p14:creationId xmlns:p14="http://schemas.microsoft.com/office/powerpoint/2010/main" val="38643178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810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67518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Речник</a:t>
            </a:r>
          </a:p>
        </p:txBody>
      </p:sp>
    </p:spTree>
    <p:extLst>
      <p:ext uri="{BB962C8B-B14F-4D97-AF65-F5344CB8AC3E}">
        <p14:creationId xmlns:p14="http://schemas.microsoft.com/office/powerpoint/2010/main" val="5810776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Речник на новите неща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Инициализация и функции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477434"/>
              </p:ext>
            </p:extLst>
          </p:nvPr>
        </p:nvGraphicFramePr>
        <p:xfrm>
          <a:off x="609600" y="2032000"/>
          <a:ext cx="8077200" cy="445008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Suica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Клас,</a:t>
                      </a:r>
                      <a:r>
                        <a:rPr lang="bg-BG" sz="1600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реализиращ </a:t>
                      </a:r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3D</a:t>
                      </a:r>
                      <a:r>
                        <a:rPr lang="bg-BG" sz="1600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графика в </a:t>
                      </a:r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canvas</a:t>
                      </a:r>
                      <a:endParaRPr lang="bg-BG" sz="1600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Image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Клас за текстура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background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Фон на графичното поле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oxyz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Генерира образ на координатната система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demo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Включва автоматично въртене на сцената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orthographic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Включване на ортографска</a:t>
                      </a:r>
                      <a:r>
                        <a:rPr lang="bg-BG" sz="1600" baseline="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проекция</a:t>
                      </a:r>
                      <a:endParaRPr lang="bg-BG" sz="1600" noProof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lookAt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Гледна точка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nextFrame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Потребителски анимационен цикъл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radians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Превръща градуси</a:t>
                      </a:r>
                      <a:r>
                        <a:rPr lang="bg-BG" sz="1600" baseline="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в </a:t>
                      </a:r>
                      <a:r>
                        <a:rPr lang="bg-BG" sz="1600" baseline="0" noProof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радиани</a:t>
                      </a:r>
                      <a:endParaRPr lang="bg-BG" sz="1600" noProof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time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Връща времето</a:t>
                      </a:r>
                      <a:r>
                        <a:rPr lang="bg-BG" sz="1600" baseline="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в секунди</a:t>
                      </a:r>
                      <a:endParaRPr lang="bg-BG" sz="1600" noProof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sameAs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Клонира обект заедно със свойствата му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objectAtPoint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Намира интерактивния обект на място от екрана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1903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Графични обекти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225010"/>
              </p:ext>
            </p:extLst>
          </p:nvPr>
        </p:nvGraphicFramePr>
        <p:xfrm>
          <a:off x="609600" y="1066800"/>
          <a:ext cx="8077200" cy="445008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point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Точка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Отсечка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ray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Лъч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cube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Куб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cuboid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Правилен паралелепипед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cone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Конус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conoid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Елипсовиден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конус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cylinder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Цилиндър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cylindroid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Елипсовиден цилиндър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prism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Призма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sphere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Сфера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group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Групов обект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5450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Свойства и стилове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8534"/>
              </p:ext>
            </p:extLst>
          </p:nvPr>
        </p:nvGraphicFramePr>
        <p:xfrm>
          <a:off x="609600" y="1066800"/>
          <a:ext cx="8077200" cy="45415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Цвят на обект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focus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Посока на главната ос на обект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spin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Завъртяност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обект около главната му ос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custom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Функция за прилагане на стил (съвкупност от няколко свойства) върху обект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clipPlane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Масив от изрязващи равнини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merge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Прави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обектите в групов обект с един и същ идентификационен код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mergeColor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Прави обектите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в групов обект с един и същ цвят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image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Текстура на обект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interactive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Интерактивност на обект – възможност да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бъде открит по пиксел от образа си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Режим на рисуване на обект (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POINT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– с точки,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LINE –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 линии,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SOLID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– с повърхности)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8178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/>
              <a:t>Въпроси и коментари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049308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56132</TotalTime>
  <Words>3908</Words>
  <Application>Microsoft Office PowerPoint</Application>
  <PresentationFormat>On-screen Show (4:3)</PresentationFormat>
  <Paragraphs>616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Arial</vt:lpstr>
      <vt:lpstr>Arial Black</vt:lpstr>
      <vt:lpstr>Calibri</vt:lpstr>
      <vt:lpstr>Candara</vt:lpstr>
      <vt:lpstr>Century Gothic</vt:lpstr>
      <vt:lpstr>Consolas</vt:lpstr>
      <vt:lpstr>Symbol</vt:lpstr>
      <vt:lpstr>Times New Roman</vt:lpstr>
      <vt:lpstr>Wingdings 2</vt:lpstr>
      <vt:lpstr>Austin</vt:lpstr>
      <vt:lpstr>СУИКА</vt:lpstr>
      <vt:lpstr>В тази лекция</vt:lpstr>
      <vt:lpstr>PowerPoint Presentation</vt:lpstr>
      <vt:lpstr>В практиката</vt:lpstr>
      <vt:lpstr>До края на курса</vt:lpstr>
      <vt:lpstr>PowerPoint Presentation</vt:lpstr>
      <vt:lpstr>Обща информация</vt:lpstr>
      <vt:lpstr>PowerPoint Presentation</vt:lpstr>
      <vt:lpstr>Концепция</vt:lpstr>
      <vt:lpstr>PowerPoint Presentation</vt:lpstr>
      <vt:lpstr>Програмен модел</vt:lpstr>
      <vt:lpstr>PowerPoint Presentation</vt:lpstr>
      <vt:lpstr>Лек пример</vt:lpstr>
      <vt:lpstr>PowerPoint Presentation</vt:lpstr>
      <vt:lpstr>Сложен пример</vt:lpstr>
      <vt:lpstr>PowerPoint Presentation</vt:lpstr>
      <vt:lpstr>PowerPoint Presentation</vt:lpstr>
      <vt:lpstr>Координатна система</vt:lpstr>
      <vt:lpstr>PowerPoint Presentation</vt:lpstr>
      <vt:lpstr>PowerPoint Presentation</vt:lpstr>
      <vt:lpstr>PowerPoint Presentation</vt:lpstr>
      <vt:lpstr>PowerPoint Presentation</vt:lpstr>
      <vt:lpstr>Графични обекти в СУИКА</vt:lpstr>
      <vt:lpstr>Точки</vt:lpstr>
      <vt:lpstr>PowerPoint Presentation</vt:lpstr>
      <vt:lpstr>PowerPoint Presentation</vt:lpstr>
      <vt:lpstr>Отсечки, лъчи, прави</vt:lpstr>
      <vt:lpstr>PowerPoint Presentation</vt:lpstr>
      <vt:lpstr>PowerPoint Presentation</vt:lpstr>
      <vt:lpstr>Кубове и паралелепипеди</vt:lpstr>
      <vt:lpstr>PowerPoint Presentation</vt:lpstr>
      <vt:lpstr>Цилиндри и конуси</vt:lpstr>
      <vt:lpstr>PowerPoint Presentation</vt:lpstr>
      <vt:lpstr>PowerPoint Presentation</vt:lpstr>
      <vt:lpstr>PowerPoint Presentation</vt:lpstr>
      <vt:lpstr>PowerPoint Presentation</vt:lpstr>
      <vt:lpstr>Стилове</vt:lpstr>
      <vt:lpstr>PowerPoint Presentation</vt:lpstr>
      <vt:lpstr>PowerPoint Presentation</vt:lpstr>
      <vt:lpstr>Анимация</vt:lpstr>
      <vt:lpstr>PowerPoint Presentation</vt:lpstr>
      <vt:lpstr>PowerPoint Presentation</vt:lpstr>
      <vt:lpstr>Гледна точка</vt:lpstr>
      <vt:lpstr>PowerPoint Presentation</vt:lpstr>
      <vt:lpstr>PowerPoint Presentation</vt:lpstr>
      <vt:lpstr>PowerPoint Presentation</vt:lpstr>
      <vt:lpstr>Сечащи равнини</vt:lpstr>
      <vt:lpstr>PowerPoint Presentation</vt:lpstr>
      <vt:lpstr>PowerPoint Presentation</vt:lpstr>
      <vt:lpstr>PowerPoint Presentation</vt:lpstr>
      <vt:lpstr>Интерактивност</vt:lpstr>
      <vt:lpstr>PowerPoint Presentation</vt:lpstr>
      <vt:lpstr>PowerPoint Presentation</vt:lpstr>
      <vt:lpstr>PowerPoint Presentation</vt:lpstr>
      <vt:lpstr>PowerPoint Presentation</vt:lpstr>
      <vt:lpstr>Текстури</vt:lpstr>
      <vt:lpstr>PowerPoint Presentation</vt:lpstr>
      <vt:lpstr>PowerPoint Presentation</vt:lpstr>
      <vt:lpstr>Речник на новите неща</vt:lpstr>
      <vt:lpstr>PowerPoint Presentation</vt:lpstr>
      <vt:lpstr>PowerPoint Presentation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WebGL-25. SUICA</dc:title>
  <dc:creator>Pavel Boytchev</dc:creator>
  <cp:lastModifiedBy>Pavel Boytchev</cp:lastModifiedBy>
  <cp:revision>1961</cp:revision>
  <dcterms:created xsi:type="dcterms:W3CDTF">2013-12-13T09:03:57Z</dcterms:created>
  <dcterms:modified xsi:type="dcterms:W3CDTF">2021-11-03T09:33:38Z</dcterms:modified>
</cp:coreProperties>
</file>