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7"/>
  </p:notesMasterIdLst>
  <p:sldIdLst>
    <p:sldId id="256" r:id="rId2"/>
    <p:sldId id="299" r:id="rId3"/>
    <p:sldId id="297" r:id="rId4"/>
    <p:sldId id="323" r:id="rId5"/>
    <p:sldId id="324" r:id="rId6"/>
    <p:sldId id="325" r:id="rId7"/>
    <p:sldId id="326" r:id="rId8"/>
    <p:sldId id="327" r:id="rId9"/>
    <p:sldId id="331" r:id="rId10"/>
    <p:sldId id="328" r:id="rId11"/>
    <p:sldId id="329" r:id="rId12"/>
    <p:sldId id="330" r:id="rId13"/>
    <p:sldId id="332" r:id="rId14"/>
    <p:sldId id="333" r:id="rId15"/>
    <p:sldId id="2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6F9500"/>
    <a:srgbClr val="94C600"/>
    <a:srgbClr val="008000"/>
    <a:srgbClr val="6B9100"/>
    <a:srgbClr val="FFFFFF"/>
    <a:srgbClr val="74A510"/>
    <a:srgbClr val="339933"/>
    <a:srgbClr val="FDCD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9" autoAdjust="0"/>
    <p:restoredTop sz="94590" autoAdjust="0"/>
  </p:normalViewPr>
  <p:slideViewPr>
    <p:cSldViewPr>
      <p:cViewPr varScale="1">
        <p:scale>
          <a:sx n="80" d="100"/>
          <a:sy n="80" d="100"/>
        </p:scale>
        <p:origin x="13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13.10.2021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46779" y="4478669"/>
            <a:ext cx="6275055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Solution%201%20-%20Kissing%20spher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Solution%202%20-%20Rounded%20cube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Solution%203%20-%20Metal%20icosahedron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Solution%204%20-%20Superspher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olution%205%20-%20UFO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olution%206%20-%20Pawn%20and%20bishop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Death%20Star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Solution%208%20-%20Death%20Sta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Обекти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S0</a:t>
            </a:r>
            <a:r>
              <a:rPr lang="bg-BG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Сфери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Целуващи се сфери</a:t>
            </a:r>
          </a:p>
          <a:p>
            <a:pPr lvl="1"/>
            <a:r>
              <a:rPr lang="bg-BG" dirty="0"/>
              <a:t>В равнина около сферата разполагаме 6 сфери</a:t>
            </a:r>
          </a:p>
          <a:p>
            <a:pPr lvl="1"/>
            <a:r>
              <a:rPr lang="bg-BG" dirty="0"/>
              <a:t>Координатите изчисляваме като точки от окръжност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43200" y="2895600"/>
            <a:ext cx="3657600" cy="3657600"/>
            <a:chOff x="1828800" y="1600200"/>
            <a:chExt cx="5486400" cy="5486400"/>
          </a:xfrm>
        </p:grpSpPr>
        <p:sp>
          <p:nvSpPr>
            <p:cNvPr id="12" name="Oval 11"/>
            <p:cNvSpPr/>
            <p:nvPr/>
          </p:nvSpPr>
          <p:spPr>
            <a:xfrm>
              <a:off x="3657600" y="3429000"/>
              <a:ext cx="1828800" cy="1828800"/>
            </a:xfrm>
            <a:prstGeom prst="ellipse">
              <a:avLst/>
            </a:prstGeom>
            <a:solidFill>
              <a:srgbClr val="94C600"/>
            </a:solidFill>
            <a:ln w="9525">
              <a:noFill/>
            </a:ln>
            <a:scene3d>
              <a:camera prst="orthographicFront"/>
              <a:lightRig rig="threePt" dir="t"/>
            </a:scene3d>
            <a:sp3d extrusionH="12700000" prstMaterial="clear">
              <a:bevelT w="635000" h="635000"/>
              <a:contourClr>
                <a:schemeClr val="accent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 rot="18000000"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 rot="3600000"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</p:grpSp>
      <p:cxnSp>
        <p:nvCxnSpPr>
          <p:cNvPr id="22" name="Straight Arrow Connector 21"/>
          <p:cNvCxnSpPr/>
          <p:nvPr/>
        </p:nvCxnSpPr>
        <p:spPr>
          <a:xfrm>
            <a:off x="4572000" y="4724400"/>
            <a:ext cx="23622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572000" y="2743200"/>
            <a:ext cx="0" cy="19812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352800" y="3505200"/>
            <a:ext cx="2438400" cy="2438400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36" name="Group 35"/>
          <p:cNvGrpSpPr/>
          <p:nvPr/>
        </p:nvGrpSpPr>
        <p:grpSpPr>
          <a:xfrm>
            <a:off x="4513052" y="3618142"/>
            <a:ext cx="1336411" cy="1173832"/>
            <a:chOff x="4513052" y="3618142"/>
            <a:chExt cx="1336411" cy="1173832"/>
          </a:xfrm>
        </p:grpSpPr>
        <p:grpSp>
          <p:nvGrpSpPr>
            <p:cNvPr id="32" name="Group 31"/>
            <p:cNvGrpSpPr/>
            <p:nvPr/>
          </p:nvGrpSpPr>
          <p:grpSpPr>
            <a:xfrm>
              <a:off x="4513052" y="4668149"/>
              <a:ext cx="1336411" cy="123825"/>
              <a:chOff x="4513052" y="4668149"/>
              <a:chExt cx="1336411" cy="123825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5727757" y="4668149"/>
                <a:ext cx="121706" cy="12170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513052" y="4670268"/>
                <a:ext cx="121706" cy="12170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sp>
          <p:nvSpPr>
            <p:cNvPr id="34" name="Oval 33"/>
            <p:cNvSpPr/>
            <p:nvPr/>
          </p:nvSpPr>
          <p:spPr>
            <a:xfrm rot="18000000">
              <a:off x="5116801" y="3618142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40" name="Oval 39"/>
          <p:cNvSpPr/>
          <p:nvPr/>
        </p:nvSpPr>
        <p:spPr>
          <a:xfrm rot="14400000">
            <a:off x="3903407" y="3621678"/>
            <a:ext cx="121706" cy="12170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Oval 38"/>
          <p:cNvSpPr/>
          <p:nvPr/>
        </p:nvSpPr>
        <p:spPr>
          <a:xfrm rot="10800000">
            <a:off x="3299552" y="4675784"/>
            <a:ext cx="121706" cy="12170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Oval 44"/>
          <p:cNvSpPr/>
          <p:nvPr/>
        </p:nvSpPr>
        <p:spPr>
          <a:xfrm rot="7200000">
            <a:off x="3910310" y="5723191"/>
            <a:ext cx="121706" cy="12170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Oval 43"/>
          <p:cNvSpPr/>
          <p:nvPr/>
        </p:nvSpPr>
        <p:spPr>
          <a:xfrm rot="3600000">
            <a:off x="5125120" y="5719091"/>
            <a:ext cx="121706" cy="12170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Останалите 6 сфери</a:t>
            </a:r>
          </a:p>
          <a:p>
            <a:pPr lvl="1"/>
            <a:r>
              <a:rPr lang="bg-BG" dirty="0"/>
              <a:t>Три сфери са „над“ равнината, три са „под“ равнината</a:t>
            </a:r>
          </a:p>
          <a:p>
            <a:pPr lvl="1"/>
            <a:r>
              <a:rPr lang="bg-BG" dirty="0"/>
              <a:t>Пресмятане на центровете като </a:t>
            </a:r>
            <a:r>
              <a:rPr lang="bg-BG" dirty="0" err="1"/>
              <a:t>медицентрове</a:t>
            </a:r>
            <a:r>
              <a:rPr lang="bg-BG" dirty="0"/>
              <a:t> или като точки от окръжност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43200" y="2362200"/>
            <a:ext cx="3657600" cy="3657600"/>
            <a:chOff x="1828800" y="1600200"/>
            <a:chExt cx="5486400" cy="5486400"/>
          </a:xfrm>
        </p:grpSpPr>
        <p:sp>
          <p:nvSpPr>
            <p:cNvPr id="12" name="Oval 11"/>
            <p:cNvSpPr/>
            <p:nvPr/>
          </p:nvSpPr>
          <p:spPr>
            <a:xfrm>
              <a:off x="3657600" y="3429000"/>
              <a:ext cx="1828800" cy="18288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  <a:alpha val="0"/>
                  </a:schemeClr>
                </a:gs>
                <a:gs pos="100000">
                  <a:schemeClr val="accent1">
                    <a:tint val="44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  <a:scene3d>
              <a:camera prst="orthographicFront"/>
              <a:lightRig rig="threePt" dir="t"/>
            </a:scene3d>
            <a:sp3d extrusionH="12700000" prstMaterial="clear">
              <a:bevelT w="635000" h="635000"/>
              <a:contourClr>
                <a:schemeClr val="accent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 rot="18000000"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 rot="3600000">
              <a:off x="1828800" y="3429000"/>
              <a:ext cx="5486400" cy="1828800"/>
              <a:chOff x="1828800" y="3429000"/>
              <a:chExt cx="5486400" cy="18288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54864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828800" y="3429000"/>
                <a:ext cx="1828800" cy="18288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noFill/>
              </a:ln>
              <a:scene3d>
                <a:camera prst="orthographicFront"/>
                <a:lightRig rig="threePt" dir="t"/>
              </a:scene3d>
              <a:sp3d extrusionH="12700000" prstMaterial="clear">
                <a:bevelT w="635000" h="635000"/>
                <a:contourClr>
                  <a:schemeClr val="accent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</p:grpSp>
      <p:cxnSp>
        <p:nvCxnSpPr>
          <p:cNvPr id="22" name="Straight Arrow Connector 21"/>
          <p:cNvCxnSpPr/>
          <p:nvPr/>
        </p:nvCxnSpPr>
        <p:spPr>
          <a:xfrm>
            <a:off x="4572000" y="4191000"/>
            <a:ext cx="23622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572000" y="2209800"/>
            <a:ext cx="0" cy="19812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13052" y="4136868"/>
            <a:ext cx="121706" cy="12170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Oval 28"/>
          <p:cNvSpPr/>
          <p:nvPr/>
        </p:nvSpPr>
        <p:spPr>
          <a:xfrm>
            <a:off x="3862875" y="3481448"/>
            <a:ext cx="1418371" cy="141837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Isosceles Triangle 5"/>
          <p:cNvSpPr/>
          <p:nvPr/>
        </p:nvSpPr>
        <p:spPr>
          <a:xfrm>
            <a:off x="4572000" y="3140749"/>
            <a:ext cx="1219200" cy="1051034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4" name="Group 3"/>
          <p:cNvGrpSpPr/>
          <p:nvPr/>
        </p:nvGrpSpPr>
        <p:grpSpPr>
          <a:xfrm>
            <a:off x="3290888" y="3084742"/>
            <a:ext cx="2549911" cy="2226755"/>
            <a:chOff x="3299552" y="3618142"/>
            <a:chExt cx="2549911" cy="2226755"/>
          </a:xfrm>
        </p:grpSpPr>
        <p:sp>
          <p:nvSpPr>
            <p:cNvPr id="30" name="Oval 29"/>
            <p:cNvSpPr/>
            <p:nvPr/>
          </p:nvSpPr>
          <p:spPr>
            <a:xfrm>
              <a:off x="5727757" y="4668149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4" name="Oval 33"/>
            <p:cNvSpPr/>
            <p:nvPr/>
          </p:nvSpPr>
          <p:spPr>
            <a:xfrm rot="18000000">
              <a:off x="5116801" y="3618142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0" name="Oval 39"/>
            <p:cNvSpPr/>
            <p:nvPr/>
          </p:nvSpPr>
          <p:spPr>
            <a:xfrm rot="14400000">
              <a:off x="3903407" y="3621678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9" name="Oval 38"/>
            <p:cNvSpPr/>
            <p:nvPr/>
          </p:nvSpPr>
          <p:spPr>
            <a:xfrm rot="10800000">
              <a:off x="3299552" y="4675784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5" name="Oval 44"/>
            <p:cNvSpPr/>
            <p:nvPr/>
          </p:nvSpPr>
          <p:spPr>
            <a:xfrm rot="7200000">
              <a:off x="3910310" y="5723191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4" name="Oval 43"/>
            <p:cNvSpPr/>
            <p:nvPr/>
          </p:nvSpPr>
          <p:spPr>
            <a:xfrm rot="3600000">
              <a:off x="5125120" y="5719091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3" name="Oval 42"/>
            <p:cNvSpPr/>
            <p:nvPr/>
          </p:nvSpPr>
          <p:spPr>
            <a:xfrm>
              <a:off x="5127199" y="4314704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6" name="Oval 45"/>
            <p:cNvSpPr/>
            <p:nvPr/>
          </p:nvSpPr>
          <p:spPr>
            <a:xfrm>
              <a:off x="3910211" y="4314704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7" name="Oval 46"/>
            <p:cNvSpPr/>
            <p:nvPr/>
          </p:nvSpPr>
          <p:spPr>
            <a:xfrm>
              <a:off x="4521716" y="5372366"/>
              <a:ext cx="121706" cy="1217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48" name="Oval 47"/>
          <p:cNvSpPr/>
          <p:nvPr/>
        </p:nvSpPr>
        <p:spPr>
          <a:xfrm>
            <a:off x="4566062" y="3218214"/>
            <a:ext cx="1219200" cy="1219200"/>
          </a:xfrm>
          <a:prstGeom prst="ellipse">
            <a:avLst/>
          </a:prstGeom>
          <a:solidFill>
            <a:schemeClr val="accent1"/>
          </a:solidFill>
          <a:ln w="9525">
            <a:noFill/>
          </a:ln>
          <a:scene3d>
            <a:camera prst="orthographicFront"/>
            <a:lightRig rig="threePt" dir="t"/>
          </a:scene3d>
          <a:sp3d extrusionH="12700000" prstMaterial="clear">
            <a:bevelT w="635000" h="635000"/>
            <a:contourClr>
              <a:schemeClr val="accent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9" name="Oval 48"/>
          <p:cNvSpPr/>
          <p:nvPr/>
        </p:nvSpPr>
        <p:spPr>
          <a:xfrm>
            <a:off x="3960519" y="4275966"/>
            <a:ext cx="1219200" cy="1219200"/>
          </a:xfrm>
          <a:prstGeom prst="ellipse">
            <a:avLst/>
          </a:prstGeom>
          <a:solidFill>
            <a:schemeClr val="accent1"/>
          </a:solidFill>
          <a:ln w="9525">
            <a:noFill/>
          </a:ln>
          <a:scene3d>
            <a:camera prst="orthographicFront"/>
            <a:lightRig rig="threePt" dir="t"/>
          </a:scene3d>
          <a:sp3d extrusionH="12700000" prstMaterial="clear">
            <a:bevelT w="635000" h="635000"/>
            <a:contourClr>
              <a:schemeClr val="accent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0" name="Oval 49"/>
          <p:cNvSpPr/>
          <p:nvPr/>
        </p:nvSpPr>
        <p:spPr>
          <a:xfrm>
            <a:off x="3352800" y="3212276"/>
            <a:ext cx="1219200" cy="1219200"/>
          </a:xfrm>
          <a:prstGeom prst="ellipse">
            <a:avLst/>
          </a:prstGeom>
          <a:solidFill>
            <a:schemeClr val="accent1"/>
          </a:solidFill>
          <a:ln w="9525">
            <a:noFill/>
          </a:ln>
          <a:scene3d>
            <a:camera prst="orthographicFront"/>
            <a:lightRig rig="threePt" dir="t"/>
          </a:scene3d>
          <a:sp3d extrusionH="12700000" prstMaterial="clear">
            <a:bevelT w="635000" h="635000"/>
            <a:contourClr>
              <a:schemeClr val="accent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1" name="Rectangle 50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062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Заоблен куб</a:t>
            </a:r>
          </a:p>
          <a:p>
            <a:pPr lvl="1"/>
            <a:r>
              <a:rPr lang="bg-BG" dirty="0"/>
              <a:t>Стените са направени от </a:t>
            </a:r>
            <a:r>
              <a:rPr lang="bg-BG" dirty="0" err="1"/>
              <a:t>кубоиди</a:t>
            </a:r>
            <a:endParaRPr lang="bg-BG" dirty="0"/>
          </a:p>
          <a:p>
            <a:pPr lvl="1"/>
            <a:r>
              <a:rPr lang="bg-BG" dirty="0"/>
              <a:t>Ръбовете са направени от цилиндри</a:t>
            </a:r>
          </a:p>
          <a:p>
            <a:pPr lvl="1"/>
            <a:r>
              <a:rPr lang="bg-BG" dirty="0"/>
              <a:t>Върховете са направени от сфери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0988" y="3429000"/>
            <a:ext cx="2743200" cy="260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48012" y="3429002"/>
            <a:ext cx="2743200" cy="260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000" y="3429000"/>
            <a:ext cx="2743200" cy="260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hlinkClick r:id="rId5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700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Метален </a:t>
            </a:r>
            <a:r>
              <a:rPr lang="bg-BG" dirty="0" err="1"/>
              <a:t>икосаедър</a:t>
            </a:r>
            <a:endParaRPr lang="bg-BG" dirty="0"/>
          </a:p>
          <a:p>
            <a:pPr lvl="1"/>
            <a:r>
              <a:rPr lang="bg-BG" dirty="0"/>
              <a:t>Използваме геодезичен </a:t>
            </a:r>
            <a:r>
              <a:rPr lang="bg-BG" dirty="0" err="1"/>
              <a:t>икосаедър</a:t>
            </a:r>
            <a:endParaRPr lang="bg-BG" dirty="0"/>
          </a:p>
          <a:p>
            <a:pPr lvl="1"/>
            <a:r>
              <a:rPr lang="bg-BG" dirty="0"/>
              <a:t>Задаваме по-голям брой фрагменти на стените</a:t>
            </a:r>
          </a:p>
          <a:p>
            <a:pPr lvl="1"/>
            <a:r>
              <a:rPr lang="bg-BG" dirty="0"/>
              <a:t>Променяме по случаен начин изчислените нормални вектори и записваме в буфера променените вектори</a:t>
            </a:r>
          </a:p>
          <a:p>
            <a:pPr lvl="1"/>
            <a:r>
              <a:rPr lang="bg-BG" dirty="0"/>
              <a:t>Това само осветлява или потъмнява цвета, без да променя цветовата гама</a:t>
            </a:r>
          </a:p>
        </p:txBody>
      </p:sp>
      <p:sp>
        <p:nvSpPr>
          <p:cNvPr id="23" name="Rectangle 22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76488" y="4070800"/>
            <a:ext cx="4391024" cy="1913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98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Суперсфера</a:t>
                </a:r>
              </a:p>
              <a:p>
                <a:pPr lvl="1"/>
                <a:r>
                  <a:rPr lang="bg-BG" dirty="0"/>
                  <a:t>Функция пресмятаща </a:t>
                </a:r>
                <a:r>
                  <a:rPr lang="en-US" dirty="0"/>
                  <a:t>d</a:t>
                </a:r>
                <a:r>
                  <a:rPr lang="bg-BG" dirty="0"/>
                  <a:t> с </a:t>
                </a:r>
                <a:r>
                  <a:rPr lang="en-US" b="1" dirty="0"/>
                  <a:t>pow</a:t>
                </a:r>
              </a:p>
              <a:p>
                <a:pPr lvl="1"/>
                <a:r>
                  <a:rPr lang="bg-BG" dirty="0"/>
                  <a:t>Използваме абсолютна стойност за защита при нечетни степени (напр. </a:t>
                </a:r>
                <a:r>
                  <a:rPr lang="en-US" b="1" dirty="0"/>
                  <a:t>n=3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bg-BG" dirty="0"/>
                  <a:t>Получаване на обекти за конкретно </a:t>
                </a:r>
                <a:r>
                  <a:rPr lang="en-US" b="1" dirty="0"/>
                  <a:t>n</a:t>
                </a:r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endParaRPr lang="en-US" dirty="0"/>
              </a:p>
              <a:p>
                <a:endParaRPr lang="bg-BG" dirty="0"/>
              </a:p>
              <a:p>
                <a:pPr lvl="1"/>
                <a:endParaRPr lang="en-US" dirty="0"/>
              </a:p>
              <a:p>
                <a:pPr lvl="1"/>
                <a:r>
                  <a:rPr lang="bg-BG" dirty="0"/>
                  <a:t>Забележка: идеалният куб се постига при </a:t>
                </a:r>
                <a:r>
                  <a:rPr lang="en-US" b="1" dirty="0"/>
                  <a:t>n=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/>
                  <a:t>,</a:t>
                </a:r>
                <a:br>
                  <a:rPr lang="bg-BG" dirty="0"/>
                </a:br>
                <a:r>
                  <a:rPr lang="bg-BG" dirty="0"/>
                  <a:t>тогава </a:t>
                </a:r>
                <a:r>
                  <a:rPr lang="en-US" b="1" dirty="0"/>
                  <a:t>d=max(|x|,|y|,|z|)</a:t>
                </a:r>
                <a:endParaRPr lang="bg-BG" b="1" dirty="0"/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062" t="-180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hlinkClick r:id="rId3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1000" y="4536281"/>
            <a:ext cx="8382000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191000" y="3671888"/>
            <a:ext cx="2133600" cy="1524000"/>
            <a:chOff x="3962400" y="3671888"/>
            <a:chExt cx="2133600" cy="1524000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5029200" y="4405941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Placeholder 2"/>
            <p:cNvSpPr txBox="1">
              <a:spLocks/>
            </p:cNvSpPr>
            <p:nvPr/>
          </p:nvSpPr>
          <p:spPr>
            <a:xfrm>
              <a:off x="3962400" y="3671888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endParaRPr lang="en-US" sz="1800" b="0" dirty="0"/>
            </a:p>
            <a:p>
              <a:pPr marL="0" algn="ctr"/>
              <a:r>
                <a:rPr lang="bg-BG" sz="1800" b="0" dirty="0"/>
                <a:t>Сфера</a:t>
              </a:r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en-US" sz="1800" b="0" dirty="0"/>
                <a:t>2</a:t>
              </a:r>
              <a:endParaRPr lang="en-GB" sz="2400" b="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638800" y="3657600"/>
            <a:ext cx="2133600" cy="1524000"/>
            <a:chOff x="5486400" y="3657600"/>
            <a:chExt cx="2133600" cy="1524000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6553200" y="4391653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Placeholder 2"/>
            <p:cNvSpPr txBox="1">
              <a:spLocks/>
            </p:cNvSpPr>
            <p:nvPr/>
          </p:nvSpPr>
          <p:spPr>
            <a:xfrm>
              <a:off x="5486400" y="3657600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r>
                <a:rPr lang="bg-BG" sz="1800" b="0" dirty="0"/>
                <a:t>Заоблен</a:t>
              </a:r>
              <a:br>
                <a:rPr lang="bg-BG" sz="1800" b="0" dirty="0"/>
              </a:br>
              <a:r>
                <a:rPr lang="bg-BG" sz="1800" b="0" dirty="0"/>
                <a:t>куб</a:t>
              </a:r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bg-BG" sz="1800" b="0" dirty="0"/>
                <a:t>10</a:t>
              </a:r>
              <a:endParaRPr lang="en-GB" sz="2400" b="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086600" y="3657600"/>
            <a:ext cx="2133600" cy="1524000"/>
            <a:chOff x="6858000" y="3657600"/>
            <a:chExt cx="2133600" cy="1524000"/>
          </a:xfrm>
        </p:grpSpPr>
        <p:cxnSp>
          <p:nvCxnSpPr>
            <p:cNvPr id="19" name="Straight Arrow Connector 18"/>
            <p:cNvCxnSpPr/>
            <p:nvPr/>
          </p:nvCxnSpPr>
          <p:spPr>
            <a:xfrm flipV="1">
              <a:off x="7924800" y="4391653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Placeholder 2"/>
            <p:cNvSpPr txBox="1">
              <a:spLocks/>
            </p:cNvSpPr>
            <p:nvPr/>
          </p:nvSpPr>
          <p:spPr>
            <a:xfrm>
              <a:off x="6858000" y="3657600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r>
                <a:rPr lang="bg-BG" sz="1800" b="0" dirty="0"/>
                <a:t> </a:t>
              </a:r>
              <a:br>
                <a:rPr lang="bg-BG" sz="1800" b="0" dirty="0"/>
              </a:br>
              <a:r>
                <a:rPr lang="bg-BG" sz="1800" b="0" dirty="0"/>
                <a:t>Куб</a:t>
              </a:r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bg-BG" sz="1800" b="0" dirty="0"/>
                <a:t>100</a:t>
              </a:r>
              <a:endParaRPr lang="en-GB" sz="2400" b="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657600"/>
            <a:ext cx="2133600" cy="1524000"/>
            <a:chOff x="1219200" y="3657600"/>
            <a:chExt cx="2133600" cy="1524000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2286000" y="4391653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 Placeholder 2"/>
            <p:cNvSpPr txBox="1">
              <a:spLocks/>
            </p:cNvSpPr>
            <p:nvPr/>
          </p:nvSpPr>
          <p:spPr>
            <a:xfrm>
              <a:off x="1219200" y="3657600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r>
                <a:rPr lang="bg-BG" sz="1800" b="0" dirty="0"/>
                <a:t> </a:t>
              </a:r>
              <a:br>
                <a:rPr lang="bg-BG" sz="1800" b="0" dirty="0"/>
              </a:br>
              <a:r>
                <a:rPr lang="bg-BG" sz="1800" b="0" dirty="0" err="1"/>
                <a:t>Октаедър</a:t>
              </a:r>
              <a:endParaRPr lang="bg-BG" sz="1800" b="0" dirty="0"/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bg-BG" sz="1800" b="0" dirty="0"/>
                <a:t>1</a:t>
              </a:r>
              <a:endParaRPr lang="en-GB" sz="2400" b="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743200" y="3657600"/>
            <a:ext cx="2133600" cy="1524000"/>
            <a:chOff x="2667000" y="3657600"/>
            <a:chExt cx="2133600" cy="1524000"/>
          </a:xfrm>
        </p:grpSpPr>
        <p:cxnSp>
          <p:nvCxnSpPr>
            <p:cNvPr id="24" name="Straight Arrow Connector 23"/>
            <p:cNvCxnSpPr/>
            <p:nvPr/>
          </p:nvCxnSpPr>
          <p:spPr>
            <a:xfrm flipV="1">
              <a:off x="3733800" y="4391653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Placeholder 2"/>
            <p:cNvSpPr txBox="1">
              <a:spLocks/>
            </p:cNvSpPr>
            <p:nvPr/>
          </p:nvSpPr>
          <p:spPr>
            <a:xfrm>
              <a:off x="2667000" y="3657600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r>
                <a:rPr lang="bg-BG" sz="1800" b="0" dirty="0"/>
                <a:t>Надут </a:t>
              </a:r>
              <a:br>
                <a:rPr lang="bg-BG" sz="1800" b="0" dirty="0"/>
              </a:br>
              <a:r>
                <a:rPr lang="bg-BG" sz="1800" b="0" dirty="0" err="1"/>
                <a:t>октаедър</a:t>
              </a:r>
              <a:endParaRPr lang="bg-BG" sz="1800" b="0" dirty="0"/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bg-BG" sz="1800" b="0" dirty="0"/>
                <a:t>1.2</a:t>
              </a:r>
              <a:endParaRPr lang="en-GB" sz="2400" b="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-152400" y="3657600"/>
            <a:ext cx="2133600" cy="1524000"/>
            <a:chOff x="-152400" y="3657600"/>
            <a:chExt cx="2133600" cy="1524000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914400" y="4391653"/>
              <a:ext cx="0" cy="27716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Placeholder 2"/>
            <p:cNvSpPr txBox="1">
              <a:spLocks/>
            </p:cNvSpPr>
            <p:nvPr/>
          </p:nvSpPr>
          <p:spPr>
            <a:xfrm>
              <a:off x="-152400" y="3657600"/>
              <a:ext cx="2133600" cy="1524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685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2800" b="1" kern="1200" dirty="0" smtClean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640080" indent="-274320" algn="l" defTabSz="914400" rtl="0" eaLnBrk="1" latinLnBrk="0" hangingPunct="1">
                <a:spcBef>
                  <a:spcPct val="20000"/>
                </a:spcBef>
                <a:buClr>
                  <a:schemeClr val="accent6">
                    <a:lumMod val="50000"/>
                  </a:schemeClr>
                </a:buClr>
                <a:buSzPct val="100000"/>
                <a:buFont typeface="Times New Roman" panose="02020603050405020304" pitchFamily="18" charset="0"/>
                <a:buChar char="●"/>
                <a:defRPr lang="en-US" sz="2000" kern="120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Tx/>
                <a:buNone/>
                <a:defRPr lang="en-US" sz="18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896112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600" kern="120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097280" indent="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None/>
                <a:defRPr lang="en-US" sz="1400" kern="1200" baseline="0">
                  <a:solidFill>
                    <a:schemeClr val="tx1"/>
                  </a:solidFill>
                  <a:effectLst>
                    <a:outerShdw blurRad="63500" algn="ctr" rotWithShape="0">
                      <a:prstClr val="black">
                        <a:alpha val="40000"/>
                      </a:prst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1517904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719072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92024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121408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itchFamily="18" charset="2"/>
                <a:buChar char="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/>
              <a:r>
                <a:rPr lang="bg-BG" sz="1800" b="0" dirty="0"/>
                <a:t>Хлътнал </a:t>
              </a:r>
              <a:br>
                <a:rPr lang="bg-BG" sz="1800" b="0" dirty="0"/>
              </a:br>
              <a:r>
                <a:rPr lang="bg-BG" sz="1800" b="0" dirty="0" err="1"/>
                <a:t>октаедър</a:t>
              </a:r>
              <a:endParaRPr lang="bg-BG" sz="1800" b="0" dirty="0"/>
            </a:p>
            <a:p>
              <a:pPr marL="0" algn="ctr"/>
              <a:endParaRPr lang="bg-BG" sz="1800" b="0" dirty="0"/>
            </a:p>
            <a:p>
              <a:pPr marL="0" algn="ctr"/>
              <a:r>
                <a:rPr lang="bg-BG" sz="1800" b="0" dirty="0"/>
                <a:t>0.7</a:t>
              </a:r>
              <a:endParaRPr lang="en-GB" sz="24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14405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НЛО</a:t>
            </a:r>
          </a:p>
          <a:p>
            <a:pPr lvl="1"/>
            <a:r>
              <a:rPr lang="bg-BG" dirty="0"/>
              <a:t>Формата е създадена само от сфероиди</a:t>
            </a:r>
          </a:p>
          <a:p>
            <a:pPr lvl="1"/>
            <a:r>
              <a:rPr lang="bg-BG" dirty="0"/>
              <a:t>Централният сфероид е почти сфера</a:t>
            </a:r>
          </a:p>
          <a:p>
            <a:pPr lvl="1"/>
            <a:r>
              <a:rPr lang="bg-BG" dirty="0"/>
              <a:t>Всеки следващ сфероид е малко по-нисък и по-широк</a:t>
            </a:r>
          </a:p>
        </p:txBody>
      </p:sp>
      <p:sp>
        <p:nvSpPr>
          <p:cNvPr id="23" name="Rectangle 22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grpSp>
        <p:nvGrpSpPr>
          <p:cNvPr id="5" name="Group 4"/>
          <p:cNvGrpSpPr/>
          <p:nvPr/>
        </p:nvGrpSpPr>
        <p:grpSpPr>
          <a:xfrm>
            <a:off x="1295400" y="3590925"/>
            <a:ext cx="6552920" cy="2124075"/>
            <a:chOff x="1295400" y="3200400"/>
            <a:chExt cx="6552920" cy="2286000"/>
          </a:xfrm>
        </p:grpSpPr>
        <p:sp>
          <p:nvSpPr>
            <p:cNvPr id="4" name="Oval 3"/>
            <p:cNvSpPr/>
            <p:nvPr/>
          </p:nvSpPr>
          <p:spPr>
            <a:xfrm>
              <a:off x="3648075" y="3200400"/>
              <a:ext cx="1828800" cy="228600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Oval 8"/>
            <p:cNvSpPr/>
            <p:nvPr/>
          </p:nvSpPr>
          <p:spPr>
            <a:xfrm>
              <a:off x="3467100" y="3362325"/>
              <a:ext cx="2194560" cy="195072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Oval 10"/>
            <p:cNvSpPr/>
            <p:nvPr/>
          </p:nvSpPr>
          <p:spPr>
            <a:xfrm>
              <a:off x="2990850" y="3714750"/>
              <a:ext cx="3160166" cy="1248461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Oval 11"/>
            <p:cNvSpPr/>
            <p:nvPr/>
          </p:nvSpPr>
          <p:spPr>
            <a:xfrm>
              <a:off x="2667000" y="3839931"/>
              <a:ext cx="3792199" cy="998769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Oval 12"/>
            <p:cNvSpPr/>
            <p:nvPr/>
          </p:nvSpPr>
          <p:spPr>
            <a:xfrm>
              <a:off x="2286000" y="3934910"/>
              <a:ext cx="4550639" cy="799015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Oval 13"/>
            <p:cNvSpPr/>
            <p:nvPr/>
          </p:nvSpPr>
          <p:spPr>
            <a:xfrm>
              <a:off x="1838325" y="4018513"/>
              <a:ext cx="5460767" cy="639212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Oval 14"/>
            <p:cNvSpPr/>
            <p:nvPr/>
          </p:nvSpPr>
          <p:spPr>
            <a:xfrm>
              <a:off x="1295400" y="4079680"/>
              <a:ext cx="6552920" cy="51137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Oval 9"/>
            <p:cNvSpPr/>
            <p:nvPr/>
          </p:nvSpPr>
          <p:spPr>
            <a:xfrm>
              <a:off x="3248025" y="3554349"/>
              <a:ext cx="2633472" cy="1560576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</p:spTree>
    <p:extLst>
      <p:ext uri="{BB962C8B-B14F-4D97-AF65-F5344CB8AC3E}">
        <p14:creationId xmlns:p14="http://schemas.microsoft.com/office/powerpoint/2010/main" val="139926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527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Пешка и офицер</a:t>
            </a:r>
          </a:p>
          <a:p>
            <a:pPr lvl="1"/>
            <a:r>
              <a:rPr lang="bg-BG" dirty="0"/>
              <a:t>Функция, която задава основния конусовиден профил</a:t>
            </a:r>
          </a:p>
          <a:p>
            <a:pPr lvl="1"/>
            <a:r>
              <a:rPr lang="bg-BG" dirty="0"/>
              <a:t>Помощна функция, която „издува“ отделен фрагмент от профила с окръжност или елипса</a:t>
            </a:r>
          </a:p>
        </p:txBody>
      </p:sp>
      <p:sp>
        <p:nvSpPr>
          <p:cNvPr id="23" name="Rectangle 22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866900" y="5867400"/>
            <a:ext cx="15240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866900" y="2971800"/>
            <a:ext cx="0" cy="2895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1" idx="0"/>
          </p:cNvCxnSpPr>
          <p:nvPr/>
        </p:nvCxnSpPr>
        <p:spPr>
          <a:xfrm>
            <a:off x="1887677" y="3429000"/>
            <a:ext cx="415540" cy="243840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/>
          <p:cNvSpPr txBox="1">
            <a:spLocks/>
          </p:cNvSpPr>
          <p:nvPr/>
        </p:nvSpPr>
        <p:spPr>
          <a:xfrm>
            <a:off x="1104900" y="3048000"/>
            <a:ext cx="6858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/>
            <a:r>
              <a:rPr lang="en-US" sz="1800" b="0" dirty="0"/>
              <a:t>z</a:t>
            </a:r>
            <a:endParaRPr lang="en-GB" sz="2400" b="0" dirty="0"/>
          </a:p>
        </p:txBody>
      </p:sp>
      <p:sp>
        <p:nvSpPr>
          <p:cNvPr id="26" name="Text Placeholder 2"/>
          <p:cNvSpPr txBox="1">
            <a:spLocks/>
          </p:cNvSpPr>
          <p:nvPr/>
        </p:nvSpPr>
        <p:spPr>
          <a:xfrm>
            <a:off x="2781300" y="5486400"/>
            <a:ext cx="1181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800" b="0" dirty="0"/>
              <a:t>x=f(z)</a:t>
            </a:r>
            <a:endParaRPr lang="en-GB" sz="2400" b="0" dirty="0"/>
          </a:p>
        </p:txBody>
      </p:sp>
      <p:sp>
        <p:nvSpPr>
          <p:cNvPr id="21" name="Oval 20"/>
          <p:cNvSpPr/>
          <p:nvPr/>
        </p:nvSpPr>
        <p:spPr>
          <a:xfrm>
            <a:off x="1524000" y="3429000"/>
            <a:ext cx="685800" cy="685800"/>
          </a:xfrm>
          <a:prstGeom prst="ellips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30" name="Arc 29"/>
          <p:cNvSpPr/>
          <p:nvPr/>
        </p:nvSpPr>
        <p:spPr>
          <a:xfrm>
            <a:off x="990600" y="5240362"/>
            <a:ext cx="1731818" cy="1244727"/>
          </a:xfrm>
          <a:prstGeom prst="arc">
            <a:avLst>
              <a:gd name="adj1" fmla="val 10289881"/>
              <a:gd name="adj2" fmla="val 499121"/>
            </a:avLst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31" name="Oval 30"/>
          <p:cNvSpPr/>
          <p:nvPr/>
        </p:nvSpPr>
        <p:spPr>
          <a:xfrm>
            <a:off x="1411194" y="4174374"/>
            <a:ext cx="912800" cy="228600"/>
          </a:xfrm>
          <a:prstGeom prst="ellips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533035" y="5867400"/>
            <a:ext cx="15240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4533035" y="2971800"/>
            <a:ext cx="0" cy="2895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518747" y="3429000"/>
            <a:ext cx="457094" cy="243840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/>
          <p:cNvSpPr txBox="1">
            <a:spLocks/>
          </p:cNvSpPr>
          <p:nvPr/>
        </p:nvSpPr>
        <p:spPr>
          <a:xfrm>
            <a:off x="3771035" y="3048000"/>
            <a:ext cx="6858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/>
            <a:r>
              <a:rPr lang="en-US" sz="1800" b="0" dirty="0"/>
              <a:t>z</a:t>
            </a:r>
            <a:endParaRPr lang="en-GB" sz="2400" b="0" dirty="0"/>
          </a:p>
        </p:txBody>
      </p:sp>
      <p:sp>
        <p:nvSpPr>
          <p:cNvPr id="40" name="Oval 39"/>
          <p:cNvSpPr/>
          <p:nvPr/>
        </p:nvSpPr>
        <p:spPr>
          <a:xfrm>
            <a:off x="4190135" y="3429000"/>
            <a:ext cx="685800" cy="685800"/>
          </a:xfrm>
          <a:prstGeom prst="ellips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41" name="Arc 40"/>
          <p:cNvSpPr/>
          <p:nvPr/>
        </p:nvSpPr>
        <p:spPr>
          <a:xfrm>
            <a:off x="3676652" y="5240362"/>
            <a:ext cx="1731818" cy="1244727"/>
          </a:xfrm>
          <a:prstGeom prst="arc">
            <a:avLst>
              <a:gd name="adj1" fmla="val 10197277"/>
              <a:gd name="adj2" fmla="val 649696"/>
            </a:avLst>
          </a:prstGeom>
          <a:ln w="19050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42" name="Oval 41"/>
          <p:cNvSpPr/>
          <p:nvPr/>
        </p:nvSpPr>
        <p:spPr>
          <a:xfrm>
            <a:off x="4077329" y="4174374"/>
            <a:ext cx="912800" cy="228600"/>
          </a:xfrm>
          <a:prstGeom prst="ellips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43" name="Text Placeholder 2"/>
          <p:cNvSpPr txBox="1">
            <a:spLocks/>
          </p:cNvSpPr>
          <p:nvPr/>
        </p:nvSpPr>
        <p:spPr>
          <a:xfrm>
            <a:off x="5448300" y="5486401"/>
            <a:ext cx="1181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800" b="0" dirty="0"/>
              <a:t>x=f(z)</a:t>
            </a:r>
            <a:endParaRPr lang="en-GB" sz="2400" b="0" dirty="0"/>
          </a:p>
        </p:txBody>
      </p:sp>
      <p:sp>
        <p:nvSpPr>
          <p:cNvPr id="44" name="Freeform 43"/>
          <p:cNvSpPr/>
          <p:nvPr/>
        </p:nvSpPr>
        <p:spPr>
          <a:xfrm>
            <a:off x="4536084" y="3431569"/>
            <a:ext cx="874731" cy="2427032"/>
          </a:xfrm>
          <a:custGeom>
            <a:avLst/>
            <a:gdLst>
              <a:gd name="connsiteX0" fmla="*/ 164850 w 550613"/>
              <a:gd name="connsiteY0" fmla="*/ 0 h 2486025"/>
              <a:gd name="connsiteX1" fmla="*/ 493463 w 550613"/>
              <a:gd name="connsiteY1" fmla="*/ 357187 h 2486025"/>
              <a:gd name="connsiteX2" fmla="*/ 36263 w 550613"/>
              <a:gd name="connsiteY2" fmla="*/ 685800 h 2486025"/>
              <a:gd name="connsiteX3" fmla="*/ 79125 w 550613"/>
              <a:gd name="connsiteY3" fmla="*/ 871537 h 2486025"/>
              <a:gd name="connsiteX4" fmla="*/ 479175 w 550613"/>
              <a:gd name="connsiteY4" fmla="*/ 971550 h 2486025"/>
              <a:gd name="connsiteX5" fmla="*/ 164850 w 550613"/>
              <a:gd name="connsiteY5" fmla="*/ 1185862 h 2486025"/>
              <a:gd name="connsiteX6" fmla="*/ 264863 w 550613"/>
              <a:gd name="connsiteY6" fmla="*/ 1914525 h 2486025"/>
              <a:gd name="connsiteX7" fmla="*/ 550613 w 550613"/>
              <a:gd name="connsiteY7" fmla="*/ 2486025 h 2486025"/>
              <a:gd name="connsiteX0" fmla="*/ 97429 w 550613"/>
              <a:gd name="connsiteY0" fmla="*/ 0 h 2469170"/>
              <a:gd name="connsiteX1" fmla="*/ 493463 w 550613"/>
              <a:gd name="connsiteY1" fmla="*/ 340332 h 2469170"/>
              <a:gd name="connsiteX2" fmla="*/ 36263 w 550613"/>
              <a:gd name="connsiteY2" fmla="*/ 668945 h 2469170"/>
              <a:gd name="connsiteX3" fmla="*/ 79125 w 550613"/>
              <a:gd name="connsiteY3" fmla="*/ 854682 h 2469170"/>
              <a:gd name="connsiteX4" fmla="*/ 479175 w 550613"/>
              <a:gd name="connsiteY4" fmla="*/ 954695 h 2469170"/>
              <a:gd name="connsiteX5" fmla="*/ 164850 w 550613"/>
              <a:gd name="connsiteY5" fmla="*/ 1169007 h 2469170"/>
              <a:gd name="connsiteX6" fmla="*/ 264863 w 550613"/>
              <a:gd name="connsiteY6" fmla="*/ 1897670 h 2469170"/>
              <a:gd name="connsiteX7" fmla="*/ 550613 w 550613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66173"/>
              <a:gd name="connsiteY0" fmla="*/ 0 h 2469170"/>
              <a:gd name="connsiteX1" fmla="*/ 341255 w 466173"/>
              <a:gd name="connsiteY1" fmla="*/ 327691 h 2469170"/>
              <a:gd name="connsiteX2" fmla="*/ 120029 w 466173"/>
              <a:gd name="connsiteY2" fmla="*/ 660518 h 2469170"/>
              <a:gd name="connsiteX3" fmla="*/ 137608 w 466173"/>
              <a:gd name="connsiteY3" fmla="*/ 745122 h 2469170"/>
              <a:gd name="connsiteX4" fmla="*/ 466022 w 466173"/>
              <a:gd name="connsiteY4" fmla="*/ 853563 h 2469170"/>
              <a:gd name="connsiteX5" fmla="*/ 181194 w 466173"/>
              <a:gd name="connsiteY5" fmla="*/ 958315 h 2469170"/>
              <a:gd name="connsiteX6" fmla="*/ 167434 w 466173"/>
              <a:gd name="connsiteY6" fmla="*/ 1897670 h 2469170"/>
              <a:gd name="connsiteX7" fmla="*/ 453184 w 466173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057"/>
              <a:gd name="connsiteY0" fmla="*/ 0 h 2469170"/>
              <a:gd name="connsiteX1" fmla="*/ 341255 w 466057"/>
              <a:gd name="connsiteY1" fmla="*/ 327691 h 2469170"/>
              <a:gd name="connsiteX2" fmla="*/ 120029 w 466057"/>
              <a:gd name="connsiteY2" fmla="*/ 660518 h 2469170"/>
              <a:gd name="connsiteX3" fmla="*/ 137608 w 466057"/>
              <a:gd name="connsiteY3" fmla="*/ 745122 h 2469170"/>
              <a:gd name="connsiteX4" fmla="*/ 466022 w 466057"/>
              <a:gd name="connsiteY4" fmla="*/ 853563 h 2469170"/>
              <a:gd name="connsiteX5" fmla="*/ 181194 w 466057"/>
              <a:gd name="connsiteY5" fmla="*/ 958315 h 2469170"/>
              <a:gd name="connsiteX6" fmla="*/ 167434 w 466057"/>
              <a:gd name="connsiteY6" fmla="*/ 1897670 h 2469170"/>
              <a:gd name="connsiteX7" fmla="*/ 453184 w 466057"/>
              <a:gd name="connsiteY7" fmla="*/ 2469170 h 2469170"/>
              <a:gd name="connsiteX0" fmla="*/ 0 w 874566"/>
              <a:gd name="connsiteY0" fmla="*/ 0 h 2427032"/>
              <a:gd name="connsiteX1" fmla="*/ 341255 w 874566"/>
              <a:gd name="connsiteY1" fmla="*/ 327691 h 2427032"/>
              <a:gd name="connsiteX2" fmla="*/ 120029 w 874566"/>
              <a:gd name="connsiteY2" fmla="*/ 660518 h 2427032"/>
              <a:gd name="connsiteX3" fmla="*/ 137608 w 874566"/>
              <a:gd name="connsiteY3" fmla="*/ 745122 h 2427032"/>
              <a:gd name="connsiteX4" fmla="*/ 466022 w 874566"/>
              <a:gd name="connsiteY4" fmla="*/ 853563 h 2427032"/>
              <a:gd name="connsiteX5" fmla="*/ 181194 w 874566"/>
              <a:gd name="connsiteY5" fmla="*/ 958315 h 2427032"/>
              <a:gd name="connsiteX6" fmla="*/ 167434 w 874566"/>
              <a:gd name="connsiteY6" fmla="*/ 1897670 h 2427032"/>
              <a:gd name="connsiteX7" fmla="*/ 874566 w 874566"/>
              <a:gd name="connsiteY7" fmla="*/ 2427032 h 2427032"/>
              <a:gd name="connsiteX0" fmla="*/ 0 w 874631"/>
              <a:gd name="connsiteY0" fmla="*/ 0 h 2427032"/>
              <a:gd name="connsiteX1" fmla="*/ 341255 w 874631"/>
              <a:gd name="connsiteY1" fmla="*/ 327691 h 2427032"/>
              <a:gd name="connsiteX2" fmla="*/ 120029 w 874631"/>
              <a:gd name="connsiteY2" fmla="*/ 660518 h 2427032"/>
              <a:gd name="connsiteX3" fmla="*/ 137608 w 874631"/>
              <a:gd name="connsiteY3" fmla="*/ 745122 h 2427032"/>
              <a:gd name="connsiteX4" fmla="*/ 466022 w 874631"/>
              <a:gd name="connsiteY4" fmla="*/ 853563 h 2427032"/>
              <a:gd name="connsiteX5" fmla="*/ 181194 w 874631"/>
              <a:gd name="connsiteY5" fmla="*/ 958315 h 2427032"/>
              <a:gd name="connsiteX6" fmla="*/ 167434 w 874631"/>
              <a:gd name="connsiteY6" fmla="*/ 1897670 h 2427032"/>
              <a:gd name="connsiteX7" fmla="*/ 874566 w 874631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731"/>
              <a:gd name="connsiteY0" fmla="*/ 0 h 2427032"/>
              <a:gd name="connsiteX1" fmla="*/ 341255 w 874731"/>
              <a:gd name="connsiteY1" fmla="*/ 327691 h 2427032"/>
              <a:gd name="connsiteX2" fmla="*/ 120029 w 874731"/>
              <a:gd name="connsiteY2" fmla="*/ 660518 h 2427032"/>
              <a:gd name="connsiteX3" fmla="*/ 137608 w 874731"/>
              <a:gd name="connsiteY3" fmla="*/ 745122 h 2427032"/>
              <a:gd name="connsiteX4" fmla="*/ 466022 w 874731"/>
              <a:gd name="connsiteY4" fmla="*/ 853563 h 2427032"/>
              <a:gd name="connsiteX5" fmla="*/ 181194 w 874731"/>
              <a:gd name="connsiteY5" fmla="*/ 958315 h 2427032"/>
              <a:gd name="connsiteX6" fmla="*/ 344414 w 874731"/>
              <a:gd name="connsiteY6" fmla="*/ 1872387 h 2427032"/>
              <a:gd name="connsiteX7" fmla="*/ 874566 w 874731"/>
              <a:gd name="connsiteY7" fmla="*/ 2427032 h 242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731" h="2427032">
                <a:moveTo>
                  <a:pt x="0" y="0"/>
                </a:moveTo>
                <a:cubicBezTo>
                  <a:pt x="196091" y="3456"/>
                  <a:pt x="338106" y="154397"/>
                  <a:pt x="341255" y="327691"/>
                </a:cubicBezTo>
                <a:cubicBezTo>
                  <a:pt x="344404" y="500985"/>
                  <a:pt x="239650" y="600076"/>
                  <a:pt x="120029" y="660518"/>
                </a:cubicBezTo>
                <a:cubicBezTo>
                  <a:pt x="126822" y="699891"/>
                  <a:pt x="127699" y="704521"/>
                  <a:pt x="137608" y="745122"/>
                </a:cubicBezTo>
                <a:cubicBezTo>
                  <a:pt x="240220" y="756226"/>
                  <a:pt x="462972" y="780106"/>
                  <a:pt x="466022" y="853563"/>
                </a:cubicBezTo>
                <a:cubicBezTo>
                  <a:pt x="469072" y="927020"/>
                  <a:pt x="275907" y="944423"/>
                  <a:pt x="181194" y="958315"/>
                </a:cubicBezTo>
                <a:cubicBezTo>
                  <a:pt x="212896" y="1149188"/>
                  <a:pt x="304701" y="1657098"/>
                  <a:pt x="344414" y="1872387"/>
                </a:cubicBezTo>
                <a:cubicBezTo>
                  <a:pt x="649598" y="1957048"/>
                  <a:pt x="881825" y="2173780"/>
                  <a:pt x="874566" y="2427032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7123835" y="2971800"/>
            <a:ext cx="0" cy="2895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/>
          <p:cNvSpPr txBox="1">
            <a:spLocks/>
          </p:cNvSpPr>
          <p:nvPr/>
        </p:nvSpPr>
        <p:spPr>
          <a:xfrm>
            <a:off x="6361835" y="3048000"/>
            <a:ext cx="6858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/>
            <a:r>
              <a:rPr lang="en-US" sz="1800" b="0" dirty="0"/>
              <a:t>z</a:t>
            </a:r>
            <a:endParaRPr lang="en-GB" sz="2400" b="0" dirty="0"/>
          </a:p>
        </p:txBody>
      </p:sp>
      <p:sp>
        <p:nvSpPr>
          <p:cNvPr id="51" name="Oval 50"/>
          <p:cNvSpPr/>
          <p:nvPr/>
        </p:nvSpPr>
        <p:spPr>
          <a:xfrm>
            <a:off x="6780935" y="3429000"/>
            <a:ext cx="685800" cy="6858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52" name="Arc 51"/>
          <p:cNvSpPr/>
          <p:nvPr/>
        </p:nvSpPr>
        <p:spPr>
          <a:xfrm>
            <a:off x="6267452" y="5240362"/>
            <a:ext cx="1731818" cy="1244727"/>
          </a:xfrm>
          <a:prstGeom prst="arc">
            <a:avLst>
              <a:gd name="adj1" fmla="val 10783112"/>
              <a:gd name="adj2" fmla="val 40073"/>
            </a:avLst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53" name="Oval 52"/>
          <p:cNvSpPr/>
          <p:nvPr/>
        </p:nvSpPr>
        <p:spPr>
          <a:xfrm>
            <a:off x="6668129" y="4174374"/>
            <a:ext cx="912800" cy="2286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54" name="Text Placeholder 2"/>
          <p:cNvSpPr txBox="1">
            <a:spLocks/>
          </p:cNvSpPr>
          <p:nvPr/>
        </p:nvSpPr>
        <p:spPr>
          <a:xfrm>
            <a:off x="8039100" y="5486401"/>
            <a:ext cx="1181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800" b="0" dirty="0"/>
              <a:t>x=f(z)</a:t>
            </a:r>
            <a:endParaRPr lang="en-GB" sz="2400" b="0" dirty="0"/>
          </a:p>
        </p:txBody>
      </p:sp>
      <p:sp>
        <p:nvSpPr>
          <p:cNvPr id="56" name="Freeform 55"/>
          <p:cNvSpPr/>
          <p:nvPr/>
        </p:nvSpPr>
        <p:spPr>
          <a:xfrm>
            <a:off x="7126269" y="3428999"/>
            <a:ext cx="466057" cy="2189391"/>
          </a:xfrm>
          <a:custGeom>
            <a:avLst/>
            <a:gdLst>
              <a:gd name="connsiteX0" fmla="*/ 164850 w 550613"/>
              <a:gd name="connsiteY0" fmla="*/ 0 h 2486025"/>
              <a:gd name="connsiteX1" fmla="*/ 493463 w 550613"/>
              <a:gd name="connsiteY1" fmla="*/ 357187 h 2486025"/>
              <a:gd name="connsiteX2" fmla="*/ 36263 w 550613"/>
              <a:gd name="connsiteY2" fmla="*/ 685800 h 2486025"/>
              <a:gd name="connsiteX3" fmla="*/ 79125 w 550613"/>
              <a:gd name="connsiteY3" fmla="*/ 871537 h 2486025"/>
              <a:gd name="connsiteX4" fmla="*/ 479175 w 550613"/>
              <a:gd name="connsiteY4" fmla="*/ 971550 h 2486025"/>
              <a:gd name="connsiteX5" fmla="*/ 164850 w 550613"/>
              <a:gd name="connsiteY5" fmla="*/ 1185862 h 2486025"/>
              <a:gd name="connsiteX6" fmla="*/ 264863 w 550613"/>
              <a:gd name="connsiteY6" fmla="*/ 1914525 h 2486025"/>
              <a:gd name="connsiteX7" fmla="*/ 550613 w 550613"/>
              <a:gd name="connsiteY7" fmla="*/ 2486025 h 2486025"/>
              <a:gd name="connsiteX0" fmla="*/ 97429 w 550613"/>
              <a:gd name="connsiteY0" fmla="*/ 0 h 2469170"/>
              <a:gd name="connsiteX1" fmla="*/ 493463 w 550613"/>
              <a:gd name="connsiteY1" fmla="*/ 340332 h 2469170"/>
              <a:gd name="connsiteX2" fmla="*/ 36263 w 550613"/>
              <a:gd name="connsiteY2" fmla="*/ 668945 h 2469170"/>
              <a:gd name="connsiteX3" fmla="*/ 79125 w 550613"/>
              <a:gd name="connsiteY3" fmla="*/ 854682 h 2469170"/>
              <a:gd name="connsiteX4" fmla="*/ 479175 w 550613"/>
              <a:gd name="connsiteY4" fmla="*/ 954695 h 2469170"/>
              <a:gd name="connsiteX5" fmla="*/ 164850 w 550613"/>
              <a:gd name="connsiteY5" fmla="*/ 1169007 h 2469170"/>
              <a:gd name="connsiteX6" fmla="*/ 264863 w 550613"/>
              <a:gd name="connsiteY6" fmla="*/ 1897670 h 2469170"/>
              <a:gd name="connsiteX7" fmla="*/ 550613 w 550613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66173"/>
              <a:gd name="connsiteY0" fmla="*/ 0 h 2469170"/>
              <a:gd name="connsiteX1" fmla="*/ 341255 w 466173"/>
              <a:gd name="connsiteY1" fmla="*/ 327691 h 2469170"/>
              <a:gd name="connsiteX2" fmla="*/ 120029 w 466173"/>
              <a:gd name="connsiteY2" fmla="*/ 660518 h 2469170"/>
              <a:gd name="connsiteX3" fmla="*/ 137608 w 466173"/>
              <a:gd name="connsiteY3" fmla="*/ 745122 h 2469170"/>
              <a:gd name="connsiteX4" fmla="*/ 466022 w 466173"/>
              <a:gd name="connsiteY4" fmla="*/ 853563 h 2469170"/>
              <a:gd name="connsiteX5" fmla="*/ 181194 w 466173"/>
              <a:gd name="connsiteY5" fmla="*/ 958315 h 2469170"/>
              <a:gd name="connsiteX6" fmla="*/ 167434 w 466173"/>
              <a:gd name="connsiteY6" fmla="*/ 1897670 h 2469170"/>
              <a:gd name="connsiteX7" fmla="*/ 453184 w 466173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057"/>
              <a:gd name="connsiteY0" fmla="*/ 0 h 2469170"/>
              <a:gd name="connsiteX1" fmla="*/ 341255 w 466057"/>
              <a:gd name="connsiteY1" fmla="*/ 327691 h 2469170"/>
              <a:gd name="connsiteX2" fmla="*/ 120029 w 466057"/>
              <a:gd name="connsiteY2" fmla="*/ 660518 h 2469170"/>
              <a:gd name="connsiteX3" fmla="*/ 137608 w 466057"/>
              <a:gd name="connsiteY3" fmla="*/ 745122 h 2469170"/>
              <a:gd name="connsiteX4" fmla="*/ 466022 w 466057"/>
              <a:gd name="connsiteY4" fmla="*/ 853563 h 2469170"/>
              <a:gd name="connsiteX5" fmla="*/ 181194 w 466057"/>
              <a:gd name="connsiteY5" fmla="*/ 958315 h 2469170"/>
              <a:gd name="connsiteX6" fmla="*/ 167434 w 466057"/>
              <a:gd name="connsiteY6" fmla="*/ 1897670 h 2469170"/>
              <a:gd name="connsiteX7" fmla="*/ 453184 w 466057"/>
              <a:gd name="connsiteY7" fmla="*/ 2469170 h 2469170"/>
              <a:gd name="connsiteX0" fmla="*/ 0 w 874566"/>
              <a:gd name="connsiteY0" fmla="*/ 0 h 2427032"/>
              <a:gd name="connsiteX1" fmla="*/ 341255 w 874566"/>
              <a:gd name="connsiteY1" fmla="*/ 327691 h 2427032"/>
              <a:gd name="connsiteX2" fmla="*/ 120029 w 874566"/>
              <a:gd name="connsiteY2" fmla="*/ 660518 h 2427032"/>
              <a:gd name="connsiteX3" fmla="*/ 137608 w 874566"/>
              <a:gd name="connsiteY3" fmla="*/ 745122 h 2427032"/>
              <a:gd name="connsiteX4" fmla="*/ 466022 w 874566"/>
              <a:gd name="connsiteY4" fmla="*/ 853563 h 2427032"/>
              <a:gd name="connsiteX5" fmla="*/ 181194 w 874566"/>
              <a:gd name="connsiteY5" fmla="*/ 958315 h 2427032"/>
              <a:gd name="connsiteX6" fmla="*/ 167434 w 874566"/>
              <a:gd name="connsiteY6" fmla="*/ 1897670 h 2427032"/>
              <a:gd name="connsiteX7" fmla="*/ 874566 w 874566"/>
              <a:gd name="connsiteY7" fmla="*/ 2427032 h 2427032"/>
              <a:gd name="connsiteX0" fmla="*/ 0 w 874631"/>
              <a:gd name="connsiteY0" fmla="*/ 0 h 2427032"/>
              <a:gd name="connsiteX1" fmla="*/ 341255 w 874631"/>
              <a:gd name="connsiteY1" fmla="*/ 327691 h 2427032"/>
              <a:gd name="connsiteX2" fmla="*/ 120029 w 874631"/>
              <a:gd name="connsiteY2" fmla="*/ 660518 h 2427032"/>
              <a:gd name="connsiteX3" fmla="*/ 137608 w 874631"/>
              <a:gd name="connsiteY3" fmla="*/ 745122 h 2427032"/>
              <a:gd name="connsiteX4" fmla="*/ 466022 w 874631"/>
              <a:gd name="connsiteY4" fmla="*/ 853563 h 2427032"/>
              <a:gd name="connsiteX5" fmla="*/ 181194 w 874631"/>
              <a:gd name="connsiteY5" fmla="*/ 958315 h 2427032"/>
              <a:gd name="connsiteX6" fmla="*/ 167434 w 874631"/>
              <a:gd name="connsiteY6" fmla="*/ 1897670 h 2427032"/>
              <a:gd name="connsiteX7" fmla="*/ 874566 w 874631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731"/>
              <a:gd name="connsiteY0" fmla="*/ 0 h 2427032"/>
              <a:gd name="connsiteX1" fmla="*/ 341255 w 874731"/>
              <a:gd name="connsiteY1" fmla="*/ 327691 h 2427032"/>
              <a:gd name="connsiteX2" fmla="*/ 120029 w 874731"/>
              <a:gd name="connsiteY2" fmla="*/ 660518 h 2427032"/>
              <a:gd name="connsiteX3" fmla="*/ 137608 w 874731"/>
              <a:gd name="connsiteY3" fmla="*/ 745122 h 2427032"/>
              <a:gd name="connsiteX4" fmla="*/ 466022 w 874731"/>
              <a:gd name="connsiteY4" fmla="*/ 853563 h 2427032"/>
              <a:gd name="connsiteX5" fmla="*/ 181194 w 874731"/>
              <a:gd name="connsiteY5" fmla="*/ 958315 h 2427032"/>
              <a:gd name="connsiteX6" fmla="*/ 344414 w 874731"/>
              <a:gd name="connsiteY6" fmla="*/ 1872387 h 2427032"/>
              <a:gd name="connsiteX7" fmla="*/ 874566 w 874731"/>
              <a:gd name="connsiteY7" fmla="*/ 2427032 h 2427032"/>
              <a:gd name="connsiteX0" fmla="*/ 0 w 466057"/>
              <a:gd name="connsiteY0" fmla="*/ 0 h 2189391"/>
              <a:gd name="connsiteX1" fmla="*/ 341255 w 466057"/>
              <a:gd name="connsiteY1" fmla="*/ 327691 h 2189391"/>
              <a:gd name="connsiteX2" fmla="*/ 120029 w 466057"/>
              <a:gd name="connsiteY2" fmla="*/ 660518 h 2189391"/>
              <a:gd name="connsiteX3" fmla="*/ 137608 w 466057"/>
              <a:gd name="connsiteY3" fmla="*/ 745122 h 2189391"/>
              <a:gd name="connsiteX4" fmla="*/ 466022 w 466057"/>
              <a:gd name="connsiteY4" fmla="*/ 853563 h 2189391"/>
              <a:gd name="connsiteX5" fmla="*/ 181194 w 466057"/>
              <a:gd name="connsiteY5" fmla="*/ 958315 h 2189391"/>
              <a:gd name="connsiteX6" fmla="*/ 344414 w 466057"/>
              <a:gd name="connsiteY6" fmla="*/ 1872387 h 2189391"/>
              <a:gd name="connsiteX7" fmla="*/ 1494 w 466057"/>
              <a:gd name="connsiteY7" fmla="*/ 2189391 h 2189391"/>
              <a:gd name="connsiteX0" fmla="*/ 0 w 466057"/>
              <a:gd name="connsiteY0" fmla="*/ 0 h 2189391"/>
              <a:gd name="connsiteX1" fmla="*/ 341255 w 466057"/>
              <a:gd name="connsiteY1" fmla="*/ 327691 h 2189391"/>
              <a:gd name="connsiteX2" fmla="*/ 120029 w 466057"/>
              <a:gd name="connsiteY2" fmla="*/ 660518 h 2189391"/>
              <a:gd name="connsiteX3" fmla="*/ 137608 w 466057"/>
              <a:gd name="connsiteY3" fmla="*/ 745122 h 2189391"/>
              <a:gd name="connsiteX4" fmla="*/ 466022 w 466057"/>
              <a:gd name="connsiteY4" fmla="*/ 853563 h 2189391"/>
              <a:gd name="connsiteX5" fmla="*/ 181194 w 466057"/>
              <a:gd name="connsiteY5" fmla="*/ 958315 h 2189391"/>
              <a:gd name="connsiteX6" fmla="*/ 344414 w 466057"/>
              <a:gd name="connsiteY6" fmla="*/ 1872387 h 2189391"/>
              <a:gd name="connsiteX7" fmla="*/ 1494 w 466057"/>
              <a:gd name="connsiteY7" fmla="*/ 2189391 h 2189391"/>
              <a:gd name="connsiteX8" fmla="*/ 0 w 466057"/>
              <a:gd name="connsiteY8" fmla="*/ 0 h 218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057" h="2189391">
                <a:moveTo>
                  <a:pt x="0" y="0"/>
                </a:moveTo>
                <a:cubicBezTo>
                  <a:pt x="196091" y="3456"/>
                  <a:pt x="338106" y="154397"/>
                  <a:pt x="341255" y="327691"/>
                </a:cubicBezTo>
                <a:cubicBezTo>
                  <a:pt x="344404" y="500985"/>
                  <a:pt x="239650" y="600076"/>
                  <a:pt x="120029" y="660518"/>
                </a:cubicBezTo>
                <a:cubicBezTo>
                  <a:pt x="126822" y="699891"/>
                  <a:pt x="127699" y="704521"/>
                  <a:pt x="137608" y="745122"/>
                </a:cubicBezTo>
                <a:cubicBezTo>
                  <a:pt x="240220" y="756226"/>
                  <a:pt x="462972" y="780106"/>
                  <a:pt x="466022" y="853563"/>
                </a:cubicBezTo>
                <a:cubicBezTo>
                  <a:pt x="469072" y="927020"/>
                  <a:pt x="275907" y="944423"/>
                  <a:pt x="181194" y="958315"/>
                </a:cubicBezTo>
                <a:cubicBezTo>
                  <a:pt x="212896" y="1149188"/>
                  <a:pt x="304701" y="1657098"/>
                  <a:pt x="344414" y="1872387"/>
                </a:cubicBezTo>
                <a:cubicBezTo>
                  <a:pt x="649598" y="1957048"/>
                  <a:pt x="8753" y="1936139"/>
                  <a:pt x="1494" y="218939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7" name="Freeform 56"/>
          <p:cNvSpPr/>
          <p:nvPr/>
        </p:nvSpPr>
        <p:spPr>
          <a:xfrm flipH="1">
            <a:off x="6660396" y="3429000"/>
            <a:ext cx="466057" cy="2189391"/>
          </a:xfrm>
          <a:custGeom>
            <a:avLst/>
            <a:gdLst>
              <a:gd name="connsiteX0" fmla="*/ 164850 w 550613"/>
              <a:gd name="connsiteY0" fmla="*/ 0 h 2486025"/>
              <a:gd name="connsiteX1" fmla="*/ 493463 w 550613"/>
              <a:gd name="connsiteY1" fmla="*/ 357187 h 2486025"/>
              <a:gd name="connsiteX2" fmla="*/ 36263 w 550613"/>
              <a:gd name="connsiteY2" fmla="*/ 685800 h 2486025"/>
              <a:gd name="connsiteX3" fmla="*/ 79125 w 550613"/>
              <a:gd name="connsiteY3" fmla="*/ 871537 h 2486025"/>
              <a:gd name="connsiteX4" fmla="*/ 479175 w 550613"/>
              <a:gd name="connsiteY4" fmla="*/ 971550 h 2486025"/>
              <a:gd name="connsiteX5" fmla="*/ 164850 w 550613"/>
              <a:gd name="connsiteY5" fmla="*/ 1185862 h 2486025"/>
              <a:gd name="connsiteX6" fmla="*/ 264863 w 550613"/>
              <a:gd name="connsiteY6" fmla="*/ 1914525 h 2486025"/>
              <a:gd name="connsiteX7" fmla="*/ 550613 w 550613"/>
              <a:gd name="connsiteY7" fmla="*/ 2486025 h 2486025"/>
              <a:gd name="connsiteX0" fmla="*/ 97429 w 550613"/>
              <a:gd name="connsiteY0" fmla="*/ 0 h 2469170"/>
              <a:gd name="connsiteX1" fmla="*/ 493463 w 550613"/>
              <a:gd name="connsiteY1" fmla="*/ 340332 h 2469170"/>
              <a:gd name="connsiteX2" fmla="*/ 36263 w 550613"/>
              <a:gd name="connsiteY2" fmla="*/ 668945 h 2469170"/>
              <a:gd name="connsiteX3" fmla="*/ 79125 w 550613"/>
              <a:gd name="connsiteY3" fmla="*/ 854682 h 2469170"/>
              <a:gd name="connsiteX4" fmla="*/ 479175 w 550613"/>
              <a:gd name="connsiteY4" fmla="*/ 954695 h 2469170"/>
              <a:gd name="connsiteX5" fmla="*/ 164850 w 550613"/>
              <a:gd name="connsiteY5" fmla="*/ 1169007 h 2469170"/>
              <a:gd name="connsiteX6" fmla="*/ 264863 w 550613"/>
              <a:gd name="connsiteY6" fmla="*/ 1897670 h 2469170"/>
              <a:gd name="connsiteX7" fmla="*/ 550613 w 550613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28053 w 481237"/>
              <a:gd name="connsiteY0" fmla="*/ 0 h 2469170"/>
              <a:gd name="connsiteX1" fmla="*/ 424087 w 481237"/>
              <a:gd name="connsiteY1" fmla="*/ 340332 h 2469170"/>
              <a:gd name="connsiteX2" fmla="*/ 148082 w 481237"/>
              <a:gd name="connsiteY2" fmla="*/ 660518 h 2469170"/>
              <a:gd name="connsiteX3" fmla="*/ 9749 w 481237"/>
              <a:gd name="connsiteY3" fmla="*/ 854682 h 2469170"/>
              <a:gd name="connsiteX4" fmla="*/ 409799 w 481237"/>
              <a:gd name="connsiteY4" fmla="*/ 954695 h 2469170"/>
              <a:gd name="connsiteX5" fmla="*/ 95474 w 481237"/>
              <a:gd name="connsiteY5" fmla="*/ 1169007 h 2469170"/>
              <a:gd name="connsiteX6" fmla="*/ 195487 w 481237"/>
              <a:gd name="connsiteY6" fmla="*/ 1897670 h 2469170"/>
              <a:gd name="connsiteX7" fmla="*/ 481237 w 481237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96034 w 453184"/>
              <a:gd name="connsiteY1" fmla="*/ 340332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19263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67421 w 453184"/>
              <a:gd name="connsiteY5" fmla="*/ 1169007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53184"/>
              <a:gd name="connsiteY0" fmla="*/ 0 h 2469170"/>
              <a:gd name="connsiteX1" fmla="*/ 341255 w 453184"/>
              <a:gd name="connsiteY1" fmla="*/ 327691 h 2469170"/>
              <a:gd name="connsiteX2" fmla="*/ 120029 w 453184"/>
              <a:gd name="connsiteY2" fmla="*/ 660518 h 2469170"/>
              <a:gd name="connsiteX3" fmla="*/ 137608 w 453184"/>
              <a:gd name="connsiteY3" fmla="*/ 745122 h 2469170"/>
              <a:gd name="connsiteX4" fmla="*/ 381746 w 453184"/>
              <a:gd name="connsiteY4" fmla="*/ 954695 h 2469170"/>
              <a:gd name="connsiteX5" fmla="*/ 181194 w 453184"/>
              <a:gd name="connsiteY5" fmla="*/ 958315 h 2469170"/>
              <a:gd name="connsiteX6" fmla="*/ 167434 w 453184"/>
              <a:gd name="connsiteY6" fmla="*/ 1897670 h 2469170"/>
              <a:gd name="connsiteX7" fmla="*/ 453184 w 453184"/>
              <a:gd name="connsiteY7" fmla="*/ 2469170 h 2469170"/>
              <a:gd name="connsiteX0" fmla="*/ 0 w 466173"/>
              <a:gd name="connsiteY0" fmla="*/ 0 h 2469170"/>
              <a:gd name="connsiteX1" fmla="*/ 341255 w 466173"/>
              <a:gd name="connsiteY1" fmla="*/ 327691 h 2469170"/>
              <a:gd name="connsiteX2" fmla="*/ 120029 w 466173"/>
              <a:gd name="connsiteY2" fmla="*/ 660518 h 2469170"/>
              <a:gd name="connsiteX3" fmla="*/ 137608 w 466173"/>
              <a:gd name="connsiteY3" fmla="*/ 745122 h 2469170"/>
              <a:gd name="connsiteX4" fmla="*/ 466022 w 466173"/>
              <a:gd name="connsiteY4" fmla="*/ 853563 h 2469170"/>
              <a:gd name="connsiteX5" fmla="*/ 181194 w 466173"/>
              <a:gd name="connsiteY5" fmla="*/ 958315 h 2469170"/>
              <a:gd name="connsiteX6" fmla="*/ 167434 w 466173"/>
              <a:gd name="connsiteY6" fmla="*/ 1897670 h 2469170"/>
              <a:gd name="connsiteX7" fmla="*/ 453184 w 466173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217"/>
              <a:gd name="connsiteY0" fmla="*/ 0 h 2469170"/>
              <a:gd name="connsiteX1" fmla="*/ 341255 w 466217"/>
              <a:gd name="connsiteY1" fmla="*/ 327691 h 2469170"/>
              <a:gd name="connsiteX2" fmla="*/ 120029 w 466217"/>
              <a:gd name="connsiteY2" fmla="*/ 660518 h 2469170"/>
              <a:gd name="connsiteX3" fmla="*/ 137608 w 466217"/>
              <a:gd name="connsiteY3" fmla="*/ 745122 h 2469170"/>
              <a:gd name="connsiteX4" fmla="*/ 466022 w 466217"/>
              <a:gd name="connsiteY4" fmla="*/ 853563 h 2469170"/>
              <a:gd name="connsiteX5" fmla="*/ 181194 w 466217"/>
              <a:gd name="connsiteY5" fmla="*/ 958315 h 2469170"/>
              <a:gd name="connsiteX6" fmla="*/ 167434 w 466217"/>
              <a:gd name="connsiteY6" fmla="*/ 1897670 h 2469170"/>
              <a:gd name="connsiteX7" fmla="*/ 453184 w 466217"/>
              <a:gd name="connsiteY7" fmla="*/ 2469170 h 2469170"/>
              <a:gd name="connsiteX0" fmla="*/ 0 w 466057"/>
              <a:gd name="connsiteY0" fmla="*/ 0 h 2469170"/>
              <a:gd name="connsiteX1" fmla="*/ 341255 w 466057"/>
              <a:gd name="connsiteY1" fmla="*/ 327691 h 2469170"/>
              <a:gd name="connsiteX2" fmla="*/ 120029 w 466057"/>
              <a:gd name="connsiteY2" fmla="*/ 660518 h 2469170"/>
              <a:gd name="connsiteX3" fmla="*/ 137608 w 466057"/>
              <a:gd name="connsiteY3" fmla="*/ 745122 h 2469170"/>
              <a:gd name="connsiteX4" fmla="*/ 466022 w 466057"/>
              <a:gd name="connsiteY4" fmla="*/ 853563 h 2469170"/>
              <a:gd name="connsiteX5" fmla="*/ 181194 w 466057"/>
              <a:gd name="connsiteY5" fmla="*/ 958315 h 2469170"/>
              <a:gd name="connsiteX6" fmla="*/ 167434 w 466057"/>
              <a:gd name="connsiteY6" fmla="*/ 1897670 h 2469170"/>
              <a:gd name="connsiteX7" fmla="*/ 453184 w 466057"/>
              <a:gd name="connsiteY7" fmla="*/ 2469170 h 2469170"/>
              <a:gd name="connsiteX0" fmla="*/ 0 w 874566"/>
              <a:gd name="connsiteY0" fmla="*/ 0 h 2427032"/>
              <a:gd name="connsiteX1" fmla="*/ 341255 w 874566"/>
              <a:gd name="connsiteY1" fmla="*/ 327691 h 2427032"/>
              <a:gd name="connsiteX2" fmla="*/ 120029 w 874566"/>
              <a:gd name="connsiteY2" fmla="*/ 660518 h 2427032"/>
              <a:gd name="connsiteX3" fmla="*/ 137608 w 874566"/>
              <a:gd name="connsiteY3" fmla="*/ 745122 h 2427032"/>
              <a:gd name="connsiteX4" fmla="*/ 466022 w 874566"/>
              <a:gd name="connsiteY4" fmla="*/ 853563 h 2427032"/>
              <a:gd name="connsiteX5" fmla="*/ 181194 w 874566"/>
              <a:gd name="connsiteY5" fmla="*/ 958315 h 2427032"/>
              <a:gd name="connsiteX6" fmla="*/ 167434 w 874566"/>
              <a:gd name="connsiteY6" fmla="*/ 1897670 h 2427032"/>
              <a:gd name="connsiteX7" fmla="*/ 874566 w 874566"/>
              <a:gd name="connsiteY7" fmla="*/ 2427032 h 2427032"/>
              <a:gd name="connsiteX0" fmla="*/ 0 w 874631"/>
              <a:gd name="connsiteY0" fmla="*/ 0 h 2427032"/>
              <a:gd name="connsiteX1" fmla="*/ 341255 w 874631"/>
              <a:gd name="connsiteY1" fmla="*/ 327691 h 2427032"/>
              <a:gd name="connsiteX2" fmla="*/ 120029 w 874631"/>
              <a:gd name="connsiteY2" fmla="*/ 660518 h 2427032"/>
              <a:gd name="connsiteX3" fmla="*/ 137608 w 874631"/>
              <a:gd name="connsiteY3" fmla="*/ 745122 h 2427032"/>
              <a:gd name="connsiteX4" fmla="*/ 466022 w 874631"/>
              <a:gd name="connsiteY4" fmla="*/ 853563 h 2427032"/>
              <a:gd name="connsiteX5" fmla="*/ 181194 w 874631"/>
              <a:gd name="connsiteY5" fmla="*/ 958315 h 2427032"/>
              <a:gd name="connsiteX6" fmla="*/ 167434 w 874631"/>
              <a:gd name="connsiteY6" fmla="*/ 1897670 h 2427032"/>
              <a:gd name="connsiteX7" fmla="*/ 874566 w 874631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658"/>
              <a:gd name="connsiteY0" fmla="*/ 0 h 2427032"/>
              <a:gd name="connsiteX1" fmla="*/ 341255 w 874658"/>
              <a:gd name="connsiteY1" fmla="*/ 327691 h 2427032"/>
              <a:gd name="connsiteX2" fmla="*/ 120029 w 874658"/>
              <a:gd name="connsiteY2" fmla="*/ 660518 h 2427032"/>
              <a:gd name="connsiteX3" fmla="*/ 137608 w 874658"/>
              <a:gd name="connsiteY3" fmla="*/ 745122 h 2427032"/>
              <a:gd name="connsiteX4" fmla="*/ 466022 w 874658"/>
              <a:gd name="connsiteY4" fmla="*/ 853563 h 2427032"/>
              <a:gd name="connsiteX5" fmla="*/ 181194 w 874658"/>
              <a:gd name="connsiteY5" fmla="*/ 958315 h 2427032"/>
              <a:gd name="connsiteX6" fmla="*/ 344414 w 874658"/>
              <a:gd name="connsiteY6" fmla="*/ 1872387 h 2427032"/>
              <a:gd name="connsiteX7" fmla="*/ 874566 w 874658"/>
              <a:gd name="connsiteY7" fmla="*/ 2427032 h 2427032"/>
              <a:gd name="connsiteX0" fmla="*/ 0 w 874731"/>
              <a:gd name="connsiteY0" fmla="*/ 0 h 2427032"/>
              <a:gd name="connsiteX1" fmla="*/ 341255 w 874731"/>
              <a:gd name="connsiteY1" fmla="*/ 327691 h 2427032"/>
              <a:gd name="connsiteX2" fmla="*/ 120029 w 874731"/>
              <a:gd name="connsiteY2" fmla="*/ 660518 h 2427032"/>
              <a:gd name="connsiteX3" fmla="*/ 137608 w 874731"/>
              <a:gd name="connsiteY3" fmla="*/ 745122 h 2427032"/>
              <a:gd name="connsiteX4" fmla="*/ 466022 w 874731"/>
              <a:gd name="connsiteY4" fmla="*/ 853563 h 2427032"/>
              <a:gd name="connsiteX5" fmla="*/ 181194 w 874731"/>
              <a:gd name="connsiteY5" fmla="*/ 958315 h 2427032"/>
              <a:gd name="connsiteX6" fmla="*/ 344414 w 874731"/>
              <a:gd name="connsiteY6" fmla="*/ 1872387 h 2427032"/>
              <a:gd name="connsiteX7" fmla="*/ 874566 w 874731"/>
              <a:gd name="connsiteY7" fmla="*/ 2427032 h 2427032"/>
              <a:gd name="connsiteX0" fmla="*/ 0 w 466057"/>
              <a:gd name="connsiteY0" fmla="*/ 0 h 2189391"/>
              <a:gd name="connsiteX1" fmla="*/ 341255 w 466057"/>
              <a:gd name="connsiteY1" fmla="*/ 327691 h 2189391"/>
              <a:gd name="connsiteX2" fmla="*/ 120029 w 466057"/>
              <a:gd name="connsiteY2" fmla="*/ 660518 h 2189391"/>
              <a:gd name="connsiteX3" fmla="*/ 137608 w 466057"/>
              <a:gd name="connsiteY3" fmla="*/ 745122 h 2189391"/>
              <a:gd name="connsiteX4" fmla="*/ 466022 w 466057"/>
              <a:gd name="connsiteY4" fmla="*/ 853563 h 2189391"/>
              <a:gd name="connsiteX5" fmla="*/ 181194 w 466057"/>
              <a:gd name="connsiteY5" fmla="*/ 958315 h 2189391"/>
              <a:gd name="connsiteX6" fmla="*/ 344414 w 466057"/>
              <a:gd name="connsiteY6" fmla="*/ 1872387 h 2189391"/>
              <a:gd name="connsiteX7" fmla="*/ 1494 w 466057"/>
              <a:gd name="connsiteY7" fmla="*/ 2189391 h 2189391"/>
              <a:gd name="connsiteX0" fmla="*/ 0 w 466057"/>
              <a:gd name="connsiteY0" fmla="*/ 0 h 2189391"/>
              <a:gd name="connsiteX1" fmla="*/ 341255 w 466057"/>
              <a:gd name="connsiteY1" fmla="*/ 327691 h 2189391"/>
              <a:gd name="connsiteX2" fmla="*/ 120029 w 466057"/>
              <a:gd name="connsiteY2" fmla="*/ 660518 h 2189391"/>
              <a:gd name="connsiteX3" fmla="*/ 137608 w 466057"/>
              <a:gd name="connsiteY3" fmla="*/ 745122 h 2189391"/>
              <a:gd name="connsiteX4" fmla="*/ 466022 w 466057"/>
              <a:gd name="connsiteY4" fmla="*/ 853563 h 2189391"/>
              <a:gd name="connsiteX5" fmla="*/ 181194 w 466057"/>
              <a:gd name="connsiteY5" fmla="*/ 958315 h 2189391"/>
              <a:gd name="connsiteX6" fmla="*/ 344414 w 466057"/>
              <a:gd name="connsiteY6" fmla="*/ 1872387 h 2189391"/>
              <a:gd name="connsiteX7" fmla="*/ 1494 w 466057"/>
              <a:gd name="connsiteY7" fmla="*/ 2189391 h 2189391"/>
              <a:gd name="connsiteX8" fmla="*/ 0 w 466057"/>
              <a:gd name="connsiteY8" fmla="*/ 0 h 218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057" h="2189391">
                <a:moveTo>
                  <a:pt x="0" y="0"/>
                </a:moveTo>
                <a:cubicBezTo>
                  <a:pt x="196091" y="3456"/>
                  <a:pt x="338106" y="154397"/>
                  <a:pt x="341255" y="327691"/>
                </a:cubicBezTo>
                <a:cubicBezTo>
                  <a:pt x="344404" y="500985"/>
                  <a:pt x="239650" y="600076"/>
                  <a:pt x="120029" y="660518"/>
                </a:cubicBezTo>
                <a:cubicBezTo>
                  <a:pt x="126822" y="699891"/>
                  <a:pt x="127699" y="704521"/>
                  <a:pt x="137608" y="745122"/>
                </a:cubicBezTo>
                <a:cubicBezTo>
                  <a:pt x="240220" y="756226"/>
                  <a:pt x="462972" y="780106"/>
                  <a:pt x="466022" y="853563"/>
                </a:cubicBezTo>
                <a:cubicBezTo>
                  <a:pt x="469072" y="927020"/>
                  <a:pt x="275907" y="944423"/>
                  <a:pt x="181194" y="958315"/>
                </a:cubicBezTo>
                <a:cubicBezTo>
                  <a:pt x="212896" y="1149188"/>
                  <a:pt x="304701" y="1657098"/>
                  <a:pt x="344414" y="1872387"/>
                </a:cubicBezTo>
                <a:cubicBezTo>
                  <a:pt x="649598" y="1957048"/>
                  <a:pt x="8753" y="1936139"/>
                  <a:pt x="1494" y="218939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7123835" y="5867400"/>
            <a:ext cx="15240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4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Плажна топка</a:t>
            </a:r>
          </a:p>
          <a:p>
            <a:pPr lvl="1"/>
            <a:r>
              <a:rPr lang="bg-BG" dirty="0"/>
              <a:t>Всеки фрагмент е един от 8-те квадранта</a:t>
            </a:r>
          </a:p>
          <a:p>
            <a:pPr lvl="1"/>
            <a:r>
              <a:rPr lang="bg-BG" dirty="0"/>
              <a:t>Ограничава се от 4 равнини – три координатни равнини и една равнина за капачката</a:t>
            </a:r>
          </a:p>
          <a:p>
            <a:pPr lvl="1"/>
            <a:r>
              <a:rPr lang="bg-BG" dirty="0"/>
              <a:t>Рисува се сфера 10 пъти с различни цветове и изрязвания</a:t>
            </a:r>
          </a:p>
          <a:p>
            <a:pPr lvl="1"/>
            <a:r>
              <a:rPr lang="bg-BG" dirty="0"/>
              <a:t>Тези 10 парчета се сглобяват в цяла топка</a:t>
            </a:r>
            <a:endParaRPr lang="bg-BG" sz="2400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1229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Звездата на Смъртта</a:t>
                </a:r>
              </a:p>
              <a:p>
                <a:pPr lvl="1"/>
                <a:r>
                  <a:rPr lang="bg-BG" dirty="0"/>
                  <a:t>Формата е чрез две сфери</a:t>
                </a:r>
                <a:r>
                  <a:rPr lang="en-US"/>
                  <a:t>,</a:t>
                </a:r>
                <a:r>
                  <a:rPr lang="bg-BG"/>
                  <a:t> </a:t>
                </a:r>
                <a:r>
                  <a:rPr lang="bg-BG" dirty="0"/>
                  <a:t>изрязани по равнината, която минава през сечението им</a:t>
                </a:r>
              </a:p>
              <a:p>
                <a:pPr lvl="1"/>
                <a:r>
                  <a:rPr lang="bg-BG" dirty="0"/>
                  <a:t>Вдлъбнатината трябва да е осветена отвътре, в </a:t>
                </a:r>
                <a:r>
                  <a:rPr lang="bg-BG" dirty="0" err="1"/>
                  <a:t>шейдъра</a:t>
                </a:r>
                <a:r>
                  <a:rPr lang="bg-BG" dirty="0"/>
                  <a:t> добавяме параметър за знака на нормалните вектори</a:t>
                </a:r>
                <a:br>
                  <a:rPr lang="en-US" dirty="0"/>
                </a:br>
                <a:endParaRPr lang="en-US" dirty="0"/>
              </a:p>
              <a:p>
                <a:pPr marL="365760" lvl="1" indent="0">
                  <a:buNone/>
                  <a:tabLst>
                    <a:tab pos="3314700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𝑂𝐴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𝑂𝐵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𝑂𝐵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𝑂𝐵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bg-BG" dirty="0"/>
              </a:p>
              <a:p>
                <a:pPr lvl="1"/>
                <a:endParaRPr lang="bg-BG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68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828800" y="5481637"/>
            <a:ext cx="27432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828800" y="3995737"/>
            <a:ext cx="0" cy="20955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/>
          <p:cNvSpPr txBox="1">
            <a:spLocks/>
          </p:cNvSpPr>
          <p:nvPr/>
        </p:nvSpPr>
        <p:spPr>
          <a:xfrm>
            <a:off x="1104900" y="4033837"/>
            <a:ext cx="6858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/>
            <a:r>
              <a:rPr lang="en-US" sz="1800" b="0" dirty="0"/>
              <a:t>z</a:t>
            </a:r>
            <a:endParaRPr lang="en-GB" sz="2400" b="0" dirty="0"/>
          </a:p>
        </p:txBody>
      </p:sp>
      <p:sp>
        <p:nvSpPr>
          <p:cNvPr id="8" name="Oval 7"/>
          <p:cNvSpPr/>
          <p:nvPr/>
        </p:nvSpPr>
        <p:spPr>
          <a:xfrm>
            <a:off x="919160" y="4567237"/>
            <a:ext cx="1833563" cy="1833563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9" name="Oval 8"/>
          <p:cNvSpPr/>
          <p:nvPr/>
        </p:nvSpPr>
        <p:spPr>
          <a:xfrm>
            <a:off x="2362200" y="4811469"/>
            <a:ext cx="1343024" cy="1343024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1940934" y="4908811"/>
            <a:ext cx="419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r>
              <a:rPr lang="en-US" sz="1800" b="0" dirty="0"/>
              <a:t>R</a:t>
            </a:r>
            <a:endParaRPr lang="en-GB" sz="2400" b="0" dirty="0"/>
          </a:p>
        </p:txBody>
      </p:sp>
      <p:sp>
        <p:nvSpPr>
          <p:cNvPr id="11" name="Freeform 10"/>
          <p:cNvSpPr/>
          <p:nvPr/>
        </p:nvSpPr>
        <p:spPr>
          <a:xfrm>
            <a:off x="1828799" y="4975592"/>
            <a:ext cx="1215293" cy="515815"/>
          </a:xfrm>
          <a:custGeom>
            <a:avLst/>
            <a:gdLst>
              <a:gd name="connsiteX0" fmla="*/ 636954 w 636954"/>
              <a:gd name="connsiteY0" fmla="*/ 254000 h 254000"/>
              <a:gd name="connsiteX1" fmla="*/ 289169 w 636954"/>
              <a:gd name="connsiteY1" fmla="*/ 0 h 254000"/>
              <a:gd name="connsiteX2" fmla="*/ 0 w 636954"/>
              <a:gd name="connsiteY2" fmla="*/ 160215 h 254000"/>
              <a:gd name="connsiteX0" fmla="*/ 425939 w 425939"/>
              <a:gd name="connsiteY0" fmla="*/ 1031631 h 1031631"/>
              <a:gd name="connsiteX1" fmla="*/ 289169 w 425939"/>
              <a:gd name="connsiteY1" fmla="*/ 0 h 1031631"/>
              <a:gd name="connsiteX2" fmla="*/ 0 w 425939"/>
              <a:gd name="connsiteY2" fmla="*/ 160215 h 1031631"/>
              <a:gd name="connsiteX0" fmla="*/ 1215293 w 1215293"/>
              <a:gd name="connsiteY0" fmla="*/ 1031631 h 1035538"/>
              <a:gd name="connsiteX1" fmla="*/ 1078523 w 1215293"/>
              <a:gd name="connsiteY1" fmla="*/ 0 h 1035538"/>
              <a:gd name="connsiteX2" fmla="*/ 0 w 1215293"/>
              <a:gd name="connsiteY2" fmla="*/ 1035538 h 1035538"/>
              <a:gd name="connsiteX0" fmla="*/ 1215293 w 1215293"/>
              <a:gd name="connsiteY0" fmla="*/ 511908 h 515815"/>
              <a:gd name="connsiteX1" fmla="*/ 769815 w 1215293"/>
              <a:gd name="connsiteY1" fmla="*/ 0 h 515815"/>
              <a:gd name="connsiteX2" fmla="*/ 0 w 1215293"/>
              <a:gd name="connsiteY2" fmla="*/ 515815 h 51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5293" h="515815">
                <a:moveTo>
                  <a:pt x="1215293" y="511908"/>
                </a:moveTo>
                <a:lnTo>
                  <a:pt x="769815" y="0"/>
                </a:lnTo>
                <a:lnTo>
                  <a:pt x="0" y="515815"/>
                </a:lnTo>
              </a:path>
            </a:pathLst>
          </a:custGeom>
          <a:ln w="28575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 Placeholder 2"/>
          <p:cNvSpPr txBox="1">
            <a:spLocks/>
          </p:cNvSpPr>
          <p:nvPr/>
        </p:nvSpPr>
        <p:spPr>
          <a:xfrm>
            <a:off x="1485900" y="5481637"/>
            <a:ext cx="419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r>
              <a:rPr lang="en-US" sz="1800" b="0" dirty="0"/>
              <a:t>O</a:t>
            </a:r>
            <a:endParaRPr lang="en-GB" sz="2400" b="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590800" y="3657600"/>
            <a:ext cx="0" cy="274320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57512" y="5407818"/>
            <a:ext cx="152400" cy="15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15" name="Oval 14"/>
          <p:cNvSpPr/>
          <p:nvPr/>
        </p:nvSpPr>
        <p:spPr>
          <a:xfrm>
            <a:off x="1752599" y="5407818"/>
            <a:ext cx="152400" cy="15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16" name="Oval 15"/>
          <p:cNvSpPr/>
          <p:nvPr/>
        </p:nvSpPr>
        <p:spPr>
          <a:xfrm>
            <a:off x="2514600" y="5415207"/>
            <a:ext cx="152400" cy="15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17" name="Text Placeholder 2"/>
          <p:cNvSpPr txBox="1">
            <a:spLocks/>
          </p:cNvSpPr>
          <p:nvPr/>
        </p:nvSpPr>
        <p:spPr>
          <a:xfrm>
            <a:off x="2716332" y="4908811"/>
            <a:ext cx="419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r>
              <a:rPr lang="en-US" sz="1800" b="0" dirty="0"/>
              <a:t>r</a:t>
            </a:r>
            <a:endParaRPr lang="en-GB" sz="2400" b="0" dirty="0"/>
          </a:p>
        </p:txBody>
      </p:sp>
      <p:sp>
        <p:nvSpPr>
          <p:cNvPr id="18" name="Text Placeholder 2"/>
          <p:cNvSpPr txBox="1">
            <a:spLocks/>
          </p:cNvSpPr>
          <p:nvPr/>
        </p:nvSpPr>
        <p:spPr>
          <a:xfrm>
            <a:off x="2386012" y="5524501"/>
            <a:ext cx="419100" cy="38100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r>
              <a:rPr lang="en-US" sz="1800" b="0" dirty="0"/>
              <a:t>A</a:t>
            </a:r>
            <a:endParaRPr lang="en-GB" sz="2400" b="0" dirty="0"/>
          </a:p>
        </p:txBody>
      </p:sp>
      <p:sp>
        <p:nvSpPr>
          <p:cNvPr id="19" name="Text Placeholder 2"/>
          <p:cNvSpPr txBox="1">
            <a:spLocks/>
          </p:cNvSpPr>
          <p:nvPr/>
        </p:nvSpPr>
        <p:spPr>
          <a:xfrm>
            <a:off x="2852738" y="5519983"/>
            <a:ext cx="419100" cy="38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r>
              <a:rPr lang="en-US" sz="1800" b="0" dirty="0"/>
              <a:t>B</a:t>
            </a:r>
            <a:endParaRPr lang="en-GB" sz="2400" b="0" dirty="0"/>
          </a:p>
        </p:txBody>
      </p:sp>
      <p:sp>
        <p:nvSpPr>
          <p:cNvPr id="22" name="Text Placeholder 2"/>
          <p:cNvSpPr txBox="1">
            <a:spLocks/>
          </p:cNvSpPr>
          <p:nvPr/>
        </p:nvSpPr>
        <p:spPr>
          <a:xfrm rot="5400000">
            <a:off x="1405776" y="4133010"/>
            <a:ext cx="2081214" cy="930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6">
                  <a:lumMod val="50000"/>
                </a:schemeClr>
              </a:buClr>
              <a:buSzPct val="100000"/>
              <a:buFont typeface="Times New Roman" panose="02020603050405020304" pitchFamily="18" charset="0"/>
              <a:buChar char="●"/>
              <a:defRPr lang="en-US" sz="2000" kern="12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Tx/>
              <a:buNone/>
              <a:defRPr lang="en-US" sz="18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896112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600" kern="120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1400" kern="1200" baseline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10000"/>
              </a:lnSpc>
            </a:pPr>
            <a:r>
              <a:rPr lang="bg-BG" sz="1600" b="0" dirty="0"/>
              <a:t>Изрязваща равнина</a:t>
            </a:r>
            <a:endParaRPr lang="en-GB" sz="2000" b="0" dirty="0"/>
          </a:p>
        </p:txBody>
      </p:sp>
    </p:spTree>
    <p:extLst>
      <p:ext uri="{BB962C8B-B14F-4D97-AF65-F5344CB8AC3E}">
        <p14:creationId xmlns:p14="http://schemas.microsoft.com/office/powerpoint/2010/main" val="3140663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Фосил на </a:t>
            </a:r>
            <a:r>
              <a:rPr lang="bg-BG" dirty="0" err="1"/>
              <a:t>склерактиния</a:t>
            </a:r>
            <a:endParaRPr lang="bg-BG" dirty="0"/>
          </a:p>
          <a:p>
            <a:pPr lvl="1"/>
            <a:r>
              <a:rPr lang="bg-BG" dirty="0"/>
              <a:t>Създаването може да се демонстрира по обратния път</a:t>
            </a:r>
          </a:p>
          <a:p>
            <a:pPr lvl="1"/>
            <a:r>
              <a:rPr lang="bg-BG" dirty="0"/>
              <a:t>Вляво – примерно изображение на фосила</a:t>
            </a:r>
          </a:p>
          <a:p>
            <a:pPr lvl="1"/>
            <a:r>
              <a:rPr lang="bg-BG" dirty="0"/>
              <a:t>В средата – след премахване на случайни издатини</a:t>
            </a:r>
          </a:p>
          <a:p>
            <a:pPr lvl="1"/>
            <a:r>
              <a:rPr lang="bg-BG" dirty="0"/>
              <a:t>Вдясно – без случайни отклонения в нормалните вектори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9576" y="3657600"/>
            <a:ext cx="2724150" cy="264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00401" y="3657600"/>
            <a:ext cx="2724150" cy="264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91226" y="3657600"/>
            <a:ext cx="2724150" cy="264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18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Отворите</a:t>
            </a:r>
          </a:p>
          <a:p>
            <a:pPr lvl="1"/>
            <a:r>
              <a:rPr lang="bg-BG" dirty="0"/>
              <a:t>Моделът е от две сфери, едната е с отвори</a:t>
            </a:r>
          </a:p>
          <a:p>
            <a:pPr lvl="1"/>
            <a:r>
              <a:rPr lang="bg-BG" dirty="0"/>
              <a:t>Отворите са 12, равномерно разположени</a:t>
            </a:r>
          </a:p>
          <a:p>
            <a:pPr lvl="1"/>
            <a:r>
              <a:rPr lang="bg-BG" dirty="0"/>
              <a:t>Посоките на отворите са векторите към върховете на </a:t>
            </a:r>
            <a:r>
              <a:rPr lang="bg-BG" dirty="0" err="1"/>
              <a:t>икосаедър</a:t>
            </a:r>
            <a:endParaRPr lang="bg-BG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71600" y="3657600"/>
            <a:ext cx="2724150" cy="264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18990" y="3519488"/>
            <a:ext cx="2743200" cy="2827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2896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6814</TotalTime>
  <Words>426</Words>
  <Application>Microsoft Office PowerPoint</Application>
  <PresentationFormat>On-screen Show (4:3)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Century Gothic</vt:lpstr>
      <vt:lpstr>Times New Roman</vt:lpstr>
      <vt:lpstr>Wingdings 2</vt:lpstr>
      <vt:lpstr>Austin</vt:lpstr>
      <vt:lpstr>Обекти</vt:lpstr>
      <vt:lpstr>PowerPoint Presentation</vt:lpstr>
      <vt:lpstr>Решение №1</vt:lpstr>
      <vt:lpstr>PowerPoint Presentation</vt:lpstr>
      <vt:lpstr>Решение №2</vt:lpstr>
      <vt:lpstr>Решение №3</vt:lpstr>
      <vt:lpstr>Решение №4</vt:lpstr>
      <vt:lpstr>Решение №5</vt:lpstr>
      <vt:lpstr>PowerPoint Presentation</vt:lpstr>
      <vt:lpstr>Решение №6</vt:lpstr>
      <vt:lpstr>Задача №7</vt:lpstr>
      <vt:lpstr>Задача №8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WebGL-Solutions-06</dc:title>
  <dc:creator>Pavel Boytchev</dc:creator>
  <cp:lastModifiedBy>Pavel Boytchev</cp:lastModifiedBy>
  <cp:revision>504</cp:revision>
  <dcterms:created xsi:type="dcterms:W3CDTF">2013-12-13T09:03:57Z</dcterms:created>
  <dcterms:modified xsi:type="dcterms:W3CDTF">2021-10-13T11:11:55Z</dcterms:modified>
</cp:coreProperties>
</file>