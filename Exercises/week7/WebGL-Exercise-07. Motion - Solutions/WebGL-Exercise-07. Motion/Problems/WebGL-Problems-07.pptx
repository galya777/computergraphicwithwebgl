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2" r:id="rId1"/>
  </p:sldMasterIdLst>
  <p:notesMasterIdLst>
    <p:notesMasterId r:id="rId24"/>
  </p:notesMasterIdLst>
  <p:sldIdLst>
    <p:sldId id="256" r:id="rId2"/>
    <p:sldId id="295" r:id="rId3"/>
    <p:sldId id="297" r:id="rId4"/>
    <p:sldId id="302" r:id="rId5"/>
    <p:sldId id="303" r:id="rId6"/>
    <p:sldId id="304" r:id="rId7"/>
    <p:sldId id="305" r:id="rId8"/>
    <p:sldId id="306" r:id="rId9"/>
    <p:sldId id="307" r:id="rId10"/>
    <p:sldId id="308" r:id="rId11"/>
    <p:sldId id="309" r:id="rId12"/>
    <p:sldId id="310" r:id="rId13"/>
    <p:sldId id="311" r:id="rId14"/>
    <p:sldId id="312" r:id="rId15"/>
    <p:sldId id="313" r:id="rId16"/>
    <p:sldId id="314" r:id="rId17"/>
    <p:sldId id="315" r:id="rId18"/>
    <p:sldId id="316" r:id="rId19"/>
    <p:sldId id="317" r:id="rId20"/>
    <p:sldId id="318" r:id="rId21"/>
    <p:sldId id="319" r:id="rId22"/>
    <p:sldId id="290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A1BD63"/>
    <a:srgbClr val="336600"/>
    <a:srgbClr val="BBD979"/>
    <a:srgbClr val="003300"/>
    <a:srgbClr val="339933"/>
    <a:srgbClr val="CAF2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43" autoAdjust="0"/>
    <p:restoredTop sz="94660" autoAdjust="0"/>
  </p:normalViewPr>
  <p:slideViewPr>
    <p:cSldViewPr>
      <p:cViewPr varScale="1">
        <p:scale>
          <a:sx n="84" d="100"/>
          <a:sy n="84" d="100"/>
        </p:scale>
        <p:origin x="1368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00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ния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B9ED2C-851F-4193-8C04-09F342F60FD1}" type="datetimeFigureOut">
              <a:rPr lang="bg-BG" smtClean="0"/>
              <a:pPr/>
              <a:t>17.10.2021 г.</a:t>
            </a:fld>
            <a:endParaRPr lang="bg-BG"/>
          </a:p>
        </p:txBody>
      </p:sp>
      <p:sp>
        <p:nvSpPr>
          <p:cNvPr id="4" name="Контейнер за изображение на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Контейнер за бележ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F07EE-69FA-4824-B30A-1662B7D73DD1}" type="slidenum">
              <a:rPr lang="bg-BG" smtClean="0"/>
              <a:pPr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76274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>
              <a:defRPr sz="1200" b="1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pPr lvl="0"/>
            <a:fld id="{8B37D5FE-740C-46F5-801A-FA5477D9711F}" type="slidenum">
              <a:rPr lang="en-US" sz="1100" b="0" smtClean="0">
                <a:latin typeface="Arial" panose="020B0604020202020204" pitchFamily="34" charset="0"/>
                <a:cs typeface="Arial" panose="020B0604020202020204" pitchFamily="34" charset="0"/>
              </a:rPr>
              <a:pPr lvl="0"/>
              <a:t>‹#›</a:t>
            </a:fld>
            <a:endParaRPr lang="en-US" sz="11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57200" y="1371600"/>
            <a:ext cx="8610600" cy="5410200"/>
          </a:xfrm>
        </p:spPr>
        <p:txBody>
          <a:bodyPr/>
          <a:lstStyle>
            <a:lvl1pPr>
              <a:defRPr lang="en-US" sz="2800" b="1" kern="12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>
              <a:buClr>
                <a:schemeClr val="accent6">
                  <a:lumMod val="50000"/>
                </a:schemeClr>
              </a:buClr>
              <a:defRPr sz="200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marL="6858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2608949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57200" y="373680"/>
            <a:ext cx="8610600" cy="6408120"/>
          </a:xfrm>
        </p:spPr>
        <p:txBody>
          <a:bodyPr/>
          <a:lstStyle>
            <a:lvl1pPr>
              <a:defRPr lang="en-US" sz="2800" b="1" kern="12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>
              <a:buClr>
                <a:schemeClr val="accent6">
                  <a:lumMod val="50000"/>
                </a:schemeClr>
              </a:buClr>
              <a:defRPr sz="200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marL="6858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 lvl="0">
              <a:defRPr sz="1100" b="0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8B37D5FE-740C-46F5-801A-FA5477D9711F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817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 lvl="0">
              <a:defRPr sz="1100" b="0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8B37D5FE-740C-46F5-801A-FA5477D9711F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852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lvl1pPr>
              <a:defRPr lang="bg-BG" sz="1100" b="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B37D5FE-740C-46F5-801A-FA5477D9711F}" type="slidenum">
              <a:rPr lang="bg-BG" smtClean="0"/>
              <a:pPr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221396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Snip Single Corner Rectangle 4"/>
          <p:cNvSpPr/>
          <p:nvPr userDrawn="1"/>
        </p:nvSpPr>
        <p:spPr>
          <a:xfrm flipH="1" flipV="1">
            <a:off x="890084" y="2505929"/>
            <a:ext cx="7796716" cy="3704864"/>
          </a:xfrm>
          <a:prstGeom prst="snip1Rect">
            <a:avLst>
              <a:gd name="adj" fmla="val 10229"/>
            </a:avLst>
          </a:prstGeom>
          <a:solidFill>
            <a:srgbClr val="F5F5F5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033265" y="2665060"/>
            <a:ext cx="7501135" cy="208468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52388" indent="0">
              <a:buNone/>
              <a:defRPr lang="bg-BG" sz="4000" b="0" cap="none" baseline="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dirty="0"/>
              <a:t>Click to edit Master text styles</a:t>
            </a:r>
            <a:endParaRPr lang="bg-BG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32510" y="4749747"/>
            <a:ext cx="7501890" cy="1274011"/>
          </a:xfrm>
          <a:effectLst>
            <a:outerShdw blurRad="63500" algn="ctr" rotWithShape="0">
              <a:prstClr val="black">
                <a:alpha val="2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Tx/>
              <a:buNone/>
              <a:defRPr lang="en-US" sz="2800" b="0" cap="none" baseline="0" dirty="0">
                <a:solidFill>
                  <a:schemeClr val="accent6">
                    <a:lumMod val="50000"/>
                  </a:schemeClr>
                </a:solidFill>
                <a:effectLst>
                  <a:outerShdw blurRad="63500" algn="ctr" rotWithShape="0">
                    <a:schemeClr val="accent6">
                      <a:lumMod val="75000"/>
                      <a:alpha val="40000"/>
                    </a:schemeClr>
                  </a:outerShdw>
                </a:effectLst>
              </a:defRPr>
            </a:lvl1pPr>
          </a:lstStyle>
          <a:p>
            <a:pPr marL="0" lvl="0" indent="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</a:pPr>
            <a:r>
              <a:rPr lang="en-US" dirty="0"/>
              <a:t>Click to edit</a:t>
            </a:r>
            <a:r>
              <a:rPr lang="bg-BG" dirty="0"/>
              <a:t> </a:t>
            </a:r>
            <a:r>
              <a:rPr lang="en-US" dirty="0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44912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Snip Single Corner Rectangle 45"/>
          <p:cNvSpPr/>
          <p:nvPr/>
        </p:nvSpPr>
        <p:spPr>
          <a:xfrm flipH="1" flipV="1">
            <a:off x="1865551" y="-21511"/>
            <a:ext cx="6668849" cy="4885059"/>
          </a:xfrm>
          <a:prstGeom prst="snip1Rect">
            <a:avLst>
              <a:gd name="adj" fmla="val 7714"/>
            </a:avLst>
          </a:prstGeom>
          <a:solidFill>
            <a:srgbClr val="F5F5F5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200" y="1905000"/>
            <a:ext cx="6440634" cy="2209799"/>
          </a:xfrm>
        </p:spPr>
        <p:txBody>
          <a:bodyPr anchor="t">
            <a:noAutofit/>
          </a:bodyPr>
          <a:lstStyle>
            <a:lvl1pPr>
              <a:defRPr lang="en-US" sz="4400" b="0" kern="1200" dirty="0">
                <a:solidFill>
                  <a:schemeClr val="accent6">
                    <a:lumMod val="50000"/>
                  </a:schemeClr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</a:t>
            </a:r>
            <a:r>
              <a:rPr lang="bg-BG" dirty="0"/>
              <a:t> </a:t>
            </a:r>
            <a:r>
              <a:rPr lang="en-US" dirty="0"/>
              <a:t>Master title style</a:t>
            </a:r>
          </a:p>
        </p:txBody>
      </p:sp>
      <p:sp>
        <p:nvSpPr>
          <p:cNvPr id="72" name="Title 1"/>
          <p:cNvSpPr txBox="1">
            <a:spLocks/>
          </p:cNvSpPr>
          <p:nvPr userDrawn="1"/>
        </p:nvSpPr>
        <p:spPr>
          <a:xfrm>
            <a:off x="2193057" y="4478669"/>
            <a:ext cx="6228777" cy="321931"/>
          </a:xfrm>
          <a:prstGeom prst="rect">
            <a:avLst/>
          </a:prstGeom>
          <a:effectLst>
            <a:outerShdw blurRad="50800" algn="ctr" rotWithShape="0">
              <a:prstClr val="black">
                <a:alpha val="20000"/>
              </a:prstClr>
            </a:outerShdw>
          </a:effectLst>
        </p:spPr>
        <p:txBody>
          <a:bodyPr vert="horz" wrap="none" lIns="91440" tIns="45720" rIns="91440" bIns="45720" rtlCol="0">
            <a:noAutofit/>
          </a:bodyPr>
          <a:lstStyle>
            <a:lvl1pPr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000" b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63500" algn="ctr" rotWithShape="0">
                    <a:srgbClr val="003300">
                      <a:alpha val="50000"/>
                    </a:srgbClr>
                  </a:outerShdw>
                </a:effectLst>
                <a:ea typeface="+mj-ea"/>
                <a:cs typeface="Times New Roman"/>
              </a:defRPr>
            </a:lvl1pPr>
            <a:lvl2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2pPr>
            <a:lvl3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3pPr>
            <a:lvl4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4pPr>
            <a:lvl5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baseline="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5pPr>
            <a:lvl6pPr marL="1517904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6pPr>
            <a:lvl7pPr marL="1719072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7pPr>
            <a:lvl8pPr marL="192024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8pPr>
            <a:lvl9pPr marL="2121408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9pPr>
          </a:lstStyle>
          <a:p>
            <a:pPr algn="r"/>
            <a:r>
              <a:rPr lang="bg-BG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проф. П. Бойчев </a:t>
            </a:r>
            <a:r>
              <a:rPr lang="bg-BG" sz="2000" dirty="0">
                <a:ln>
                  <a:solidFill>
                    <a:schemeClr val="accent6">
                      <a:lumMod val="75000"/>
                    </a:schemeClr>
                  </a:solidFill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 КИТ </a:t>
            </a:r>
            <a:r>
              <a:rPr lang="bg-BG" sz="2000" dirty="0">
                <a:ln>
                  <a:solidFill>
                    <a:schemeClr val="accent6">
                      <a:lumMod val="75000"/>
                    </a:schemeClr>
                  </a:solidFill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 ФМИ </a:t>
            </a:r>
            <a:r>
              <a:rPr lang="bg-BG" sz="2000" dirty="0">
                <a:ln>
                  <a:solidFill>
                    <a:schemeClr val="accent6">
                      <a:lumMod val="75000"/>
                    </a:schemeClr>
                  </a:solidFill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 СУ </a:t>
            </a:r>
            <a:r>
              <a:rPr lang="bg-BG" sz="2000" dirty="0">
                <a:ln>
                  <a:solidFill>
                    <a:schemeClr val="accent6">
                      <a:lumMod val="75000"/>
                    </a:schemeClr>
                  </a:solidFill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20</a:t>
            </a:r>
            <a:r>
              <a:rPr lang="bg-BG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21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981200" y="1106795"/>
            <a:ext cx="6466241" cy="914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3600" b="0" smtClean="0">
                <a:ln>
                  <a:solidFill>
                    <a:schemeClr val="tx1"/>
                  </a:solidFill>
                </a:ln>
                <a:solidFill>
                  <a:srgbClr val="0033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  <a:lvl2pPr>
              <a:defRPr lang="en-US" sz="1800" smtClean="0">
                <a:solidFill>
                  <a:schemeClr val="tx2"/>
                </a:solidFill>
              </a:defRPr>
            </a:lvl2pPr>
            <a:lvl3pPr>
              <a:defRPr lang="en-US" sz="1800" smtClean="0">
                <a:solidFill>
                  <a:schemeClr val="tx2"/>
                </a:solidFill>
              </a:defRPr>
            </a:lvl3pPr>
            <a:lvl4pPr>
              <a:defRPr lang="en-US" smtClean="0">
                <a:solidFill>
                  <a:schemeClr val="tx2"/>
                </a:solidFill>
              </a:defRPr>
            </a:lvl4pPr>
            <a:lvl5pPr>
              <a:defRPr lang="bg-BG" sz="1800">
                <a:solidFill>
                  <a:schemeClr val="tx2"/>
                </a:solidFill>
              </a:defRPr>
            </a:lvl5pPr>
          </a:lstStyle>
          <a:p>
            <a:pPr marL="0" lvl="0">
              <a:spcBef>
                <a:spcPct val="0"/>
              </a:spcBef>
            </a:pPr>
            <a:r>
              <a:rPr lang="en-US" dirty="0"/>
              <a:t>Click to edit Master text styles</a:t>
            </a:r>
            <a:endParaRPr lang="bg-BG" dirty="0"/>
          </a:p>
        </p:txBody>
      </p:sp>
      <p:sp>
        <p:nvSpPr>
          <p:cNvPr id="74" name="Snip Single Corner Rectangle 73"/>
          <p:cNvSpPr/>
          <p:nvPr userDrawn="1"/>
        </p:nvSpPr>
        <p:spPr>
          <a:xfrm flipH="1" flipV="1">
            <a:off x="2302463" y="4900020"/>
            <a:ext cx="6231936" cy="89423"/>
          </a:xfrm>
          <a:prstGeom prst="snip1Rect">
            <a:avLst>
              <a:gd name="adj" fmla="val 50000"/>
            </a:avLst>
          </a:prstGeom>
          <a:solidFill>
            <a:srgbClr val="F5F5F5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/>
            </a:gs>
            <a:gs pos="62000">
              <a:schemeClr val="accent6">
                <a:lumMod val="75000"/>
              </a:schemeClr>
            </a:gs>
            <a:gs pos="100000">
              <a:schemeClr val="accent6">
                <a:lumMod val="5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810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Snip Diagonal Corner Rectangle 3"/>
          <p:cNvSpPr/>
          <p:nvPr userDrawn="1"/>
        </p:nvSpPr>
        <p:spPr>
          <a:xfrm>
            <a:off x="66260" y="72888"/>
            <a:ext cx="8993004" cy="6705600"/>
          </a:xfrm>
          <a:prstGeom prst="snip2DiagRect">
            <a:avLst>
              <a:gd name="adj1" fmla="val 0"/>
              <a:gd name="adj2" fmla="val 5797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7912" y="228600"/>
            <a:ext cx="8661288" cy="6487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500514" y="1371600"/>
            <a:ext cx="8505314" cy="53913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-6671" y="6492875"/>
            <a:ext cx="640379" cy="365125"/>
          </a:xfrm>
          <a:prstGeom prst="rect">
            <a:avLst/>
          </a:prstGeom>
        </p:spPr>
        <p:txBody>
          <a:bodyPr vert="horz" lIns="45720" tIns="91440" rIns="0" bIns="0" rtlCol="0" anchor="ctr"/>
          <a:lstStyle>
            <a:lvl1pPr algn="l">
              <a:defRPr lang="bg-BG" sz="1200" b="1" cap="none" spc="0" smtClean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fld id="{C2B91535-A786-4613-A807-A416A35B3377}" type="slidenum">
              <a:rPr lang="bg-BG" smtClean="0"/>
              <a:pPr/>
              <a:t>‹#›</a:t>
            </a:fld>
            <a:endParaRPr lang="bg-BG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2" r:id="rId4"/>
    <p:sldLayoutId id="2147483803" r:id="rId5"/>
    <p:sldLayoutId id="2147483793" r:id="rId6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lang="en-US" sz="4000" kern="1200" dirty="0">
          <a:solidFill>
            <a:srgbClr val="003300"/>
          </a:solidFill>
          <a:effectLst>
            <a:outerShdw blurRad="63500" algn="ctr" rotWithShape="0">
              <a:schemeClr val="accent3">
                <a:lumMod val="50000"/>
                <a:alpha val="40000"/>
              </a:scheme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6858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28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6">
            <a:lumMod val="50000"/>
          </a:schemeClr>
        </a:buClr>
        <a:buSzPct val="100000"/>
        <a:buFont typeface="Times New Roman" panose="02020603050405020304" pitchFamily="18" charset="0"/>
        <a:buChar char="●"/>
        <a:defRPr lang="en-US" sz="2400" kern="1200" dirty="0" smtClean="0">
          <a:solidFill>
            <a:schemeClr val="accent6">
              <a:lumMod val="50000"/>
            </a:schemeClr>
          </a:solidFill>
          <a:effectLst>
            <a:outerShdw blurRad="63500" algn="ctr" rotWithShape="0">
              <a:schemeClr val="accent6">
                <a:lumMod val="75000"/>
                <a:alpha val="40000"/>
              </a:schemeClr>
            </a:outerShdw>
          </a:effectLst>
          <a:latin typeface="+mn-lt"/>
          <a:ea typeface="+mn-ea"/>
          <a:cs typeface="+mn-cs"/>
        </a:defRPr>
      </a:lvl2pPr>
      <a:lvl3pPr marL="68580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Tx/>
        <a:buNone/>
        <a:defRPr lang="en-US" sz="20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3pPr>
      <a:lvl4pPr marL="896112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18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4pPr>
      <a:lvl5pPr marL="109728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1600" kern="1200" baseline="0" dirty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Problem%201%20-%20Jagged%20path" TargetMode="External"/><Relationship Id="rId2" Type="http://schemas.openxmlformats.org/officeDocument/2006/relationships/hyperlink" Target="../Solutions/Solution%201%20-%20Jagged%20path/Solution%200701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Problem%202%20-%20Walking%20on%20the%20edge" TargetMode="External"/><Relationship Id="rId2" Type="http://schemas.openxmlformats.org/officeDocument/2006/relationships/hyperlink" Target="../Solutions/Solution%202%20-%20Walking%20on%20the%20edge/Solution%200702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Problem%203%20-%20Tripple%20pendulum" TargetMode="External"/><Relationship Id="rId2" Type="http://schemas.openxmlformats.org/officeDocument/2006/relationships/hyperlink" Target="../Solutions/Solution%203%20-%20Tripple%20pendulum/Solution%200703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Problem%204%20-%20Flying%20cubes" TargetMode="External"/><Relationship Id="rId2" Type="http://schemas.openxmlformats.org/officeDocument/2006/relationships/hyperlink" Target="../Solutions/Solution%204%20-%20Flying%20cubes/Solution%200704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Problem%205%20-%20Minions%20in%20a%20room" TargetMode="External"/><Relationship Id="rId2" Type="http://schemas.openxmlformats.org/officeDocument/2006/relationships/hyperlink" Target="../Solutions/Solution%205%20-%20Minions%20in%20a%20room/Solution%200705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Problem%206%20-%20Earthworm" TargetMode="External"/><Relationship Id="rId2" Type="http://schemas.openxmlformats.org/officeDocument/2006/relationships/hyperlink" Target="../Solutions/Solution%206%20-%20Earthworm/Solution%200706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Problem%207%20-%20Faded%20bouncing" TargetMode="External"/><Relationship Id="rId2" Type="http://schemas.openxmlformats.org/officeDocument/2006/relationships/hyperlink" Target="../Solutions/Solution%207%20-%20Faded%20bouncing/Solution%200707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Problem%208%20-%20Vibrating%20zone" TargetMode="External"/><Relationship Id="rId2" Type="http://schemas.openxmlformats.org/officeDocument/2006/relationships/hyperlink" Target="../Solutions/Solution%208%20-%20Vibrating%20zone/Solution%200708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Problem%209%20-%20Analogue%20clock" TargetMode="External"/><Relationship Id="rId2" Type="http://schemas.openxmlformats.org/officeDocument/2006/relationships/hyperlink" Target="../Solutions/Solution%209%20-%20Analogue%20clock/Solution%200709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/>
              <a:t>Движение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Задачи към </a:t>
            </a:r>
            <a:r>
              <a:rPr lang="en-US" dirty="0"/>
              <a:t>S07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366791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Движение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49167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 №1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Нащърбена пътека</a:t>
            </a:r>
            <a:endParaRPr lang="en-US" dirty="0"/>
          </a:p>
          <a:p>
            <a:pPr lvl="1"/>
            <a:r>
              <a:rPr lang="bg-BG" dirty="0"/>
              <a:t>Зададена е затворена начупена линия</a:t>
            </a:r>
          </a:p>
          <a:p>
            <a:pPr lvl="1"/>
            <a:r>
              <a:rPr lang="bg-BG" dirty="0"/>
              <a:t>Върховете са </a:t>
            </a:r>
            <a:r>
              <a:rPr lang="en-US" b="1" dirty="0"/>
              <a:t>n</a:t>
            </a:r>
            <a:r>
              <a:rPr lang="bg-BG" dirty="0"/>
              <a:t> на брой</a:t>
            </a:r>
          </a:p>
          <a:p>
            <a:pPr lvl="1"/>
            <a:r>
              <a:rPr lang="bg-BG" dirty="0"/>
              <a:t>Всеки връх е сфера, запомнена като </a:t>
            </a:r>
            <a:r>
              <a:rPr lang="en-US" b="1" dirty="0"/>
              <a:t>p[</a:t>
            </a:r>
            <a:r>
              <a:rPr lang="en-US" b="1" dirty="0" err="1"/>
              <a:t>i</a:t>
            </a:r>
            <a:r>
              <a:rPr lang="en-US" b="1" dirty="0"/>
              <a:t>]</a:t>
            </a:r>
            <a:r>
              <a:rPr lang="bg-BG" b="1" dirty="0"/>
              <a:t> </a:t>
            </a:r>
            <a:r>
              <a:rPr lang="bg-BG" dirty="0"/>
              <a:t>за </a:t>
            </a:r>
            <a:r>
              <a:rPr lang="en-US" b="1" dirty="0" err="1"/>
              <a:t>i</a:t>
            </a:r>
            <a:r>
              <a:rPr lang="en-US" b="1" dirty="0"/>
              <a:t>=0..n-1</a:t>
            </a:r>
          </a:p>
          <a:p>
            <a:pPr lvl="1"/>
            <a:r>
              <a:rPr lang="bg-BG" dirty="0"/>
              <a:t>Бяло топче да се придвижва последователно по отсечките на начупената линия</a:t>
            </a:r>
          </a:p>
        </p:txBody>
      </p:sp>
    </p:spTree>
    <p:extLst>
      <p:ext uri="{BB962C8B-B14F-4D97-AF65-F5344CB8AC3E}">
        <p14:creationId xmlns:p14="http://schemas.microsoft.com/office/powerpoint/2010/main" val="881146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bg-BG" smtClean="0"/>
              <a:pPr/>
              <a:t>4</a:t>
            </a:fld>
            <a:endParaRPr lang="bg-BG" dirty="0"/>
          </a:p>
        </p:txBody>
      </p:sp>
      <p:sp>
        <p:nvSpPr>
          <p:cNvPr id="8" name="Rectangle 7">
            <a:hlinkClick r:id="rId2" action="ppaction://hlinkfile"/>
          </p:cNvPr>
          <p:cNvSpPr/>
          <p:nvPr/>
        </p:nvSpPr>
        <p:spPr>
          <a:xfrm>
            <a:off x="3048000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 err="1"/>
              <a:t>Демо</a:t>
            </a:r>
            <a:endParaRPr lang="en-US" sz="1600" dirty="0"/>
          </a:p>
        </p:txBody>
      </p:sp>
      <p:sp>
        <p:nvSpPr>
          <p:cNvPr id="9" name="Rectangle 8">
            <a:hlinkClick r:id="rId3" action="ppaction://hlinkfile"/>
          </p:cNvPr>
          <p:cNvSpPr/>
          <p:nvPr/>
        </p:nvSpPr>
        <p:spPr>
          <a:xfrm>
            <a:off x="4876801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3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525" y="457200"/>
            <a:ext cx="6076950" cy="543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44044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 №2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Ходене по ръба</a:t>
            </a:r>
            <a:endParaRPr lang="en-US" dirty="0"/>
          </a:p>
          <a:p>
            <a:pPr lvl="1"/>
            <a:r>
              <a:rPr lang="bg-BG" dirty="0"/>
              <a:t>Направете топче да се движи по ръбовете на куб</a:t>
            </a:r>
          </a:p>
          <a:p>
            <a:pPr lvl="1"/>
            <a:r>
              <a:rPr lang="bg-BG" dirty="0"/>
              <a:t>След като измине един ръб, тръгва по някой от другите два</a:t>
            </a:r>
          </a:p>
          <a:p>
            <a:pPr lvl="1"/>
            <a:r>
              <a:rPr lang="bg-BG" dirty="0"/>
              <a:t>Никога не се връща обратно по току-що изминат ръб</a:t>
            </a:r>
          </a:p>
          <a:p>
            <a:pPr lvl="1"/>
            <a:r>
              <a:rPr lang="bg-BG" dirty="0"/>
              <a:t>Управлението на движението и изборът на нова посока да се направи максимално опростено</a:t>
            </a:r>
          </a:p>
        </p:txBody>
      </p:sp>
    </p:spTree>
    <p:extLst>
      <p:ext uri="{BB962C8B-B14F-4D97-AF65-F5344CB8AC3E}">
        <p14:creationId xmlns:p14="http://schemas.microsoft.com/office/powerpoint/2010/main" val="3004714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bg-BG" smtClean="0"/>
              <a:pPr/>
              <a:t>6</a:t>
            </a:fld>
            <a:endParaRPr lang="bg-BG" dirty="0"/>
          </a:p>
        </p:txBody>
      </p:sp>
      <p:sp>
        <p:nvSpPr>
          <p:cNvPr id="8" name="Rectangle 7">
            <a:hlinkClick r:id="rId2" action="ppaction://hlinkfile"/>
          </p:cNvPr>
          <p:cNvSpPr/>
          <p:nvPr/>
        </p:nvSpPr>
        <p:spPr>
          <a:xfrm>
            <a:off x="3048000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 err="1"/>
              <a:t>Демо</a:t>
            </a:r>
            <a:endParaRPr lang="en-US" sz="1600" dirty="0"/>
          </a:p>
        </p:txBody>
      </p:sp>
      <p:sp>
        <p:nvSpPr>
          <p:cNvPr id="9" name="Rectangle 8">
            <a:hlinkClick r:id="rId3" action="ppaction://hlinkfile"/>
          </p:cNvPr>
          <p:cNvSpPr/>
          <p:nvPr/>
        </p:nvSpPr>
        <p:spPr>
          <a:xfrm>
            <a:off x="4876801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2050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525" y="457200"/>
            <a:ext cx="6076950" cy="543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61782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 №3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Тройно махало</a:t>
            </a:r>
            <a:endParaRPr lang="en-US" dirty="0"/>
          </a:p>
          <a:p>
            <a:pPr lvl="1"/>
            <a:r>
              <a:rPr lang="bg-BG" dirty="0"/>
              <a:t>Направете махало, което се люлее</a:t>
            </a:r>
          </a:p>
          <a:p>
            <a:pPr lvl="1"/>
            <a:r>
              <a:rPr lang="bg-BG" dirty="0"/>
              <a:t>В края му закачете по-малко люлеещо се махало</a:t>
            </a:r>
          </a:p>
          <a:p>
            <a:pPr lvl="1"/>
            <a:r>
              <a:rPr lang="bg-BG" dirty="0"/>
              <a:t>Към него закачете трето, още по-малко махало</a:t>
            </a:r>
          </a:p>
        </p:txBody>
      </p:sp>
    </p:spTree>
    <p:extLst>
      <p:ext uri="{BB962C8B-B14F-4D97-AF65-F5344CB8AC3E}">
        <p14:creationId xmlns:p14="http://schemas.microsoft.com/office/powerpoint/2010/main" val="2683164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bg-BG" smtClean="0"/>
              <a:pPr/>
              <a:t>8</a:t>
            </a:fld>
            <a:endParaRPr lang="bg-BG" dirty="0"/>
          </a:p>
        </p:txBody>
      </p:sp>
      <p:sp>
        <p:nvSpPr>
          <p:cNvPr id="8" name="Rectangle 7">
            <a:hlinkClick r:id="rId2" action="ppaction://hlinkfile"/>
          </p:cNvPr>
          <p:cNvSpPr/>
          <p:nvPr/>
        </p:nvSpPr>
        <p:spPr>
          <a:xfrm>
            <a:off x="3048000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 err="1"/>
              <a:t>Демо</a:t>
            </a:r>
            <a:endParaRPr lang="en-US" sz="1600" dirty="0"/>
          </a:p>
        </p:txBody>
      </p:sp>
      <p:sp>
        <p:nvSpPr>
          <p:cNvPr id="9" name="Rectangle 8">
            <a:hlinkClick r:id="rId3" action="ppaction://hlinkfile"/>
          </p:cNvPr>
          <p:cNvSpPr/>
          <p:nvPr/>
        </p:nvSpPr>
        <p:spPr>
          <a:xfrm>
            <a:off x="4876801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3074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525" y="457200"/>
            <a:ext cx="6076950" cy="543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2817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 №4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Летящи кубове</a:t>
            </a:r>
          </a:p>
          <a:p>
            <a:pPr lvl="1"/>
            <a:r>
              <a:rPr lang="bg-BG" dirty="0"/>
              <a:t>Направете ято от кубове, които летят по елипси</a:t>
            </a:r>
          </a:p>
          <a:p>
            <a:pPr lvl="1"/>
            <a:r>
              <a:rPr lang="bg-BG" dirty="0"/>
              <a:t>Елипсите са различни, но близки по размер</a:t>
            </a:r>
          </a:p>
          <a:p>
            <a:pPr lvl="1"/>
            <a:r>
              <a:rPr lang="bg-BG" dirty="0"/>
              <a:t>Има земя, по-която кубовете се плъзгат преди да литнат</a:t>
            </a:r>
          </a:p>
          <a:p>
            <a:pPr lvl="1"/>
            <a:endParaRPr lang="bg-BG" dirty="0"/>
          </a:p>
          <a:p>
            <a:r>
              <a:rPr lang="bg-BG" dirty="0"/>
              <a:t>Допълнително и незадължително условие</a:t>
            </a:r>
          </a:p>
          <a:p>
            <a:pPr lvl="1"/>
            <a:r>
              <a:rPr lang="bg-BG" dirty="0"/>
              <a:t>Земята да е покрита с плочки</a:t>
            </a:r>
          </a:p>
        </p:txBody>
      </p:sp>
    </p:spTree>
    <p:extLst>
      <p:ext uri="{BB962C8B-B14F-4D97-AF65-F5344CB8AC3E}">
        <p14:creationId xmlns:p14="http://schemas.microsoft.com/office/powerpoint/2010/main" val="2930799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bg-BG" smtClean="0"/>
              <a:pPr/>
              <a:t>10</a:t>
            </a:fld>
            <a:endParaRPr lang="bg-BG" dirty="0"/>
          </a:p>
        </p:txBody>
      </p:sp>
      <p:sp>
        <p:nvSpPr>
          <p:cNvPr id="8" name="Rectangle 7">
            <a:hlinkClick r:id="rId2" action="ppaction://hlinkfile"/>
          </p:cNvPr>
          <p:cNvSpPr/>
          <p:nvPr/>
        </p:nvSpPr>
        <p:spPr>
          <a:xfrm>
            <a:off x="3048000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 err="1"/>
              <a:t>Демо</a:t>
            </a:r>
            <a:endParaRPr lang="en-US" sz="1600" dirty="0"/>
          </a:p>
        </p:txBody>
      </p:sp>
      <p:sp>
        <p:nvSpPr>
          <p:cNvPr id="9" name="Rectangle 8">
            <a:hlinkClick r:id="rId3" action="ppaction://hlinkfile"/>
          </p:cNvPr>
          <p:cNvSpPr/>
          <p:nvPr/>
        </p:nvSpPr>
        <p:spPr>
          <a:xfrm>
            <a:off x="4876801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1026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525" y="457200"/>
            <a:ext cx="6076950" cy="543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3853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 №5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 err="1"/>
              <a:t>Миньони</a:t>
            </a:r>
            <a:r>
              <a:rPr lang="bg-BG" dirty="0"/>
              <a:t> в стая</a:t>
            </a:r>
          </a:p>
          <a:p>
            <a:pPr lvl="1"/>
            <a:r>
              <a:rPr lang="bg-BG" dirty="0"/>
              <a:t>Направете група </a:t>
            </a:r>
            <a:r>
              <a:rPr lang="bg-BG" dirty="0" err="1"/>
              <a:t>миньони</a:t>
            </a:r>
            <a:r>
              <a:rPr lang="bg-BG" dirty="0"/>
              <a:t> в стая</a:t>
            </a:r>
          </a:p>
          <a:p>
            <a:pPr lvl="1"/>
            <a:r>
              <a:rPr lang="bg-BG" dirty="0"/>
              <a:t>Всеки да се движи случайно</a:t>
            </a:r>
          </a:p>
          <a:p>
            <a:pPr lvl="1"/>
            <a:r>
              <a:rPr lang="bg-BG" dirty="0" err="1"/>
              <a:t>Миньоните</a:t>
            </a:r>
            <a:r>
              <a:rPr lang="bg-BG" dirty="0"/>
              <a:t> да не могат да излизат от графичния прозорец</a:t>
            </a:r>
          </a:p>
          <a:p>
            <a:pPr lvl="1"/>
            <a:r>
              <a:rPr lang="bg-BG" dirty="0" err="1"/>
              <a:t>Миньоните</a:t>
            </a:r>
            <a:r>
              <a:rPr lang="bg-BG" dirty="0"/>
              <a:t> да не преминават един през друг</a:t>
            </a:r>
          </a:p>
          <a:p>
            <a:pPr lvl="1"/>
            <a:endParaRPr lang="bg-BG" dirty="0"/>
          </a:p>
          <a:p>
            <a:r>
              <a:rPr lang="bg-BG" dirty="0"/>
              <a:t>Улеснение</a:t>
            </a:r>
          </a:p>
          <a:p>
            <a:pPr lvl="1"/>
            <a:r>
              <a:rPr lang="bg-BG" dirty="0"/>
              <a:t>Сцената да се рисува погледната отгоре</a:t>
            </a:r>
          </a:p>
        </p:txBody>
      </p:sp>
    </p:spTree>
    <p:extLst>
      <p:ext uri="{BB962C8B-B14F-4D97-AF65-F5344CB8AC3E}">
        <p14:creationId xmlns:p14="http://schemas.microsoft.com/office/powerpoint/2010/main" val="1740596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bg-BG" smtClean="0"/>
              <a:pPr/>
              <a:t>12</a:t>
            </a:fld>
            <a:endParaRPr lang="bg-BG" dirty="0"/>
          </a:p>
        </p:txBody>
      </p:sp>
      <p:sp>
        <p:nvSpPr>
          <p:cNvPr id="8" name="Rectangle 7">
            <a:hlinkClick r:id="rId2" action="ppaction://hlinkfile"/>
          </p:cNvPr>
          <p:cNvSpPr/>
          <p:nvPr/>
        </p:nvSpPr>
        <p:spPr>
          <a:xfrm>
            <a:off x="3048000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 err="1"/>
              <a:t>Демо</a:t>
            </a:r>
            <a:endParaRPr lang="en-US" sz="1600" dirty="0"/>
          </a:p>
        </p:txBody>
      </p:sp>
      <p:sp>
        <p:nvSpPr>
          <p:cNvPr id="9" name="Rectangle 8">
            <a:hlinkClick r:id="rId3" action="ppaction://hlinkfile"/>
          </p:cNvPr>
          <p:cNvSpPr/>
          <p:nvPr/>
        </p:nvSpPr>
        <p:spPr>
          <a:xfrm>
            <a:off x="4876801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2050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525" y="457200"/>
            <a:ext cx="6076950" cy="543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179131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 №6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Дъждовен червей</a:t>
            </a:r>
          </a:p>
          <a:p>
            <a:pPr lvl="1"/>
            <a:r>
              <a:rPr lang="bg-BG" dirty="0"/>
              <a:t>Направете сочен, слузест, пълзящ дъждовен червей</a:t>
            </a:r>
          </a:p>
        </p:txBody>
      </p:sp>
    </p:spTree>
    <p:extLst>
      <p:ext uri="{BB962C8B-B14F-4D97-AF65-F5344CB8AC3E}">
        <p14:creationId xmlns:p14="http://schemas.microsoft.com/office/powerpoint/2010/main" val="40291849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bg-BG" smtClean="0"/>
              <a:pPr/>
              <a:t>14</a:t>
            </a:fld>
            <a:endParaRPr lang="bg-BG" dirty="0"/>
          </a:p>
        </p:txBody>
      </p:sp>
      <p:sp>
        <p:nvSpPr>
          <p:cNvPr id="8" name="Rectangle 7">
            <a:hlinkClick r:id="rId2" action="ppaction://hlinkfile"/>
          </p:cNvPr>
          <p:cNvSpPr/>
          <p:nvPr/>
        </p:nvSpPr>
        <p:spPr>
          <a:xfrm>
            <a:off x="3048000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 err="1"/>
              <a:t>Демо</a:t>
            </a:r>
            <a:endParaRPr lang="en-US" sz="1600" dirty="0"/>
          </a:p>
        </p:txBody>
      </p:sp>
      <p:sp>
        <p:nvSpPr>
          <p:cNvPr id="9" name="Rectangle 8">
            <a:hlinkClick r:id="rId3" action="ppaction://hlinkfile"/>
          </p:cNvPr>
          <p:cNvSpPr/>
          <p:nvPr/>
        </p:nvSpPr>
        <p:spPr>
          <a:xfrm>
            <a:off x="4876801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3074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525" y="457200"/>
            <a:ext cx="6076950" cy="543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298095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Физика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4113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 №7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Затихващо </a:t>
            </a:r>
            <a:r>
              <a:rPr lang="bg-BG" dirty="0" err="1"/>
              <a:t>топане</a:t>
            </a:r>
            <a:endParaRPr lang="bg-BG" dirty="0"/>
          </a:p>
          <a:p>
            <a:pPr lvl="1"/>
            <a:r>
              <a:rPr lang="bg-BG" dirty="0"/>
              <a:t>Направете топки, които се </a:t>
            </a:r>
            <a:r>
              <a:rPr lang="bg-BG" dirty="0" err="1"/>
              <a:t>топат</a:t>
            </a:r>
            <a:endParaRPr lang="bg-BG" dirty="0"/>
          </a:p>
          <a:p>
            <a:pPr lvl="1"/>
            <a:r>
              <a:rPr lang="bg-BG" dirty="0"/>
              <a:t>С времето височината на </a:t>
            </a:r>
            <a:r>
              <a:rPr lang="bg-BG" dirty="0" err="1"/>
              <a:t>топането</a:t>
            </a:r>
            <a:r>
              <a:rPr lang="bg-BG" dirty="0"/>
              <a:t> намалява и след време спират да се </a:t>
            </a:r>
            <a:r>
              <a:rPr lang="bg-BG" dirty="0" err="1"/>
              <a:t>топат</a:t>
            </a:r>
            <a:endParaRPr lang="bg-BG" dirty="0"/>
          </a:p>
          <a:p>
            <a:pPr lvl="1"/>
            <a:r>
              <a:rPr lang="bg-BG" dirty="0"/>
              <a:t>Докато се </a:t>
            </a:r>
            <a:r>
              <a:rPr lang="bg-BG" dirty="0" err="1"/>
              <a:t>топат</a:t>
            </a:r>
            <a:r>
              <a:rPr lang="bg-BG" dirty="0"/>
              <a:t> да се движат наляво-надясно, като се отблъскват от двата края</a:t>
            </a:r>
          </a:p>
          <a:p>
            <a:pPr lvl="1"/>
            <a:endParaRPr lang="bg-BG" dirty="0"/>
          </a:p>
          <a:p>
            <a:r>
              <a:rPr lang="bg-BG" dirty="0"/>
              <a:t>Внимание</a:t>
            </a:r>
          </a:p>
          <a:p>
            <a:pPr lvl="1"/>
            <a:r>
              <a:rPr lang="bg-BG" dirty="0"/>
              <a:t>По възможност да се моделира финалната вибрация преди окончателното затихване на </a:t>
            </a:r>
            <a:r>
              <a:rPr lang="bg-BG" dirty="0" err="1"/>
              <a:t>топането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684880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bg-BG" smtClean="0"/>
              <a:pPr/>
              <a:t>17</a:t>
            </a:fld>
            <a:endParaRPr lang="bg-BG" dirty="0"/>
          </a:p>
        </p:txBody>
      </p:sp>
      <p:sp>
        <p:nvSpPr>
          <p:cNvPr id="8" name="Rectangle 7">
            <a:hlinkClick r:id="rId2" action="ppaction://hlinkfile"/>
          </p:cNvPr>
          <p:cNvSpPr/>
          <p:nvPr/>
        </p:nvSpPr>
        <p:spPr>
          <a:xfrm>
            <a:off x="3048000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 err="1"/>
              <a:t>Демо</a:t>
            </a:r>
            <a:endParaRPr lang="en-US" sz="1600" dirty="0"/>
          </a:p>
        </p:txBody>
      </p:sp>
      <p:sp>
        <p:nvSpPr>
          <p:cNvPr id="9" name="Rectangle 8">
            <a:hlinkClick r:id="rId3" action="ppaction://hlinkfile"/>
          </p:cNvPr>
          <p:cNvSpPr/>
          <p:nvPr/>
        </p:nvSpPr>
        <p:spPr>
          <a:xfrm>
            <a:off x="4876801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4098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525" y="457200"/>
            <a:ext cx="6076950" cy="543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14430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 №8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Вибрираща зона</a:t>
            </a:r>
          </a:p>
          <a:p>
            <a:pPr lvl="1"/>
            <a:r>
              <a:rPr lang="bg-BG" dirty="0"/>
              <a:t>Направете </a:t>
            </a:r>
            <a:r>
              <a:rPr lang="en-US" b="1" dirty="0"/>
              <a:t>n&gt;1</a:t>
            </a:r>
            <a:r>
              <a:rPr lang="bg-BG" dirty="0"/>
              <a:t> подскачащи топки</a:t>
            </a:r>
          </a:p>
          <a:p>
            <a:pPr lvl="1"/>
            <a:r>
              <a:rPr lang="bg-BG" dirty="0"/>
              <a:t>Всяка подскача с различна амплитуда и честота</a:t>
            </a:r>
          </a:p>
          <a:p>
            <a:pPr lvl="1"/>
            <a:r>
              <a:rPr lang="bg-BG" dirty="0"/>
              <a:t>При удар в долната част на графичната зона, тя започва да вибрира, но затихва … до следващия удар</a:t>
            </a:r>
          </a:p>
          <a:p>
            <a:pPr lvl="1"/>
            <a:endParaRPr lang="bg-BG" dirty="0"/>
          </a:p>
          <a:p>
            <a:r>
              <a:rPr lang="bg-BG" dirty="0"/>
              <a:t>И още:</a:t>
            </a:r>
          </a:p>
          <a:p>
            <a:pPr lvl="1"/>
            <a:r>
              <a:rPr lang="bg-BG" dirty="0"/>
              <a:t>Топките да са осветени предимно отгоре и леко отдолу</a:t>
            </a:r>
          </a:p>
        </p:txBody>
      </p:sp>
    </p:spTree>
    <p:extLst>
      <p:ext uri="{BB962C8B-B14F-4D97-AF65-F5344CB8AC3E}">
        <p14:creationId xmlns:p14="http://schemas.microsoft.com/office/powerpoint/2010/main" val="30979620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bg-BG" smtClean="0"/>
              <a:pPr/>
              <a:t>19</a:t>
            </a:fld>
            <a:endParaRPr lang="bg-BG" dirty="0"/>
          </a:p>
        </p:txBody>
      </p:sp>
      <p:sp>
        <p:nvSpPr>
          <p:cNvPr id="8" name="Rectangle 7">
            <a:hlinkClick r:id="rId2" action="ppaction://hlinkfile"/>
          </p:cNvPr>
          <p:cNvSpPr/>
          <p:nvPr/>
        </p:nvSpPr>
        <p:spPr>
          <a:xfrm>
            <a:off x="3048000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 err="1"/>
              <a:t>Демо</a:t>
            </a:r>
            <a:endParaRPr lang="en-US" sz="1600" dirty="0"/>
          </a:p>
        </p:txBody>
      </p:sp>
      <p:sp>
        <p:nvSpPr>
          <p:cNvPr id="9" name="Rectangle 8">
            <a:hlinkClick r:id="rId3" action="ppaction://hlinkfile"/>
          </p:cNvPr>
          <p:cNvSpPr/>
          <p:nvPr/>
        </p:nvSpPr>
        <p:spPr>
          <a:xfrm>
            <a:off x="4876801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5122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525" y="457200"/>
            <a:ext cx="6076950" cy="543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861963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 №9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Аналогов часовник</a:t>
            </a:r>
          </a:p>
          <a:p>
            <a:pPr lvl="1"/>
            <a:r>
              <a:rPr lang="bg-BG" dirty="0"/>
              <a:t>Направете аналогов часовник</a:t>
            </a:r>
          </a:p>
          <a:p>
            <a:pPr lvl="1"/>
            <a:r>
              <a:rPr lang="bg-BG" dirty="0"/>
              <a:t>С часова, минутна и </a:t>
            </a:r>
            <a:r>
              <a:rPr lang="bg-BG" dirty="0" err="1"/>
              <a:t>секундна</a:t>
            </a:r>
            <a:r>
              <a:rPr lang="bg-BG" dirty="0"/>
              <a:t> стрелки</a:t>
            </a:r>
          </a:p>
          <a:p>
            <a:pPr lvl="1"/>
            <a:r>
              <a:rPr lang="bg-BG" dirty="0"/>
              <a:t>Да показва правилното време (според системния часовник)</a:t>
            </a:r>
          </a:p>
          <a:p>
            <a:pPr lvl="1"/>
            <a:r>
              <a:rPr lang="bg-BG" dirty="0"/>
              <a:t>При движение на </a:t>
            </a:r>
            <a:r>
              <a:rPr lang="bg-BG" dirty="0" err="1"/>
              <a:t>секундната</a:t>
            </a:r>
            <a:r>
              <a:rPr lang="bg-BG" dirty="0"/>
              <a:t> стрелка тя да трепва, когато спира на </a:t>
            </a:r>
            <a:r>
              <a:rPr lang="bg-BG"/>
              <a:t>нова секунда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1707615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bg-BG" smtClean="0"/>
              <a:pPr/>
              <a:t>21</a:t>
            </a:fld>
            <a:endParaRPr lang="bg-BG" dirty="0"/>
          </a:p>
        </p:txBody>
      </p:sp>
      <p:sp>
        <p:nvSpPr>
          <p:cNvPr id="8" name="Rectangle 7">
            <a:hlinkClick r:id="rId2" action="ppaction://hlinkfile"/>
          </p:cNvPr>
          <p:cNvSpPr/>
          <p:nvPr/>
        </p:nvSpPr>
        <p:spPr>
          <a:xfrm>
            <a:off x="3048000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 err="1"/>
              <a:t>Демо</a:t>
            </a:r>
            <a:endParaRPr lang="en-US" sz="1600" dirty="0"/>
          </a:p>
        </p:txBody>
      </p:sp>
      <p:sp>
        <p:nvSpPr>
          <p:cNvPr id="9" name="Rectangle 8">
            <a:hlinkClick r:id="rId3" action="ppaction://hlinkfile"/>
          </p:cNvPr>
          <p:cNvSpPr/>
          <p:nvPr/>
        </p:nvSpPr>
        <p:spPr>
          <a:xfrm>
            <a:off x="4876801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6146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525" y="457200"/>
            <a:ext cx="6076950" cy="543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339472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Край</a:t>
            </a:r>
          </a:p>
        </p:txBody>
      </p:sp>
    </p:spTree>
    <p:extLst>
      <p:ext uri="{BB962C8B-B14F-4D97-AF65-F5344CB8AC3E}">
        <p14:creationId xmlns:p14="http://schemas.microsoft.com/office/powerpoint/2010/main" val="17597286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Custom 15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38342D"/>
      </a:hlink>
      <a:folHlink>
        <a:srgbClr val="38342D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тема">
  <a:themeElements>
    <a:clrScheme name="О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О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ustom 15">
    <a:dk1>
      <a:sysClr val="windowText" lastClr="000000"/>
    </a:dk1>
    <a:lt1>
      <a:sysClr val="window" lastClr="FFFFFF"/>
    </a:lt1>
    <a:dk2>
      <a:srgbClr val="3E3D2D"/>
    </a:dk2>
    <a:lt2>
      <a:srgbClr val="CAF278"/>
    </a:lt2>
    <a:accent1>
      <a:srgbClr val="94C600"/>
    </a:accent1>
    <a:accent2>
      <a:srgbClr val="71685A"/>
    </a:accent2>
    <a:accent3>
      <a:srgbClr val="FF6700"/>
    </a:accent3>
    <a:accent4>
      <a:srgbClr val="909465"/>
    </a:accent4>
    <a:accent5>
      <a:srgbClr val="956B43"/>
    </a:accent5>
    <a:accent6>
      <a:srgbClr val="FEA022"/>
    </a:accent6>
    <a:hlink>
      <a:srgbClr val="38342D"/>
    </a:hlink>
    <a:folHlink>
      <a:srgbClr val="38342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8424</TotalTime>
  <Words>386</Words>
  <Application>Microsoft Office PowerPoint</Application>
  <PresentationFormat>On-screen Show (4:3)</PresentationFormat>
  <Paragraphs>91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Arial Black</vt:lpstr>
      <vt:lpstr>Calibri</vt:lpstr>
      <vt:lpstr>Century Gothic</vt:lpstr>
      <vt:lpstr>Times New Roman</vt:lpstr>
      <vt:lpstr>Wingdings 2</vt:lpstr>
      <vt:lpstr>Austin</vt:lpstr>
      <vt:lpstr>Движение</vt:lpstr>
      <vt:lpstr>PowerPoint Presentation</vt:lpstr>
      <vt:lpstr>Задача №1</vt:lpstr>
      <vt:lpstr>PowerPoint Presentation</vt:lpstr>
      <vt:lpstr>Задача №2</vt:lpstr>
      <vt:lpstr>PowerPoint Presentation</vt:lpstr>
      <vt:lpstr>Задача №3</vt:lpstr>
      <vt:lpstr>PowerPoint Presentation</vt:lpstr>
      <vt:lpstr>Задача №4</vt:lpstr>
      <vt:lpstr>PowerPoint Presentation</vt:lpstr>
      <vt:lpstr>Задача №5</vt:lpstr>
      <vt:lpstr>PowerPoint Presentation</vt:lpstr>
      <vt:lpstr>Задача №6</vt:lpstr>
      <vt:lpstr>PowerPoint Presentation</vt:lpstr>
      <vt:lpstr>PowerPoint Presentation</vt:lpstr>
      <vt:lpstr>Задача №7</vt:lpstr>
      <vt:lpstr>PowerPoint Presentation</vt:lpstr>
      <vt:lpstr>Задача №8</vt:lpstr>
      <vt:lpstr>PowerPoint Presentation</vt:lpstr>
      <vt:lpstr>Задача №9</vt:lpstr>
      <vt:lpstr>PowerPoint Presentation</vt:lpstr>
      <vt:lpstr>PowerPoint Presentation</vt:lpstr>
    </vt:vector>
  </TitlesOfParts>
  <Company>FMI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WebGL-Problems-07</dc:title>
  <dc:creator>Pavel Boytchev</dc:creator>
  <cp:lastModifiedBy>Pavel Boytchev</cp:lastModifiedBy>
  <cp:revision>518</cp:revision>
  <dcterms:created xsi:type="dcterms:W3CDTF">2013-12-13T09:03:57Z</dcterms:created>
  <dcterms:modified xsi:type="dcterms:W3CDTF">2021-10-17T07:01:26Z</dcterms:modified>
</cp:coreProperties>
</file>